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10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5247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ov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C2C">
              <a:alpha val="62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C2C">
              <a:alpha val="30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5" name="Image 1" descr="assets/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03" y="355702"/>
            <a:ext cx="861365" cy="24140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670902" y="355702"/>
            <a:ext cx="3810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kern="0" spc="200" dirty="0">
                <a:solidFill>
                  <a:srgbClr val="9FB1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PROCESS INTELLIGENCE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7670902" y="545897"/>
            <a:ext cx="3810305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00" kern="0" spc="300" dirty="0">
                <a:solidFill>
                  <a:srgbClr val="7B8B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2026</a:t>
            </a:r>
            <a:endParaRPr lang="en-US" sz="800" dirty="0"/>
          </a:p>
        </p:txBody>
      </p:sp>
      <p:sp>
        <p:nvSpPr>
          <p:cNvPr id="8" name="Text 4"/>
          <p:cNvSpPr txBox="1"/>
          <p:nvPr/>
        </p:nvSpPr>
        <p:spPr>
          <a:xfrm>
            <a:off x="711403" y="3556102"/>
            <a:ext cx="9525305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pieza que falta</a:t>
            </a:r>
            <a:endParaRPr lang="en-US" sz="4800" dirty="0"/>
          </a:p>
        </p:txBody>
      </p:sp>
      <p:sp>
        <p:nvSpPr>
          <p:cNvPr id="9" name="Text 5"/>
          <p:cNvSpPr txBox="1"/>
          <p:nvPr/>
        </p:nvSpPr>
        <p:spPr>
          <a:xfrm>
            <a:off x="711403" y="4267505"/>
            <a:ext cx="9525305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 tu estrategia de </a:t>
            </a:r>
            <a:r>
              <a:rPr lang="en-US" sz="4800" b="1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IA.</a:t>
            </a:r>
            <a:endParaRPr lang="en-US" sz="4800" dirty="0"/>
          </a:p>
        </p:txBody>
      </p:sp>
      <p:sp>
        <p:nvSpPr>
          <p:cNvPr id="10" name="Text 6"/>
          <p:cNvSpPr txBox="1"/>
          <p:nvPr/>
        </p:nvSpPr>
        <p:spPr>
          <a:xfrm>
            <a:off x="711403" y="5320894"/>
            <a:ext cx="761969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Dominar la IA empieza por dominar tus procesos.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11403" y="6210605"/>
            <a:ext cx="444489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kern="0" spc="3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HUMAN DRIVEN TECHNOLOGY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" y="304495"/>
            <a:ext cx="680314" cy="19019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336378" y="279806"/>
            <a:ext cx="1143914" cy="215798"/>
          </a:xfrm>
          <a:prstGeom prst="roundRect">
            <a:avLst>
              <a:gd name="adj" fmla="val 50000"/>
            </a:avLst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 txBox="1"/>
          <p:nvPr/>
        </p:nvSpPr>
        <p:spPr>
          <a:xfrm>
            <a:off x="10336378" y="279806"/>
            <a:ext cx="1143914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kern="0" spc="100" dirty="0">
                <a:solidFill>
                  <a:srgbClr val="354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Resumen ejecutivo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711403" y="952805"/>
            <a:ext cx="10159898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5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Dominar la IA empieza por dominar los </a:t>
            </a:r>
            <a:r>
              <a:rPr lang="en-US" sz="2500" b="1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procesos</a:t>
            </a:r>
            <a:r>
              <a:rPr lang="en-US" sz="25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1035101" y="1904695"/>
            <a:ext cx="0" cy="3351556"/>
          </a:xfrm>
          <a:prstGeom prst="line">
            <a:avLst/>
          </a:prstGeom>
          <a:noFill/>
          <a:ln w="25400">
            <a:solidFill>
              <a:srgbClr val="855A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959206" y="1904695"/>
            <a:ext cx="152705" cy="152705"/>
          </a:xfrm>
          <a:prstGeom prst="roundRect">
            <a:avLst>
              <a:gd name="adj" fmla="val 49701"/>
            </a:avLst>
          </a:prstGeom>
          <a:solidFill>
            <a:srgbClr val="5E3D9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 txBox="1"/>
          <p:nvPr/>
        </p:nvSpPr>
        <p:spPr>
          <a:xfrm>
            <a:off x="959206" y="1904695"/>
            <a:ext cx="1527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01</a:t>
            </a:r>
            <a:endParaRPr lang="en-US" sz="600" dirty="0"/>
          </a:p>
        </p:txBody>
      </p:sp>
      <p:sp>
        <p:nvSpPr>
          <p:cNvPr id="9" name="Text 6"/>
          <p:cNvSpPr txBox="1"/>
          <p:nvPr/>
        </p:nvSpPr>
        <p:spPr>
          <a:xfrm>
            <a:off x="1270102" y="1891894"/>
            <a:ext cx="2540203" cy="1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0" spc="200" dirty="0">
                <a:solidFill>
                  <a:srgbClr val="5E3D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SITUACIÓN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70102" y="2057400"/>
            <a:ext cx="4826203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Tus procesos reales son opacos.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270103" y="2298802"/>
            <a:ext cx="389163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IA y la automatización se despliegan sin saber dónde rentan ni cómo se controlan.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959206" y="2870302"/>
            <a:ext cx="152705" cy="152705"/>
          </a:xfrm>
          <a:prstGeom prst="roundRect">
            <a:avLst>
              <a:gd name="adj" fmla="val 49701"/>
            </a:avLst>
          </a:prstGeom>
          <a:solidFill>
            <a:srgbClr val="5E3D9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 txBox="1"/>
          <p:nvPr/>
        </p:nvSpPr>
        <p:spPr>
          <a:xfrm>
            <a:off x="959206" y="2870302"/>
            <a:ext cx="1527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02</a:t>
            </a:r>
            <a:endParaRPr lang="en-US" sz="600" dirty="0"/>
          </a:p>
        </p:txBody>
      </p:sp>
      <p:sp>
        <p:nvSpPr>
          <p:cNvPr id="14" name="Text 11"/>
          <p:cNvSpPr txBox="1"/>
          <p:nvPr/>
        </p:nvSpPr>
        <p:spPr>
          <a:xfrm>
            <a:off x="1270102" y="2857500"/>
            <a:ext cx="2540203" cy="1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0" spc="200" dirty="0">
                <a:solidFill>
                  <a:srgbClr val="5E3D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COMPLICACIÓN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270102" y="3023006"/>
            <a:ext cx="4826203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Pocos pilotos llegan a impacto.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959206" y="4291559"/>
            <a:ext cx="152705" cy="152705"/>
          </a:xfrm>
          <a:prstGeom prst="roundRect">
            <a:avLst>
              <a:gd name="adj" fmla="val 49701"/>
            </a:avLst>
          </a:prstGeom>
          <a:solidFill>
            <a:srgbClr val="3A8E6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 txBox="1"/>
          <p:nvPr/>
        </p:nvSpPr>
        <p:spPr>
          <a:xfrm>
            <a:off x="959206" y="4291559"/>
            <a:ext cx="1527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03</a:t>
            </a:r>
            <a:endParaRPr lang="en-US" sz="600" dirty="0"/>
          </a:p>
        </p:txBody>
      </p:sp>
      <p:sp>
        <p:nvSpPr>
          <p:cNvPr id="18" name="Text 15"/>
          <p:cNvSpPr txBox="1"/>
          <p:nvPr/>
        </p:nvSpPr>
        <p:spPr>
          <a:xfrm>
            <a:off x="1270102" y="4278757"/>
            <a:ext cx="2540203" cy="1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0" spc="200" dirty="0">
                <a:solidFill>
                  <a:srgbClr val="3A8E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POR QUÉ ENTELGY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270102" y="4443349"/>
            <a:ext cx="4826203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 diferencial está en el cómo.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270102" y="4684751"/>
            <a:ext cx="419704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CoE rodado, aceleradores por proceso y adopción incluida. Partner Gold de Celonis (Premio Europeo 2024) y un portfolio que nadie más combina. Por proyecto o como servicio — tú eliges el modelo.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270102" y="3238805"/>
            <a:ext cx="1270102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</a:t>
            </a:r>
            <a:r>
              <a:rPr lang="en-US" sz="1100" b="1" dirty="0">
                <a:solidFill>
                  <a:srgbClr val="6E849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/20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270102" y="3504895"/>
            <a:ext cx="1524305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pilotos de IA con impacto medible en P&amp;L.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2794406" y="3238805"/>
            <a:ext cx="1524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58</a:t>
            </a:r>
            <a:r>
              <a:rPr lang="en-US" sz="1100" b="1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%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2794406" y="3504895"/>
            <a:ext cx="1904695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directivos: sus procesos limitan lo que logran con IA.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270102" y="3868053"/>
            <a:ext cx="4826203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50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Act (alto riesgo) dic·2027. NIS2 y DORA, ya en vigor.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413602" y="2087575"/>
            <a:ext cx="5067605" cy="2984602"/>
          </a:xfrm>
          <a:prstGeom prst="roundRect">
            <a:avLst>
              <a:gd name="adj" fmla="val 3401"/>
            </a:avLst>
          </a:prstGeom>
          <a:solidFill>
            <a:srgbClr val="041C2C"/>
          </a:solidFill>
          <a:ln/>
          <a:effectLst>
            <a:outerShdw blurRad="177800" dist="76200" dir="5400000" algn="bl" rotWithShape="0">
              <a:srgbClr val="041C2C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Text 24"/>
          <p:cNvSpPr txBox="1"/>
          <p:nvPr/>
        </p:nvSpPr>
        <p:spPr>
          <a:xfrm>
            <a:off x="6680606" y="2328977"/>
            <a:ext cx="1904695" cy="1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0" spc="200" dirty="0">
                <a:solidFill>
                  <a:srgbClr val="FE5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ASK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6680606" y="2494483"/>
            <a:ext cx="4572000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Diagnóstico de entrada.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6680606" y="2951683"/>
            <a:ext cx="4533595" cy="0"/>
          </a:xfrm>
          <a:prstGeom prst="line">
            <a:avLst/>
          </a:prstGeom>
          <a:noFill/>
          <a:ln w="12700">
            <a:solidFill>
              <a:srgbClr val="2440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7"/>
          <p:cNvSpPr txBox="1"/>
          <p:nvPr/>
        </p:nvSpPr>
        <p:spPr>
          <a:xfrm>
            <a:off x="6680606" y="3916375"/>
            <a:ext cx="4572000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15–20 K€</a:t>
            </a:r>
            <a:endParaRPr lang="en-US" sz="2800" dirty="0"/>
          </a:p>
        </p:txBody>
      </p:sp>
      <p:sp>
        <p:nvSpPr>
          <p:cNvPr id="31" name="Text 28"/>
          <p:cNvSpPr txBox="1"/>
          <p:nvPr/>
        </p:nvSpPr>
        <p:spPr>
          <a:xfrm>
            <a:off x="6680606" y="4386377"/>
            <a:ext cx="4572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kern="0" spc="100" dirty="0">
                <a:solidFill>
                  <a:srgbClr val="9FB1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6–8 SEMANAS · SIN COMITÉ DE INVERSIÓN</a:t>
            </a:r>
            <a:endParaRPr lang="en-US" sz="800" dirty="0"/>
          </a:p>
        </p:txBody>
      </p:sp>
      <p:sp>
        <p:nvSpPr>
          <p:cNvPr id="32" name="Text 29"/>
          <p:cNvSpPr txBox="1"/>
          <p:nvPr/>
        </p:nvSpPr>
        <p:spPr>
          <a:xfrm>
            <a:off x="6680606" y="4627778"/>
            <a:ext cx="4572000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00" dirty="0">
                <a:solidFill>
                  <a:srgbClr val="D6E0E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Baseline cuantificada y mejoras priorizadas. </a:t>
            </a: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 la puerta, no el techo.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711403" y="6223406"/>
            <a:ext cx="9525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Fuentes: MIT NANDA · Celonis / Carsten Thoma · EU AI Act, Digital Omnibus 2026 (alto riesgo, dic·2027).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711403" y="6590995"/>
            <a:ext cx="10769803" cy="0"/>
          </a:xfrm>
          <a:prstGeom prst="line">
            <a:avLst/>
          </a:prstGeom>
          <a:noFill/>
          <a:ln w="12700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2"/>
          <p:cNvSpPr txBox="1"/>
          <p:nvPr/>
        </p:nvSpPr>
        <p:spPr>
          <a:xfrm>
            <a:off x="711403" y="6642202"/>
            <a:ext cx="82552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1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ENTELGY · PROCESS INTELLIGENCE · 2026</a:t>
            </a:r>
            <a:endParaRPr lang="en-US" sz="700" dirty="0"/>
          </a:p>
        </p:txBody>
      </p:sp>
      <p:sp>
        <p:nvSpPr>
          <p:cNvPr id="36" name="Text 33"/>
          <p:cNvSpPr txBox="1"/>
          <p:nvPr/>
        </p:nvSpPr>
        <p:spPr>
          <a:xfrm>
            <a:off x="8941003" y="6642202"/>
            <a:ext cx="25402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00" kern="0" spc="1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14</a:t>
            </a:r>
            <a:endParaRPr lang="en-US" sz="700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1E99F6C-5A94-D776-E127-DE14D6EEC1A4}"/>
              </a:ext>
            </a:extLst>
          </p:cNvPr>
          <p:cNvCxnSpPr>
            <a:stCxn id="17" idx="2"/>
          </p:cNvCxnSpPr>
          <p:nvPr/>
        </p:nvCxnSpPr>
        <p:spPr>
          <a:xfrm flipH="1">
            <a:off x="1035101" y="4444264"/>
            <a:ext cx="458" cy="811987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" y="304495"/>
            <a:ext cx="680314" cy="19019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391242" y="279806"/>
            <a:ext cx="1089965" cy="215798"/>
          </a:xfrm>
          <a:prstGeom prst="roundRect">
            <a:avLst>
              <a:gd name="adj" fmla="val 50000"/>
            </a:avLst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 txBox="1"/>
          <p:nvPr/>
        </p:nvSpPr>
        <p:spPr>
          <a:xfrm>
            <a:off x="10391242" y="279806"/>
            <a:ext cx="108996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kern="0" spc="100" dirty="0">
                <a:solidFill>
                  <a:srgbClr val="354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El problema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711403" y="2488997"/>
            <a:ext cx="4826203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Los sistemas empezaron</a:t>
            </a:r>
            <a:endParaRPr lang="en-US" sz="25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dictar los </a:t>
            </a:r>
            <a:r>
              <a:rPr lang="en-US" sz="2500" b="1" dirty="0" err="1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procesos</a:t>
            </a:r>
            <a:r>
              <a:rPr lang="en-US" sz="25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711403" y="3429000"/>
            <a:ext cx="44448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Hoy un proceso cruza decenas de tecnologías y la herramienta acabó marcando el cómo. La mayoría de iniciativas de IA no fracasan por el modelo: fracasan porque </a:t>
            </a:r>
            <a:r>
              <a:rPr lang="en-US" sz="13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IA no entiende cómo trabaja el negocio</a:t>
            </a:r>
            <a:r>
              <a:rPr lang="en-US" sz="13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747004" y="2387498"/>
            <a:ext cx="1904695" cy="698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</a:t>
            </a:r>
            <a:r>
              <a:rPr lang="en-US" sz="2000" b="1" dirty="0">
                <a:solidFill>
                  <a:srgbClr val="9DAEB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/20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747004" y="3111703"/>
            <a:ext cx="2667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pilotos de IA llega a un impacto medible en la cuenta de resultados.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635594" y="2387498"/>
            <a:ext cx="1904695" cy="698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58</a:t>
            </a:r>
            <a:r>
              <a:rPr lang="en-US" sz="2000" b="1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%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635594" y="3111703"/>
            <a:ext cx="2730398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los directivos cree que el estado de sus procesos limita lo que pueden lograr con la IA.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747004" y="3911803"/>
            <a:ext cx="5734202" cy="761695"/>
          </a:xfrm>
          <a:prstGeom prst="roundRect">
            <a:avLst>
              <a:gd name="adj" fmla="val 11645"/>
            </a:avLst>
          </a:prstGeom>
          <a:solidFill>
            <a:srgbClr val="041C2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6001207" y="4140403"/>
            <a:ext cx="304495" cy="304495"/>
          </a:xfrm>
          <a:prstGeom prst="roundRect">
            <a:avLst>
              <a:gd name="adj" fmla="val 20721"/>
            </a:avLst>
          </a:prstGeom>
          <a:solidFill>
            <a:srgbClr val="1A3A2C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3" name="Image 1" descr="assets/ico_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7102" y="4216298"/>
            <a:ext cx="152705" cy="15270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08699" y="4063594"/>
            <a:ext cx="444489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 hay reloj.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6508699" y="4280306"/>
            <a:ext cx="4826203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Act (alto riesgo) dic·2027 · NIS2 y DORA ya en vigor. 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711403" y="6223406"/>
            <a:ext cx="1015989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MIT NANDA · Celonis (Carsten Thoma) · MIT Sloan Management Review, 2025 · EU AI Act, Digital Omnibus 2026.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711403" y="6590995"/>
            <a:ext cx="10769803" cy="0"/>
          </a:xfrm>
          <a:prstGeom prst="line">
            <a:avLst/>
          </a:prstGeom>
          <a:noFill/>
          <a:ln w="12700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4"/>
          <p:cNvSpPr txBox="1"/>
          <p:nvPr/>
        </p:nvSpPr>
        <p:spPr>
          <a:xfrm>
            <a:off x="711403" y="6642202"/>
            <a:ext cx="82552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1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ENTELGY · PROCESS INTELLIGENCE · 2026</a:t>
            </a:r>
            <a:endParaRPr lang="en-US" sz="700" dirty="0"/>
          </a:p>
        </p:txBody>
      </p:sp>
      <p:sp>
        <p:nvSpPr>
          <p:cNvPr id="19" name="Text 15"/>
          <p:cNvSpPr txBox="1"/>
          <p:nvPr/>
        </p:nvSpPr>
        <p:spPr>
          <a:xfrm>
            <a:off x="8941003" y="6642202"/>
            <a:ext cx="25402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00" kern="0" spc="1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14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" y="304495"/>
            <a:ext cx="680314" cy="19019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735617" y="279806"/>
            <a:ext cx="1744675" cy="215798"/>
          </a:xfrm>
          <a:prstGeom prst="roundRect">
            <a:avLst>
              <a:gd name="adj" fmla="val 50000"/>
            </a:avLst>
          </a:prstGeom>
          <a:solidFill>
            <a:srgbClr val="12303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 txBox="1"/>
          <p:nvPr/>
        </p:nvSpPr>
        <p:spPr>
          <a:xfrm>
            <a:off x="9735617" y="279806"/>
            <a:ext cx="174467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kern="0" spc="100" dirty="0">
                <a:solidFill>
                  <a:srgbClr val="D6E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La decisión que importa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711403" y="952805"/>
            <a:ext cx="10477195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Todos venden inteligencia de procesos con IA.</a:t>
            </a:r>
            <a:endParaRPr lang="en-US" sz="25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</a:t>
            </a:r>
            <a:r>
              <a:rPr lang="en-US" sz="2500" b="1" dirty="0" err="1">
                <a:solidFill>
                  <a:srgbClr val="C9B4E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decisión</a:t>
            </a:r>
            <a:r>
              <a:rPr lang="en-US" sz="25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es otra.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711403" y="1790395"/>
            <a:ext cx="8255203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ruido de mercado no es el problema. Saber qué decidir con ese ruido, sí.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293894" y="2756001"/>
            <a:ext cx="2961309" cy="749808"/>
          </a:xfrm>
          <a:prstGeom prst="line">
            <a:avLst/>
          </a:prstGeom>
          <a:noFill/>
          <a:ln w="19050">
            <a:solidFill>
              <a:srgbClr val="3A556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5220310" y="3504894"/>
            <a:ext cx="3034893" cy="1"/>
          </a:xfrm>
          <a:prstGeom prst="line">
            <a:avLst/>
          </a:prstGeom>
          <a:noFill/>
          <a:ln w="19050">
            <a:solidFill>
              <a:srgbClr val="3A556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 flipV="1">
            <a:off x="5220310" y="3504894"/>
            <a:ext cx="3034893" cy="876910"/>
          </a:xfrm>
          <a:prstGeom prst="line">
            <a:avLst/>
          </a:prstGeom>
          <a:noFill/>
          <a:ln w="19050">
            <a:solidFill>
              <a:srgbClr val="3A556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711403" y="2540203"/>
            <a:ext cx="215798" cy="215798"/>
          </a:xfrm>
          <a:prstGeom prst="roundRect">
            <a:avLst>
              <a:gd name="adj" fmla="val 50000"/>
            </a:avLst>
          </a:prstGeom>
          <a:solidFill>
            <a:srgbClr val="241C3A"/>
          </a:solidFill>
          <a:ln w="12700">
            <a:solidFill>
              <a:srgbClr val="6B4E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 txBox="1"/>
          <p:nvPr/>
        </p:nvSpPr>
        <p:spPr>
          <a:xfrm>
            <a:off x="711403" y="2540203"/>
            <a:ext cx="215798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9B4E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041502" y="2527402"/>
            <a:ext cx="3556102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¿Qué proceso renta primero?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041502" y="2730398"/>
            <a:ext cx="3810305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AEBEC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Priorizar por el valor que libera —horas, tareas repetitivas, errores—, no por la moda. Empezar donde el retorno es defendible.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11403" y="3365906"/>
            <a:ext cx="215798" cy="215798"/>
          </a:xfrm>
          <a:prstGeom prst="roundRect">
            <a:avLst>
              <a:gd name="adj" fmla="val 50000"/>
            </a:avLst>
          </a:prstGeom>
          <a:solidFill>
            <a:srgbClr val="241C3A"/>
          </a:solidFill>
          <a:ln w="12700">
            <a:solidFill>
              <a:srgbClr val="6B4E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 txBox="1"/>
          <p:nvPr/>
        </p:nvSpPr>
        <p:spPr>
          <a:xfrm>
            <a:off x="711403" y="3365906"/>
            <a:ext cx="215798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9B4E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41502" y="3353105"/>
            <a:ext cx="3556102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¿Cómo justifico la inversión?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041502" y="3556102"/>
            <a:ext cx="3810305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AEBEC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 baseline medida antes de invertir un euro: cuántas mejoras y desde dónde, con números concretos.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11403" y="4190695"/>
            <a:ext cx="215798" cy="215798"/>
          </a:xfrm>
          <a:prstGeom prst="roundRect">
            <a:avLst>
              <a:gd name="adj" fmla="val 50000"/>
            </a:avLst>
          </a:prstGeom>
          <a:solidFill>
            <a:srgbClr val="241C3A"/>
          </a:solidFill>
          <a:ln w="12700">
            <a:solidFill>
              <a:srgbClr val="6B4E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 txBox="1"/>
          <p:nvPr/>
        </p:nvSpPr>
        <p:spPr>
          <a:xfrm>
            <a:off x="711403" y="4190695"/>
            <a:ext cx="215798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9B4E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041502" y="4177894"/>
            <a:ext cx="3556102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¿Cómo queda auditable?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041502" y="4381805"/>
            <a:ext cx="3810305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AEBEC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Trazabilidad de qué decide la IA y qué la persona, desde el día uno. Lo que el AI Act pedirá documentar.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255203" y="2743200"/>
            <a:ext cx="2730398" cy="1524305"/>
          </a:xfrm>
          <a:prstGeom prst="roundRect">
            <a:avLst>
              <a:gd name="adj" fmla="val 7498"/>
            </a:avLst>
          </a:prstGeom>
          <a:solidFill>
            <a:srgbClr val="FE5000"/>
          </a:solidFill>
          <a:ln/>
          <a:effectLst>
            <a:outerShdw blurRad="177800" dist="76200" dir="5400000" algn="bl" rotWithShape="0">
              <a:srgbClr val="041C2C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Text 20"/>
          <p:cNvSpPr txBox="1"/>
          <p:nvPr/>
        </p:nvSpPr>
        <p:spPr>
          <a:xfrm>
            <a:off x="8471002" y="2958998"/>
            <a:ext cx="2413102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kern="0" spc="200" dirty="0">
                <a:solidFill>
                  <a:srgbClr val="FFE0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 CAPA QUE DECIDE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8471002" y="3137306"/>
            <a:ext cx="234909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Process Intelligence responde a las tres.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8471002" y="3810305"/>
            <a:ext cx="234909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Antes de invertir en </a:t>
            </a: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automatizaciones o agentes de IA</a:t>
            </a: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711403" y="6590995"/>
            <a:ext cx="10769803" cy="0"/>
          </a:xfrm>
          <a:prstGeom prst="line">
            <a:avLst/>
          </a:prstGeom>
          <a:noFill/>
          <a:ln w="12700">
            <a:solidFill>
              <a:srgbClr val="2440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4"/>
          <p:cNvSpPr txBox="1"/>
          <p:nvPr/>
        </p:nvSpPr>
        <p:spPr>
          <a:xfrm>
            <a:off x="711403" y="6642202"/>
            <a:ext cx="82552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100" dirty="0">
                <a:solidFill>
                  <a:srgbClr val="7B8B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ENTELGY · PROCESS INTELLIGENCE · 2026</a:t>
            </a:r>
            <a:endParaRPr lang="en-US" sz="700" dirty="0"/>
          </a:p>
        </p:txBody>
      </p:sp>
      <p:sp>
        <p:nvSpPr>
          <p:cNvPr id="28" name="Text 25"/>
          <p:cNvSpPr txBox="1"/>
          <p:nvPr/>
        </p:nvSpPr>
        <p:spPr>
          <a:xfrm>
            <a:off x="8941003" y="6642202"/>
            <a:ext cx="25402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00" kern="0" spc="100" dirty="0">
                <a:solidFill>
                  <a:srgbClr val="7B8B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" y="304495"/>
            <a:ext cx="680314" cy="19019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391242" y="279806"/>
            <a:ext cx="1089965" cy="215798"/>
          </a:xfrm>
          <a:prstGeom prst="roundRect">
            <a:avLst>
              <a:gd name="adj" fmla="val 50000"/>
            </a:avLst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 txBox="1"/>
          <p:nvPr/>
        </p:nvSpPr>
        <p:spPr>
          <a:xfrm>
            <a:off x="10391242" y="279806"/>
            <a:ext cx="108996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kern="0" spc="100" dirty="0">
                <a:solidFill>
                  <a:srgbClr val="354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Qué hacemos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711403" y="952805"/>
            <a:ext cx="888979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Process Intelligence con Entelgy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711403" y="1422806"/>
            <a:ext cx="88897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base es el dato. Sobre él montamos la habilitación de tu IA y su gobierno.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11403" y="2031797"/>
            <a:ext cx="3200400" cy="1206094"/>
          </a:xfrm>
          <a:prstGeom prst="roundRect">
            <a:avLst>
              <a:gd name="adj" fmla="val 5231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711403" y="2031797"/>
            <a:ext cx="3200400" cy="25603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 txBox="1"/>
          <p:nvPr/>
        </p:nvSpPr>
        <p:spPr>
          <a:xfrm>
            <a:off x="863194" y="2184502"/>
            <a:ext cx="289590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Habilitador de tu IA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63194" y="2438705"/>
            <a:ext cx="2895905" cy="698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Detectamos ineficiencias, priorizamos y automatizamos con IA. Y entregamos el contexto de negocio que tus implementaciones de IA necesitan para funcionar.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114800" y="2031797"/>
            <a:ext cx="3200400" cy="1206094"/>
          </a:xfrm>
          <a:prstGeom prst="roundRect">
            <a:avLst>
              <a:gd name="adj" fmla="val 5231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4114800" y="2031797"/>
            <a:ext cx="3200400" cy="25603"/>
          </a:xfrm>
          <a:prstGeom prst="rect">
            <a:avLst/>
          </a:prstGeom>
          <a:solidFill>
            <a:srgbClr val="3A8E6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 txBox="1"/>
          <p:nvPr/>
        </p:nvSpPr>
        <p:spPr>
          <a:xfrm>
            <a:off x="4267505" y="2184502"/>
            <a:ext cx="289590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Gobierno de tu IA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267505" y="2438705"/>
            <a:ext cx="2895905" cy="698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Monitorizamos la ejecución para garantizar cumplimiento y trazabilidad para auditorías. Identificamos debilidades de control y mitigamos riesgo.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311603" y="3276295"/>
            <a:ext cx="0" cy="202997"/>
          </a:xfrm>
          <a:prstGeom prst="line">
            <a:avLst/>
          </a:prstGeom>
          <a:noFill/>
          <a:ln w="25400">
            <a:solidFill>
              <a:srgbClr val="9DAEB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5715000" y="3276295"/>
            <a:ext cx="0" cy="202997"/>
          </a:xfrm>
          <a:prstGeom prst="line">
            <a:avLst/>
          </a:prstGeom>
          <a:noFill/>
          <a:ln w="25400">
            <a:solidFill>
              <a:srgbClr val="9DAEB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711403" y="3530498"/>
            <a:ext cx="6603797" cy="952805"/>
          </a:xfrm>
          <a:prstGeom prst="roundRect">
            <a:avLst>
              <a:gd name="adj" fmla="val 9309"/>
            </a:avLst>
          </a:prstGeom>
          <a:solidFill>
            <a:srgbClr val="041C2C"/>
          </a:solidFill>
          <a:ln/>
          <a:effectLst>
            <a:outerShdw blurRad="177800" dist="76200" dir="5400000" algn="bl" rotWithShape="0">
              <a:srgbClr val="041C2C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940003" y="3759098"/>
            <a:ext cx="330098" cy="330098"/>
          </a:xfrm>
          <a:prstGeom prst="roundRect">
            <a:avLst>
              <a:gd name="adj" fmla="val 22992"/>
            </a:avLst>
          </a:prstGeom>
          <a:solidFill>
            <a:srgbClr val="3A1A0E"/>
          </a:solidFill>
          <a:ln w="12700">
            <a:solidFill>
              <a:srgbClr val="7A3A1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9" name="Image 1" descr="assets/ico_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299" y="3841394"/>
            <a:ext cx="165506" cy="165506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422806" y="3746297"/>
            <a:ext cx="1904695" cy="1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0" spc="200" dirty="0">
                <a:solidFill>
                  <a:srgbClr val="FE5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 BASE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1422806" y="3899002"/>
            <a:ext cx="5715000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Decisiones guiadas por el dato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1422806" y="4140403"/>
            <a:ext cx="5587898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Vemos el proceso real y decidimos sobre datos, no sobre intuiciones. No todo pasa por IA: te señalamos dónde invertir y dónde no hace falta.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7619695" y="2095805"/>
            <a:ext cx="0" cy="2387498"/>
          </a:xfrm>
          <a:prstGeom prst="line">
            <a:avLst/>
          </a:prstGeom>
          <a:noFill/>
          <a:ln w="12700">
            <a:solidFill>
              <a:srgbClr val="C8D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0"/>
          <p:cNvSpPr txBox="1"/>
          <p:nvPr/>
        </p:nvSpPr>
        <p:spPr>
          <a:xfrm>
            <a:off x="7873898" y="2133295"/>
            <a:ext cx="3429000" cy="1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0" spc="200" dirty="0">
                <a:solidFill>
                  <a:srgbClr val="5E3D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PORTFOLIO MULTI-HERRAMIENTA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7873898" y="2298802"/>
            <a:ext cx="35561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4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Tres herramientas con partner real.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7873898" y="2717597"/>
            <a:ext cx="3556102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Nadie en el mercado las combina.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7873898" y="3124505"/>
            <a:ext cx="3429000" cy="330098"/>
          </a:xfrm>
          <a:prstGeom prst="roundRect">
            <a:avLst>
              <a:gd name="adj" fmla="val 19114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4"/>
          <p:cNvSpPr txBox="1"/>
          <p:nvPr/>
        </p:nvSpPr>
        <p:spPr>
          <a:xfrm>
            <a:off x="7988198" y="3124505"/>
            <a:ext cx="698602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1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ENTRADA</a:t>
            </a:r>
            <a:endParaRPr lang="en-US" sz="700" dirty="0"/>
          </a:p>
        </p:txBody>
      </p:sp>
      <p:sp>
        <p:nvSpPr>
          <p:cNvPr id="29" name="Text 25"/>
          <p:cNvSpPr txBox="1"/>
          <p:nvPr/>
        </p:nvSpPr>
        <p:spPr>
          <a:xfrm>
            <a:off x="8585302" y="3124505"/>
            <a:ext cx="114300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Inverbis </a:t>
            </a:r>
            <a:r>
              <a:rPr lang="en-US" sz="800" dirty="0">
                <a:solidFill>
                  <a:srgbClr val="4A62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· solución española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8013802" y="3556102"/>
            <a:ext cx="3289097" cy="330098"/>
          </a:xfrm>
          <a:prstGeom prst="roundRect">
            <a:avLst>
              <a:gd name="adj" fmla="val 19114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7"/>
          <p:cNvSpPr txBox="1"/>
          <p:nvPr/>
        </p:nvSpPr>
        <p:spPr>
          <a:xfrm>
            <a:off x="8128102" y="3556102"/>
            <a:ext cx="698602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1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ESCALA</a:t>
            </a:r>
            <a:endParaRPr lang="en-US" sz="700" dirty="0"/>
          </a:p>
        </p:txBody>
      </p:sp>
      <p:sp>
        <p:nvSpPr>
          <p:cNvPr id="32" name="Text 28"/>
          <p:cNvSpPr txBox="1"/>
          <p:nvPr/>
        </p:nvSpPr>
        <p:spPr>
          <a:xfrm>
            <a:off x="8725205" y="3556102"/>
            <a:ext cx="114300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Celonis </a:t>
            </a:r>
            <a:r>
              <a:rPr lang="en-US" sz="800" dirty="0">
                <a:solidFill>
                  <a:srgbClr val="4A62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· Partner Gold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8153705" y="3987698"/>
            <a:ext cx="3149194" cy="330098"/>
          </a:xfrm>
          <a:prstGeom prst="roundRect">
            <a:avLst>
              <a:gd name="adj" fmla="val 19114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0"/>
          <p:cNvSpPr txBox="1"/>
          <p:nvPr/>
        </p:nvSpPr>
        <p:spPr>
          <a:xfrm>
            <a:off x="8268005" y="3987698"/>
            <a:ext cx="698602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1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S/4HANA</a:t>
            </a:r>
            <a:endParaRPr lang="en-US" sz="700" dirty="0"/>
          </a:p>
        </p:txBody>
      </p:sp>
      <p:sp>
        <p:nvSpPr>
          <p:cNvPr id="35" name="Text 31"/>
          <p:cNvSpPr txBox="1"/>
          <p:nvPr/>
        </p:nvSpPr>
        <p:spPr>
          <a:xfrm>
            <a:off x="8864194" y="3987698"/>
            <a:ext cx="114300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Signavio </a:t>
            </a:r>
            <a:r>
              <a:rPr lang="en-US" sz="800" dirty="0">
                <a:solidFill>
                  <a:srgbClr val="4A62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· ruta a S/4HANA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711403" y="6590995"/>
            <a:ext cx="10769803" cy="0"/>
          </a:xfrm>
          <a:prstGeom prst="line">
            <a:avLst/>
          </a:prstGeom>
          <a:noFill/>
          <a:ln w="12700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3"/>
          <p:cNvSpPr txBox="1"/>
          <p:nvPr/>
        </p:nvSpPr>
        <p:spPr>
          <a:xfrm>
            <a:off x="711403" y="6642202"/>
            <a:ext cx="82552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1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ENTELGY · PROCESS INTELLIGENCE · 2026</a:t>
            </a:r>
            <a:endParaRPr lang="en-US" sz="700" dirty="0"/>
          </a:p>
        </p:txBody>
      </p:sp>
      <p:sp>
        <p:nvSpPr>
          <p:cNvPr id="38" name="Text 34"/>
          <p:cNvSpPr txBox="1"/>
          <p:nvPr/>
        </p:nvSpPr>
        <p:spPr>
          <a:xfrm>
            <a:off x="8941003" y="6642202"/>
            <a:ext cx="25402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00" kern="0" spc="1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14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" y="304495"/>
            <a:ext cx="680314" cy="19019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172700" y="279806"/>
            <a:ext cx="1308506" cy="215798"/>
          </a:xfrm>
          <a:prstGeom prst="roundRect">
            <a:avLst>
              <a:gd name="adj" fmla="val 50000"/>
            </a:avLst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 txBox="1"/>
          <p:nvPr/>
        </p:nvSpPr>
        <p:spPr>
          <a:xfrm>
            <a:off x="10172700" y="279806"/>
            <a:ext cx="1308506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kern="0" spc="100" dirty="0">
                <a:solidFill>
                  <a:srgbClr val="354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Por qué Entelgy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711403" y="952805"/>
            <a:ext cx="3556102" cy="5447995"/>
          </a:xfrm>
          <a:prstGeom prst="roundRect">
            <a:avLst>
              <a:gd name="adj" fmla="val 2854"/>
            </a:avLst>
          </a:prstGeom>
          <a:solidFill>
            <a:srgbClr val="041C2C"/>
          </a:solidFill>
          <a:ln/>
          <a:effectLst>
            <a:outerShdw blurRad="177800" dist="76200" dir="5400000" algn="bl" rotWithShape="0">
              <a:srgbClr val="041C2C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 txBox="1"/>
          <p:nvPr/>
        </p:nvSpPr>
        <p:spPr>
          <a:xfrm>
            <a:off x="990295" y="1244498"/>
            <a:ext cx="2540203" cy="1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0" spc="200" dirty="0">
                <a:solidFill>
                  <a:srgbClr val="8B9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DIFERENCIAL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990295" y="1410005"/>
            <a:ext cx="3047695" cy="698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Está en cómo lo </a:t>
            </a:r>
            <a:r>
              <a:rPr lang="en-US" sz="2100" b="1" dirty="0">
                <a:solidFill>
                  <a:srgbClr val="C9B4E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entregamos</a:t>
            </a:r>
            <a:r>
              <a:rPr lang="en-US" sz="21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990295" y="2234794"/>
            <a:ext cx="3047695" cy="698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100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plataforma y la pericia ya son commodity. Cómo lo entregamos es lo que cambia la cuenta.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90295" y="4953305"/>
            <a:ext cx="2997403" cy="0"/>
          </a:xfrm>
          <a:prstGeom prst="line">
            <a:avLst/>
          </a:prstGeom>
          <a:noFill/>
          <a:ln w="12700">
            <a:solidFill>
              <a:srgbClr val="2440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 txBox="1"/>
          <p:nvPr/>
        </p:nvSpPr>
        <p:spPr>
          <a:xfrm>
            <a:off x="990295" y="5130698"/>
            <a:ext cx="1904695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+500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990295" y="5689397"/>
            <a:ext cx="3047695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D6E0E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personas usan la herramienta a diario en </a:t>
            </a: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Lanbide</a:t>
            </a:r>
            <a:r>
              <a:rPr lang="en-US" sz="900" dirty="0">
                <a:solidFill>
                  <a:srgbClr val="D6E0E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Operado, no entregado en un informe.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20794" y="952805"/>
            <a:ext cx="3454603" cy="2691994"/>
          </a:xfrm>
          <a:prstGeom prst="roundRect">
            <a:avLst>
              <a:gd name="adj" fmla="val 2819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3" name="Image 1" descr="assets/ico_k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1117397"/>
            <a:ext cx="165506" cy="16550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686300" y="1371600"/>
            <a:ext cx="31245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Acceso sin propiedad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4686300" y="1625803"/>
            <a:ext cx="3124505" cy="1777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Obtienes la inteligencia de procesos sin comprar la licencia ni montar un área. La plataforma y el equipo son nuestros.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8026603" y="952805"/>
            <a:ext cx="3454603" cy="2691994"/>
          </a:xfrm>
          <a:prstGeom prst="roundRect">
            <a:avLst>
              <a:gd name="adj" fmla="val 2819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7" name="Image 2" descr="assets/ico_settin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195" y="1117397"/>
            <a:ext cx="165506" cy="16550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191195" y="1371600"/>
            <a:ext cx="31245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 CoE que ya opera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8191195" y="1625803"/>
            <a:ext cx="3124505" cy="1777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Creces sin ampliar tu plantilla. Pones encima nuestro Centro de Excelencia rodado, no el tuyo por construir.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4520794" y="3708806"/>
            <a:ext cx="3454603" cy="2691994"/>
          </a:xfrm>
          <a:prstGeom prst="roundRect">
            <a:avLst>
              <a:gd name="adj" fmla="val 2819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1" name="Image 3" descr="assets/ico_gau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6300" y="3873398"/>
            <a:ext cx="165506" cy="16550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686300" y="4127602"/>
            <a:ext cx="31245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Aceleradores por proceso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4686300" y="4381805"/>
            <a:ext cx="3124505" cy="1777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Llegamos con aceleradores ya construidos —como el análisis de gestión de ayudas y de expedientes—, no partimos de cero. Dominio que no se compra con licencia.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8026603" y="3708806"/>
            <a:ext cx="3454603" cy="2691994"/>
          </a:xfrm>
          <a:prstGeom prst="roundRect">
            <a:avLst>
              <a:gd name="adj" fmla="val 2819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5" name="Image 4" descr="assets/ico_us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195" y="3873398"/>
            <a:ext cx="165506" cy="16550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8191195" y="4127602"/>
            <a:ext cx="31245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adopción, dentro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8191195" y="4381805"/>
            <a:ext cx="3124505" cy="1777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Llevamos la gestión del cambio como parte del proyecto. La pieza que decide si funciona.</a:t>
            </a:r>
            <a:endParaRPr lang="en-US" sz="800" dirty="0"/>
          </a:p>
        </p:txBody>
      </p:sp>
      <p:sp>
        <p:nvSpPr>
          <p:cNvPr id="28" name="Shape 21"/>
          <p:cNvSpPr/>
          <p:nvPr/>
        </p:nvSpPr>
        <p:spPr>
          <a:xfrm>
            <a:off x="711403" y="6590995"/>
            <a:ext cx="10769803" cy="0"/>
          </a:xfrm>
          <a:prstGeom prst="line">
            <a:avLst/>
          </a:prstGeom>
          <a:noFill/>
          <a:ln w="12700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2"/>
          <p:cNvSpPr txBox="1"/>
          <p:nvPr/>
        </p:nvSpPr>
        <p:spPr>
          <a:xfrm>
            <a:off x="711403" y="6642202"/>
            <a:ext cx="82552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1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ENTELGY · PROCESS INTELLIGENCE · 2026</a:t>
            </a:r>
            <a:endParaRPr lang="en-US" sz="700" dirty="0"/>
          </a:p>
        </p:txBody>
      </p:sp>
      <p:sp>
        <p:nvSpPr>
          <p:cNvPr id="30" name="Text 23"/>
          <p:cNvSpPr txBox="1"/>
          <p:nvPr/>
        </p:nvSpPr>
        <p:spPr>
          <a:xfrm>
            <a:off x="8941003" y="6642202"/>
            <a:ext cx="25402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00" kern="0" spc="1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14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" y="304495"/>
            <a:ext cx="680314" cy="19019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446106" y="279806"/>
            <a:ext cx="1035101" cy="215798"/>
          </a:xfrm>
          <a:prstGeom prst="roundRect">
            <a:avLst>
              <a:gd name="adj" fmla="val 50000"/>
            </a:avLst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 txBox="1"/>
          <p:nvPr/>
        </p:nvSpPr>
        <p:spPr>
          <a:xfrm>
            <a:off x="10446106" y="279806"/>
            <a:ext cx="1035101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kern="0" spc="100" dirty="0">
                <a:solidFill>
                  <a:srgbClr val="354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La apuesta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711403" y="952805"/>
            <a:ext cx="9525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respuesta natural al </a:t>
            </a:r>
            <a:r>
              <a:rPr lang="en-US" sz="2500" b="1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 Act</a:t>
            </a:r>
            <a:r>
              <a:rPr lang="en-US" sz="25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711403" y="1422806"/>
            <a:ext cx="7619695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AI Act no te pide otra herramienta: te pide demostrar, sobre la ejecución real, quién decide qué —la persona o la IA— y con qué trazabilidad.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11403" y="2540203"/>
            <a:ext cx="3174797" cy="1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0" spc="200" dirty="0">
                <a:solidFill>
                  <a:srgbClr val="5E3D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AUDIT-READY · PROCESOS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11403" y="2743200"/>
            <a:ext cx="4444898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 process mining sobre la ejecución real, dejas registrado </a:t>
            </a:r>
            <a:r>
              <a:rPr lang="en-US" sz="10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qué decidió la IA, qué decidió la persona</a:t>
            </a:r>
            <a:r>
              <a:rPr lang="en-US" sz="10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y con qué trazabilidad.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11403" y="3276295"/>
            <a:ext cx="4444898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 lo que el AI Act exige documentar en sistemas de alto riesgo </a:t>
            </a:r>
            <a:r>
              <a:rPr lang="en-US" sz="10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(dic·2027)</a:t>
            </a:r>
            <a:r>
              <a:rPr lang="en-US" sz="10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La capa de procesos del gobierno de la IA, vendible como servicio propio.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11403" y="3911803"/>
            <a:ext cx="4444898" cy="1524305"/>
          </a:xfrm>
          <a:prstGeom prst="roundRect">
            <a:avLst>
              <a:gd name="adj" fmla="val 4979"/>
            </a:avLst>
          </a:prstGeom>
          <a:solidFill>
            <a:srgbClr val="FFFFFF"/>
          </a:solidFill>
          <a:ln w="19050">
            <a:solidFill>
              <a:srgbClr val="57BE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888797" y="4089197"/>
            <a:ext cx="254203" cy="254203"/>
          </a:xfrm>
          <a:prstGeom prst="roundRect">
            <a:avLst>
              <a:gd name="adj" fmla="val 24820"/>
            </a:avLst>
          </a:prstGeom>
          <a:solidFill>
            <a:srgbClr val="D6F1E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 txBox="1"/>
          <p:nvPr/>
        </p:nvSpPr>
        <p:spPr>
          <a:xfrm>
            <a:off x="1244498" y="4101998"/>
            <a:ext cx="2540203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Oficina de Gobernanza Humana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063594" y="4101998"/>
            <a:ext cx="914400" cy="190195"/>
          </a:xfrm>
          <a:prstGeom prst="roundRect">
            <a:avLst>
              <a:gd name="adj" fmla="val 50000"/>
            </a:avLst>
          </a:prstGeom>
          <a:solidFill>
            <a:srgbClr val="D6F1E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 txBox="1"/>
          <p:nvPr/>
        </p:nvSpPr>
        <p:spPr>
          <a:xfrm>
            <a:off x="4063594" y="4101998"/>
            <a:ext cx="91440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kern="0" spc="100" dirty="0">
                <a:solidFill>
                  <a:srgbClr val="3A8E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PRÁCTICA ENTELGY</a:t>
            </a:r>
            <a:endParaRPr lang="en-US" sz="700" dirty="0"/>
          </a:p>
        </p:txBody>
      </p:sp>
      <p:sp>
        <p:nvSpPr>
          <p:cNvPr id="15" name="Text 12"/>
          <p:cNvSpPr txBox="1"/>
          <p:nvPr/>
        </p:nvSpPr>
        <p:spPr>
          <a:xfrm>
            <a:off x="888797" y="4394606"/>
            <a:ext cx="4063594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Toma esa trazabilidad y lleva el proceso al </a:t>
            </a:r>
            <a:r>
              <a:rPr lang="en-US" sz="9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siguiente nivel</a:t>
            </a:r>
            <a:r>
              <a:rPr lang="en-US" sz="9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lo deja listo para el sello de gobierno de la IA. La práctica ya existe; el paso está disponible.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88797" y="4966106"/>
            <a:ext cx="1274674" cy="202997"/>
          </a:xfrm>
          <a:prstGeom prst="roundRect">
            <a:avLst>
              <a:gd name="adj" fmla="val 50000"/>
            </a:avLst>
          </a:prstGeom>
          <a:solidFill>
            <a:srgbClr val="EDE3F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 txBox="1"/>
          <p:nvPr/>
        </p:nvSpPr>
        <p:spPr>
          <a:xfrm>
            <a:off x="888797" y="4966106"/>
            <a:ext cx="1274674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5E3D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Trazabilidad audit-ready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2240280" y="4966106"/>
            <a:ext cx="954634" cy="202997"/>
          </a:xfrm>
          <a:prstGeom prst="roundRect">
            <a:avLst>
              <a:gd name="adj" fmla="val 50000"/>
            </a:avLst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 txBox="1"/>
          <p:nvPr/>
        </p:nvSpPr>
        <p:spPr>
          <a:xfrm>
            <a:off x="2240280" y="4966106"/>
            <a:ext cx="954634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354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Gobernanza Humana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3271723" y="4966106"/>
            <a:ext cx="1366114" cy="202997"/>
          </a:xfrm>
          <a:prstGeom prst="roundRect">
            <a:avLst>
              <a:gd name="adj" fmla="val 50000"/>
            </a:avLst>
          </a:prstGeom>
          <a:solidFill>
            <a:srgbClr val="D6F1E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 txBox="1"/>
          <p:nvPr/>
        </p:nvSpPr>
        <p:spPr>
          <a:xfrm>
            <a:off x="3271723" y="4966106"/>
            <a:ext cx="1366114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3A8E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Sello de gobierno de la IA</a:t>
            </a:r>
            <a:endParaRPr lang="en-US" sz="700" dirty="0"/>
          </a:p>
        </p:txBody>
      </p:sp>
      <p:sp>
        <p:nvSpPr>
          <p:cNvPr id="22" name="Text 19"/>
          <p:cNvSpPr txBox="1"/>
          <p:nvPr/>
        </p:nvSpPr>
        <p:spPr>
          <a:xfrm>
            <a:off x="5715000" y="3238805"/>
            <a:ext cx="5715000" cy="1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0" spc="2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FRENTE AL INTEGRADOR QUE SOLO HABLA DE CUMPLIMIENTO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715000" y="3480206"/>
            <a:ext cx="5766206" cy="698602"/>
          </a:xfrm>
          <a:prstGeom prst="roundRect">
            <a:avLst>
              <a:gd name="adj" fmla="val 9031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1"/>
          <p:cNvSpPr txBox="1"/>
          <p:nvPr/>
        </p:nvSpPr>
        <p:spPr>
          <a:xfrm>
            <a:off x="5905195" y="3480206"/>
            <a:ext cx="761695" cy="698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A62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Ellos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730898" y="3480206"/>
            <a:ext cx="4572000" cy="698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Hablan de AI Act, soberanía y control. Buen relato, sin operar la minería que lo sostiene.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715000" y="4280306"/>
            <a:ext cx="5766206" cy="761695"/>
          </a:xfrm>
          <a:prstGeom prst="roundRect">
            <a:avLst>
              <a:gd name="adj" fmla="val 8283"/>
            </a:avLst>
          </a:prstGeom>
          <a:solidFill>
            <a:srgbClr val="041C2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4"/>
          <p:cNvSpPr txBox="1"/>
          <p:nvPr/>
        </p:nvSpPr>
        <p:spPr>
          <a:xfrm>
            <a:off x="5905195" y="4280306"/>
            <a:ext cx="761695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Entelgy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6730898" y="4280306"/>
            <a:ext cx="4572000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D6E0E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Implantamos y sostenemos el process mining que vuelve </a:t>
            </a:r>
            <a:r>
              <a:rPr lang="en-US" sz="1000" b="1" dirty="0">
                <a:solidFill>
                  <a:srgbClr val="57BE8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auditables los procesos de verdad</a:t>
            </a:r>
            <a:r>
              <a:rPr lang="en-US" sz="1000" dirty="0">
                <a:solidFill>
                  <a:srgbClr val="D6E0E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la prueba, no el titular.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11403" y="6223406"/>
            <a:ext cx="1015989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Benchmark competitivo del área, 2026 · EU AI Act, Digital Omnibus (alto riesgo, dic·2027).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711403" y="6590995"/>
            <a:ext cx="10769803" cy="0"/>
          </a:xfrm>
          <a:prstGeom prst="line">
            <a:avLst/>
          </a:prstGeom>
          <a:noFill/>
          <a:ln w="12700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8"/>
          <p:cNvSpPr txBox="1"/>
          <p:nvPr/>
        </p:nvSpPr>
        <p:spPr>
          <a:xfrm>
            <a:off x="711403" y="6642202"/>
            <a:ext cx="82552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1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ENTELGY · PROCESS INTELLIGENCE · 2026</a:t>
            </a:r>
            <a:endParaRPr lang="en-US" sz="700" dirty="0"/>
          </a:p>
        </p:txBody>
      </p:sp>
      <p:sp>
        <p:nvSpPr>
          <p:cNvPr id="32" name="Text 29"/>
          <p:cNvSpPr txBox="1"/>
          <p:nvPr/>
        </p:nvSpPr>
        <p:spPr>
          <a:xfrm>
            <a:off x="8941003" y="6642202"/>
            <a:ext cx="25402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00" kern="0" spc="1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14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" y="304495"/>
            <a:ext cx="680314" cy="19019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172700" y="279806"/>
            <a:ext cx="1308506" cy="215798"/>
          </a:xfrm>
          <a:prstGeom prst="roundRect">
            <a:avLst>
              <a:gd name="adj" fmla="val 50000"/>
            </a:avLst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 txBox="1"/>
          <p:nvPr/>
        </p:nvSpPr>
        <p:spPr>
          <a:xfrm>
            <a:off x="10172700" y="279806"/>
            <a:ext cx="1308506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kern="0" spc="100" dirty="0">
                <a:solidFill>
                  <a:srgbClr val="354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· Por qué creerlo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711403" y="952805"/>
            <a:ext cx="1015989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 te pedimos un acto de fe. Lo respaldan </a:t>
            </a:r>
            <a:r>
              <a:rPr lang="en-US" sz="2500" b="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terceros</a:t>
            </a:r>
            <a:r>
              <a:rPr lang="en-US" sz="25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711403" y="1904695"/>
            <a:ext cx="5016398" cy="2984602"/>
          </a:xfrm>
          <a:prstGeom prst="roundRect">
            <a:avLst>
              <a:gd name="adj" fmla="val 2972"/>
            </a:avLst>
          </a:prstGeom>
          <a:solidFill>
            <a:srgbClr val="041C2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 txBox="1"/>
          <p:nvPr/>
        </p:nvSpPr>
        <p:spPr>
          <a:xfrm>
            <a:off x="952805" y="2108606"/>
            <a:ext cx="4444898" cy="1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0" spc="200" dirty="0">
                <a:solidFill>
                  <a:srgbClr val="57BE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MAGIC QUADRANT 2026 · PROCESS INTELLIGENCE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952805" y="2286000"/>
            <a:ext cx="4444898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Operamos con los Leaders del cuadrante.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52805" y="2667305"/>
            <a:ext cx="4520794" cy="1587398"/>
          </a:xfrm>
          <a:prstGeom prst="rect">
            <a:avLst/>
          </a:prstGeom>
          <a:solidFill>
            <a:srgbClr val="07202F"/>
          </a:solidFill>
          <a:ln w="12700">
            <a:solidFill>
              <a:srgbClr val="2440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3213202" y="2667305"/>
            <a:ext cx="2260397" cy="793699"/>
          </a:xfrm>
          <a:prstGeom prst="rect">
            <a:avLst/>
          </a:prstGeom>
          <a:solidFill>
            <a:srgbClr val="12352A">
              <a:alpha val="8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 txBox="1"/>
          <p:nvPr/>
        </p:nvSpPr>
        <p:spPr>
          <a:xfrm>
            <a:off x="4826203" y="2743200"/>
            <a:ext cx="571500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00" kern="0" spc="100" dirty="0">
                <a:solidFill>
                  <a:srgbClr val="57BE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LEADERS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3213202" y="2667305"/>
            <a:ext cx="0" cy="1587398"/>
          </a:xfrm>
          <a:prstGeom prst="line">
            <a:avLst/>
          </a:prstGeom>
          <a:noFill/>
          <a:ln w="12700">
            <a:solidFill>
              <a:srgbClr val="2440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952805" y="3461004"/>
            <a:ext cx="4520794" cy="0"/>
          </a:xfrm>
          <a:prstGeom prst="line">
            <a:avLst/>
          </a:prstGeom>
          <a:noFill/>
          <a:ln w="12700">
            <a:solidFill>
              <a:srgbClr val="2440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 txBox="1"/>
          <p:nvPr/>
        </p:nvSpPr>
        <p:spPr>
          <a:xfrm>
            <a:off x="1003097" y="2743200"/>
            <a:ext cx="1904695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kern="0" spc="100" dirty="0">
                <a:solidFill>
                  <a:srgbClr val="7B8B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CAPACIDAD DE EJECUCIÓN</a:t>
            </a:r>
            <a:endParaRPr lang="en-US" sz="600" dirty="0"/>
          </a:p>
        </p:txBody>
      </p:sp>
      <p:sp>
        <p:nvSpPr>
          <p:cNvPr id="15" name="Text 12"/>
          <p:cNvSpPr txBox="1"/>
          <p:nvPr/>
        </p:nvSpPr>
        <p:spPr>
          <a:xfrm>
            <a:off x="4063594" y="4114800"/>
            <a:ext cx="1397203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kern="0" spc="100" dirty="0">
                <a:solidFill>
                  <a:srgbClr val="7B8B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VISIÓN COMPLETA →</a:t>
            </a:r>
            <a:endParaRPr lang="en-US" sz="600" dirty="0"/>
          </a:p>
        </p:txBody>
      </p:sp>
      <p:sp>
        <p:nvSpPr>
          <p:cNvPr id="16" name="Shape 13"/>
          <p:cNvSpPr/>
          <p:nvPr/>
        </p:nvSpPr>
        <p:spPr>
          <a:xfrm>
            <a:off x="4343400" y="2946197"/>
            <a:ext cx="75895" cy="75895"/>
          </a:xfrm>
          <a:prstGeom prst="roundRect">
            <a:avLst>
              <a:gd name="adj" fmla="val 50603"/>
            </a:avLst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4444898" y="2883103"/>
            <a:ext cx="482803" cy="190195"/>
          </a:xfrm>
          <a:prstGeom prst="roundRect">
            <a:avLst>
              <a:gd name="adj" fmla="val 2019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 txBox="1"/>
          <p:nvPr/>
        </p:nvSpPr>
        <p:spPr>
          <a:xfrm>
            <a:off x="4444898" y="2883103"/>
            <a:ext cx="482803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Celonis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834994" y="3124505"/>
            <a:ext cx="75895" cy="75895"/>
          </a:xfrm>
          <a:prstGeom prst="roundRect">
            <a:avLst>
              <a:gd name="adj" fmla="val 50603"/>
            </a:avLst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Shape 17"/>
          <p:cNvSpPr/>
          <p:nvPr/>
        </p:nvSpPr>
        <p:spPr>
          <a:xfrm>
            <a:off x="3937406" y="3060497"/>
            <a:ext cx="533095" cy="190195"/>
          </a:xfrm>
          <a:prstGeom prst="roundRect">
            <a:avLst>
              <a:gd name="adj" fmla="val 2019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 txBox="1"/>
          <p:nvPr/>
        </p:nvSpPr>
        <p:spPr>
          <a:xfrm>
            <a:off x="3937406" y="3060497"/>
            <a:ext cx="5330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Signavio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2057400" y="3263494"/>
            <a:ext cx="75895" cy="75895"/>
          </a:xfrm>
          <a:prstGeom prst="roundRect">
            <a:avLst>
              <a:gd name="adj" fmla="val 50603"/>
            </a:avLst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Shape 20"/>
          <p:cNvSpPr/>
          <p:nvPr/>
        </p:nvSpPr>
        <p:spPr>
          <a:xfrm>
            <a:off x="2158898" y="3200400"/>
            <a:ext cx="533095" cy="190195"/>
          </a:xfrm>
          <a:prstGeom prst="roundRect">
            <a:avLst>
              <a:gd name="adj" fmla="val 2019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1"/>
          <p:cNvSpPr txBox="1"/>
          <p:nvPr/>
        </p:nvSpPr>
        <p:spPr>
          <a:xfrm>
            <a:off x="2158898" y="3200400"/>
            <a:ext cx="5330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inverbis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1904695" y="3429000"/>
            <a:ext cx="13972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kern="0" spc="100" dirty="0">
                <a:solidFill>
                  <a:srgbClr val="9FB1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HONORABLE MENTION</a:t>
            </a:r>
            <a:endParaRPr lang="en-US" sz="600" dirty="0"/>
          </a:p>
        </p:txBody>
      </p:sp>
      <p:sp>
        <p:nvSpPr>
          <p:cNvPr id="26" name="Text 23"/>
          <p:cNvSpPr txBox="1"/>
          <p:nvPr/>
        </p:nvSpPr>
        <p:spPr>
          <a:xfrm>
            <a:off x="952805" y="4381805"/>
            <a:ext cx="4520794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Leaders y 1 Honorable Mention. </a:t>
            </a:r>
            <a:r>
              <a:rPr lang="en-US" sz="900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3, en nuestro portfolio.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842102" y="1904695"/>
            <a:ext cx="2819095" cy="888797"/>
          </a:xfrm>
          <a:prstGeom prst="roundRect">
            <a:avLst>
              <a:gd name="adj" fmla="val 8539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5"/>
          <p:cNvSpPr txBox="1"/>
          <p:nvPr/>
        </p:nvSpPr>
        <p:spPr>
          <a:xfrm>
            <a:off x="5994806" y="2018995"/>
            <a:ext cx="2540203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Gold</a:t>
            </a:r>
            <a:endParaRPr lang="en-US" sz="2300" dirty="0"/>
          </a:p>
        </p:txBody>
      </p:sp>
      <p:sp>
        <p:nvSpPr>
          <p:cNvPr id="29" name="Text 26"/>
          <p:cNvSpPr txBox="1"/>
          <p:nvPr/>
        </p:nvSpPr>
        <p:spPr>
          <a:xfrm>
            <a:off x="5994806" y="2361895"/>
            <a:ext cx="254020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8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Partner Celonis · premio europeo 2024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8661197" y="1904695"/>
            <a:ext cx="2819095" cy="888797"/>
          </a:xfrm>
          <a:prstGeom prst="roundRect">
            <a:avLst>
              <a:gd name="adj" fmla="val 8539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8"/>
          <p:cNvSpPr txBox="1"/>
          <p:nvPr/>
        </p:nvSpPr>
        <p:spPr>
          <a:xfrm>
            <a:off x="8813902" y="2018995"/>
            <a:ext cx="2540203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6 países</a:t>
            </a:r>
            <a:endParaRPr lang="en-US" sz="2300" dirty="0"/>
          </a:p>
        </p:txBody>
      </p:sp>
      <p:sp>
        <p:nvSpPr>
          <p:cNvPr id="32" name="Text 29"/>
          <p:cNvSpPr txBox="1"/>
          <p:nvPr/>
        </p:nvSpPr>
        <p:spPr>
          <a:xfrm>
            <a:off x="8813902" y="2361895"/>
            <a:ext cx="254020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8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Capacidad: ES · CL · AR · PE · CO · BR · desplegado en 3 (ES · CL · CO)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5842102" y="2870302"/>
            <a:ext cx="2819095" cy="888797"/>
          </a:xfrm>
          <a:prstGeom prst="roundRect">
            <a:avLst>
              <a:gd name="adj" fmla="val 8539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1"/>
          <p:cNvSpPr txBox="1"/>
          <p:nvPr/>
        </p:nvSpPr>
        <p:spPr>
          <a:xfrm>
            <a:off x="5994806" y="2984602"/>
            <a:ext cx="2540203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+50 proyectos</a:t>
            </a:r>
            <a:endParaRPr lang="en-US" sz="2300" dirty="0"/>
          </a:p>
        </p:txBody>
      </p:sp>
      <p:sp>
        <p:nvSpPr>
          <p:cNvPr id="35" name="Text 32"/>
          <p:cNvSpPr txBox="1"/>
          <p:nvPr/>
        </p:nvSpPr>
        <p:spPr>
          <a:xfrm>
            <a:off x="5994806" y="3327502"/>
            <a:ext cx="254020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8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desplegados · +12 con cifras cuantificadas, en varios sectores y países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8661197" y="2870302"/>
            <a:ext cx="2819095" cy="888797"/>
          </a:xfrm>
          <a:prstGeom prst="roundRect">
            <a:avLst>
              <a:gd name="adj" fmla="val 8539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4"/>
          <p:cNvSpPr txBox="1"/>
          <p:nvPr/>
        </p:nvSpPr>
        <p:spPr>
          <a:xfrm>
            <a:off x="8813902" y="2984602"/>
            <a:ext cx="2540203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CoE</a:t>
            </a:r>
            <a:endParaRPr lang="en-US" sz="2300" dirty="0"/>
          </a:p>
        </p:txBody>
      </p:sp>
      <p:sp>
        <p:nvSpPr>
          <p:cNvPr id="38" name="Text 35"/>
          <p:cNvSpPr txBox="1"/>
          <p:nvPr/>
        </p:nvSpPr>
        <p:spPr>
          <a:xfrm>
            <a:off x="8813902" y="3327502"/>
            <a:ext cx="254020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8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Centro de Excelencia certificado · España y Latam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842102" y="3860597"/>
            <a:ext cx="5639105" cy="1028700"/>
          </a:xfrm>
          <a:prstGeom prst="roundRect">
            <a:avLst>
              <a:gd name="adj" fmla="val 7378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7"/>
          <p:cNvSpPr txBox="1"/>
          <p:nvPr/>
        </p:nvSpPr>
        <p:spPr>
          <a:xfrm>
            <a:off x="5994806" y="4013302"/>
            <a:ext cx="3174797" cy="1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0" spc="2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CARTERA · VARIOS SECTORES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994806" y="4267505"/>
            <a:ext cx="733349" cy="27980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39"/>
          <p:cNvSpPr txBox="1"/>
          <p:nvPr/>
        </p:nvSpPr>
        <p:spPr>
          <a:xfrm>
            <a:off x="5994806" y="4267505"/>
            <a:ext cx="73334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Iberdrola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6816852" y="4267505"/>
            <a:ext cx="612648" cy="27980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1"/>
          <p:cNvSpPr txBox="1"/>
          <p:nvPr/>
        </p:nvSpPr>
        <p:spPr>
          <a:xfrm>
            <a:off x="6816852" y="4267505"/>
            <a:ext cx="612648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Vidrala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7518197" y="4267505"/>
            <a:ext cx="431597" cy="27980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Text 43"/>
          <p:cNvSpPr txBox="1"/>
          <p:nvPr/>
        </p:nvSpPr>
        <p:spPr>
          <a:xfrm>
            <a:off x="7518197" y="4267505"/>
            <a:ext cx="431597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VWFS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8039405" y="4267505"/>
            <a:ext cx="793699" cy="27980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Text 45"/>
          <p:cNvSpPr txBox="1"/>
          <p:nvPr/>
        </p:nvSpPr>
        <p:spPr>
          <a:xfrm>
            <a:off x="8039405" y="4267505"/>
            <a:ext cx="79369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Servinform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8921801" y="4267505"/>
            <a:ext cx="552298" cy="27980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Text 47"/>
          <p:cNvSpPr txBox="1"/>
          <p:nvPr/>
        </p:nvSpPr>
        <p:spPr>
          <a:xfrm>
            <a:off x="8921801" y="4267505"/>
            <a:ext cx="552298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Molins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9562795" y="4267505"/>
            <a:ext cx="1035101" cy="27980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Text 49"/>
          <p:cNvSpPr txBox="1"/>
          <p:nvPr/>
        </p:nvSpPr>
        <p:spPr>
          <a:xfrm>
            <a:off x="9562795" y="4267505"/>
            <a:ext cx="1035101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CIE Automotive</a:t>
            </a:r>
            <a:endParaRPr lang="en-US" sz="900" dirty="0"/>
          </a:p>
        </p:txBody>
      </p:sp>
      <p:sp>
        <p:nvSpPr>
          <p:cNvPr id="53" name="Text 50"/>
          <p:cNvSpPr txBox="1"/>
          <p:nvPr/>
        </p:nvSpPr>
        <p:spPr>
          <a:xfrm>
            <a:off x="711403" y="6223406"/>
            <a:ext cx="107954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Gartner, Magic Quadrant for Process Intelligence Platforms, 5 may 2026 (Celonis y SAP Signavio, Leaders). Naming de cliente sujeto a autorización por referencia.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711403" y="6590995"/>
            <a:ext cx="10769803" cy="0"/>
          </a:xfrm>
          <a:prstGeom prst="line">
            <a:avLst/>
          </a:prstGeom>
          <a:noFill/>
          <a:ln w="12700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Text 52"/>
          <p:cNvSpPr txBox="1"/>
          <p:nvPr/>
        </p:nvSpPr>
        <p:spPr>
          <a:xfrm>
            <a:off x="711403" y="6642202"/>
            <a:ext cx="82552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1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ENTELGY · PROCESS INTELLIGENCE · 2026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8941003" y="6642202"/>
            <a:ext cx="25402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00" kern="0" spc="1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14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" y="304495"/>
            <a:ext cx="680314" cy="19019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954158" y="279806"/>
            <a:ext cx="1526134" cy="215798"/>
          </a:xfrm>
          <a:prstGeom prst="roundRect">
            <a:avLst>
              <a:gd name="adj" fmla="val 50000"/>
            </a:avLst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 txBox="1"/>
          <p:nvPr/>
        </p:nvSpPr>
        <p:spPr>
          <a:xfrm>
            <a:off x="9954158" y="279806"/>
            <a:ext cx="1526134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kern="0" spc="100" dirty="0">
                <a:solidFill>
                  <a:srgbClr val="354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· Sectores y clientes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711403" y="952805"/>
            <a:ext cx="1015989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Tres sectores, clientes reales y una promesa </a:t>
            </a:r>
            <a:r>
              <a:rPr lang="en-US" sz="2500" b="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probada</a:t>
            </a:r>
            <a:r>
              <a:rPr lang="en-US" sz="25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711403" y="2031797"/>
            <a:ext cx="3276295" cy="3429000"/>
          </a:xfrm>
          <a:prstGeom prst="roundRect">
            <a:avLst>
              <a:gd name="adj" fmla="val 2316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711403" y="2031797"/>
            <a:ext cx="3276295" cy="25603"/>
          </a:xfrm>
          <a:prstGeom prst="rect">
            <a:avLst/>
          </a:prstGeom>
          <a:solidFill>
            <a:srgbClr val="3A8E63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8" name="Image 1" descr="assets/ico_land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797" y="2210105"/>
            <a:ext cx="165506" cy="16550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88797" y="2463394"/>
            <a:ext cx="2920594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Administración Pública y Salud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888797" y="3010205"/>
            <a:ext cx="1688897" cy="190195"/>
          </a:xfrm>
          <a:prstGeom prst="roundRect">
            <a:avLst>
              <a:gd name="adj" fmla="val 50000"/>
            </a:avLst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7"/>
          <p:cNvSpPr txBox="1"/>
          <p:nvPr/>
        </p:nvSpPr>
        <p:spPr>
          <a:xfrm>
            <a:off x="888797" y="3010205"/>
            <a:ext cx="1688897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354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Lanbide · Servicio Vasco de Empleo</a:t>
            </a:r>
            <a:endParaRPr lang="en-US" sz="700" dirty="0"/>
          </a:p>
        </p:txBody>
      </p:sp>
      <p:sp>
        <p:nvSpPr>
          <p:cNvPr id="12" name="Text 8"/>
          <p:cNvSpPr txBox="1"/>
          <p:nvPr/>
        </p:nvSpPr>
        <p:spPr>
          <a:xfrm>
            <a:off x="888797" y="3263494"/>
            <a:ext cx="2920594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1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GESTIÓN DEL INGRESO MÍNIMO VITAL</a:t>
            </a:r>
            <a:endParaRPr lang="en-US" sz="700" dirty="0"/>
          </a:p>
        </p:txBody>
      </p:sp>
      <p:sp>
        <p:nvSpPr>
          <p:cNvPr id="13" name="Text 9"/>
          <p:cNvSpPr txBox="1"/>
          <p:nvPr/>
        </p:nvSpPr>
        <p:spPr>
          <a:xfrm>
            <a:off x="888797" y="3403397"/>
            <a:ext cx="2920594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+500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888797" y="3720694"/>
            <a:ext cx="2920594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usuarios a diario · 23.000 horas/año liberadas.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888797" y="4280306"/>
            <a:ext cx="1244498" cy="190195"/>
          </a:xfrm>
          <a:prstGeom prst="roundRect">
            <a:avLst>
              <a:gd name="adj" fmla="val 50000"/>
            </a:avLst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2"/>
          <p:cNvSpPr txBox="1"/>
          <p:nvPr/>
        </p:nvSpPr>
        <p:spPr>
          <a:xfrm>
            <a:off x="888797" y="4280306"/>
            <a:ext cx="124449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354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DUOC · Educación (Chile)</a:t>
            </a:r>
            <a:endParaRPr lang="en-US" sz="700" dirty="0"/>
          </a:p>
        </p:txBody>
      </p:sp>
      <p:sp>
        <p:nvSpPr>
          <p:cNvPr id="17" name="Text 13"/>
          <p:cNvSpPr txBox="1"/>
          <p:nvPr/>
        </p:nvSpPr>
        <p:spPr>
          <a:xfrm>
            <a:off x="888797" y="4533595"/>
            <a:ext cx="2920594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1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EVALUACIÓN PREVIA A ESCALAR</a:t>
            </a:r>
            <a:endParaRPr lang="en-US" sz="700" dirty="0"/>
          </a:p>
        </p:txBody>
      </p:sp>
      <p:sp>
        <p:nvSpPr>
          <p:cNvPr id="18" name="Text 14"/>
          <p:cNvSpPr txBox="1"/>
          <p:nvPr/>
        </p:nvSpPr>
        <p:spPr>
          <a:xfrm>
            <a:off x="888797" y="4673498"/>
            <a:ext cx="292059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Benchmark imparcial con Inverbis · solución española, marco ENS y lenguaje de pliego.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292194" y="2031797"/>
            <a:ext cx="3276295" cy="3429000"/>
          </a:xfrm>
          <a:prstGeom prst="roundRect">
            <a:avLst>
              <a:gd name="adj" fmla="val 2316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6"/>
          <p:cNvSpPr/>
          <p:nvPr/>
        </p:nvSpPr>
        <p:spPr>
          <a:xfrm>
            <a:off x="4292194" y="2031797"/>
            <a:ext cx="3276295" cy="25603"/>
          </a:xfrm>
          <a:prstGeom prst="rect">
            <a:avLst/>
          </a:prstGeom>
          <a:solidFill>
            <a:srgbClr val="3A8E63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1" name="Image 2" descr="assets/ico_ba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0502" y="2210105"/>
            <a:ext cx="165506" cy="16550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470502" y="2463394"/>
            <a:ext cx="2920594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Banca, Finanzas y Seguros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4470502" y="3010205"/>
            <a:ext cx="977494" cy="190195"/>
          </a:xfrm>
          <a:prstGeom prst="roundRect">
            <a:avLst>
              <a:gd name="adj" fmla="val 50000"/>
            </a:avLst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19"/>
          <p:cNvSpPr txBox="1"/>
          <p:nvPr/>
        </p:nvSpPr>
        <p:spPr>
          <a:xfrm>
            <a:off x="4470502" y="3010205"/>
            <a:ext cx="977494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354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Entidad financiera</a:t>
            </a:r>
            <a:endParaRPr lang="en-US" sz="700" dirty="0"/>
          </a:p>
        </p:txBody>
      </p:sp>
      <p:sp>
        <p:nvSpPr>
          <p:cNvPr id="25" name="Text 20"/>
          <p:cNvSpPr txBox="1"/>
          <p:nvPr/>
        </p:nvSpPr>
        <p:spPr>
          <a:xfrm>
            <a:off x="4470502" y="3263494"/>
            <a:ext cx="2920594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1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CONSOLIDACIÓN DE CRÉDITOS</a:t>
            </a:r>
            <a:endParaRPr lang="en-US" sz="700" dirty="0"/>
          </a:p>
        </p:txBody>
      </p:sp>
      <p:sp>
        <p:nvSpPr>
          <p:cNvPr id="26" name="Text 21"/>
          <p:cNvSpPr txBox="1"/>
          <p:nvPr/>
        </p:nvSpPr>
        <p:spPr>
          <a:xfrm>
            <a:off x="4470502" y="3403397"/>
            <a:ext cx="2920594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283 K€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4470502" y="3720694"/>
            <a:ext cx="2920594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ahorro en el proceso optimizado.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4470502" y="4280306"/>
            <a:ext cx="666598" cy="190195"/>
          </a:xfrm>
          <a:prstGeom prst="roundRect">
            <a:avLst>
              <a:gd name="adj" fmla="val 50000"/>
            </a:avLst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Text 24"/>
          <p:cNvSpPr txBox="1"/>
          <p:nvPr/>
        </p:nvSpPr>
        <p:spPr>
          <a:xfrm>
            <a:off x="4470502" y="4280306"/>
            <a:ext cx="66659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354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Aseguradora</a:t>
            </a:r>
            <a:endParaRPr lang="en-US" sz="700" dirty="0"/>
          </a:p>
        </p:txBody>
      </p:sp>
      <p:sp>
        <p:nvSpPr>
          <p:cNvPr id="30" name="Text 25"/>
          <p:cNvSpPr txBox="1"/>
          <p:nvPr/>
        </p:nvSpPr>
        <p:spPr>
          <a:xfrm>
            <a:off x="4470502" y="4533595"/>
            <a:ext cx="2920594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1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PÓLIZAS Y SINIESTROS</a:t>
            </a:r>
            <a:endParaRPr lang="en-US" sz="700" dirty="0"/>
          </a:p>
        </p:txBody>
      </p:sp>
      <p:sp>
        <p:nvSpPr>
          <p:cNvPr id="31" name="Text 26"/>
          <p:cNvSpPr txBox="1"/>
          <p:nvPr/>
        </p:nvSpPr>
        <p:spPr>
          <a:xfrm>
            <a:off x="4470502" y="4673498"/>
            <a:ext cx="292059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Detección temprana de irregularidades · menos sobrecostes por plazo.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7873898" y="2031797"/>
            <a:ext cx="3276295" cy="3429000"/>
          </a:xfrm>
          <a:prstGeom prst="roundRect">
            <a:avLst>
              <a:gd name="adj" fmla="val 2316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Shape 28"/>
          <p:cNvSpPr/>
          <p:nvPr/>
        </p:nvSpPr>
        <p:spPr>
          <a:xfrm>
            <a:off x="7873898" y="2031797"/>
            <a:ext cx="3276295" cy="25603"/>
          </a:xfrm>
          <a:prstGeom prst="rect">
            <a:avLst/>
          </a:prstGeom>
          <a:solidFill>
            <a:srgbClr val="3A8E63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4" name="Image 3" descr="assets/ico_facto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2206" y="2210105"/>
            <a:ext cx="165506" cy="165506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8052206" y="2463394"/>
            <a:ext cx="2920594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Industria</a:t>
            </a:r>
            <a:endParaRPr lang="en-US" sz="1300" dirty="0"/>
          </a:p>
        </p:txBody>
      </p:sp>
      <p:sp>
        <p:nvSpPr>
          <p:cNvPr id="36" name="Shape 30"/>
          <p:cNvSpPr/>
          <p:nvPr/>
        </p:nvSpPr>
        <p:spPr>
          <a:xfrm>
            <a:off x="8052206" y="3010205"/>
            <a:ext cx="622706" cy="190195"/>
          </a:xfrm>
          <a:prstGeom prst="roundRect">
            <a:avLst>
              <a:gd name="adj" fmla="val 50000"/>
            </a:avLst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7" name="Text 31"/>
          <p:cNvSpPr txBox="1"/>
          <p:nvPr/>
        </p:nvSpPr>
        <p:spPr>
          <a:xfrm>
            <a:off x="8052206" y="3010205"/>
            <a:ext cx="622706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354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Industrial</a:t>
            </a:r>
            <a:endParaRPr lang="en-US" sz="700" dirty="0"/>
          </a:p>
        </p:txBody>
      </p:sp>
      <p:sp>
        <p:nvSpPr>
          <p:cNvPr id="38" name="Text 32"/>
          <p:cNvSpPr txBox="1"/>
          <p:nvPr/>
        </p:nvSpPr>
        <p:spPr>
          <a:xfrm>
            <a:off x="8052206" y="3263494"/>
            <a:ext cx="2920594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1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COBRO Y RECUPERACIÓN</a:t>
            </a:r>
            <a:endParaRPr lang="en-US" sz="700" dirty="0"/>
          </a:p>
        </p:txBody>
      </p:sp>
      <p:sp>
        <p:nvSpPr>
          <p:cNvPr id="39" name="Text 33"/>
          <p:cNvSpPr txBox="1"/>
          <p:nvPr/>
        </p:nvSpPr>
        <p:spPr>
          <a:xfrm>
            <a:off x="8052206" y="3403397"/>
            <a:ext cx="2920594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256 K€</a:t>
            </a:r>
            <a:endParaRPr lang="en-US" sz="1800" dirty="0"/>
          </a:p>
        </p:txBody>
      </p:sp>
      <p:sp>
        <p:nvSpPr>
          <p:cNvPr id="40" name="Text 34"/>
          <p:cNvSpPr txBox="1"/>
          <p:nvPr/>
        </p:nvSpPr>
        <p:spPr>
          <a:xfrm>
            <a:off x="8052206" y="3720694"/>
            <a:ext cx="2920594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retorno en 7 meses (IVA, plazo, tiempo).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8052206" y="4280306"/>
            <a:ext cx="933602" cy="190195"/>
          </a:xfrm>
          <a:prstGeom prst="roundRect">
            <a:avLst>
              <a:gd name="adj" fmla="val 50000"/>
            </a:avLst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" name="Text 36"/>
          <p:cNvSpPr txBox="1"/>
          <p:nvPr/>
        </p:nvSpPr>
        <p:spPr>
          <a:xfrm>
            <a:off x="8052206" y="4280306"/>
            <a:ext cx="933602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354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Gran distribución</a:t>
            </a:r>
            <a:endParaRPr lang="en-US" sz="700" dirty="0"/>
          </a:p>
        </p:txBody>
      </p:sp>
      <p:sp>
        <p:nvSpPr>
          <p:cNvPr id="43" name="Text 37"/>
          <p:cNvSpPr txBox="1"/>
          <p:nvPr/>
        </p:nvSpPr>
        <p:spPr>
          <a:xfrm>
            <a:off x="8052206" y="4533595"/>
            <a:ext cx="2920594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1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FACTURACIÓN</a:t>
            </a:r>
            <a:endParaRPr lang="en-US" sz="700" dirty="0"/>
          </a:p>
        </p:txBody>
      </p:sp>
      <p:sp>
        <p:nvSpPr>
          <p:cNvPr id="44" name="Text 38"/>
          <p:cNvSpPr txBox="1"/>
          <p:nvPr/>
        </p:nvSpPr>
        <p:spPr>
          <a:xfrm>
            <a:off x="8052206" y="4673498"/>
            <a:ext cx="2920594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500 K€</a:t>
            </a:r>
            <a:endParaRPr lang="en-US" sz="1800" dirty="0"/>
          </a:p>
        </p:txBody>
      </p:sp>
      <p:sp>
        <p:nvSpPr>
          <p:cNvPr id="45" name="Text 39"/>
          <p:cNvSpPr txBox="1"/>
          <p:nvPr/>
        </p:nvSpPr>
        <p:spPr>
          <a:xfrm>
            <a:off x="8052206" y="4990795"/>
            <a:ext cx="2920594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anuales recuperados en facturas impagadas.</a:t>
            </a:r>
            <a:endParaRPr lang="en-US" sz="900" dirty="0"/>
          </a:p>
        </p:txBody>
      </p:sp>
      <p:sp>
        <p:nvSpPr>
          <p:cNvPr id="46" name="Text 40"/>
          <p:cNvSpPr txBox="1"/>
          <p:nvPr/>
        </p:nvSpPr>
        <p:spPr>
          <a:xfrm>
            <a:off x="711403" y="6223406"/>
            <a:ext cx="1015989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Cifras de proyectos reales del área. Naming de cliente y atribución de cifras, sujetos a autorización por referencia.</a:t>
            </a:r>
            <a:endParaRPr lang="en-US" sz="800" dirty="0"/>
          </a:p>
        </p:txBody>
      </p:sp>
      <p:sp>
        <p:nvSpPr>
          <p:cNvPr id="47" name="Shape 41"/>
          <p:cNvSpPr/>
          <p:nvPr/>
        </p:nvSpPr>
        <p:spPr>
          <a:xfrm>
            <a:off x="711403" y="6590995"/>
            <a:ext cx="10769803" cy="0"/>
          </a:xfrm>
          <a:prstGeom prst="line">
            <a:avLst/>
          </a:prstGeom>
          <a:noFill/>
          <a:ln w="12700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Text 42"/>
          <p:cNvSpPr txBox="1"/>
          <p:nvPr/>
        </p:nvSpPr>
        <p:spPr>
          <a:xfrm>
            <a:off x="711403" y="6642202"/>
            <a:ext cx="82552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1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ENTELGY · PROCESS INTELLIGENCE · 2026</a:t>
            </a:r>
            <a:endParaRPr lang="en-US" sz="700" dirty="0"/>
          </a:p>
        </p:txBody>
      </p:sp>
      <p:sp>
        <p:nvSpPr>
          <p:cNvPr id="49" name="Text 43"/>
          <p:cNvSpPr txBox="1"/>
          <p:nvPr/>
        </p:nvSpPr>
        <p:spPr>
          <a:xfrm>
            <a:off x="8941003" y="6642202"/>
            <a:ext cx="25402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00" kern="0" spc="1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14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" y="304495"/>
            <a:ext cx="680314" cy="19019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446106" y="279806"/>
            <a:ext cx="1035101" cy="215798"/>
          </a:xfrm>
          <a:prstGeom prst="roundRect">
            <a:avLst>
              <a:gd name="adj" fmla="val 50000"/>
            </a:avLst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 txBox="1"/>
          <p:nvPr/>
        </p:nvSpPr>
        <p:spPr>
          <a:xfrm>
            <a:off x="10446106" y="279806"/>
            <a:ext cx="1035101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kern="0" spc="100" dirty="0">
                <a:solidFill>
                  <a:srgbClr val="354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CASO DE ÉXITO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7366406" y="279806"/>
            <a:ext cx="761695" cy="368503"/>
          </a:xfrm>
          <a:prstGeom prst="roundRect">
            <a:avLst>
              <a:gd name="adj" fmla="val 13896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 txBox="1"/>
          <p:nvPr/>
        </p:nvSpPr>
        <p:spPr>
          <a:xfrm>
            <a:off x="7455103" y="330098"/>
            <a:ext cx="634594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kern="0" spc="1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CLIENTE</a:t>
            </a:r>
            <a:endParaRPr lang="en-US" sz="600" dirty="0"/>
          </a:p>
        </p:txBody>
      </p:sp>
      <p:sp>
        <p:nvSpPr>
          <p:cNvPr id="7" name="Text 4"/>
          <p:cNvSpPr txBox="1"/>
          <p:nvPr/>
        </p:nvSpPr>
        <p:spPr>
          <a:xfrm>
            <a:off x="7455103" y="444398"/>
            <a:ext cx="63459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Lanbide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8178394" y="279806"/>
            <a:ext cx="1587398" cy="368503"/>
          </a:xfrm>
          <a:prstGeom prst="roundRect">
            <a:avLst>
              <a:gd name="adj" fmla="val 13896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 txBox="1"/>
          <p:nvPr/>
        </p:nvSpPr>
        <p:spPr>
          <a:xfrm>
            <a:off x="8268005" y="330098"/>
            <a:ext cx="1460297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kern="0" spc="1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SECTOR</a:t>
            </a:r>
            <a:endParaRPr lang="en-US" sz="600" dirty="0"/>
          </a:p>
        </p:txBody>
      </p:sp>
      <p:sp>
        <p:nvSpPr>
          <p:cNvPr id="10" name="Text 7"/>
          <p:cNvSpPr txBox="1"/>
          <p:nvPr/>
        </p:nvSpPr>
        <p:spPr>
          <a:xfrm>
            <a:off x="8268005" y="444398"/>
            <a:ext cx="146029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Administración pública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9816998" y="279806"/>
            <a:ext cx="761695" cy="368503"/>
          </a:xfrm>
          <a:prstGeom prst="roundRect">
            <a:avLst>
              <a:gd name="adj" fmla="val 13896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 txBox="1"/>
          <p:nvPr/>
        </p:nvSpPr>
        <p:spPr>
          <a:xfrm>
            <a:off x="9905695" y="330098"/>
            <a:ext cx="634594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kern="0" spc="1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PAÍS</a:t>
            </a:r>
            <a:endParaRPr lang="en-US" sz="600" dirty="0"/>
          </a:p>
        </p:txBody>
      </p:sp>
      <p:sp>
        <p:nvSpPr>
          <p:cNvPr id="13" name="Text 10"/>
          <p:cNvSpPr txBox="1"/>
          <p:nvPr/>
        </p:nvSpPr>
        <p:spPr>
          <a:xfrm>
            <a:off x="9905695" y="444398"/>
            <a:ext cx="63459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España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711403" y="1701698"/>
            <a:ext cx="2540203" cy="1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0" spc="200" dirty="0">
                <a:solidFill>
                  <a:srgbClr val="5E3D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VALOR LIBERADO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11403" y="1904695"/>
            <a:ext cx="4826203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23.000</a:t>
            </a:r>
            <a:r>
              <a:rPr lang="en-US" sz="15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horas al año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11403" y="2781605"/>
            <a:ext cx="444489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que el personal tramitador deja de perder en gestión manual.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11403" y="3276295"/>
            <a:ext cx="3174797" cy="1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0" spc="200" dirty="0">
                <a:solidFill>
                  <a:srgbClr val="FE5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PROBLEMA A RESOLVER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11403" y="3441802"/>
            <a:ext cx="0" cy="597103"/>
          </a:xfrm>
          <a:prstGeom prst="line">
            <a:avLst/>
          </a:prstGeom>
          <a:noFill/>
          <a:ln w="38100">
            <a:solidFill>
              <a:srgbClr val="855A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 txBox="1"/>
          <p:nvPr/>
        </p:nvSpPr>
        <p:spPr>
          <a:xfrm>
            <a:off x="851306" y="3429000"/>
            <a:ext cx="4190695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gestión del Ingreso Mínimo Vital en una administración pública: registros que se acumulaban —un atasco de cinco meses— y aplicativos que no dejaban ver dónde se frenaba el trabajo ni repartir la carga.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711403" y="4216298"/>
            <a:ext cx="3174797" cy="1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0" spc="200" dirty="0">
                <a:solidFill>
                  <a:srgbClr val="FE5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CÓMO LO RESOLVIMOS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11403" y="4432097"/>
            <a:ext cx="165506" cy="165506"/>
          </a:xfrm>
          <a:prstGeom prst="roundRect">
            <a:avLst>
              <a:gd name="adj" fmla="val 49724"/>
            </a:avLst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 txBox="1"/>
          <p:nvPr/>
        </p:nvSpPr>
        <p:spPr>
          <a:xfrm>
            <a:off x="711403" y="4432097"/>
            <a:ext cx="165506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</a:t>
            </a:r>
            <a:endParaRPr lang="en-US" sz="700" dirty="0"/>
          </a:p>
        </p:txBody>
      </p:sp>
      <p:sp>
        <p:nvSpPr>
          <p:cNvPr id="23" name="Text 20"/>
          <p:cNvSpPr txBox="1"/>
          <p:nvPr/>
        </p:nvSpPr>
        <p:spPr>
          <a:xfrm>
            <a:off x="952805" y="4419295"/>
            <a:ext cx="4190695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Minería de procesos</a:t>
            </a:r>
            <a:r>
              <a:rPr lang="en-US" sz="9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sobre los registros de Regexlan y la aplicación del IMV.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711403" y="4774997"/>
            <a:ext cx="165506" cy="165506"/>
          </a:xfrm>
          <a:prstGeom prst="roundRect">
            <a:avLst>
              <a:gd name="adj" fmla="val 49724"/>
            </a:avLst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 txBox="1"/>
          <p:nvPr/>
        </p:nvSpPr>
        <p:spPr>
          <a:xfrm>
            <a:off x="711403" y="4774997"/>
            <a:ext cx="165506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952805" y="4762195"/>
            <a:ext cx="4190695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Annotation Builder</a:t>
            </a:r>
            <a:r>
              <a:rPr lang="en-US" sz="9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detecta incoherencias en los datos y propone cómo subsanarlas.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711403" y="5117897"/>
            <a:ext cx="165506" cy="165506"/>
          </a:xfrm>
          <a:prstGeom prst="roundRect">
            <a:avLst>
              <a:gd name="adj" fmla="val 49724"/>
            </a:avLst>
          </a:prstGeom>
          <a:solidFill>
            <a:srgbClr val="3A8E6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Text 25"/>
          <p:cNvSpPr txBox="1"/>
          <p:nvPr/>
        </p:nvSpPr>
        <p:spPr>
          <a:xfrm>
            <a:off x="711403" y="5117897"/>
            <a:ext cx="165506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952805" y="5105095"/>
            <a:ext cx="4190695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3 meses</a:t>
            </a:r>
            <a:r>
              <a:rPr lang="en-US" sz="9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en uso diario por el personal tramitador —paneles de priorización y seguimiento del expediente.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715000" y="1701698"/>
            <a:ext cx="5766206" cy="2984602"/>
          </a:xfrm>
          <a:prstGeom prst="roundRect">
            <a:avLst>
              <a:gd name="adj" fmla="val 2543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  <a:effectLst>
            <a:outerShdw blurRad="177800" dist="76200" dir="5400000" algn="bl" rotWithShape="0">
              <a:srgbClr val="041C2C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hape 28"/>
          <p:cNvSpPr/>
          <p:nvPr/>
        </p:nvSpPr>
        <p:spPr>
          <a:xfrm>
            <a:off x="5867705" y="1854403"/>
            <a:ext cx="75895" cy="75895"/>
          </a:xfrm>
          <a:prstGeom prst="roundRect">
            <a:avLst>
              <a:gd name="adj" fmla="val 50603"/>
            </a:avLst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 29"/>
          <p:cNvSpPr txBox="1"/>
          <p:nvPr/>
        </p:nvSpPr>
        <p:spPr>
          <a:xfrm>
            <a:off x="6019495" y="1815998"/>
            <a:ext cx="317479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Aplicativo IMV · Panel operativo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10159898" y="1828800"/>
            <a:ext cx="1206094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600" kern="0" spc="1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VISTA ILUSTRATIVA</a:t>
            </a:r>
            <a:endParaRPr lang="en-US" sz="600" dirty="0"/>
          </a:p>
        </p:txBody>
      </p:sp>
      <p:sp>
        <p:nvSpPr>
          <p:cNvPr id="34" name="Text 31"/>
          <p:cNvSpPr txBox="1"/>
          <p:nvPr/>
        </p:nvSpPr>
        <p:spPr>
          <a:xfrm>
            <a:off x="5867705" y="2095805"/>
            <a:ext cx="1777594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82 %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5867705" y="2361895"/>
            <a:ext cx="17775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kern="0" spc="1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REGISTROS CON +1 MES</a:t>
            </a:r>
            <a:endParaRPr lang="en-US" sz="600" dirty="0"/>
          </a:p>
        </p:txBody>
      </p:sp>
      <p:sp>
        <p:nvSpPr>
          <p:cNvPr id="36" name="Text 33"/>
          <p:cNvSpPr txBox="1"/>
          <p:nvPr/>
        </p:nvSpPr>
        <p:spPr>
          <a:xfrm>
            <a:off x="7772400" y="2095805"/>
            <a:ext cx="1777594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 meses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7772400" y="2361895"/>
            <a:ext cx="17775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kern="0" spc="1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 ATASCO INICIAL</a:t>
            </a:r>
            <a:endParaRPr lang="en-US" sz="600" dirty="0"/>
          </a:p>
        </p:txBody>
      </p:sp>
      <p:sp>
        <p:nvSpPr>
          <p:cNvPr id="38" name="Text 35"/>
          <p:cNvSpPr txBox="1"/>
          <p:nvPr/>
        </p:nvSpPr>
        <p:spPr>
          <a:xfrm>
            <a:off x="9677095" y="2095805"/>
            <a:ext cx="1777594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500/día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9677095" y="2361895"/>
            <a:ext cx="17775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kern="0" spc="1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PERSONAL TRAMITADOR</a:t>
            </a:r>
            <a:endParaRPr lang="en-US" sz="600" dirty="0"/>
          </a:p>
        </p:txBody>
      </p:sp>
      <p:sp>
        <p:nvSpPr>
          <p:cNvPr id="40" name="Shape 37"/>
          <p:cNvSpPr/>
          <p:nvPr/>
        </p:nvSpPr>
        <p:spPr>
          <a:xfrm>
            <a:off x="5867705" y="2628900"/>
            <a:ext cx="5460797" cy="0"/>
          </a:xfrm>
          <a:prstGeom prst="line">
            <a:avLst/>
          </a:prstGeom>
          <a:noFill/>
          <a:ln w="12700">
            <a:solidFill>
              <a:srgbClr val="E5EA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8"/>
          <p:cNvSpPr txBox="1"/>
          <p:nvPr/>
        </p:nvSpPr>
        <p:spPr>
          <a:xfrm>
            <a:off x="5867705" y="2717597"/>
            <a:ext cx="25402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kern="0" spc="1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PRIORIZACIÓN DE EXPEDIENTES</a:t>
            </a:r>
            <a:endParaRPr lang="en-US" sz="600" dirty="0"/>
          </a:p>
        </p:txBody>
      </p:sp>
      <p:sp>
        <p:nvSpPr>
          <p:cNvPr id="42" name="Text 39"/>
          <p:cNvSpPr txBox="1"/>
          <p:nvPr/>
        </p:nvSpPr>
        <p:spPr>
          <a:xfrm>
            <a:off x="5867705" y="2895905"/>
            <a:ext cx="1143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354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EXP-24-0481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7048195" y="2902306"/>
            <a:ext cx="405994" cy="139903"/>
          </a:xfrm>
          <a:prstGeom prst="roundRect">
            <a:avLst>
              <a:gd name="adj" fmla="val 49673"/>
            </a:avLst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4" name="Text 41"/>
          <p:cNvSpPr txBox="1"/>
          <p:nvPr/>
        </p:nvSpPr>
        <p:spPr>
          <a:xfrm>
            <a:off x="7048195" y="2902306"/>
            <a:ext cx="405994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C73F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ALTA</a:t>
            </a:r>
            <a:endParaRPr lang="en-US" sz="600" dirty="0"/>
          </a:p>
        </p:txBody>
      </p:sp>
      <p:sp>
        <p:nvSpPr>
          <p:cNvPr id="45" name="Text 42"/>
          <p:cNvSpPr txBox="1"/>
          <p:nvPr/>
        </p:nvSpPr>
        <p:spPr>
          <a:xfrm>
            <a:off x="8001000" y="2895905"/>
            <a:ext cx="1143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00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+6 meses</a:t>
            </a:r>
            <a:endParaRPr lang="en-US" sz="800" dirty="0"/>
          </a:p>
        </p:txBody>
      </p:sp>
      <p:sp>
        <p:nvSpPr>
          <p:cNvPr id="46" name="Text 43"/>
          <p:cNvSpPr txBox="1"/>
          <p:nvPr/>
        </p:nvSpPr>
        <p:spPr>
          <a:xfrm>
            <a:off x="5867705" y="3111703"/>
            <a:ext cx="1143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354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EXP-24-0517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7048195" y="3118104"/>
            <a:ext cx="405994" cy="139903"/>
          </a:xfrm>
          <a:prstGeom prst="roundRect">
            <a:avLst>
              <a:gd name="adj" fmla="val 49673"/>
            </a:avLst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8" name="Text 45"/>
          <p:cNvSpPr txBox="1"/>
          <p:nvPr/>
        </p:nvSpPr>
        <p:spPr>
          <a:xfrm>
            <a:off x="7048195" y="3118104"/>
            <a:ext cx="405994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C73F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ALTA</a:t>
            </a:r>
            <a:endParaRPr lang="en-US" sz="600" dirty="0"/>
          </a:p>
        </p:txBody>
      </p:sp>
      <p:sp>
        <p:nvSpPr>
          <p:cNvPr id="49" name="Text 46"/>
          <p:cNvSpPr txBox="1"/>
          <p:nvPr/>
        </p:nvSpPr>
        <p:spPr>
          <a:xfrm>
            <a:off x="8001000" y="3111703"/>
            <a:ext cx="1143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00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+3 meses</a:t>
            </a:r>
            <a:endParaRPr lang="en-US" sz="800" dirty="0"/>
          </a:p>
        </p:txBody>
      </p:sp>
      <p:sp>
        <p:nvSpPr>
          <p:cNvPr id="50" name="Text 47"/>
          <p:cNvSpPr txBox="1"/>
          <p:nvPr/>
        </p:nvSpPr>
        <p:spPr>
          <a:xfrm>
            <a:off x="5867705" y="3327502"/>
            <a:ext cx="1143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354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EXP-24-0623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7048195" y="3333902"/>
            <a:ext cx="405994" cy="139903"/>
          </a:xfrm>
          <a:prstGeom prst="roundRect">
            <a:avLst>
              <a:gd name="adj" fmla="val 49673"/>
            </a:avLst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2" name="Text 49"/>
          <p:cNvSpPr txBox="1"/>
          <p:nvPr/>
        </p:nvSpPr>
        <p:spPr>
          <a:xfrm>
            <a:off x="7048195" y="3333902"/>
            <a:ext cx="405994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5E3D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MEDIA</a:t>
            </a:r>
            <a:endParaRPr lang="en-US" sz="600" dirty="0"/>
          </a:p>
        </p:txBody>
      </p:sp>
      <p:sp>
        <p:nvSpPr>
          <p:cNvPr id="53" name="Text 50"/>
          <p:cNvSpPr txBox="1"/>
          <p:nvPr/>
        </p:nvSpPr>
        <p:spPr>
          <a:xfrm>
            <a:off x="8001000" y="3327502"/>
            <a:ext cx="1143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00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+1 mes</a:t>
            </a:r>
            <a:endParaRPr lang="en-US" sz="800" dirty="0"/>
          </a:p>
        </p:txBody>
      </p:sp>
      <p:sp>
        <p:nvSpPr>
          <p:cNvPr id="54" name="Text 51"/>
          <p:cNvSpPr txBox="1"/>
          <p:nvPr/>
        </p:nvSpPr>
        <p:spPr>
          <a:xfrm>
            <a:off x="5867705" y="3543300"/>
            <a:ext cx="1143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354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EXP-24-0701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7048195" y="3549701"/>
            <a:ext cx="405994" cy="139903"/>
          </a:xfrm>
          <a:prstGeom prst="roundRect">
            <a:avLst>
              <a:gd name="adj" fmla="val 49673"/>
            </a:avLst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6" name="Text 53"/>
          <p:cNvSpPr txBox="1"/>
          <p:nvPr/>
        </p:nvSpPr>
        <p:spPr>
          <a:xfrm>
            <a:off x="7048195" y="3549701"/>
            <a:ext cx="405994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BAJA</a:t>
            </a:r>
            <a:endParaRPr lang="en-US" sz="600" dirty="0"/>
          </a:p>
        </p:txBody>
      </p:sp>
      <p:sp>
        <p:nvSpPr>
          <p:cNvPr id="57" name="Text 54"/>
          <p:cNvSpPr txBox="1"/>
          <p:nvPr/>
        </p:nvSpPr>
        <p:spPr>
          <a:xfrm>
            <a:off x="8001000" y="3543300"/>
            <a:ext cx="1143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00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 días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9334195" y="2717597"/>
            <a:ext cx="20317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kern="0" spc="1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CICLO DE VIDA DEL EXPEDIENTE</a:t>
            </a:r>
            <a:endParaRPr lang="en-US" sz="600" dirty="0"/>
          </a:p>
        </p:txBody>
      </p:sp>
      <p:sp>
        <p:nvSpPr>
          <p:cNvPr id="59" name="Shape 56"/>
          <p:cNvSpPr/>
          <p:nvPr/>
        </p:nvSpPr>
        <p:spPr>
          <a:xfrm>
            <a:off x="9385402" y="2920594"/>
            <a:ext cx="75895" cy="75895"/>
          </a:xfrm>
          <a:prstGeom prst="roundRect">
            <a:avLst>
              <a:gd name="adj" fmla="val 50603"/>
            </a:avLst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0" name="Text 57"/>
          <p:cNvSpPr txBox="1"/>
          <p:nvPr/>
        </p:nvSpPr>
        <p:spPr>
          <a:xfrm>
            <a:off x="9525305" y="2895905"/>
            <a:ext cx="1651406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Entrada</a:t>
            </a:r>
            <a:endParaRPr lang="en-US" sz="800" dirty="0"/>
          </a:p>
        </p:txBody>
      </p:sp>
      <p:sp>
        <p:nvSpPr>
          <p:cNvPr id="61" name="Shape 58"/>
          <p:cNvSpPr/>
          <p:nvPr/>
        </p:nvSpPr>
        <p:spPr>
          <a:xfrm>
            <a:off x="9385402" y="3111703"/>
            <a:ext cx="75895" cy="75895"/>
          </a:xfrm>
          <a:prstGeom prst="roundRect">
            <a:avLst>
              <a:gd name="adj" fmla="val 50603"/>
            </a:avLst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2" name="Text 59"/>
          <p:cNvSpPr txBox="1"/>
          <p:nvPr/>
        </p:nvSpPr>
        <p:spPr>
          <a:xfrm>
            <a:off x="9525305" y="3086100"/>
            <a:ext cx="1651406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Revisión</a:t>
            </a:r>
            <a:endParaRPr lang="en-US" sz="800" dirty="0"/>
          </a:p>
        </p:txBody>
      </p:sp>
      <p:sp>
        <p:nvSpPr>
          <p:cNvPr id="63" name="Shape 60"/>
          <p:cNvSpPr/>
          <p:nvPr/>
        </p:nvSpPr>
        <p:spPr>
          <a:xfrm>
            <a:off x="9385402" y="3301898"/>
            <a:ext cx="75895" cy="75895"/>
          </a:xfrm>
          <a:prstGeom prst="roundRect">
            <a:avLst>
              <a:gd name="adj" fmla="val 50603"/>
            </a:avLst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4" name="Text 61"/>
          <p:cNvSpPr txBox="1"/>
          <p:nvPr/>
        </p:nvSpPr>
        <p:spPr>
          <a:xfrm>
            <a:off x="9525305" y="3276295"/>
            <a:ext cx="1651406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Subsanación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9385402" y="3492094"/>
            <a:ext cx="75895" cy="75895"/>
          </a:xfrm>
          <a:prstGeom prst="roundRect">
            <a:avLst>
              <a:gd name="adj" fmla="val 50603"/>
            </a:avLst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6" name="Text 63"/>
          <p:cNvSpPr txBox="1"/>
          <p:nvPr/>
        </p:nvSpPr>
        <p:spPr>
          <a:xfrm>
            <a:off x="9525305" y="3467405"/>
            <a:ext cx="1651406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E849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Resolución</a:t>
            </a:r>
            <a:endParaRPr lang="en-US" sz="800" dirty="0"/>
          </a:p>
        </p:txBody>
      </p:sp>
      <p:sp>
        <p:nvSpPr>
          <p:cNvPr id="67" name="Shape 64"/>
          <p:cNvSpPr/>
          <p:nvPr/>
        </p:nvSpPr>
        <p:spPr>
          <a:xfrm>
            <a:off x="9385402" y="3683203"/>
            <a:ext cx="75895" cy="75895"/>
          </a:xfrm>
          <a:prstGeom prst="roundRect">
            <a:avLst>
              <a:gd name="adj" fmla="val 50603"/>
            </a:avLst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8" name="Text 65"/>
          <p:cNvSpPr txBox="1"/>
          <p:nvPr/>
        </p:nvSpPr>
        <p:spPr>
          <a:xfrm>
            <a:off x="9525305" y="3657600"/>
            <a:ext cx="1651406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E849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Cierre</a:t>
            </a:r>
            <a:endParaRPr lang="en-US" sz="800" dirty="0"/>
          </a:p>
        </p:txBody>
      </p:sp>
      <p:sp>
        <p:nvSpPr>
          <p:cNvPr id="69" name="Shape 66"/>
          <p:cNvSpPr/>
          <p:nvPr/>
        </p:nvSpPr>
        <p:spPr>
          <a:xfrm>
            <a:off x="5867705" y="3949294"/>
            <a:ext cx="5460797" cy="584302"/>
          </a:xfrm>
          <a:prstGeom prst="roundRect">
            <a:avLst>
              <a:gd name="adj" fmla="val 8764"/>
            </a:avLst>
          </a:prstGeom>
          <a:solidFill>
            <a:srgbClr val="F5F7F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0" name="Shape 67"/>
          <p:cNvSpPr/>
          <p:nvPr/>
        </p:nvSpPr>
        <p:spPr>
          <a:xfrm>
            <a:off x="5969203" y="4101998"/>
            <a:ext cx="952805" cy="190195"/>
          </a:xfrm>
          <a:prstGeom prst="roundRect">
            <a:avLst>
              <a:gd name="adj" fmla="val 20192"/>
            </a:avLst>
          </a:prstGeom>
          <a:solidFill>
            <a:srgbClr val="EDE3F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1" name="Text 68"/>
          <p:cNvSpPr txBox="1"/>
          <p:nvPr/>
        </p:nvSpPr>
        <p:spPr>
          <a:xfrm>
            <a:off x="5969203" y="4101998"/>
            <a:ext cx="95280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dirty="0">
                <a:solidFill>
                  <a:srgbClr val="5E3D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Annotation Builder</a:t>
            </a:r>
            <a:endParaRPr lang="en-US" sz="600" dirty="0"/>
          </a:p>
        </p:txBody>
      </p:sp>
      <p:sp>
        <p:nvSpPr>
          <p:cNvPr id="72" name="Text 69"/>
          <p:cNvSpPr txBox="1"/>
          <p:nvPr/>
        </p:nvSpPr>
        <p:spPr>
          <a:xfrm>
            <a:off x="7010705" y="4063594"/>
            <a:ext cx="4190695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8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Incoherencia detectada</a:t>
            </a:r>
            <a:r>
              <a:rPr lang="en-US" sz="8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 los datos de entrada · subsanación sugerida y aplicada.</a:t>
            </a:r>
            <a:endParaRPr lang="en-US" sz="800" dirty="0"/>
          </a:p>
        </p:txBody>
      </p:sp>
      <p:sp>
        <p:nvSpPr>
          <p:cNvPr id="73" name="Text 70"/>
          <p:cNvSpPr txBox="1"/>
          <p:nvPr/>
        </p:nvSpPr>
        <p:spPr>
          <a:xfrm>
            <a:off x="5715000" y="4774997"/>
            <a:ext cx="2540203" cy="1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0" spc="200" dirty="0">
                <a:solidFill>
                  <a:srgbClr val="5E3D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RESULTADOS PARA LANBIDE</a:t>
            </a:r>
            <a:endParaRPr lang="en-US" sz="1000" dirty="0"/>
          </a:p>
        </p:txBody>
      </p:sp>
      <p:sp>
        <p:nvSpPr>
          <p:cNvPr id="74" name="Shape 71"/>
          <p:cNvSpPr/>
          <p:nvPr/>
        </p:nvSpPr>
        <p:spPr>
          <a:xfrm>
            <a:off x="5715000" y="4940503"/>
            <a:ext cx="1803197" cy="545897"/>
          </a:xfrm>
          <a:prstGeom prst="roundRect">
            <a:avLst>
              <a:gd name="adj" fmla="val 11558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5" name="Text 72"/>
          <p:cNvSpPr txBox="1"/>
          <p:nvPr/>
        </p:nvSpPr>
        <p:spPr>
          <a:xfrm>
            <a:off x="5842102" y="5029200"/>
            <a:ext cx="1587398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–84 %</a:t>
            </a:r>
            <a:endParaRPr lang="en-US" sz="1500" dirty="0"/>
          </a:p>
        </p:txBody>
      </p:sp>
      <p:sp>
        <p:nvSpPr>
          <p:cNvPr id="76" name="Text 73"/>
          <p:cNvSpPr txBox="1"/>
          <p:nvPr/>
        </p:nvSpPr>
        <p:spPr>
          <a:xfrm>
            <a:off x="5842102" y="5296205"/>
            <a:ext cx="158739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esfuerzo manual de gestión</a:t>
            </a:r>
            <a:endParaRPr lang="en-US" sz="800" dirty="0"/>
          </a:p>
        </p:txBody>
      </p:sp>
      <p:sp>
        <p:nvSpPr>
          <p:cNvPr id="77" name="Shape 74"/>
          <p:cNvSpPr/>
          <p:nvPr/>
        </p:nvSpPr>
        <p:spPr>
          <a:xfrm>
            <a:off x="7619695" y="4940503"/>
            <a:ext cx="1803197" cy="545897"/>
          </a:xfrm>
          <a:prstGeom prst="roundRect">
            <a:avLst>
              <a:gd name="adj" fmla="val 11558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8" name="Text 75"/>
          <p:cNvSpPr txBox="1"/>
          <p:nvPr/>
        </p:nvSpPr>
        <p:spPr>
          <a:xfrm>
            <a:off x="7746797" y="5029200"/>
            <a:ext cx="1587398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23.000 h</a:t>
            </a:r>
            <a:endParaRPr lang="en-US" sz="1500" dirty="0"/>
          </a:p>
        </p:txBody>
      </p:sp>
      <p:sp>
        <p:nvSpPr>
          <p:cNvPr id="79" name="Text 76"/>
          <p:cNvSpPr txBox="1"/>
          <p:nvPr/>
        </p:nvSpPr>
        <p:spPr>
          <a:xfrm>
            <a:off x="7746797" y="5296205"/>
            <a:ext cx="158739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liberadas al año al personal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9525305" y="4940503"/>
            <a:ext cx="1803197" cy="545897"/>
          </a:xfrm>
          <a:prstGeom prst="roundRect">
            <a:avLst>
              <a:gd name="adj" fmla="val 11558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1" name="Text 78"/>
          <p:cNvSpPr txBox="1"/>
          <p:nvPr/>
        </p:nvSpPr>
        <p:spPr>
          <a:xfrm>
            <a:off x="9652406" y="5029200"/>
            <a:ext cx="1587398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 meses</a:t>
            </a:r>
            <a:endParaRPr lang="en-US" sz="1500" dirty="0"/>
          </a:p>
        </p:txBody>
      </p:sp>
      <p:sp>
        <p:nvSpPr>
          <p:cNvPr id="82" name="Text 79"/>
          <p:cNvSpPr txBox="1"/>
          <p:nvPr/>
        </p:nvSpPr>
        <p:spPr>
          <a:xfrm>
            <a:off x="9652406" y="5296205"/>
            <a:ext cx="158739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producción, en uso diario</a:t>
            </a:r>
            <a:endParaRPr lang="en-US" sz="800" dirty="0"/>
          </a:p>
        </p:txBody>
      </p:sp>
      <p:sp>
        <p:nvSpPr>
          <p:cNvPr id="83" name="Shape 80"/>
          <p:cNvSpPr/>
          <p:nvPr/>
        </p:nvSpPr>
        <p:spPr>
          <a:xfrm>
            <a:off x="711403" y="6590995"/>
            <a:ext cx="10769803" cy="0"/>
          </a:xfrm>
          <a:prstGeom prst="line">
            <a:avLst/>
          </a:prstGeom>
          <a:noFill/>
          <a:ln w="12700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4" name="Text 81"/>
          <p:cNvSpPr txBox="1"/>
          <p:nvPr/>
        </p:nvSpPr>
        <p:spPr>
          <a:xfrm>
            <a:off x="711403" y="6642202"/>
            <a:ext cx="82552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1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SERVICIO VASCO DE EMPLEO · REGEXLAN + APLICACIÓN IMV · CELONIS GOLD PARTNER</a:t>
            </a:r>
            <a:endParaRPr lang="en-US" sz="700" dirty="0"/>
          </a:p>
        </p:txBody>
      </p:sp>
      <p:sp>
        <p:nvSpPr>
          <p:cNvPr id="85" name="Text 82"/>
          <p:cNvSpPr txBox="1"/>
          <p:nvPr/>
        </p:nvSpPr>
        <p:spPr>
          <a:xfrm>
            <a:off x="8255203" y="6642202"/>
            <a:ext cx="32260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00" i="1" dirty="0">
                <a:solidFill>
                  <a:srgbClr val="6E849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Caso de éxito · sujeto a autorización por referencia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" y="304495"/>
            <a:ext cx="680314" cy="19019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446106" y="279806"/>
            <a:ext cx="1035101" cy="215798"/>
          </a:xfrm>
          <a:prstGeom prst="roundRect">
            <a:avLst>
              <a:gd name="adj" fmla="val 50000"/>
            </a:avLst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 txBox="1"/>
          <p:nvPr/>
        </p:nvSpPr>
        <p:spPr>
          <a:xfrm>
            <a:off x="10446106" y="279806"/>
            <a:ext cx="1035101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kern="0" spc="100" dirty="0">
                <a:solidFill>
                  <a:srgbClr val="354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CASO DE ÉXITO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445398" y="279806"/>
            <a:ext cx="952805" cy="368503"/>
          </a:xfrm>
          <a:prstGeom prst="roundRect">
            <a:avLst>
              <a:gd name="adj" fmla="val 13896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 txBox="1"/>
          <p:nvPr/>
        </p:nvSpPr>
        <p:spPr>
          <a:xfrm>
            <a:off x="8534095" y="330098"/>
            <a:ext cx="825703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kern="0" spc="1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CLIENTE</a:t>
            </a:r>
            <a:endParaRPr lang="en-US" sz="600" dirty="0"/>
          </a:p>
        </p:txBody>
      </p:sp>
      <p:sp>
        <p:nvSpPr>
          <p:cNvPr id="7" name="Text 4"/>
          <p:cNvSpPr txBox="1"/>
          <p:nvPr/>
        </p:nvSpPr>
        <p:spPr>
          <a:xfrm>
            <a:off x="8534095" y="444398"/>
            <a:ext cx="8257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DUOC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9448495" y="279806"/>
            <a:ext cx="952805" cy="368503"/>
          </a:xfrm>
          <a:prstGeom prst="roundRect">
            <a:avLst>
              <a:gd name="adj" fmla="val 13896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 txBox="1"/>
          <p:nvPr/>
        </p:nvSpPr>
        <p:spPr>
          <a:xfrm>
            <a:off x="9538106" y="330098"/>
            <a:ext cx="825703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kern="0" spc="1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SECTOR</a:t>
            </a:r>
            <a:endParaRPr lang="en-US" sz="600" dirty="0"/>
          </a:p>
        </p:txBody>
      </p:sp>
      <p:sp>
        <p:nvSpPr>
          <p:cNvPr id="10" name="Text 7"/>
          <p:cNvSpPr txBox="1"/>
          <p:nvPr/>
        </p:nvSpPr>
        <p:spPr>
          <a:xfrm>
            <a:off x="9538106" y="444398"/>
            <a:ext cx="8257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Educación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0452506" y="279806"/>
            <a:ext cx="952805" cy="368503"/>
          </a:xfrm>
          <a:prstGeom prst="roundRect">
            <a:avLst>
              <a:gd name="adj" fmla="val 13896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 txBox="1"/>
          <p:nvPr/>
        </p:nvSpPr>
        <p:spPr>
          <a:xfrm>
            <a:off x="10541203" y="330098"/>
            <a:ext cx="825703" cy="10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kern="0" spc="1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PAÍS</a:t>
            </a:r>
            <a:endParaRPr lang="en-US" sz="600" dirty="0"/>
          </a:p>
        </p:txBody>
      </p:sp>
      <p:sp>
        <p:nvSpPr>
          <p:cNvPr id="13" name="Text 10"/>
          <p:cNvSpPr txBox="1"/>
          <p:nvPr/>
        </p:nvSpPr>
        <p:spPr>
          <a:xfrm>
            <a:off x="10541203" y="444398"/>
            <a:ext cx="8257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Chile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711403" y="952805"/>
            <a:ext cx="3810305" cy="1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0" spc="200" dirty="0">
                <a:solidFill>
                  <a:srgbClr val="5E3D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EVALUACIÓN PARA DECIDIR SI ESCALAR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11403" y="1143000"/>
            <a:ext cx="4444898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Antes de comprometer una solución institucional, le pusimos cifra al problema.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711403" y="2400300"/>
            <a:ext cx="2031797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30</a:t>
            </a:r>
            <a:r>
              <a:rPr lang="en-US" sz="3000" b="1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%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2794406" y="2527402"/>
            <a:ext cx="2031797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matrículas que hoy se pierden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11403" y="3276295"/>
            <a:ext cx="4444898" cy="1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0" spc="2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DETECTADO EN LA EVALUACIÓN · POTENCIAL DE RECUPERACIÓN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11403" y="3530498"/>
            <a:ext cx="3174797" cy="1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0" spc="200" dirty="0">
                <a:solidFill>
                  <a:srgbClr val="FE5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PROBLEMA A RESOLVER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11403" y="3696005"/>
            <a:ext cx="0" cy="470002"/>
          </a:xfrm>
          <a:prstGeom prst="line">
            <a:avLst/>
          </a:prstGeom>
          <a:noFill/>
          <a:ln w="38100">
            <a:solidFill>
              <a:srgbClr val="855A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 txBox="1"/>
          <p:nvPr/>
        </p:nvSpPr>
        <p:spPr>
          <a:xfrm>
            <a:off x="851306" y="3683203"/>
            <a:ext cx="419069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 institución educativa grande, con admisión de alumnos e incidencias del puesto de trabajo, operando entre España y Chile, que no quería escalar a ciegas.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711403" y="4381805"/>
            <a:ext cx="3174797" cy="1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0" spc="200" dirty="0">
                <a:solidFill>
                  <a:srgbClr val="FE5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CÓMO LO RESOLVIMOS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11403" y="4597603"/>
            <a:ext cx="165506" cy="165506"/>
          </a:xfrm>
          <a:prstGeom prst="roundRect">
            <a:avLst>
              <a:gd name="adj" fmla="val 49724"/>
            </a:avLst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1"/>
          <p:cNvSpPr txBox="1"/>
          <p:nvPr/>
        </p:nvSpPr>
        <p:spPr>
          <a:xfrm>
            <a:off x="711403" y="4597603"/>
            <a:ext cx="165506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</a:t>
            </a:r>
            <a:endParaRPr lang="en-US" sz="700" dirty="0"/>
          </a:p>
        </p:txBody>
      </p:sp>
      <p:sp>
        <p:nvSpPr>
          <p:cNvPr id="25" name="Text 22"/>
          <p:cNvSpPr txBox="1"/>
          <p:nvPr/>
        </p:nvSpPr>
        <p:spPr>
          <a:xfrm>
            <a:off x="952805" y="4584802"/>
            <a:ext cx="419069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Capturamos </a:t>
            </a:r>
            <a:r>
              <a:rPr lang="en-US" sz="9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procesos reales</a:t>
            </a:r>
            <a:r>
              <a:rPr lang="en-US" sz="9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desde sus propios registros, no desde creencias o percepciones.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711403" y="4889297"/>
            <a:ext cx="165506" cy="165506"/>
          </a:xfrm>
          <a:prstGeom prst="roundRect">
            <a:avLst>
              <a:gd name="adj" fmla="val 49724"/>
            </a:avLst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4"/>
          <p:cNvSpPr txBox="1"/>
          <p:nvPr/>
        </p:nvSpPr>
        <p:spPr>
          <a:xfrm>
            <a:off x="711403" y="4889297"/>
            <a:ext cx="165506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</a:t>
            </a:r>
            <a:endParaRPr lang="en-US" sz="700" dirty="0"/>
          </a:p>
        </p:txBody>
      </p:sp>
      <p:sp>
        <p:nvSpPr>
          <p:cNvPr id="28" name="Text 25"/>
          <p:cNvSpPr txBox="1"/>
          <p:nvPr/>
        </p:nvSpPr>
        <p:spPr>
          <a:xfrm>
            <a:off x="952805" y="4876495"/>
            <a:ext cx="419069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Medimos </a:t>
            </a:r>
            <a:r>
              <a:rPr lang="en-US" sz="9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desvíos, bucles y puntos de fuga</a:t>
            </a:r>
            <a:r>
              <a:rPr lang="en-US" sz="9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sobre el flujo real.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11403" y="5181905"/>
            <a:ext cx="165506" cy="165506"/>
          </a:xfrm>
          <a:prstGeom prst="roundRect">
            <a:avLst>
              <a:gd name="adj" fmla="val 49724"/>
            </a:avLst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7"/>
          <p:cNvSpPr txBox="1"/>
          <p:nvPr/>
        </p:nvSpPr>
        <p:spPr>
          <a:xfrm>
            <a:off x="711403" y="5181905"/>
            <a:ext cx="165506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</a:t>
            </a:r>
            <a:endParaRPr lang="en-US" sz="700" dirty="0"/>
          </a:p>
        </p:txBody>
      </p:sp>
      <p:sp>
        <p:nvSpPr>
          <p:cNvPr id="31" name="Text 28"/>
          <p:cNvSpPr txBox="1"/>
          <p:nvPr/>
        </p:nvSpPr>
        <p:spPr>
          <a:xfrm>
            <a:off x="952805" y="5169103"/>
            <a:ext cx="419069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Comparamos 3 herramientas - Celonis, Signavio, Inverbis - en cuenta real, sin atarnos a ninguna.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711403" y="5473598"/>
            <a:ext cx="165506" cy="165506"/>
          </a:xfrm>
          <a:prstGeom prst="roundRect">
            <a:avLst>
              <a:gd name="adj" fmla="val 49724"/>
            </a:avLst>
          </a:prstGeom>
          <a:solidFill>
            <a:srgbClr val="3A8E6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Text 30"/>
          <p:cNvSpPr txBox="1"/>
          <p:nvPr/>
        </p:nvSpPr>
        <p:spPr>
          <a:xfrm>
            <a:off x="711403" y="5473598"/>
            <a:ext cx="165506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4</a:t>
            </a:r>
            <a:endParaRPr lang="en-US" sz="700" dirty="0"/>
          </a:p>
        </p:txBody>
      </p:sp>
      <p:sp>
        <p:nvSpPr>
          <p:cNvPr id="34" name="Text 31"/>
          <p:cNvSpPr txBox="1"/>
          <p:nvPr/>
        </p:nvSpPr>
        <p:spPr>
          <a:xfrm>
            <a:off x="952805" y="5460797"/>
            <a:ext cx="419069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Cuantificamos el potencial y dejamos lista la </a:t>
            </a:r>
            <a:r>
              <a:rPr lang="en-US" sz="9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recomendación de escalado.</a:t>
            </a:r>
            <a:endParaRPr lang="en-US" sz="900" dirty="0"/>
          </a:p>
        </p:txBody>
      </p:sp>
      <p:pic>
        <p:nvPicPr>
          <p:cNvPr id="35" name="Image 1" descr="assets/duo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203" y="952805"/>
            <a:ext cx="5512003" cy="3079699"/>
          </a:xfrm>
          <a:prstGeom prst="rect">
            <a:avLst/>
          </a:prstGeom>
        </p:spPr>
      </p:pic>
      <p:sp>
        <p:nvSpPr>
          <p:cNvPr id="36" name="Shape 32"/>
          <p:cNvSpPr/>
          <p:nvPr/>
        </p:nvSpPr>
        <p:spPr>
          <a:xfrm>
            <a:off x="6680606" y="4190695"/>
            <a:ext cx="4800600" cy="584302"/>
          </a:xfrm>
          <a:prstGeom prst="roundRect">
            <a:avLst>
              <a:gd name="adj" fmla="val 10798"/>
            </a:avLst>
          </a:prstGeom>
          <a:solidFill>
            <a:srgbClr val="FFFFFF"/>
          </a:solidFill>
          <a:ln w="19050">
            <a:solidFill>
              <a:srgbClr val="57BE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3"/>
          <p:cNvSpPr txBox="1"/>
          <p:nvPr/>
        </p:nvSpPr>
        <p:spPr>
          <a:xfrm>
            <a:off x="6832397" y="4267505"/>
            <a:ext cx="1270102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–60 %</a:t>
            </a:r>
            <a:endParaRPr lang="en-US" sz="1700" dirty="0"/>
          </a:p>
        </p:txBody>
      </p:sp>
      <p:sp>
        <p:nvSpPr>
          <p:cNvPr id="38" name="Text 34"/>
          <p:cNvSpPr txBox="1"/>
          <p:nvPr/>
        </p:nvSpPr>
        <p:spPr>
          <a:xfrm>
            <a:off x="6832397" y="4546397"/>
            <a:ext cx="4190695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errores y bucles de tipificación detectados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6680606" y="4889297"/>
            <a:ext cx="4800600" cy="545897"/>
          </a:xfrm>
          <a:prstGeom prst="roundRect">
            <a:avLst>
              <a:gd name="adj" fmla="val 11558"/>
            </a:avLst>
          </a:prstGeom>
          <a:solidFill>
            <a:srgbClr val="041C2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" name="Text 36"/>
          <p:cNvSpPr txBox="1"/>
          <p:nvPr/>
        </p:nvSpPr>
        <p:spPr>
          <a:xfrm>
            <a:off x="6858000" y="4889297"/>
            <a:ext cx="1143000" cy="545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100" dirty="0">
                <a:solidFill>
                  <a:srgbClr val="9FB1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RESULTADO</a:t>
            </a:r>
            <a:endParaRPr lang="en-US" sz="700" dirty="0"/>
          </a:p>
        </p:txBody>
      </p:sp>
      <p:sp>
        <p:nvSpPr>
          <p:cNvPr id="41" name="Text 37"/>
          <p:cNvSpPr txBox="1"/>
          <p:nvPr/>
        </p:nvSpPr>
        <p:spPr>
          <a:xfrm>
            <a:off x="7937906" y="4889297"/>
            <a:ext cx="3429000" cy="545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Decisión de escalar tomada sobre </a:t>
            </a:r>
            <a:r>
              <a:rPr lang="en-US" sz="1200" b="1" dirty="0">
                <a:solidFill>
                  <a:srgbClr val="57BE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datos</a:t>
            </a: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no sobre fe.</a:t>
            </a:r>
            <a:endParaRPr lang="en-US" sz="1200" dirty="0"/>
          </a:p>
        </p:txBody>
      </p:sp>
      <p:sp>
        <p:nvSpPr>
          <p:cNvPr id="42" name="Shape 38"/>
          <p:cNvSpPr/>
          <p:nvPr/>
        </p:nvSpPr>
        <p:spPr>
          <a:xfrm>
            <a:off x="711403" y="6590995"/>
            <a:ext cx="10769803" cy="0"/>
          </a:xfrm>
          <a:prstGeom prst="line">
            <a:avLst/>
          </a:prstGeom>
          <a:noFill/>
          <a:ln w="12700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39"/>
          <p:cNvSpPr txBox="1"/>
          <p:nvPr/>
        </p:nvSpPr>
        <p:spPr>
          <a:xfrm>
            <a:off x="711403" y="6642202"/>
            <a:ext cx="82552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1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EVALUACIÓN PREVIA A ESCALAR · BENCHMARK IMPARCIAL · CELONIS · SIGNAVIO · INVERBIS</a:t>
            </a:r>
            <a:endParaRPr lang="en-US" sz="700" dirty="0"/>
          </a:p>
        </p:txBody>
      </p:sp>
      <p:sp>
        <p:nvSpPr>
          <p:cNvPr id="44" name="Text 40"/>
          <p:cNvSpPr txBox="1"/>
          <p:nvPr/>
        </p:nvSpPr>
        <p:spPr>
          <a:xfrm>
            <a:off x="8255203" y="6642202"/>
            <a:ext cx="32260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00" i="1" dirty="0">
                <a:solidFill>
                  <a:srgbClr val="6E849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Versión prudente · pendiente de validación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" y="304495"/>
            <a:ext cx="680314" cy="19019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227564" y="279806"/>
            <a:ext cx="1253642" cy="215798"/>
          </a:xfrm>
          <a:prstGeom prst="roundRect">
            <a:avLst>
              <a:gd name="adj" fmla="val 50000"/>
            </a:avLst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 txBox="1"/>
          <p:nvPr/>
        </p:nvSpPr>
        <p:spPr>
          <a:xfrm>
            <a:off x="10227564" y="279806"/>
            <a:ext cx="1253642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kern="0" spc="100" dirty="0">
                <a:solidFill>
                  <a:srgbClr val="354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· Cómo se compra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711403" y="952805"/>
            <a:ext cx="5715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Cómo se compra.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711403" y="2070202"/>
            <a:ext cx="2540203" cy="1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0" spc="200" dirty="0">
                <a:solidFill>
                  <a:srgbClr val="5E3D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POR PROYECTO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11403" y="2895905"/>
            <a:ext cx="3657600" cy="124449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  <a:effectLst>
            <a:outerShdw blurRad="177800" dist="76200" dir="5400000" algn="bl" rotWithShape="0">
              <a:srgbClr val="041C2C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609905" y="2794406"/>
            <a:ext cx="279806" cy="279806"/>
          </a:xfrm>
          <a:prstGeom prst="roundRect">
            <a:avLst>
              <a:gd name="adj" fmla="val 50000"/>
            </a:avLst>
          </a:prstGeom>
          <a:solidFill>
            <a:srgbClr val="3A8E6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 txBox="1"/>
          <p:nvPr/>
        </p:nvSpPr>
        <p:spPr>
          <a:xfrm>
            <a:off x="609905" y="2794406"/>
            <a:ext cx="279806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88797" y="3047695"/>
            <a:ext cx="3174797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Diagnóstico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88797" y="3301898"/>
            <a:ext cx="3301898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100" dirty="0">
                <a:solidFill>
                  <a:srgbClr val="4A62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Entrada · 6–8 semanas · 15–20 K€</a:t>
            </a:r>
            <a:endParaRPr lang="en-US" sz="700" dirty="0"/>
          </a:p>
        </p:txBody>
      </p:sp>
      <p:sp>
        <p:nvSpPr>
          <p:cNvPr id="12" name="Text 9"/>
          <p:cNvSpPr txBox="1"/>
          <p:nvPr/>
        </p:nvSpPr>
        <p:spPr>
          <a:xfrm>
            <a:off x="888797" y="3480206"/>
            <a:ext cx="330189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Baseline cuantificada y mejoras priorizadas. Sin comité de inversión.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267505" y="2565806"/>
            <a:ext cx="3657600" cy="124449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  <a:effectLst>
            <a:outerShdw blurRad="177800" dist="76200" dir="5400000" algn="bl" rotWithShape="0">
              <a:srgbClr val="041C2C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4166006" y="2463394"/>
            <a:ext cx="279806" cy="279806"/>
          </a:xfrm>
          <a:prstGeom prst="roundRect">
            <a:avLst>
              <a:gd name="adj" fmla="val 50000"/>
            </a:avLst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 txBox="1"/>
          <p:nvPr/>
        </p:nvSpPr>
        <p:spPr>
          <a:xfrm>
            <a:off x="4166006" y="2463394"/>
            <a:ext cx="279806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444898" y="2717597"/>
            <a:ext cx="3174797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Operativo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444898" y="2971800"/>
            <a:ext cx="3301898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100" dirty="0">
                <a:solidFill>
                  <a:srgbClr val="4A62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Implantación · 6–12 meses · 40–120 K€</a:t>
            </a:r>
            <a:endParaRPr lang="en-US" sz="700" dirty="0"/>
          </a:p>
        </p:txBody>
      </p:sp>
      <p:sp>
        <p:nvSpPr>
          <p:cNvPr id="18" name="Text 15"/>
          <p:cNvSpPr txBox="1"/>
          <p:nvPr/>
        </p:nvSpPr>
        <p:spPr>
          <a:xfrm>
            <a:off x="4444898" y="3149194"/>
            <a:ext cx="330189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Celonis en producción. KPIs en tiempo real y mejora continua. ROI sobre OPEX a 6 meses.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823606" y="2387498"/>
            <a:ext cx="3657600" cy="124449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  <a:effectLst>
            <a:outerShdw blurRad="177800" dist="76200" dir="5400000" algn="bl" rotWithShape="0">
              <a:srgbClr val="041C2C">
                <a:alpha val="2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hape 17"/>
          <p:cNvSpPr/>
          <p:nvPr/>
        </p:nvSpPr>
        <p:spPr>
          <a:xfrm>
            <a:off x="7721194" y="2286000"/>
            <a:ext cx="279806" cy="279806"/>
          </a:xfrm>
          <a:prstGeom prst="roundRect">
            <a:avLst>
              <a:gd name="adj" fmla="val 50000"/>
            </a:avLst>
          </a:prstGeom>
          <a:solidFill>
            <a:srgbClr val="041C2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 txBox="1"/>
          <p:nvPr/>
        </p:nvSpPr>
        <p:spPr>
          <a:xfrm>
            <a:off x="7721194" y="2286000"/>
            <a:ext cx="279806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8001000" y="2540203"/>
            <a:ext cx="3174797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Despliegue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001000" y="2794406"/>
            <a:ext cx="3301898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100" dirty="0">
                <a:solidFill>
                  <a:srgbClr val="4A62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Madurez · +1 año · 150–250 K€</a:t>
            </a:r>
            <a:endParaRPr lang="en-US" sz="700" dirty="0"/>
          </a:p>
        </p:txBody>
      </p:sp>
      <p:sp>
        <p:nvSpPr>
          <p:cNvPr id="24" name="Text 21"/>
          <p:cNvSpPr txBox="1"/>
          <p:nvPr/>
        </p:nvSpPr>
        <p:spPr>
          <a:xfrm>
            <a:off x="8001000" y="2971800"/>
            <a:ext cx="330189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Varios procesos en paralelo. CoE habilitado. Agentes, predicción e interacción persona–IA.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711403" y="4483303"/>
            <a:ext cx="4114800" cy="0"/>
          </a:xfrm>
          <a:prstGeom prst="line">
            <a:avLst/>
          </a:prstGeom>
          <a:noFill/>
          <a:ln w="12700">
            <a:solidFill>
              <a:srgbClr val="C8D2DA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3"/>
          <p:cNvSpPr txBox="1"/>
          <p:nvPr/>
        </p:nvSpPr>
        <p:spPr>
          <a:xfrm>
            <a:off x="4977994" y="4432097"/>
            <a:ext cx="2540203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kern="0" spc="100" dirty="0">
                <a:solidFill>
                  <a:srgbClr val="4A62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LAS TRES FASES, TAMBIÉN EN SUSCRIPCIÓN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7619695" y="4483303"/>
            <a:ext cx="3860597" cy="0"/>
          </a:xfrm>
          <a:prstGeom prst="line">
            <a:avLst/>
          </a:prstGeom>
          <a:noFill/>
          <a:ln w="12700">
            <a:solidFill>
              <a:srgbClr val="C8D2DA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5"/>
          <p:cNvSpPr/>
          <p:nvPr/>
        </p:nvSpPr>
        <p:spPr>
          <a:xfrm>
            <a:off x="711403" y="4711903"/>
            <a:ext cx="10769803" cy="952805"/>
          </a:xfrm>
          <a:prstGeom prst="roundRect">
            <a:avLst>
              <a:gd name="adj" fmla="val 9309"/>
            </a:avLst>
          </a:prstGeom>
          <a:solidFill>
            <a:srgbClr val="041C2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7"/>
          <p:cNvSpPr txBox="1"/>
          <p:nvPr/>
        </p:nvSpPr>
        <p:spPr>
          <a:xfrm>
            <a:off x="990296" y="4902098"/>
            <a:ext cx="3556101" cy="1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0" spc="200" dirty="0">
                <a:solidFill>
                  <a:srgbClr val="FE5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COMO SERVICIO · SIN PROPIEDAD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90296" y="5054803"/>
            <a:ext cx="3556101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Suscripción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990296" y="5359298"/>
            <a:ext cx="4191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 ponemos a funcionar sin que compres la plataforma ni montes el equipo.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5296205" y="4946904"/>
            <a:ext cx="63094" cy="63094"/>
          </a:xfrm>
          <a:prstGeom prst="roundRect">
            <a:avLst>
              <a:gd name="adj" fmla="val 50724"/>
            </a:avLst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" name="Text 31"/>
          <p:cNvSpPr txBox="1"/>
          <p:nvPr/>
        </p:nvSpPr>
        <p:spPr>
          <a:xfrm>
            <a:off x="5447995" y="4902098"/>
            <a:ext cx="3556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D6E0E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Plataforma, licencia y Centro de Excelencia, bajo nuestro paraguas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296205" y="5175504"/>
            <a:ext cx="63094" cy="63094"/>
          </a:xfrm>
          <a:prstGeom prst="roundRect">
            <a:avLst>
              <a:gd name="adj" fmla="val 50724"/>
            </a:avLst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6" name="Text 33"/>
          <p:cNvSpPr txBox="1"/>
          <p:nvPr/>
        </p:nvSpPr>
        <p:spPr>
          <a:xfrm>
            <a:off x="5447995" y="5130698"/>
            <a:ext cx="3556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D6E0E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Monitorización y mejora continua del proceso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5296205" y="5404104"/>
            <a:ext cx="63094" cy="63094"/>
          </a:xfrm>
          <a:prstGeom prst="roundRect">
            <a:avLst>
              <a:gd name="adj" fmla="val 50724"/>
            </a:avLst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8" name="Text 35"/>
          <p:cNvSpPr txBox="1"/>
          <p:nvPr/>
        </p:nvSpPr>
        <p:spPr>
          <a:xfrm>
            <a:off x="5447995" y="5359298"/>
            <a:ext cx="3556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D6E0E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Gestión del cambio y adopción, incluidas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9282989" y="4927702"/>
            <a:ext cx="2083003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Importe a</a:t>
            </a:r>
            <a:endParaRPr lang="en-US" sz="900" dirty="0"/>
          </a:p>
          <a:p>
            <a:pPr marL="0" indent="0" algn="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dimensionar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9334195" y="5283403"/>
            <a:ext cx="2031797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00" dirty="0">
                <a:solidFill>
                  <a:srgbClr val="9FB1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según proceso y alcance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711403" y="6590995"/>
            <a:ext cx="10769803" cy="0"/>
          </a:xfrm>
          <a:prstGeom prst="line">
            <a:avLst/>
          </a:prstGeom>
          <a:noFill/>
          <a:ln w="12700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39"/>
          <p:cNvSpPr txBox="1"/>
          <p:nvPr/>
        </p:nvSpPr>
        <p:spPr>
          <a:xfrm>
            <a:off x="711403" y="6642202"/>
            <a:ext cx="82552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1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ENTELGY · PROCESS INTELLIGENCE · 2026</a:t>
            </a:r>
            <a:endParaRPr lang="en-US" sz="700" dirty="0"/>
          </a:p>
        </p:txBody>
      </p:sp>
      <p:sp>
        <p:nvSpPr>
          <p:cNvPr id="43" name="Text 40"/>
          <p:cNvSpPr txBox="1"/>
          <p:nvPr/>
        </p:nvSpPr>
        <p:spPr>
          <a:xfrm>
            <a:off x="8941003" y="6642202"/>
            <a:ext cx="25402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00" kern="0" spc="1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/ 14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5"/>
          <p:cNvSpPr/>
          <p:nvPr/>
        </p:nvSpPr>
        <p:spPr>
          <a:xfrm>
            <a:off x="711403" y="4655544"/>
            <a:ext cx="10769803" cy="685800"/>
          </a:xfrm>
          <a:prstGeom prst="roundRect">
            <a:avLst>
              <a:gd name="adj" fmla="val 11067"/>
            </a:avLst>
          </a:prstGeom>
          <a:solidFill>
            <a:srgbClr val="041C2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" name="Shape 32"/>
          <p:cNvSpPr/>
          <p:nvPr/>
        </p:nvSpPr>
        <p:spPr>
          <a:xfrm>
            <a:off x="3556102" y="4998444"/>
            <a:ext cx="6603797" cy="0"/>
          </a:xfrm>
          <a:prstGeom prst="line">
            <a:avLst/>
          </a:prstGeom>
          <a:noFill/>
          <a:ln w="25400">
            <a:solidFill>
              <a:srgbClr val="1E443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" name="Image 0" descr="assets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" y="304495"/>
            <a:ext cx="680314" cy="19019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281514" y="279806"/>
            <a:ext cx="1198778" cy="215798"/>
          </a:xfrm>
          <a:prstGeom prst="roundRect">
            <a:avLst>
              <a:gd name="adj" fmla="val 50000"/>
            </a:avLst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 txBox="1"/>
          <p:nvPr/>
        </p:nvSpPr>
        <p:spPr>
          <a:xfrm>
            <a:off x="10281514" y="279806"/>
            <a:ext cx="1198778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kern="0" spc="100" dirty="0">
                <a:solidFill>
                  <a:srgbClr val="354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· Cómo operamos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711403" y="952805"/>
            <a:ext cx="1015989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 método de tres pasos, con dos </a:t>
            </a:r>
            <a:r>
              <a:rPr lang="en-US" sz="2500" b="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constantes</a:t>
            </a:r>
            <a:r>
              <a:rPr lang="en-US" sz="25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711403" y="2730398"/>
            <a:ext cx="2540203" cy="1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0" spc="200" dirty="0">
                <a:solidFill>
                  <a:srgbClr val="5E3D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MÉTODO · 3 PASOS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556102" y="2527402"/>
            <a:ext cx="6603797" cy="0"/>
          </a:xfrm>
          <a:prstGeom prst="line">
            <a:avLst/>
          </a:prstGeom>
          <a:noFill/>
          <a:ln w="25400">
            <a:solidFill>
              <a:srgbClr val="C8D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3390595" y="2361895"/>
            <a:ext cx="330098" cy="330098"/>
          </a:xfrm>
          <a:prstGeom prst="roundRect">
            <a:avLst>
              <a:gd name="adj" fmla="val 50139"/>
            </a:avLst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 txBox="1"/>
          <p:nvPr/>
        </p:nvSpPr>
        <p:spPr>
          <a:xfrm>
            <a:off x="3390595" y="2361895"/>
            <a:ext cx="330098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349094" y="2857500"/>
            <a:ext cx="2413102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Entender el dolor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349094" y="3086100"/>
            <a:ext cx="2413102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00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Propuesta focalizada en el cliente sobre el proceso que más pesa.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692494" y="2361895"/>
            <a:ext cx="330098" cy="330098"/>
          </a:xfrm>
          <a:prstGeom prst="roundRect">
            <a:avLst>
              <a:gd name="adj" fmla="val 50139"/>
            </a:avLst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 txBox="1"/>
          <p:nvPr/>
        </p:nvSpPr>
        <p:spPr>
          <a:xfrm>
            <a:off x="6692494" y="2361895"/>
            <a:ext cx="330098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651906" y="2857500"/>
            <a:ext cx="2413102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Entregar valor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651906" y="3086100"/>
            <a:ext cx="2413102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00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Análisis y propuestas de mejora, con la baseline medida.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9995306" y="2361895"/>
            <a:ext cx="330098" cy="330098"/>
          </a:xfrm>
          <a:prstGeom prst="roundRect">
            <a:avLst>
              <a:gd name="adj" fmla="val 50139"/>
            </a:avLst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 txBox="1"/>
          <p:nvPr/>
        </p:nvSpPr>
        <p:spPr>
          <a:xfrm>
            <a:off x="9995306" y="2361895"/>
            <a:ext cx="330098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953805" y="2857500"/>
            <a:ext cx="2413102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Escalar el valor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953805" y="3086100"/>
            <a:ext cx="2413102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00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Implantamos mejoras y medimos el retorno sobre el proceso real.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11403" y="3733494"/>
            <a:ext cx="10769803" cy="763857"/>
          </a:xfrm>
          <a:prstGeom prst="roundRect">
            <a:avLst>
              <a:gd name="adj" fmla="val 11067"/>
            </a:avLst>
          </a:prstGeom>
          <a:solidFill>
            <a:srgbClr val="041C2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 txBox="1"/>
          <p:nvPr/>
        </p:nvSpPr>
        <p:spPr>
          <a:xfrm>
            <a:off x="1010653" y="3873398"/>
            <a:ext cx="229124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Modelo </a:t>
            </a:r>
            <a:r>
              <a:rPr lang="en-US" sz="1100" b="1" dirty="0" err="1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981013" y="4204697"/>
            <a:ext cx="4207003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800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Gestión de la </a:t>
            </a:r>
            <a:r>
              <a:rPr lang="en-US" sz="800" dirty="0" err="1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demanda</a:t>
            </a:r>
            <a:r>
              <a:rPr lang="en-US" sz="800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800" dirty="0" err="1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priorización</a:t>
            </a:r>
            <a:r>
              <a:rPr lang="en-US" sz="800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y control de Proyectos. El motor </a:t>
            </a:r>
            <a:r>
              <a:rPr lang="en-US" sz="800" dirty="0" err="1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</a:t>
            </a:r>
            <a:r>
              <a:rPr lang="en-US" sz="800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opera </a:t>
            </a:r>
            <a:r>
              <a:rPr lang="en-US" sz="800" dirty="0" err="1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</a:t>
            </a:r>
            <a:r>
              <a:rPr lang="en-US" sz="800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800" dirty="0" err="1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</a:t>
            </a:r>
            <a:r>
              <a:rPr lang="en-US" sz="800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511296" y="4032504"/>
            <a:ext cx="88697" cy="88697"/>
          </a:xfrm>
          <a:prstGeom prst="roundRect">
            <a:avLst>
              <a:gd name="adj" fmla="val 50515"/>
            </a:avLst>
          </a:prstGeom>
          <a:solidFill>
            <a:srgbClr val="57BE8A"/>
          </a:solidFill>
          <a:ln w="25400">
            <a:solidFill>
              <a:srgbClr val="0A2A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4"/>
          <p:cNvSpPr/>
          <p:nvPr/>
        </p:nvSpPr>
        <p:spPr>
          <a:xfrm>
            <a:off x="3556102" y="4076395"/>
            <a:ext cx="6603797" cy="0"/>
          </a:xfrm>
          <a:prstGeom prst="line">
            <a:avLst/>
          </a:prstGeom>
          <a:noFill/>
          <a:ln w="25400">
            <a:solidFill>
              <a:srgbClr val="1E443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2"/>
          <p:cNvSpPr/>
          <p:nvPr/>
        </p:nvSpPr>
        <p:spPr>
          <a:xfrm>
            <a:off x="6813194" y="4032504"/>
            <a:ext cx="88697" cy="88697"/>
          </a:xfrm>
          <a:prstGeom prst="roundRect">
            <a:avLst>
              <a:gd name="adj" fmla="val 50515"/>
            </a:avLst>
          </a:prstGeom>
          <a:solidFill>
            <a:srgbClr val="57BE8A"/>
          </a:solidFill>
          <a:ln w="25400">
            <a:solidFill>
              <a:srgbClr val="0A2A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3"/>
          <p:cNvSpPr/>
          <p:nvPr/>
        </p:nvSpPr>
        <p:spPr>
          <a:xfrm>
            <a:off x="10116007" y="4032504"/>
            <a:ext cx="88697" cy="88697"/>
          </a:xfrm>
          <a:prstGeom prst="roundRect">
            <a:avLst>
              <a:gd name="adj" fmla="val 50515"/>
            </a:avLst>
          </a:prstGeom>
          <a:solidFill>
            <a:srgbClr val="57BE8A"/>
          </a:solidFill>
          <a:ln w="25400">
            <a:solidFill>
              <a:srgbClr val="0A2A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7"/>
          <p:cNvSpPr txBox="1"/>
          <p:nvPr/>
        </p:nvSpPr>
        <p:spPr>
          <a:xfrm>
            <a:off x="1010653" y="4795447"/>
            <a:ext cx="229124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Adopción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990636" y="5078620"/>
            <a:ext cx="4332131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800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Gestión del cambio y formación. La pieza que la mayoría de consultoras no toca.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3511296" y="4954552"/>
            <a:ext cx="88697" cy="88697"/>
          </a:xfrm>
          <a:prstGeom prst="roundRect">
            <a:avLst>
              <a:gd name="adj" fmla="val 50515"/>
            </a:avLst>
          </a:prstGeom>
          <a:solidFill>
            <a:srgbClr val="57BE8A"/>
          </a:solidFill>
          <a:ln w="25400">
            <a:solidFill>
              <a:srgbClr val="0A2A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Shape 30"/>
          <p:cNvSpPr/>
          <p:nvPr/>
        </p:nvSpPr>
        <p:spPr>
          <a:xfrm>
            <a:off x="6813194" y="4954552"/>
            <a:ext cx="88697" cy="88697"/>
          </a:xfrm>
          <a:prstGeom prst="roundRect">
            <a:avLst>
              <a:gd name="adj" fmla="val 50515"/>
            </a:avLst>
          </a:prstGeom>
          <a:solidFill>
            <a:srgbClr val="57BE8A"/>
          </a:solidFill>
          <a:ln w="25400">
            <a:solidFill>
              <a:srgbClr val="0A2A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1"/>
          <p:cNvSpPr/>
          <p:nvPr/>
        </p:nvSpPr>
        <p:spPr>
          <a:xfrm>
            <a:off x="10116007" y="4954552"/>
            <a:ext cx="88697" cy="88697"/>
          </a:xfrm>
          <a:prstGeom prst="roundRect">
            <a:avLst>
              <a:gd name="adj" fmla="val 50515"/>
            </a:avLst>
          </a:prstGeom>
          <a:solidFill>
            <a:srgbClr val="57BE8A"/>
          </a:solidFill>
          <a:ln w="25400">
            <a:solidFill>
              <a:srgbClr val="0A2A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3"/>
          <p:cNvSpPr txBox="1"/>
          <p:nvPr/>
        </p:nvSpPr>
        <p:spPr>
          <a:xfrm>
            <a:off x="711403" y="5494048"/>
            <a:ext cx="10769803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Estas dos constantes convierten un proyecto de software en un </a:t>
            </a:r>
            <a:r>
              <a:rPr lang="en-US" sz="10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servicio que produce resultados</a:t>
            </a:r>
            <a:r>
              <a:rPr lang="en-US" sz="1000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11403" y="6590995"/>
            <a:ext cx="10769803" cy="0"/>
          </a:xfrm>
          <a:prstGeom prst="line">
            <a:avLst/>
          </a:prstGeom>
          <a:noFill/>
          <a:ln w="12700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5"/>
          <p:cNvSpPr txBox="1"/>
          <p:nvPr/>
        </p:nvSpPr>
        <p:spPr>
          <a:xfrm>
            <a:off x="711403" y="6642202"/>
            <a:ext cx="82552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1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ENTELGY · PROCESS INTELLIGENCE · 2026</a:t>
            </a:r>
            <a:endParaRPr lang="en-US" sz="700" dirty="0"/>
          </a:p>
        </p:txBody>
      </p:sp>
      <p:sp>
        <p:nvSpPr>
          <p:cNvPr id="39" name="Text 36"/>
          <p:cNvSpPr txBox="1"/>
          <p:nvPr/>
        </p:nvSpPr>
        <p:spPr>
          <a:xfrm>
            <a:off x="8941003" y="6642202"/>
            <a:ext cx="25402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00" kern="0" spc="1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/ 14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4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C2C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" y="304495"/>
            <a:ext cx="680314" cy="190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211105" y="304495"/>
            <a:ext cx="1270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dirty="0">
                <a:solidFill>
                  <a:srgbClr val="7B8B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/ 14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711403" y="1701698"/>
            <a:ext cx="317479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0" spc="200" dirty="0">
                <a:solidFill>
                  <a:srgbClr val="FE5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SIGUIENTE PASO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11403" y="2031797"/>
            <a:ext cx="95253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Empecemos por un </a:t>
            </a:r>
            <a:r>
              <a:rPr lang="en-US" sz="3600" b="1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proceso</a:t>
            </a:r>
            <a:r>
              <a:rPr lang="en-US" sz="36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711403" y="2794406"/>
            <a:ext cx="5715000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entrada es baja y no necesita comité de inversión. Se entra por el CIO —8 de cada 10 proyectos— y se escala con negocio. El diagnóstico es la puerta, no el techo.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11403" y="3759098"/>
            <a:ext cx="4572000" cy="1904695"/>
          </a:xfrm>
          <a:prstGeom prst="roundRect">
            <a:avLst>
              <a:gd name="adj" fmla="val 5329"/>
            </a:avLst>
          </a:prstGeom>
          <a:solidFill>
            <a:srgbClr val="0A2A3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 txBox="1"/>
          <p:nvPr/>
        </p:nvSpPr>
        <p:spPr>
          <a:xfrm>
            <a:off x="965606" y="3987698"/>
            <a:ext cx="3174797" cy="1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0" spc="200" dirty="0">
                <a:solidFill>
                  <a:srgbClr val="FE5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DIAGNÓSTICO DE ENTRADA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965606" y="4166006"/>
            <a:ext cx="4063594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6–8 semanas · 15–20 K€</a:t>
            </a:r>
            <a:endParaRPr lang="en-US" sz="1900" dirty="0"/>
          </a:p>
        </p:txBody>
      </p:sp>
      <p:pic>
        <p:nvPicPr>
          <p:cNvPr id="11" name="Image 1" descr="assets/ico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" y="4673498"/>
            <a:ext cx="127102" cy="1271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81405" y="4647895"/>
            <a:ext cx="3810305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D6E0E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Baseline cuantificada del proceso elegido</a:t>
            </a:r>
            <a:endParaRPr lang="en-US" sz="1000" dirty="0"/>
          </a:p>
        </p:txBody>
      </p:sp>
      <p:pic>
        <p:nvPicPr>
          <p:cNvPr id="13" name="Image 2" descr="assets/ico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" y="4953305"/>
            <a:ext cx="127102" cy="12710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1405" y="4927702"/>
            <a:ext cx="3810305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D6E0E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Mejoras priorizadas con retorno estimado</a:t>
            </a:r>
            <a:endParaRPr lang="en-US" sz="1000" dirty="0"/>
          </a:p>
        </p:txBody>
      </p:sp>
      <p:pic>
        <p:nvPicPr>
          <p:cNvPr id="15" name="Image 3" descr="assets/ico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" y="5232197"/>
            <a:ext cx="127102" cy="12710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81405" y="5206594"/>
            <a:ext cx="3810305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D6E0E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puerta, no el techo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5715000" y="3810305"/>
            <a:ext cx="482620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Porque dominar la IA empieza por dominar tus procesos.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5715000" y="4369003"/>
            <a:ext cx="4826203" cy="952805"/>
          </a:xfrm>
          <a:prstGeom prst="roundRect">
            <a:avLst>
              <a:gd name="adj" fmla="val 9309"/>
            </a:avLst>
          </a:prstGeom>
          <a:solidFill>
            <a:srgbClr val="0A2A3D"/>
          </a:solidFill>
          <a:ln w="12700">
            <a:solidFill>
              <a:srgbClr val="2440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3"/>
          <p:cNvSpPr/>
          <p:nvPr/>
        </p:nvSpPr>
        <p:spPr>
          <a:xfrm>
            <a:off x="5917997" y="4572000"/>
            <a:ext cx="330098" cy="330098"/>
          </a:xfrm>
          <a:prstGeom prst="roundRect">
            <a:avLst>
              <a:gd name="adj" fmla="val 50139"/>
            </a:avLst>
          </a:prstGeom>
          <a:solidFill>
            <a:srgbClr val="241C3A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0" name="Image 4" descr="assets/ico_us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6694" y="4660697"/>
            <a:ext cx="152705" cy="15270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375197" y="4533595"/>
            <a:ext cx="2540203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Carmen Rode</a:t>
            </a:r>
            <a:endParaRPr lang="en-US" sz="1100" dirty="0"/>
          </a:p>
        </p:txBody>
      </p:sp>
      <p:sp>
        <p:nvSpPr>
          <p:cNvPr id="22" name="Text 15"/>
          <p:cNvSpPr txBox="1"/>
          <p:nvPr/>
        </p:nvSpPr>
        <p:spPr>
          <a:xfrm>
            <a:off x="6375197" y="4749394"/>
            <a:ext cx="3174797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100" dirty="0">
                <a:solidFill>
                  <a:srgbClr val="9FB1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PROCESS INTELLIGENCE · ENTELGY</a:t>
            </a:r>
            <a:endParaRPr lang="en-US" sz="700" dirty="0"/>
          </a:p>
        </p:txBody>
      </p:sp>
      <p:sp>
        <p:nvSpPr>
          <p:cNvPr id="23" name="Text 16"/>
          <p:cNvSpPr txBox="1"/>
          <p:nvPr/>
        </p:nvSpPr>
        <p:spPr>
          <a:xfrm>
            <a:off x="6375197" y="4966106"/>
            <a:ext cx="2540203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contacto — pendiente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711403" y="6590995"/>
            <a:ext cx="10769803" cy="0"/>
          </a:xfrm>
          <a:prstGeom prst="line">
            <a:avLst/>
          </a:prstGeom>
          <a:noFill/>
          <a:ln w="12700">
            <a:solidFill>
              <a:srgbClr val="2440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18"/>
          <p:cNvSpPr txBox="1"/>
          <p:nvPr/>
        </p:nvSpPr>
        <p:spPr>
          <a:xfrm>
            <a:off x="711403" y="6642202"/>
            <a:ext cx="82552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100" dirty="0">
                <a:solidFill>
                  <a:srgbClr val="7B8B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ENTELGY · PROCESS INTELLIGENCE · 2026</a:t>
            </a:r>
            <a:endParaRPr lang="en-US" sz="700" dirty="0"/>
          </a:p>
        </p:txBody>
      </p:sp>
      <p:sp>
        <p:nvSpPr>
          <p:cNvPr id="26" name="Text 19"/>
          <p:cNvSpPr txBox="1"/>
          <p:nvPr/>
        </p:nvSpPr>
        <p:spPr>
          <a:xfrm>
            <a:off x="8941003" y="6642202"/>
            <a:ext cx="25402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00" i="1" dirty="0">
                <a:solidFill>
                  <a:srgbClr val="7B8B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Documento público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4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" y="304495"/>
            <a:ext cx="680314" cy="19019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211105" y="304495"/>
            <a:ext cx="1270102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100" dirty="0">
                <a:solidFill>
                  <a:srgbClr val="9FB1B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Anexo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711403" y="952805"/>
            <a:ext cx="3810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0" spc="200" dirty="0">
                <a:solidFill>
                  <a:srgbClr val="FE5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COMO SERVICIO — SIN PROPIEDAD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9195206" y="901598"/>
            <a:ext cx="2286000" cy="215798"/>
          </a:xfrm>
          <a:prstGeom prst="roundRect">
            <a:avLst>
              <a:gd name="adj" fmla="val 50000"/>
            </a:avLst>
          </a:prstGeom>
          <a:solidFill>
            <a:srgbClr val="12303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 txBox="1"/>
          <p:nvPr/>
        </p:nvSpPr>
        <p:spPr>
          <a:xfrm>
            <a:off x="9195206" y="901598"/>
            <a:ext cx="2286000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9FB1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Por proyecto ↔ </a:t>
            </a:r>
            <a:r>
              <a:rPr lang="en-US" sz="800" dirty="0">
                <a:solidFill>
                  <a:srgbClr val="FE5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Como servicio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711403" y="1244498"/>
            <a:ext cx="9525305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Process Intelligence </a:t>
            </a:r>
            <a:r>
              <a:rPr lang="en-US" sz="2800" b="1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as a Service</a:t>
            </a:r>
            <a:r>
              <a:rPr lang="en-US" sz="2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711403" y="1815998"/>
            <a:ext cx="6985102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mismo resultado que por proyecto — pero no compras nada. Lo ponemos a funcionar por </a:t>
            </a: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suscripción</a:t>
            </a:r>
            <a:r>
              <a:rPr lang="en-US" sz="1500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11403" y="2984602"/>
            <a:ext cx="2540203" cy="1511503"/>
          </a:xfrm>
          <a:prstGeom prst="roundRect">
            <a:avLst>
              <a:gd name="adj" fmla="val 5021"/>
            </a:avLst>
          </a:prstGeom>
          <a:solidFill>
            <a:srgbClr val="0A2A3D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0" name="Image 1" descr="assets/ico_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995" y="3149194"/>
            <a:ext cx="165506" cy="16550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75995" y="3429000"/>
            <a:ext cx="228600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Plataforma y licencia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875995" y="3683203"/>
            <a:ext cx="2234794" cy="698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00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Bajo nuestro paraguas. No compras software.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454603" y="2984602"/>
            <a:ext cx="2540203" cy="1511503"/>
          </a:xfrm>
          <a:prstGeom prst="roundRect">
            <a:avLst>
              <a:gd name="adj" fmla="val 5021"/>
            </a:avLst>
          </a:prstGeom>
          <a:solidFill>
            <a:srgbClr val="0A2A3D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2" descr="assets/ico_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195" y="3149194"/>
            <a:ext cx="165506" cy="16550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619195" y="3429000"/>
            <a:ext cx="228600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Centro de Excelencia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3619195" y="3683203"/>
            <a:ext cx="2234794" cy="698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00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Rodado, operando por ti desde el día uno.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6197803" y="2984602"/>
            <a:ext cx="2540203" cy="1511503"/>
          </a:xfrm>
          <a:prstGeom prst="roundRect">
            <a:avLst>
              <a:gd name="adj" fmla="val 5021"/>
            </a:avLst>
          </a:prstGeom>
          <a:solidFill>
            <a:srgbClr val="0A2A3D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8" name="Image 3" descr="assets/ico_repea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2395" y="3149194"/>
            <a:ext cx="165506" cy="16550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362395" y="3429000"/>
            <a:ext cx="228600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Mejora continua</a:t>
            </a:r>
            <a:endParaRPr lang="en-US" sz="1100" dirty="0"/>
          </a:p>
        </p:txBody>
      </p:sp>
      <p:sp>
        <p:nvSpPr>
          <p:cNvPr id="20" name="Text 14"/>
          <p:cNvSpPr txBox="1"/>
          <p:nvPr/>
        </p:nvSpPr>
        <p:spPr>
          <a:xfrm>
            <a:off x="6362395" y="3683203"/>
            <a:ext cx="2234794" cy="698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00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Monitorización del proceso, siempre en marcha.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8941003" y="2984602"/>
            <a:ext cx="2540203" cy="1511503"/>
          </a:xfrm>
          <a:prstGeom prst="roundRect">
            <a:avLst>
              <a:gd name="adj" fmla="val 5021"/>
            </a:avLst>
          </a:prstGeom>
          <a:solidFill>
            <a:srgbClr val="0A2A3D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2" name="Image 4" descr="assets/ico_us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05595" y="3149194"/>
            <a:ext cx="165506" cy="16550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105595" y="3429000"/>
            <a:ext cx="228600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Adopción incluida</a:t>
            </a:r>
            <a:endParaRPr lang="en-US" sz="1100" dirty="0"/>
          </a:p>
        </p:txBody>
      </p:sp>
      <p:sp>
        <p:nvSpPr>
          <p:cNvPr id="24" name="Text 17"/>
          <p:cNvSpPr txBox="1"/>
          <p:nvPr/>
        </p:nvSpPr>
        <p:spPr>
          <a:xfrm>
            <a:off x="9105595" y="3683203"/>
            <a:ext cx="2234794" cy="698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00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Gestión del cambio y formación de tus usuarios.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711403" y="4711903"/>
            <a:ext cx="10769803" cy="761695"/>
          </a:xfrm>
          <a:prstGeom prst="roundRect">
            <a:avLst>
              <a:gd name="adj" fmla="val 11645"/>
            </a:avLst>
          </a:prstGeom>
          <a:solidFill>
            <a:srgbClr val="0A2A3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Shape 19"/>
          <p:cNvSpPr/>
          <p:nvPr/>
        </p:nvSpPr>
        <p:spPr>
          <a:xfrm>
            <a:off x="940003" y="4940503"/>
            <a:ext cx="304495" cy="304495"/>
          </a:xfrm>
          <a:prstGeom prst="roundRect">
            <a:avLst>
              <a:gd name="adj" fmla="val 20721"/>
            </a:avLst>
          </a:prstGeom>
          <a:solidFill>
            <a:srgbClr val="3A1A0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0"/>
          <p:cNvSpPr txBox="1"/>
          <p:nvPr/>
        </p:nvSpPr>
        <p:spPr>
          <a:xfrm>
            <a:off x="1397203" y="4902098"/>
            <a:ext cx="393740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Suscripción</a:t>
            </a:r>
            <a:r>
              <a:rPr lang="en-US" sz="1000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importe a dimensionar según proceso y alcance.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5715000" y="4902098"/>
            <a:ext cx="5587898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Entras con poco y crece hasta una </a:t>
            </a:r>
            <a:r>
              <a:rPr lang="en-US" sz="1200" b="1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cuenta grande</a:t>
            </a: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711403" y="6590995"/>
            <a:ext cx="10769803" cy="0"/>
          </a:xfrm>
          <a:prstGeom prst="line">
            <a:avLst/>
          </a:prstGeom>
          <a:noFill/>
          <a:ln w="12700">
            <a:solidFill>
              <a:srgbClr val="24404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3"/>
          <p:cNvSpPr txBox="1"/>
          <p:nvPr/>
        </p:nvSpPr>
        <p:spPr>
          <a:xfrm>
            <a:off x="711403" y="6642202"/>
            <a:ext cx="82552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100" dirty="0">
                <a:solidFill>
                  <a:srgbClr val="7B8B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ENTELGY · PROCESS INTELLIGENCE · 2026</a:t>
            </a:r>
            <a:endParaRPr lang="en-US" sz="700" dirty="0"/>
          </a:p>
        </p:txBody>
      </p:sp>
      <p:sp>
        <p:nvSpPr>
          <p:cNvPr id="31" name="Text 24"/>
          <p:cNvSpPr txBox="1"/>
          <p:nvPr/>
        </p:nvSpPr>
        <p:spPr>
          <a:xfrm>
            <a:off x="7670902" y="6642202"/>
            <a:ext cx="3810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00" i="1" dirty="0">
                <a:solidFill>
                  <a:srgbClr val="7B8B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Documento confidencial · no incluido en la versión general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947DAB3-413E-480B-B053-757327015487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a7b0a050-0046-41d0-9ca6-68ced5a39bc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2343</Words>
  <Application>Microsoft Office PowerPoint</Application>
  <PresentationFormat>Widescreen</PresentationFormat>
  <Paragraphs>359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Barlow</vt:lpstr>
      <vt:lpstr>JetBrains Mono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Susana Juan</cp:lastModifiedBy>
  <cp:revision>2</cp:revision>
  <dcterms:created xsi:type="dcterms:W3CDTF">2026-07-10T08:45:54Z</dcterms:created>
  <dcterms:modified xsi:type="dcterms:W3CDTF">2026-07-10T09:17:48Z</dcterms:modified>
</cp:coreProperties>
</file>