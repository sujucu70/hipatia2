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handoutMasterIdLst>
    <p:handoutMasterId r:id="rId28"/>
  </p:handoutMasterIdLst>
  <p:sldIdLst>
    <p:sldId id="333"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78"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83450E7-A3F1-7C5C-3454-27F4CCED7807}"/>
              </a:ext>
            </a:extLst>
          </p:cNvPr>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s-ES"/>
          </a:p>
        </p:txBody>
      </p:sp>
      <p:sp>
        <p:nvSpPr>
          <p:cNvPr id="3" name="Date Placeholder 2">
            <a:extLst>
              <a:ext uri="{FF2B5EF4-FFF2-40B4-BE49-F238E27FC236}">
                <a16:creationId xmlns:a16="http://schemas.microsoft.com/office/drawing/2014/main" id="{263AF80D-6509-4B69-5CEA-588C57CC7A30}"/>
              </a:ext>
            </a:extLst>
          </p:cNvPr>
          <p:cNvSpPr>
            <a:spLocks noGrp="1"/>
          </p:cNvSpPr>
          <p:nvPr>
            <p:ph type="dt" sz="quarter" idx="1"/>
          </p:nvPr>
        </p:nvSpPr>
        <p:spPr>
          <a:xfrm>
            <a:off x="5827713" y="0"/>
            <a:ext cx="4457700" cy="917575"/>
          </a:xfrm>
          <a:prstGeom prst="rect">
            <a:avLst/>
          </a:prstGeom>
        </p:spPr>
        <p:txBody>
          <a:bodyPr vert="horz" lIns="91440" tIns="45720" rIns="91440" bIns="45720" rtlCol="0"/>
          <a:lstStyle>
            <a:lvl1pPr algn="r">
              <a:defRPr sz="1200"/>
            </a:lvl1pPr>
          </a:lstStyle>
          <a:p>
            <a:fld id="{393154E3-C7CB-402A-8488-CE2400541034}" type="datetimeFigureOut">
              <a:rPr lang="es-ES" smtClean="0"/>
              <a:t>16/07/2026</a:t>
            </a:fld>
            <a:endParaRPr lang="es-ES"/>
          </a:p>
        </p:txBody>
      </p:sp>
      <p:sp>
        <p:nvSpPr>
          <p:cNvPr id="4" name="Footer Placeholder 3">
            <a:extLst>
              <a:ext uri="{FF2B5EF4-FFF2-40B4-BE49-F238E27FC236}">
                <a16:creationId xmlns:a16="http://schemas.microsoft.com/office/drawing/2014/main" id="{9419337B-8648-52FA-A16D-35D52229467B}"/>
              </a:ext>
            </a:extLst>
          </p:cNvPr>
          <p:cNvSpPr>
            <a:spLocks noGrp="1"/>
          </p:cNvSpPr>
          <p:nvPr>
            <p:ph type="ftr" sz="quarter" idx="2"/>
          </p:nvPr>
        </p:nvSpPr>
        <p:spPr>
          <a:xfrm>
            <a:off x="0" y="17372013"/>
            <a:ext cx="4457700" cy="915987"/>
          </a:xfrm>
          <a:prstGeom prst="rect">
            <a:avLst/>
          </a:prstGeom>
        </p:spPr>
        <p:txBody>
          <a:bodyPr vert="horz" lIns="91440" tIns="45720" rIns="91440" bIns="45720" rtlCol="0" anchor="b"/>
          <a:lstStyle>
            <a:lvl1pPr algn="l">
              <a:defRPr sz="1200"/>
            </a:lvl1pPr>
          </a:lstStyle>
          <a:p>
            <a:endParaRPr lang="es-ES"/>
          </a:p>
        </p:txBody>
      </p:sp>
      <p:sp>
        <p:nvSpPr>
          <p:cNvPr id="5" name="Slide Number Placeholder 4">
            <a:extLst>
              <a:ext uri="{FF2B5EF4-FFF2-40B4-BE49-F238E27FC236}">
                <a16:creationId xmlns:a16="http://schemas.microsoft.com/office/drawing/2014/main" id="{9AB327AC-8134-3E14-1F9D-7E4FF9452FB7}"/>
              </a:ext>
            </a:extLst>
          </p:cNvPr>
          <p:cNvSpPr>
            <a:spLocks noGrp="1"/>
          </p:cNvSpPr>
          <p:nvPr>
            <p:ph type="sldNum" sz="quarter" idx="3"/>
          </p:nvPr>
        </p:nvSpPr>
        <p:spPr>
          <a:xfrm>
            <a:off x="5827713" y="17372013"/>
            <a:ext cx="4457700" cy="915987"/>
          </a:xfrm>
          <a:prstGeom prst="rect">
            <a:avLst/>
          </a:prstGeom>
        </p:spPr>
        <p:txBody>
          <a:bodyPr vert="horz" lIns="91440" tIns="45720" rIns="91440" bIns="45720" rtlCol="0" anchor="b"/>
          <a:lstStyle>
            <a:lvl1pPr algn="r">
              <a:defRPr sz="1200"/>
            </a:lvl1pPr>
          </a:lstStyle>
          <a:p>
            <a:fld id="{D36D7A27-BDEA-413B-90B2-A94C83BA9F7C}" type="slidenum">
              <a:rPr lang="es-ES" smtClean="0"/>
              <a:t>‹#›</a:t>
            </a:fld>
            <a:endParaRPr lang="es-ES"/>
          </a:p>
        </p:txBody>
      </p:sp>
    </p:spTree>
    <p:extLst>
      <p:ext uri="{BB962C8B-B14F-4D97-AF65-F5344CB8AC3E}">
        <p14:creationId xmlns:p14="http://schemas.microsoft.com/office/powerpoint/2010/main" val="23420630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5056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Buenos días, y gracias por el tiempo. Antes de entrar en quiénes somos o en qué vendemos, quiero dejar una idea sobre la mesa, porque es la que ordena toda esta conversación: cuando la tecnología no basta. Todos hemos visto proyectos técnicamente impecables que no movieron el negocio ni un euro. Nosotros nos dedicamos justo a lo contrario — a que la tecnología se convierta en resultado, encajándola con vuestros procesos, vuestras personas y vuestra cultura. Eso es lo que para nosotros significa 'Human Driven Technology'. En los próximos minutos os enseño cómo lo hacemos y, sobre todo, qué hemos entregado ya.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 la persona que expone hoy.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ese reto encima de la mesa, dejadme contaros quiénes somos. Porque la credibilidad para hablar de esto no se improvisa: viene de independencia, de escala, y de ejecutar con criterio de negocio, no solo técnico.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ELEVATOR PITCH — suéltalo igual siempre, en 30 segundos, sin leer: 'Somos Entelgy. No partimos de hoja en blanco: transformamos organizaciones que ya funcionan. Y lo hacemos cruzando las cuatro variables que la tecnología sola no resuelve —procesos, personas, tecnología y cultura—. Por eso hablamos de resultados, no de proyectos. La diferencia no son las capacidades, que las tiene cualquiera: es gente que lleva el modelo dentro y responde del resultado.' Si el cliente ya nos conoce, abrevia. Si no, este es tu gancho. No entres en cifras: eso es la siguiente lámina.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se lee cifra a cifra. Quédate con tres: 20 años, capital 100% propio (independencia) y +95% que renuevan. Lo demás está para el que pregunte.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nuestra cobertura: cuatro grandes sectores y la misma forma de trabajar en todos. No aprendemos vuestro negocio sobre la marcha — ya entregamos en él. En financiero llevamos más de veinte años, con más de veinticinco entidades en cartera: Santander, BBVA, Bankinter, Mapfre, AXA, la CNMV, el ICO. En sector público y educación, más de treinta cuentas: Lanbide, AENA, la UNED, gobiernos autonómicos. En industria y energía, Siemens Energy, Iberdrola, Acciona. En telco y media, Telefónica, Vodafone, Cellnex, el Olympic Channel. Y en retail y servicios, Inditex, H10 Hoteles. Pero el dato que mejor lo resume está a la izquierda: más del noventa y cinco por ciento de nuestros clientes renuevan; no nos cambian. Esa es la prueba de que la profundidad sectorial es real, no un logo en una transparencia.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Mirad estos cuatro datos un segundo, porque probablemente alguno de ellos esté marcando vuestra agenda. El setenta por ciento del gasto en IT se va en mantener lo que ya existe; ese es justo el presupuesto que la IA necesita liberar y hoy está atrapado. Casi un treinta por ciento del gasto en cloud se desperdicia, y vuelve a subir por primera vez en cinco años, debido a la IA. Seis de cada diez organizaciones todavía no ven impacto de su IA en la cuenta de resultados. Y la cuarta, la regulación: el AI Act obliga en 2027 a los sistemas de alto riesgo, y no llega solo — NIS2, DORA, RGPD y el Data Act aprietan a la vez. Pero fijaos en la conclusión, a la derecha: la tecnología es la parte fácil. La tecnología se implanta. Lo difícil es que encaje con los procesos que ya existen, con las personas que la usan y con la cultura que la sostiene. Donde se gana o se pierde el ROI no es en la tecnología — es en las otras tres variables. Y la IA solo acelera ese choque.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no lo decimos nosotros: lo demuestra el mercado. Solo una de cada tres transformaciones digitales alcanza su objetivo. La mitad de los proyectos de automatización fracasan, y casi nunca por el robot, sino por el proceso que nadie rediseñó antes. Y donde la gestión del cambio se hace bien, el proyecto tiene hasta siete veces más probabilidad de éxito. Fijaos en el patrón: lo que falla rara vez es la tecnología por sí sola; falla cuando va sin el proceso rediseñado o sin nadie que la adopte. Nosotros trabajamos al revés, integrando los cuatro vértices alrededor del conocimiento del sector. Así opera ese seis por ciento que sí captura valor de su IA. Para vuestra cuenta de resultados, eso se traduce en algo que un comité entiende: menos coste de operar y productividad que de verdad llega al EBIT, con el riesgo bajo control. — CITAS Y FUENTES: «Solo 1 de cada 3 transformaciones digitales alcanza sus objetivos» (BCG · Flipping the Odds of Digital Transformation Success). «Los proyectos con gestión del cambio excelente tienen hasta 7 veces más probabilidad de éxito» (Prosci). «Hasta la mitad de los proyectos de automatización fracasan: el robot no es el problema, lo es el proceso que nadie rediseñó» (EY · Robotic Process Automation survey). «Solo un tercio de los proyectos IT tiene éxito; la mitad se degrada con el tiempo» (Standish Group · CHAOS).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idea que ordena toda nuestra propuesta — nuestra visión. Hoy la mayoría de organizaciones están en 'IA añadida': la IA encima de lo de siempre, mejorando tareas sueltas, pero la empresa sigue siendo la misma y crece de forma lineal, al ritmo del mercado. El destino es muy distinto: la Compañía Aumentada, donde la IA reinventa procesos y cultura y cambia la organización entera. Fijaos en la curva: la ventaja competitiva no es la IA en sí, es la distancia que abrís con el mercado cuando dais el salto antes que los demás. ¿Y qué decide ese salto? No la tecnología — la gestión del cambio sobre las personas. Ahí está el Factor Entelgy: somos el socio crítico que gestiona esa transición. Por eso lo decimos así: no ayudamos a usar la IA; ayudamos a reinventarse con ella, como compañía.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aquí el qué y el porqué. Vamos al cómo. Y el cómo se resume en algo muy simple: cinco prácticas, un único método, y una idea clara de hacia dónde vamos.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reunión, esta lámina no se cuenta, se pregunta: '¿dónde aprieta hoy tu negocio? ¿cuál de estas cinco te quita el sueño?'. No abras ninguna puerta hasta que el cliente señale un dolor: esa es la reunión. Si el interlocutor es técnico o quiere el 'cómo', abre el método por el banner; si es de negocio, ve directo a su dolor. Enviada por correo, la lámina se explica sola: cinco áreas claras y el método arriba. Las preguntas de profundización y las objeciones están en el playbook.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ese método con un poco más de detalle. Cinco estaciones: entender el As-Is con datos reales, no con un organigrama; diseñar un To-Be gobernado donde cada decisión queda trazada; implantar la solución integrada con el legacy; adoptar — que es formación y gestión activa de la resistencia, y sin esto no hay valor; y medir, con KPIs atados al proceso, no a la actividad. Y fijaos: cruzando las cinco estaciones hay tres railes que nunca se apagan — gobierno, seguridad y operación —, desde el minuto uno. Eso diferencia un proyecto que se entrega de uno que además aguanta en producción, auditable y defendible cada euro. El bucle naranja es la mejora continua: es un servicio, no un proyecto — cada vuelta deja la organización mejor.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respuesta a '¿y cuando el proyecto acaba?'. No os entregamos un informe y nos vamos: montamos una Oficina de Transformación y Gobernanza que se queda operando una función de gobierno dentro de vuestra casa. Diagnóstico, toma de funciones y delegación progresiva: formamos a vuestro equipo y le devolvemos las funciones cuando está listo, sin dependencia eterna. El catálogo de la derecha muestra una oficina por raíl del método: gobierno, seguridad y operación.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Intelligence. La idea de partida: la IA solo escala sobre procesos que entiendes. Una plataforma de process mining te enseña dónde está el problema; nosotros lo resolvemos. Vemos el proceso real con datos, no con entrevistas; te decimos qué conviene cambiar según su coste y su riesgo para que tú decidas; y lo dejamos funcionando, con tu equipo. Y muy importante: no automatizamos por automatizar; primero rediseñamos. La automatización es un carril, no el todo. ¿Credenciales? Celonis nos reconoció como el partner que más clientes nuevos cerró en 2024, y tenemos más de cuarenta robots en producción en sitios como la UNED. Un buen primer paso es un diagnóstico data-driven: unas seis semanas, precio cerrado.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buscamos: procesos candidatos a diagnóstico · brecha diseño vs. operación real · métrica de impacto · viabilidad de análisis con datos · quick wins. Ancla de negocio: reducir coste sin malgastar la inversión en IA. Siguiente paso: una foto del proceso real, dónde mejora y una primera estimación de valor. Cierre (comercial): En dos semanas os enseñamos el proceso real reconstruido con vuestros datos, y qué vale arreglarlo. ¿Elegimos uno y lo miramos?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Ciclo de Software. El mercado vende IA que ayuda al programador a teclear; nosotros la aplicamos a todo el ciclo de vida, de los requisitos al despliegue. Cuatro cosas: modernizamos el núcleo legacy y le quitamos deuda técnica y riesgo regulatorio — y se financia desde el presupuesto de operación que ya tienes aprobado; convertimos el mantenimiento en algo que mejora el sistema en vez de solo apagar fuegos; firmamos la especificación antes de escribir código, así AI Act, NIS2 y RGPD quedan cubiertos desde el diseño; y ponemos equipo aumentado que responde por resultado, no por horas. La prueba: más de dos mil desarrolladores medidos en Santander, diez por ciento de productividad real contra grupo de control, y código en producción en una semana para las líneas DANA del ICO.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buscamos: peso del mantenimiento · legacy prioritario · punto de intervención · dolor dominante · madurez y margen de aceleración. Ancla de negocio: reducir coste y ganar velocidad de negocio. Siguiente paso: una revisión del portfolio, la deuda técnica y las oportunidades de modernizar/automatizar. Cierre (comercial): Os hacemos una foto del portfolio y de la deuda técnica, y os decimos por dónde se recupera presupuesto. ¿Le ponemos fecha?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 IA. La frase lo resume: el dato que decide, la IA que cumple. El mercado te vende la plataforma y te promete IA; nosotros gobernamos el dato y los modelos, y respondemos de que cumplan la normativa. El problema es real: Gartner dice que el sesenta por ciento no capturará el valor esperado de su IA por un gobierno del dato deficiente, y solo el seis por ciento mueve de verdad su EBIT con ella. Hacemos cuatro cosas: montamos el gobierno del dato que sobrevive al cambio de CDO; inventariamos y clasificamos por riesgo la IA que ya tienes en producción de cara a 2027; acercamos el dato al negocio con una capa semántica común; y llevamos modelos predictivos a producción. Lo hicimos en la CNMV, en Bankinter, en BPCE — y ganando a las Big Four.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buscamos: punto de partida · brecha piloto-producción · barrera dominante · priorización por impacto · métrica de valor. Ancla de negocio: pasar de pilotos a IA con retorno medible. Siguiente paso: una foto de madurez, priorizar casos y un plan para llevarlos a producción. Cierre (comercial): Cogemos vuestro caso de más presión y os decimos qué falta para que llegue a producción, gobernado y medido. ¿Empezamos por ese?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Operations, primera mitad: el puesto de trabajo. El soporte tradicional abre un ticket por cada incidencia; nuestra IA la resuelve antes de que llegue al técnico. Operamos el soporte, el dispositivo y la experiencia del empleado de extremo a extremo: atención multicanal, gestión del parque con cumplimiento NIS2, dispositivo como servicio, y servicios de valor con autoservicio y analítica de experiencia. La evidencia, en Administración Pública: más de cuatrocientos mil usuarios atendidos hoy, más del noventa y cinco por ciento de renovación de contrato, y hasta un noventa y ocho por ciento de incidencias clasificadas por IA. Centros propios en Madrid, São Paulo y Miami. Un buen arranque es un assessment de vuestro modelo de puesto de trabajo.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 otra mitad de Smart Operations: la infraestructura. Mismo principio: el soporte tradicional apaga fuegos; nuestro modelo preventivo con AIOps se anticipa al incidente y, además, baja el gasto. Mantenemos disponible y bajo control la infraestructura crítica — sistemas, redes y cloud — 24 por 7; escalamos en nube; controlamos el coste con FinOps; predecimos con AIOps; y lo gobernamos con NIS2, DORA y AI Act metidos en la arquitectura, no como una capa añadida. La prueba está en Telefónica Tech: un cuarenta por ciento menos de tiempo de detección, veinticinco mil elementos monitorizados, y más de tres mil clientes operados. Y con IA, hasta un treinta por ciento menos de inversión sin tocar la disponibilidad.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buscamos: frente prioritario · potencial de eficiencia · automatización potencial · madurez de experiencia (DEX/XLA) · quick wins. Ancla de negocio: reducir coste y sostener la operación. Siguiente paso: una revisión de costes, tickets, automatización, experiencia e infra/cloud/puesto. Cierre (comercial): En unas semanas os enseñamos dónde está el gasto de más y cuánto se recupera, sin tocar el servicio. ¿Miramos vuestro frente más caro?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 quinta, que para mí es la que decide si todo lo anterior funciona: Digital Change. La tecnología no transforma; transforman las personas que la adoptan. La causa raíz de que el setenta por ciento de las transformaciones fracase no es la herramienta — son las personas. La mayoría de consultoras vende e implanta; nosotros hacemos que el cambio cale y se quede. En el frente de la IA lo tenemos ya productizado en tres piezas: IAbility, que lleva el uso real de licencias del quince o veinte por ciento al setenta y cinco; PreservIA, que captura el conocimiento que vive solo en la cabeza de tus expertos antes de que salga por la puerta; y la Oficina de Gobernanza Humana de la IA, que monta el modelo que decide qué avanza, deja rastro y aguanta una auditoría. MAPFRE, Faes Farma, Gobierno de Navarra.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buscamos: casos de baja adopción · colectivos críticos · madurez de medición · resultado esperado · palancas de cambio. Ancla de negocio: la productividad del empleado como primer objetivo del negocio. Siguiente paso: una foto de adopción, mapa de colectivos, barreras y plan para activar el cambio. Cierre (comercial): Os medimos la adopción real y os damos el plan para recuperar ese valor. ¿Elegimos el proyecto que más os escuece?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con eso cierro. Si os tenéis que llevar una sola idea, que sea esta: nosotros no entregamos solo tecnología; construimos las condiciones para que se adopte, escale y se traduzca en resultados. Por eso preferimos hablar de resultados, no de proyectos. Me encantaría que el siguiente paso fuera sentarnos sobre un caso concreto vuestro y enseñaros qué haríamos. Aquí tenéis el contacto; el primer diagnóstico lo podemos arrancar en semanas. Gracias.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86928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3" Type="http://schemas.openxmlformats.org/officeDocument/2006/relationships/image" Target="../media/image18.svg"/><Relationship Id="rId18" Type="http://schemas.openxmlformats.org/officeDocument/2006/relationships/image" Target="../media/image23.png"/><Relationship Id="rId26" Type="http://schemas.openxmlformats.org/officeDocument/2006/relationships/image" Target="../media/image31.png"/><Relationship Id="rId21" Type="http://schemas.openxmlformats.org/officeDocument/2006/relationships/image" Target="../media/image26.png"/><Relationship Id="rId34" Type="http://schemas.openxmlformats.org/officeDocument/2006/relationships/image" Target="../media/image39.png"/><Relationship Id="rId7" Type="http://schemas.openxmlformats.org/officeDocument/2006/relationships/image" Target="../media/image12.svg"/><Relationship Id="rId12" Type="http://schemas.openxmlformats.org/officeDocument/2006/relationships/image" Target="../media/image17.sv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2" Type="http://schemas.openxmlformats.org/officeDocument/2006/relationships/notesSlide" Target="../notesSlides/notesSlide5.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11.svg"/><Relationship Id="rId11" Type="http://schemas.openxmlformats.org/officeDocument/2006/relationships/image" Target="../media/image16.sv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5" Type="http://schemas.openxmlformats.org/officeDocument/2006/relationships/image" Target="../media/image10.svg"/><Relationship Id="rId15" Type="http://schemas.openxmlformats.org/officeDocument/2006/relationships/image" Target="../media/image20.sv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svg"/><Relationship Id="rId19" Type="http://schemas.openxmlformats.org/officeDocument/2006/relationships/image" Target="../media/image24.png"/><Relationship Id="rId31" Type="http://schemas.openxmlformats.org/officeDocument/2006/relationships/image" Target="../media/image36.pn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sv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8" Type="http://schemas.openxmlformats.org/officeDocument/2006/relationships/image" Target="../media/image13.sv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26" Type="http://schemas.openxmlformats.org/officeDocument/2006/relationships/image" Target="../media/image66.png"/><Relationship Id="rId3" Type="http://schemas.openxmlformats.org/officeDocument/2006/relationships/image" Target="../media/image7.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5" Type="http://schemas.openxmlformats.org/officeDocument/2006/relationships/image" Target="../media/image65.png"/><Relationship Id="rId2" Type="http://schemas.openxmlformats.org/officeDocument/2006/relationships/notesSlide" Target="../notesSlides/notesSlide6.xml"/><Relationship Id="rId16" Type="http://schemas.openxmlformats.org/officeDocument/2006/relationships/image" Target="../media/image56.png"/><Relationship Id="rId20" Type="http://schemas.openxmlformats.org/officeDocument/2006/relationships/image" Target="../media/image60.png"/><Relationship Id="rId29"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51.png"/><Relationship Id="rId24" Type="http://schemas.openxmlformats.org/officeDocument/2006/relationships/image" Target="../media/image64.png"/><Relationship Id="rId5" Type="http://schemas.openxmlformats.org/officeDocument/2006/relationships/image" Target="../media/image45.png"/><Relationship Id="rId15" Type="http://schemas.openxmlformats.org/officeDocument/2006/relationships/image" Target="../media/image55.png"/><Relationship Id="rId23" Type="http://schemas.openxmlformats.org/officeDocument/2006/relationships/image" Target="../media/image63.png"/><Relationship Id="rId28" Type="http://schemas.openxmlformats.org/officeDocument/2006/relationships/image" Target="../media/image68.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 Id="rId22" Type="http://schemas.openxmlformats.org/officeDocument/2006/relationships/image" Target="../media/image62.png"/><Relationship Id="rId27" Type="http://schemas.openxmlformats.org/officeDocument/2006/relationships/image" Target="../media/image67.png"/><Relationship Id="rId30" Type="http://schemas.openxmlformats.org/officeDocument/2006/relationships/image" Target="../media/image70.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80.svg"/><Relationship Id="rId3" Type="http://schemas.openxmlformats.org/officeDocument/2006/relationships/image" Target="../media/image7.png"/><Relationship Id="rId7" Type="http://schemas.openxmlformats.org/officeDocument/2006/relationships/image" Target="../media/image74.svg"/><Relationship Id="rId12" Type="http://schemas.openxmlformats.org/officeDocument/2006/relationships/image" Target="../media/image79.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3.svg"/><Relationship Id="rId11" Type="http://schemas.openxmlformats.org/officeDocument/2006/relationships/image" Target="../media/image78.svg"/><Relationship Id="rId5" Type="http://schemas.openxmlformats.org/officeDocument/2006/relationships/image" Target="../media/image72.svg"/><Relationship Id="rId15" Type="http://schemas.openxmlformats.org/officeDocument/2006/relationships/image" Target="../media/image82.sv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svg"/><Relationship Id="rId14" Type="http://schemas.openxmlformats.org/officeDocument/2006/relationships/image" Target="../media/image81.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3.sv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slide" Target="slide16.xml"/><Relationship Id="rId18" Type="http://schemas.openxmlformats.org/officeDocument/2006/relationships/image" Target="../media/image93.svg"/><Relationship Id="rId3" Type="http://schemas.openxmlformats.org/officeDocument/2006/relationships/image" Target="../media/image7.png"/><Relationship Id="rId21" Type="http://schemas.openxmlformats.org/officeDocument/2006/relationships/image" Target="../media/image95.svg"/><Relationship Id="rId7" Type="http://schemas.openxmlformats.org/officeDocument/2006/relationships/image" Target="../media/image86.svg"/><Relationship Id="rId12" Type="http://schemas.openxmlformats.org/officeDocument/2006/relationships/image" Target="../media/image89.svg"/><Relationship Id="rId17" Type="http://schemas.openxmlformats.org/officeDocument/2006/relationships/image" Target="../media/image92.svg"/><Relationship Id="rId2" Type="http://schemas.openxmlformats.org/officeDocument/2006/relationships/notesSlide" Target="../notesSlides/notesSlide11.xml"/><Relationship Id="rId16" Type="http://schemas.openxmlformats.org/officeDocument/2006/relationships/slide" Target="slide18.xml"/><Relationship Id="rId20" Type="http://schemas.openxmlformats.org/officeDocument/2006/relationships/image" Target="../media/image94.svg"/><Relationship Id="rId1" Type="http://schemas.openxmlformats.org/officeDocument/2006/relationships/slideLayout" Target="../slideLayouts/slideLayout1.xml"/><Relationship Id="rId6" Type="http://schemas.openxmlformats.org/officeDocument/2006/relationships/image" Target="../media/image85.svg"/><Relationship Id="rId11" Type="http://schemas.openxmlformats.org/officeDocument/2006/relationships/image" Target="../media/image88.svg"/><Relationship Id="rId24" Type="http://schemas.openxmlformats.org/officeDocument/2006/relationships/image" Target="../media/image97.svg"/><Relationship Id="rId5" Type="http://schemas.openxmlformats.org/officeDocument/2006/relationships/image" Target="../media/image84.svg"/><Relationship Id="rId15" Type="http://schemas.openxmlformats.org/officeDocument/2006/relationships/image" Target="../media/image91.svg"/><Relationship Id="rId23" Type="http://schemas.openxmlformats.org/officeDocument/2006/relationships/image" Target="../media/image96.svg"/><Relationship Id="rId10" Type="http://schemas.openxmlformats.org/officeDocument/2006/relationships/slide" Target="slide14.xml"/><Relationship Id="rId19" Type="http://schemas.openxmlformats.org/officeDocument/2006/relationships/slide" Target="slide20.xml"/><Relationship Id="rId4" Type="http://schemas.openxmlformats.org/officeDocument/2006/relationships/slide" Target="slide12.xml"/><Relationship Id="rId9" Type="http://schemas.openxmlformats.org/officeDocument/2006/relationships/image" Target="../media/image87.svg"/><Relationship Id="rId14" Type="http://schemas.openxmlformats.org/officeDocument/2006/relationships/image" Target="../media/image90.svg"/><Relationship Id="rId22" Type="http://schemas.openxmlformats.org/officeDocument/2006/relationships/slide" Target="slide23.xml"/><Relationship Id="rId25" Type="http://schemas.openxmlformats.org/officeDocument/2006/relationships/image" Target="../media/image89-color.svg"/><Relationship Id="rId26" Type="http://schemas.openxmlformats.org/officeDocument/2006/relationships/image" Target="../media/image91-color.svg"/><Relationship Id="rId27" Type="http://schemas.openxmlformats.org/officeDocument/2006/relationships/image" Target="../media/image93-color.svg"/><Relationship Id="rId28" Type="http://schemas.openxmlformats.org/officeDocument/2006/relationships/image" Target="../media/image95-color.svg"/><Relationship Id="rId29" Type="http://schemas.openxmlformats.org/officeDocument/2006/relationships/image" Target="../media/image97-color.svg"/></Relationships>
</file>

<file path=ppt/slides/_rels/slide12.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slide" Target="slide11.xml"/><Relationship Id="rId7" Type="http://schemas.openxmlformats.org/officeDocument/2006/relationships/image" Target="../media/image100.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9.svg"/><Relationship Id="rId5" Type="http://schemas.openxmlformats.org/officeDocument/2006/relationships/image" Target="../media/image7.png"/><Relationship Id="rId4" Type="http://schemas.openxmlformats.org/officeDocument/2006/relationships/image" Target="../media/image98.svg"/></Relationships>
</file>

<file path=ppt/slides/_rels/slide13.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slide" Target="slide11.xml"/><Relationship Id="rId7" Type="http://schemas.openxmlformats.org/officeDocument/2006/relationships/image" Target="../media/image104.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7.png"/><Relationship Id="rId4" Type="http://schemas.openxmlformats.org/officeDocument/2006/relationships/image" Target="../media/image102.svg"/></Relationships>
</file>

<file path=ppt/slides/_rels/slide14.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slide" Target="slide11.xml"/><Relationship Id="rId7" Type="http://schemas.openxmlformats.org/officeDocument/2006/relationships/image" Target="../media/image107.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6.svg"/><Relationship Id="rId11" Type="http://schemas.openxmlformats.org/officeDocument/2006/relationships/image" Target="../media/image110.svg"/><Relationship Id="rId5" Type="http://schemas.openxmlformats.org/officeDocument/2006/relationships/image" Target="../media/image7.png"/><Relationship Id="rId10" Type="http://schemas.openxmlformats.org/officeDocument/2006/relationships/slide" Target="slide15.xml"/><Relationship Id="rId4" Type="http://schemas.openxmlformats.org/officeDocument/2006/relationships/image" Target="../media/image105.svg"/><Relationship Id="rId9" Type="http://schemas.openxmlformats.org/officeDocument/2006/relationships/image" Target="../media/image109.svg"/></Relationships>
</file>

<file path=ppt/slides/_rels/slide15.xml.rels><?xml version="1.0" encoding="UTF-8" standalone="yes"?>
<Relationships xmlns="http://schemas.openxmlformats.org/package/2006/relationships"><Relationship Id="rId3" Type="http://schemas.openxmlformats.org/officeDocument/2006/relationships/slide" Target="slide11.xml"/><Relationship Id="rId7" Type="http://schemas.openxmlformats.org/officeDocument/2006/relationships/image" Target="../media/image112.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image" Target="../media/image7.png"/><Relationship Id="rId4" Type="http://schemas.openxmlformats.org/officeDocument/2006/relationships/image" Target="../media/image111.svg"/></Relationships>
</file>

<file path=ppt/slides/_rels/slide16.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slide" Target="slide11.xml"/><Relationship Id="rId7" Type="http://schemas.openxmlformats.org/officeDocument/2006/relationships/image" Target="../media/image115.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14.svg"/><Relationship Id="rId11" Type="http://schemas.openxmlformats.org/officeDocument/2006/relationships/image" Target="../media/image118.svg"/><Relationship Id="rId5" Type="http://schemas.openxmlformats.org/officeDocument/2006/relationships/image" Target="../media/image7.png"/><Relationship Id="rId10" Type="http://schemas.openxmlformats.org/officeDocument/2006/relationships/slide" Target="slide17.xml"/><Relationship Id="rId4" Type="http://schemas.openxmlformats.org/officeDocument/2006/relationships/image" Target="../media/image113.svg"/><Relationship Id="rId9" Type="http://schemas.openxmlformats.org/officeDocument/2006/relationships/image" Target="../media/image117.svg"/></Relationships>
</file>

<file path=ppt/slides/_rels/slide17.xml.rels><?xml version="1.0" encoding="UTF-8" standalone="yes"?>
<Relationships xmlns="http://schemas.openxmlformats.org/package/2006/relationships"><Relationship Id="rId3" Type="http://schemas.openxmlformats.org/officeDocument/2006/relationships/slide" Target="slide11.xml"/><Relationship Id="rId7" Type="http://schemas.openxmlformats.org/officeDocument/2006/relationships/image" Target="../media/image120.sv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image" Target="../media/image7.png"/><Relationship Id="rId4" Type="http://schemas.openxmlformats.org/officeDocument/2006/relationships/image" Target="../media/image119.svg"/></Relationships>
</file>

<file path=ppt/slides/_rels/slide18.xml.rels><?xml version="1.0" encoding="UTF-8" standalone="yes"?>
<Relationships xmlns="http://schemas.openxmlformats.org/package/2006/relationships"><Relationship Id="rId8" Type="http://schemas.openxmlformats.org/officeDocument/2006/relationships/image" Target="../media/image124.svg"/><Relationship Id="rId3" Type="http://schemas.openxmlformats.org/officeDocument/2006/relationships/slide" Target="slide11.xml"/><Relationship Id="rId7" Type="http://schemas.openxmlformats.org/officeDocument/2006/relationships/image" Target="../media/image123.sv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2.svg"/><Relationship Id="rId11" Type="http://schemas.openxmlformats.org/officeDocument/2006/relationships/image" Target="../media/image126.svg"/><Relationship Id="rId5" Type="http://schemas.openxmlformats.org/officeDocument/2006/relationships/image" Target="../media/image7.png"/><Relationship Id="rId10" Type="http://schemas.openxmlformats.org/officeDocument/2006/relationships/slide" Target="slide19.xml"/><Relationship Id="rId4" Type="http://schemas.openxmlformats.org/officeDocument/2006/relationships/image" Target="../media/image121.svg"/><Relationship Id="rId9" Type="http://schemas.openxmlformats.org/officeDocument/2006/relationships/image" Target="../media/image125.svg"/></Relationships>
</file>

<file path=ppt/slides/_rels/slide19.xml.rels><?xml version="1.0" encoding="UTF-8" standalone="yes"?>
<Relationships xmlns="http://schemas.openxmlformats.org/package/2006/relationships"><Relationship Id="rId3" Type="http://schemas.openxmlformats.org/officeDocument/2006/relationships/slide" Target="slide11.xml"/><Relationship Id="rId7" Type="http://schemas.openxmlformats.org/officeDocument/2006/relationships/image" Target="../media/image128.sv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image" Target="../media/image7.png"/><Relationship Id="rId4" Type="http://schemas.openxmlformats.org/officeDocument/2006/relationships/image" Target="../media/image127.svg"/></Relationships>
</file>

<file path=ppt/slides/_rels/slide20.xml.rels><?xml version="1.0" encoding="UTF-8" standalone="yes"?>
<Relationships xmlns="http://schemas.openxmlformats.org/package/2006/relationships"><Relationship Id="rId8" Type="http://schemas.openxmlformats.org/officeDocument/2006/relationships/image" Target="../media/image132.svg"/><Relationship Id="rId3" Type="http://schemas.openxmlformats.org/officeDocument/2006/relationships/slide" Target="slide11.xml"/><Relationship Id="rId7" Type="http://schemas.openxmlformats.org/officeDocument/2006/relationships/image" Target="../media/image131.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0.svg"/><Relationship Id="rId11" Type="http://schemas.openxmlformats.org/officeDocument/2006/relationships/image" Target="../media/image134.svg"/><Relationship Id="rId5" Type="http://schemas.openxmlformats.org/officeDocument/2006/relationships/image" Target="../media/image7.png"/><Relationship Id="rId10" Type="http://schemas.openxmlformats.org/officeDocument/2006/relationships/slide" Target="slide21.xml"/><Relationship Id="rId4" Type="http://schemas.openxmlformats.org/officeDocument/2006/relationships/image" Target="../media/image129.svg"/><Relationship Id="rId9" Type="http://schemas.openxmlformats.org/officeDocument/2006/relationships/image" Target="../media/image133.svg"/></Relationships>
</file>

<file path=ppt/slides/_rels/slide21.xml.rels><?xml version="1.0" encoding="UTF-8" standalone="yes"?>
<Relationships xmlns="http://schemas.openxmlformats.org/package/2006/relationships"><Relationship Id="rId8" Type="http://schemas.openxmlformats.org/officeDocument/2006/relationships/image" Target="../media/image138.svg"/><Relationship Id="rId3" Type="http://schemas.openxmlformats.org/officeDocument/2006/relationships/slide" Target="slide11.xml"/><Relationship Id="rId7" Type="http://schemas.openxmlformats.org/officeDocument/2006/relationships/image" Target="../media/image137.svg"/><Relationship Id="rId12" Type="http://schemas.openxmlformats.org/officeDocument/2006/relationships/image" Target="../media/image141.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6.svg"/><Relationship Id="rId11" Type="http://schemas.openxmlformats.org/officeDocument/2006/relationships/slide" Target="slide22.xml"/><Relationship Id="rId5" Type="http://schemas.openxmlformats.org/officeDocument/2006/relationships/image" Target="../media/image7.png"/><Relationship Id="rId10" Type="http://schemas.openxmlformats.org/officeDocument/2006/relationships/image" Target="../media/image140.svg"/><Relationship Id="rId4" Type="http://schemas.openxmlformats.org/officeDocument/2006/relationships/image" Target="../media/image135.svg"/><Relationship Id="rId9" Type="http://schemas.openxmlformats.org/officeDocument/2006/relationships/image" Target="../media/image139.svg"/></Relationships>
</file>

<file path=ppt/slides/_rels/slide22.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3.svg"/><Relationship Id="rId5" Type="http://schemas.openxmlformats.org/officeDocument/2006/relationships/slide" Target="slide25.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slide" Target="slide11.xml"/><Relationship Id="rId7" Type="http://schemas.openxmlformats.org/officeDocument/2006/relationships/image" Target="../media/image145.sv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slide" Target="slide24.xml"/><Relationship Id="rId5" Type="http://schemas.openxmlformats.org/officeDocument/2006/relationships/image" Target="../media/image7.png"/><Relationship Id="rId4" Type="http://schemas.openxmlformats.org/officeDocument/2006/relationships/image" Target="../media/image144.svg"/></Relationships>
</file>

<file path=ppt/slides/_rels/slide24.xml.rels><?xml version="1.0" encoding="UTF-8" standalone="yes"?>
<Relationships xmlns="http://schemas.openxmlformats.org/package/2006/relationships"><Relationship Id="rId3" Type="http://schemas.openxmlformats.org/officeDocument/2006/relationships/slide" Target="slide11.xml"/><Relationship Id="rId7" Type="http://schemas.openxmlformats.org/officeDocument/2006/relationships/image" Target="../media/image147.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slide" Target="slide25.xml"/><Relationship Id="rId5" Type="http://schemas.openxmlformats.org/officeDocument/2006/relationships/image" Target="../media/image7.png"/><Relationship Id="rId4" Type="http://schemas.openxmlformats.org/officeDocument/2006/relationships/image" Target="../media/image146.svg"/></Relationships>
</file>

<file path=ppt/slides/_rels/slide2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50.svg"/><Relationship Id="rId5" Type="http://schemas.openxmlformats.org/officeDocument/2006/relationships/image" Target="../media/image14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10287000"/>
          </a:xfrm>
          <a:prstGeom prst="rect">
            <a:avLst/>
          </a:prstGeom>
          <a:solidFill>
            <a:srgbClr val="041C2C"/>
          </a:solidFill>
        </p:spPr>
        <p:txBody>
          <a:bodyPr/>
          <a:lstStyle/>
          <a:p>
            <a:endParaRPr lang="es-ES"/>
          </a:p>
        </p:txBody>
      </p:sp>
      <p:grpSp>
        <p:nvGrpSpPr>
          <p:cNvPr id="3" name="Group 3"/>
          <p:cNvGrpSpPr/>
          <p:nvPr/>
        </p:nvGrpSpPr>
        <p:grpSpPr>
          <a:xfrm>
            <a:off x="0" y="0"/>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es-ES"/>
            </a:p>
          </p:txBody>
        </p:sp>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txBody>
            <a:bodyPr/>
            <a:lstStyle/>
            <a:p>
              <a:endParaRPr lang="es-ES"/>
            </a:p>
          </p:txBody>
        </p:sp>
        <p:sp>
          <p:nvSpPr>
            <p:cNvPr id="6" name="Freeform 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5"/>
              <a:stretch>
                <a:fillRect/>
              </a:stretch>
            </a:blipFill>
          </p:spPr>
          <p:txBody>
            <a:bodyPr/>
            <a:lstStyle/>
            <a:p>
              <a:endParaRPr lang="es-ES"/>
            </a:p>
          </p:txBody>
        </p:sp>
      </p:grpSp>
      <p:grpSp>
        <p:nvGrpSpPr>
          <p:cNvPr id="7" name="Group 7"/>
          <p:cNvGrpSpPr/>
          <p:nvPr/>
        </p:nvGrpSpPr>
        <p:grpSpPr>
          <a:xfrm>
            <a:off x="0" y="0"/>
            <a:ext cx="18288000" cy="10287000"/>
            <a:chOff x="0" y="0"/>
            <a:chExt cx="24384000" cy="13716000"/>
          </a:xfrm>
        </p:grpSpPr>
        <p:sp>
          <p:nvSpPr>
            <p:cNvPr id="8" name="Freeform 8"/>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6">
                <a:alphaModFix amt="4000"/>
              </a:blip>
              <a:stretch>
                <a:fillRect/>
              </a:stretch>
            </a:blipFill>
          </p:spPr>
          <p:txBody>
            <a:bodyPr/>
            <a:lstStyle/>
            <a:p>
              <a:endParaRPr lang="es-ES"/>
            </a:p>
          </p:txBody>
        </p:sp>
        <p:sp>
          <p:nvSpPr>
            <p:cNvPr id="9" name="Freeform 9"/>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7">
                <a:alphaModFix amt="4000"/>
              </a:blip>
              <a:stretch>
                <a:fillRect/>
              </a:stretch>
            </a:blipFill>
          </p:spPr>
          <p:txBody>
            <a:bodyPr/>
            <a:lstStyle/>
            <a:p>
              <a:endParaRPr lang="es-ES"/>
            </a:p>
          </p:txBody>
        </p:sp>
      </p:grpSp>
      <p:grpSp>
        <p:nvGrpSpPr>
          <p:cNvPr id="10" name="Group 10"/>
          <p:cNvGrpSpPr/>
          <p:nvPr/>
        </p:nvGrpSpPr>
        <p:grpSpPr>
          <a:xfrm>
            <a:off x="15411450" y="6385465"/>
            <a:ext cx="152400" cy="876300"/>
            <a:chOff x="0" y="0"/>
            <a:chExt cx="203200" cy="1168400"/>
          </a:xfrm>
        </p:grpSpPr>
        <p:sp>
          <p:nvSpPr>
            <p:cNvPr id="11" name="Freeform 11"/>
            <p:cNvSpPr/>
            <p:nvPr/>
          </p:nvSpPr>
          <p:spPr>
            <a:xfrm>
              <a:off x="0" y="0"/>
              <a:ext cx="203200" cy="1168400"/>
            </a:xfrm>
            <a:custGeom>
              <a:avLst/>
              <a:gdLst/>
              <a:ahLst/>
              <a:cxnLst/>
              <a:rect l="l" t="t" r="r" b="b"/>
              <a:pathLst>
                <a:path w="203200" h="1168400">
                  <a:moveTo>
                    <a:pt x="101600" y="0"/>
                  </a:moveTo>
                  <a:cubicBezTo>
                    <a:pt x="157734" y="0"/>
                    <a:pt x="203200" y="45466"/>
                    <a:pt x="203200" y="101600"/>
                  </a:cubicBezTo>
                  <a:lnTo>
                    <a:pt x="203200" y="1066800"/>
                  </a:lnTo>
                  <a:cubicBezTo>
                    <a:pt x="203200" y="1122934"/>
                    <a:pt x="157734" y="1168400"/>
                    <a:pt x="101600" y="1168400"/>
                  </a:cubicBezTo>
                  <a:cubicBezTo>
                    <a:pt x="45466" y="1168400"/>
                    <a:pt x="0" y="1122934"/>
                    <a:pt x="0" y="1066800"/>
                  </a:cubicBezTo>
                  <a:lnTo>
                    <a:pt x="0" y="101600"/>
                  </a:lnTo>
                  <a:cubicBezTo>
                    <a:pt x="0" y="45466"/>
                    <a:pt x="45466" y="0"/>
                    <a:pt x="101600" y="0"/>
                  </a:cubicBezTo>
                  <a:close/>
                </a:path>
              </a:pathLst>
            </a:custGeom>
            <a:solidFill>
              <a:srgbClr val="D04C81"/>
            </a:solidFill>
          </p:spPr>
          <p:txBody>
            <a:bodyPr/>
            <a:lstStyle/>
            <a:p>
              <a:endParaRPr lang="es-ES"/>
            </a:p>
          </p:txBody>
        </p:sp>
      </p:grpSp>
      <p:grpSp>
        <p:nvGrpSpPr>
          <p:cNvPr id="12" name="Group 12"/>
          <p:cNvGrpSpPr/>
          <p:nvPr/>
        </p:nvGrpSpPr>
        <p:grpSpPr>
          <a:xfrm>
            <a:off x="15811500" y="5985415"/>
            <a:ext cx="152400" cy="1276350"/>
            <a:chOff x="0" y="0"/>
            <a:chExt cx="203200" cy="1701800"/>
          </a:xfrm>
        </p:grpSpPr>
        <p:sp>
          <p:nvSpPr>
            <p:cNvPr id="13" name="Freeform 13"/>
            <p:cNvSpPr/>
            <p:nvPr/>
          </p:nvSpPr>
          <p:spPr>
            <a:xfrm>
              <a:off x="0" y="0"/>
              <a:ext cx="203200" cy="1701800"/>
            </a:xfrm>
            <a:custGeom>
              <a:avLst/>
              <a:gdLst/>
              <a:ahLst/>
              <a:cxnLst/>
              <a:rect l="l" t="t" r="r" b="b"/>
              <a:pathLst>
                <a:path w="203200" h="1701800">
                  <a:moveTo>
                    <a:pt x="101600" y="0"/>
                  </a:moveTo>
                  <a:cubicBezTo>
                    <a:pt x="157734" y="0"/>
                    <a:pt x="203200" y="45466"/>
                    <a:pt x="203200" y="101600"/>
                  </a:cubicBezTo>
                  <a:lnTo>
                    <a:pt x="203200" y="1600200"/>
                  </a:lnTo>
                  <a:cubicBezTo>
                    <a:pt x="203200" y="1656334"/>
                    <a:pt x="157734" y="1701800"/>
                    <a:pt x="101600" y="1701800"/>
                  </a:cubicBezTo>
                  <a:cubicBezTo>
                    <a:pt x="45466" y="1701800"/>
                    <a:pt x="0" y="1656334"/>
                    <a:pt x="0" y="1600200"/>
                  </a:cubicBezTo>
                  <a:lnTo>
                    <a:pt x="0" y="101600"/>
                  </a:lnTo>
                  <a:cubicBezTo>
                    <a:pt x="0" y="45466"/>
                    <a:pt x="45466" y="0"/>
                    <a:pt x="101600" y="0"/>
                  </a:cubicBezTo>
                  <a:close/>
                </a:path>
              </a:pathLst>
            </a:custGeom>
            <a:solidFill>
              <a:srgbClr val="7CAAD6"/>
            </a:solidFill>
          </p:spPr>
          <p:txBody>
            <a:bodyPr/>
            <a:lstStyle/>
            <a:p>
              <a:endParaRPr lang="es-ES"/>
            </a:p>
          </p:txBody>
        </p:sp>
      </p:grpSp>
      <p:grpSp>
        <p:nvGrpSpPr>
          <p:cNvPr id="14" name="Group 14"/>
          <p:cNvGrpSpPr/>
          <p:nvPr/>
        </p:nvGrpSpPr>
        <p:grpSpPr>
          <a:xfrm>
            <a:off x="16211550" y="5566315"/>
            <a:ext cx="152400" cy="1695450"/>
            <a:chOff x="0" y="0"/>
            <a:chExt cx="203200" cy="2260600"/>
          </a:xfrm>
        </p:grpSpPr>
        <p:sp>
          <p:nvSpPr>
            <p:cNvPr id="15" name="Freeform 15"/>
            <p:cNvSpPr/>
            <p:nvPr/>
          </p:nvSpPr>
          <p:spPr>
            <a:xfrm>
              <a:off x="0" y="0"/>
              <a:ext cx="203200" cy="2260600"/>
            </a:xfrm>
            <a:custGeom>
              <a:avLst/>
              <a:gdLst/>
              <a:ahLst/>
              <a:cxnLst/>
              <a:rect l="l" t="t" r="r" b="b"/>
              <a:pathLst>
                <a:path w="203200" h="2260600">
                  <a:moveTo>
                    <a:pt x="101600" y="0"/>
                  </a:moveTo>
                  <a:cubicBezTo>
                    <a:pt x="157734" y="0"/>
                    <a:pt x="203200" y="45466"/>
                    <a:pt x="203200" y="101600"/>
                  </a:cubicBezTo>
                  <a:lnTo>
                    <a:pt x="203200" y="2159000"/>
                  </a:lnTo>
                  <a:cubicBezTo>
                    <a:pt x="203200" y="2215134"/>
                    <a:pt x="157734" y="2260600"/>
                    <a:pt x="101600" y="2260600"/>
                  </a:cubicBezTo>
                  <a:cubicBezTo>
                    <a:pt x="45466" y="2260600"/>
                    <a:pt x="0" y="2215134"/>
                    <a:pt x="0" y="2159000"/>
                  </a:cubicBezTo>
                  <a:lnTo>
                    <a:pt x="0" y="101600"/>
                  </a:lnTo>
                  <a:cubicBezTo>
                    <a:pt x="0" y="45466"/>
                    <a:pt x="45466" y="0"/>
                    <a:pt x="101600" y="0"/>
                  </a:cubicBezTo>
                  <a:close/>
                </a:path>
              </a:pathLst>
            </a:custGeom>
            <a:solidFill>
              <a:srgbClr val="57BE8A"/>
            </a:solidFill>
          </p:spPr>
          <p:txBody>
            <a:bodyPr/>
            <a:lstStyle/>
            <a:p>
              <a:endParaRPr lang="es-ES"/>
            </a:p>
          </p:txBody>
        </p:sp>
      </p:grpSp>
      <p:grpSp>
        <p:nvGrpSpPr>
          <p:cNvPr id="16" name="Group 16"/>
          <p:cNvGrpSpPr/>
          <p:nvPr/>
        </p:nvGrpSpPr>
        <p:grpSpPr>
          <a:xfrm>
            <a:off x="16611600" y="5128165"/>
            <a:ext cx="152400" cy="2133600"/>
            <a:chOff x="0" y="0"/>
            <a:chExt cx="203200" cy="2844800"/>
          </a:xfrm>
        </p:grpSpPr>
        <p:sp>
          <p:nvSpPr>
            <p:cNvPr id="17" name="Freeform 17"/>
            <p:cNvSpPr/>
            <p:nvPr/>
          </p:nvSpPr>
          <p:spPr>
            <a:xfrm>
              <a:off x="0" y="0"/>
              <a:ext cx="203200" cy="2844800"/>
            </a:xfrm>
            <a:custGeom>
              <a:avLst/>
              <a:gdLst/>
              <a:ahLst/>
              <a:cxnLst/>
              <a:rect l="l" t="t" r="r" b="b"/>
              <a:pathLst>
                <a:path w="203200" h="2844800">
                  <a:moveTo>
                    <a:pt x="101600" y="0"/>
                  </a:moveTo>
                  <a:cubicBezTo>
                    <a:pt x="157734" y="0"/>
                    <a:pt x="203200" y="45466"/>
                    <a:pt x="203200" y="101600"/>
                  </a:cubicBezTo>
                  <a:lnTo>
                    <a:pt x="203200" y="2743200"/>
                  </a:lnTo>
                  <a:cubicBezTo>
                    <a:pt x="203200" y="2799334"/>
                    <a:pt x="157734" y="2844800"/>
                    <a:pt x="101600" y="2844800"/>
                  </a:cubicBezTo>
                  <a:cubicBezTo>
                    <a:pt x="45466" y="2844800"/>
                    <a:pt x="0" y="2799334"/>
                    <a:pt x="0" y="2743200"/>
                  </a:cubicBezTo>
                  <a:lnTo>
                    <a:pt x="0" y="101600"/>
                  </a:lnTo>
                  <a:cubicBezTo>
                    <a:pt x="0" y="45466"/>
                    <a:pt x="45466" y="0"/>
                    <a:pt x="101600" y="0"/>
                  </a:cubicBezTo>
                  <a:close/>
                </a:path>
              </a:pathLst>
            </a:custGeom>
            <a:solidFill>
              <a:srgbClr val="D04C81"/>
            </a:solidFill>
          </p:spPr>
          <p:txBody>
            <a:bodyPr/>
            <a:lstStyle/>
            <a:p>
              <a:endParaRPr lang="es-ES"/>
            </a:p>
          </p:txBody>
        </p:sp>
      </p:grpSp>
      <p:grpSp>
        <p:nvGrpSpPr>
          <p:cNvPr id="18" name="Group 18"/>
          <p:cNvGrpSpPr/>
          <p:nvPr/>
        </p:nvGrpSpPr>
        <p:grpSpPr>
          <a:xfrm>
            <a:off x="17011650" y="4670965"/>
            <a:ext cx="152400" cy="2590800"/>
            <a:chOff x="0" y="0"/>
            <a:chExt cx="203200" cy="3454400"/>
          </a:xfrm>
        </p:grpSpPr>
        <p:sp>
          <p:nvSpPr>
            <p:cNvPr id="19" name="Freeform 19"/>
            <p:cNvSpPr/>
            <p:nvPr/>
          </p:nvSpPr>
          <p:spPr>
            <a:xfrm>
              <a:off x="0" y="0"/>
              <a:ext cx="203200" cy="3454400"/>
            </a:xfrm>
            <a:custGeom>
              <a:avLst/>
              <a:gdLst/>
              <a:ahLst/>
              <a:cxnLst/>
              <a:rect l="l" t="t" r="r" b="b"/>
              <a:pathLst>
                <a:path w="203200" h="3454400">
                  <a:moveTo>
                    <a:pt x="101600" y="0"/>
                  </a:moveTo>
                  <a:cubicBezTo>
                    <a:pt x="157734" y="0"/>
                    <a:pt x="203200" y="45466"/>
                    <a:pt x="203200" y="101600"/>
                  </a:cubicBezTo>
                  <a:lnTo>
                    <a:pt x="203200" y="3352800"/>
                  </a:lnTo>
                  <a:cubicBezTo>
                    <a:pt x="203200" y="3408934"/>
                    <a:pt x="157734" y="3454400"/>
                    <a:pt x="101600" y="3454400"/>
                  </a:cubicBezTo>
                  <a:cubicBezTo>
                    <a:pt x="45466" y="3454400"/>
                    <a:pt x="0" y="3408934"/>
                    <a:pt x="0" y="3352800"/>
                  </a:cubicBezTo>
                  <a:lnTo>
                    <a:pt x="0" y="101600"/>
                  </a:lnTo>
                  <a:cubicBezTo>
                    <a:pt x="0" y="45466"/>
                    <a:pt x="45466" y="0"/>
                    <a:pt x="101600" y="0"/>
                  </a:cubicBezTo>
                  <a:close/>
                </a:path>
              </a:pathLst>
            </a:custGeom>
            <a:solidFill>
              <a:srgbClr val="FE5000"/>
            </a:solidFill>
          </p:spPr>
          <p:txBody>
            <a:bodyPr/>
            <a:lstStyle/>
            <a:p>
              <a:endParaRPr lang="es-ES"/>
            </a:p>
          </p:txBody>
        </p:sp>
      </p:grpSp>
      <p:grpSp>
        <p:nvGrpSpPr>
          <p:cNvPr id="20" name="Group 20"/>
          <p:cNvGrpSpPr/>
          <p:nvPr/>
        </p:nvGrpSpPr>
        <p:grpSpPr>
          <a:xfrm>
            <a:off x="15724442" y="557212"/>
            <a:ext cx="1496758" cy="419100"/>
            <a:chOff x="0" y="0"/>
            <a:chExt cx="1995678" cy="558800"/>
          </a:xfrm>
        </p:grpSpPr>
        <p:sp>
          <p:nvSpPr>
            <p:cNvPr id="21" name="Freeform 21"/>
            <p:cNvSpPr/>
            <p:nvPr/>
          </p:nvSpPr>
          <p:spPr>
            <a:xfrm>
              <a:off x="0" y="0"/>
              <a:ext cx="1995678" cy="558800"/>
            </a:xfrm>
            <a:custGeom>
              <a:avLst/>
              <a:gdLst/>
              <a:ahLst/>
              <a:cxnLst/>
              <a:rect l="l" t="t" r="r" b="b"/>
              <a:pathLst>
                <a:path w="1995678" h="558800">
                  <a:moveTo>
                    <a:pt x="0" y="0"/>
                  </a:moveTo>
                  <a:lnTo>
                    <a:pt x="1995678" y="0"/>
                  </a:lnTo>
                  <a:lnTo>
                    <a:pt x="1995678" y="558800"/>
                  </a:lnTo>
                  <a:lnTo>
                    <a:pt x="0" y="558800"/>
                  </a:lnTo>
                  <a:lnTo>
                    <a:pt x="0" y="0"/>
                  </a:lnTo>
                  <a:close/>
                </a:path>
              </a:pathLst>
            </a:custGeom>
            <a:blipFill>
              <a:blip r:embed="rId8"/>
              <a:stretch>
                <a:fillRect/>
              </a:stretch>
            </a:blipFill>
          </p:spPr>
          <p:txBody>
            <a:bodyPr/>
            <a:lstStyle/>
            <a:p>
              <a:endParaRPr lang="es-ES"/>
            </a:p>
          </p:txBody>
        </p:sp>
      </p:grpSp>
      <p:sp>
        <p:nvSpPr>
          <p:cNvPr id="22" name="TextBox 22"/>
          <p:cNvSpPr txBox="1"/>
          <p:nvPr/>
        </p:nvSpPr>
        <p:spPr>
          <a:xfrm>
            <a:off x="1066800" y="514349"/>
            <a:ext cx="4494028" cy="210379"/>
          </a:xfrm>
          <a:prstGeom prst="rect">
            <a:avLst/>
          </a:prstGeom>
        </p:spPr>
        <p:txBody>
          <a:bodyPr wrap="square" lIns="0" tIns="0" rIns="0" bIns="0" rtlCol="0" anchor="t">
            <a:spAutoFit/>
          </a:bodyPr>
          <a:lstStyle/>
          <a:p>
            <a:pPr algn="l">
              <a:lnSpc>
                <a:spcPts val="1784"/>
              </a:lnSpc>
            </a:pPr>
            <a:r>
              <a:rPr lang="en-US" sz="1275" b="1" spc="280" dirty="0">
                <a:gradFill>
                  <a:gsLst>
                    <a:gs pos="0">
                      <a:srgbClr val="FFFFFF">
                        <a:alpha val="55000"/>
                      </a:srgbClr>
                    </a:gs>
                    <a:gs pos="100000">
                      <a:srgbClr val="FFFFFF">
                        <a:alpha val="55000"/>
                      </a:srgbClr>
                    </a:gs>
                  </a:gsLst>
                  <a:lin ang="16200000"/>
                </a:gradFill>
                <a:latin typeface="JetBrains Mono Medium"/>
                <a:ea typeface="JetBrains Mono Medium"/>
                <a:cs typeface="JetBrains Mono Medium"/>
                <a:sym typeface="JetBrains Mono Medium"/>
              </a:rPr>
              <a:t>PRESENTACIÓN CORPORATIVA</a:t>
            </a:r>
          </a:p>
        </p:txBody>
      </p:sp>
      <p:sp>
        <p:nvSpPr>
          <p:cNvPr id="23" name="TextBox 23"/>
          <p:cNvSpPr txBox="1"/>
          <p:nvPr/>
        </p:nvSpPr>
        <p:spPr>
          <a:xfrm>
            <a:off x="1066800" y="771525"/>
            <a:ext cx="1327880" cy="228600"/>
          </a:xfrm>
          <a:prstGeom prst="rect">
            <a:avLst/>
          </a:prstGeom>
        </p:spPr>
        <p:txBody>
          <a:bodyPr lIns="0" tIns="0" rIns="0" bIns="0" rtlCol="0" anchor="t">
            <a:spAutoFit/>
          </a:bodyPr>
          <a:lstStyle/>
          <a:p>
            <a:pPr algn="l">
              <a:lnSpc>
                <a:spcPts val="1784"/>
              </a:lnSpc>
            </a:pPr>
            <a:r>
              <a:rPr lang="en-US" sz="1275" b="1" spc="280">
                <a:gradFill>
                  <a:gsLst>
                    <a:gs pos="0">
                      <a:srgbClr val="FFFFFF">
                        <a:alpha val="30000"/>
                      </a:srgbClr>
                    </a:gs>
                    <a:gs pos="100000">
                      <a:srgbClr val="FFFFFF">
                        <a:alpha val="30000"/>
                      </a:srgbClr>
                    </a:gs>
                  </a:gsLst>
                  <a:lin ang="16200000"/>
                </a:gradFill>
                <a:latin typeface="JetBrains Mono Medium"/>
                <a:ea typeface="JetBrains Mono Medium"/>
                <a:cs typeface="JetBrains Mono Medium"/>
                <a:sym typeface="JetBrains Mono Medium"/>
              </a:rPr>
              <a:t>JUNIO 2026</a:t>
            </a:r>
          </a:p>
        </p:txBody>
      </p:sp>
      <p:sp>
        <p:nvSpPr>
          <p:cNvPr id="24" name="TextBox 24"/>
          <p:cNvSpPr txBox="1"/>
          <p:nvPr/>
        </p:nvSpPr>
        <p:spPr>
          <a:xfrm>
            <a:off x="1066800" y="5801716"/>
            <a:ext cx="16154400" cy="2154436"/>
          </a:xfrm>
          <a:prstGeom prst="rect">
            <a:avLst/>
          </a:prstGeom>
        </p:spPr>
        <p:txBody>
          <a:bodyPr lIns="0" tIns="0" rIns="0" bIns="0" rtlCol="0" anchor="t">
            <a:spAutoFit/>
          </a:bodyPr>
          <a:lstStyle/>
          <a:p>
            <a:pPr algn="l">
              <a:lnSpc>
                <a:spcPts val="8400"/>
              </a:lnSpc>
            </a:pPr>
            <a:r>
              <a:rPr lang="en-US" sz="8400" b="1" spc="-168" dirty="0">
                <a:solidFill>
                  <a:srgbClr val="FFFFFF"/>
                </a:solidFill>
                <a:latin typeface="Barlow" panose="00000500000000000000" pitchFamily="2" charset="0"/>
                <a:ea typeface="Barlow Ultra-Bold"/>
                <a:cs typeface="Barlow Ultra-Bold"/>
                <a:sym typeface="Barlow Ultra-Bold"/>
              </a:rPr>
              <a:t>Cuando la</a:t>
            </a:r>
          </a:p>
          <a:p>
            <a:pPr algn="l">
              <a:lnSpc>
                <a:spcPts val="8400"/>
              </a:lnSpc>
            </a:pPr>
            <a:r>
              <a:rPr lang="en-US" sz="8400" b="1" spc="-168" dirty="0" err="1">
                <a:solidFill>
                  <a:srgbClr val="FFFFFF"/>
                </a:solidFill>
                <a:latin typeface="Barlow" panose="00000500000000000000" pitchFamily="2" charset="0"/>
                <a:ea typeface="Barlow Ultra-Bold"/>
                <a:cs typeface="Barlow Ultra-Bold"/>
                <a:sym typeface="Barlow Ultra-Bold"/>
              </a:rPr>
              <a:t>tecnología</a:t>
            </a:r>
            <a:r>
              <a:rPr lang="en-US" sz="8400" b="1" spc="-168" dirty="0">
                <a:solidFill>
                  <a:srgbClr val="FFFFFF"/>
                </a:solidFill>
                <a:latin typeface="Barlow" panose="00000500000000000000" pitchFamily="2" charset="0"/>
                <a:ea typeface="Barlow Ultra-Bold"/>
                <a:cs typeface="Barlow Ultra-Bold"/>
                <a:sym typeface="Barlow Ultra-Bold"/>
              </a:rPr>
              <a:t> no basta</a:t>
            </a:r>
            <a:r>
              <a:rPr lang="en-US" sz="8400" b="1" spc="-168" dirty="0">
                <a:solidFill>
                  <a:srgbClr val="FE5000"/>
                </a:solidFill>
                <a:latin typeface="Barlow" panose="00000500000000000000" pitchFamily="2" charset="0"/>
                <a:ea typeface="Barlow Ultra-Bold"/>
                <a:cs typeface="Barlow Ultra-Bold"/>
                <a:sym typeface="Barlow Ultra-Bold"/>
              </a:rPr>
              <a:t>.</a:t>
            </a:r>
          </a:p>
        </p:txBody>
      </p:sp>
      <p:sp>
        <p:nvSpPr>
          <p:cNvPr id="25" name="TextBox 25"/>
          <p:cNvSpPr txBox="1"/>
          <p:nvPr/>
        </p:nvSpPr>
        <p:spPr>
          <a:xfrm>
            <a:off x="1066800" y="8011516"/>
            <a:ext cx="9510141" cy="747712"/>
          </a:xfrm>
          <a:prstGeom prst="rect">
            <a:avLst/>
          </a:prstGeom>
        </p:spPr>
        <p:txBody>
          <a:bodyPr lIns="0" tIns="0" rIns="0" bIns="0" rtlCol="0" anchor="t">
            <a:spAutoFit/>
          </a:bodyPr>
          <a:lstStyle/>
          <a:p>
            <a:pPr algn="l">
              <a:lnSpc>
                <a:spcPts val="2718"/>
              </a:lnSpc>
            </a:pP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Entelgy</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una</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consultora</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tecnológica</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de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negocio</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que</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integra la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tecnología</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con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tus</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procesos</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tus</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personas y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tu</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dirty="0" err="1">
                <a:gradFill>
                  <a:gsLst>
                    <a:gs pos="0">
                      <a:srgbClr val="FFFFFF">
                        <a:alpha val="78000"/>
                      </a:srgbClr>
                    </a:gs>
                    <a:gs pos="100000">
                      <a:srgbClr val="FFFFFF">
                        <a:alpha val="78000"/>
                      </a:srgbClr>
                    </a:gs>
                  </a:gsLst>
                  <a:lin ang="16200000"/>
                </a:gradFill>
                <a:latin typeface="Roboto"/>
                <a:ea typeface="Roboto"/>
                <a:cs typeface="Roboto"/>
                <a:sym typeface="Roboto"/>
              </a:rPr>
              <a:t>cultura</a:t>
            </a:r>
            <a:r>
              <a:rPr lang="en-US" sz="1875" dirty="0">
                <a:gradFill>
                  <a:gsLst>
                    <a:gs pos="0">
                      <a:srgbClr val="FFFFFF">
                        <a:alpha val="78000"/>
                      </a:srgbClr>
                    </a:gs>
                    <a:gs pos="100000">
                      <a:srgbClr val="FFFFFF">
                        <a:alpha val="78000"/>
                      </a:srgbClr>
                    </a:gs>
                  </a:gsLst>
                  <a:lin ang="16200000"/>
                </a:gradFill>
                <a:latin typeface="Roboto"/>
                <a:ea typeface="Roboto"/>
                <a:cs typeface="Roboto"/>
                <a:sym typeface="Roboto"/>
              </a:rPr>
              <a:t>. </a:t>
            </a:r>
            <a:r>
              <a:rPr lang="en-US" sz="1875" b="1" dirty="0">
                <a:solidFill>
                  <a:srgbClr val="D04C81"/>
                </a:solidFill>
                <a:latin typeface="Roboto Bold"/>
                <a:ea typeface="Roboto Bold"/>
                <a:cs typeface="Roboto Bold"/>
                <a:sym typeface="Roboto Bold"/>
              </a:rPr>
              <a:t>Y </a:t>
            </a:r>
            <a:r>
              <a:rPr lang="en-US" sz="1875" b="1" dirty="0" err="1">
                <a:solidFill>
                  <a:srgbClr val="D04C81"/>
                </a:solidFill>
                <a:latin typeface="Roboto Bold"/>
                <a:ea typeface="Roboto Bold"/>
                <a:cs typeface="Roboto Bold"/>
                <a:sym typeface="Roboto Bold"/>
              </a:rPr>
              <a:t>responde</a:t>
            </a:r>
            <a:r>
              <a:rPr lang="en-US" sz="1875" b="1" dirty="0">
                <a:solidFill>
                  <a:srgbClr val="D04C81"/>
                </a:solidFill>
                <a:latin typeface="Roboto Bold"/>
                <a:ea typeface="Roboto Bold"/>
                <a:cs typeface="Roboto Bold"/>
                <a:sym typeface="Roboto Bold"/>
              </a:rPr>
              <a:t> de los </a:t>
            </a:r>
            <a:r>
              <a:rPr lang="en-US" sz="1875" b="1" dirty="0" err="1">
                <a:solidFill>
                  <a:srgbClr val="D04C81"/>
                </a:solidFill>
                <a:latin typeface="Roboto Bold"/>
                <a:ea typeface="Roboto Bold"/>
                <a:cs typeface="Roboto Bold"/>
                <a:sym typeface="Roboto Bold"/>
              </a:rPr>
              <a:t>resultados</a:t>
            </a:r>
            <a:r>
              <a:rPr lang="en-US" sz="1875" b="1" dirty="0">
                <a:solidFill>
                  <a:srgbClr val="D04C81"/>
                </a:solidFill>
                <a:latin typeface="Roboto Bold"/>
                <a:ea typeface="Roboto Bold"/>
                <a:cs typeface="Roboto Bold"/>
                <a:sym typeface="Roboto Bold"/>
              </a:rPr>
              <a:t>.</a:t>
            </a:r>
          </a:p>
        </p:txBody>
      </p:sp>
      <p:sp>
        <p:nvSpPr>
          <p:cNvPr id="26" name="TextBox 26"/>
          <p:cNvSpPr txBox="1"/>
          <p:nvPr/>
        </p:nvSpPr>
        <p:spPr>
          <a:xfrm>
            <a:off x="1066800" y="9267825"/>
            <a:ext cx="3494567" cy="222112"/>
          </a:xfrm>
          <a:prstGeom prst="rect">
            <a:avLst/>
          </a:prstGeom>
        </p:spPr>
        <p:txBody>
          <a:bodyPr wrap="square" lIns="0" tIns="0" rIns="0" bIns="0" rtlCol="0" anchor="t">
            <a:spAutoFit/>
          </a:bodyPr>
          <a:lstStyle/>
          <a:p>
            <a:pPr algn="l">
              <a:lnSpc>
                <a:spcPts val="1889"/>
              </a:lnSpc>
            </a:pPr>
            <a:r>
              <a:rPr lang="en-US" sz="1350" b="1" spc="189" dirty="0">
                <a:gradFill>
                  <a:gsLst>
                    <a:gs pos="0">
                      <a:srgbClr val="FFFFFF">
                        <a:alpha val="60000"/>
                      </a:srgbClr>
                    </a:gs>
                    <a:gs pos="100000">
                      <a:srgbClr val="FFFFFF">
                        <a:alpha val="60000"/>
                      </a:srgbClr>
                    </a:gs>
                  </a:gsLst>
                  <a:lin ang="16200000"/>
                </a:gradFill>
                <a:latin typeface="JetBrains Mono Medium"/>
                <a:ea typeface="JetBrains Mono Medium"/>
                <a:cs typeface="JetBrains Mono Medium"/>
                <a:sym typeface="JetBrains Mono Medium"/>
              </a:rPr>
              <a:t>HUMAN DRIVEN TECHNOLOGY</a:t>
            </a:r>
          </a:p>
        </p:txBody>
      </p:sp>
    </p:spTree>
    <p:extLst>
      <p:ext uri="{BB962C8B-B14F-4D97-AF65-F5344CB8AC3E}">
        <p14:creationId xmlns:p14="http://schemas.microsoft.com/office/powerpoint/2010/main" val="2859457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2636237"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QUIEN TE ACOMPAÑA</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181100"/>
            <a:ext cx="17769840" cy="561975"/>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750" b="1" kern="0" spc="-75" dirty="0">
                <a:solidFill>
                  <a:srgbClr val="041C2C"/>
                </a:solidFill>
                <a:latin typeface="Barlow" pitchFamily="34" charset="0"/>
                <a:ea typeface="Barlow" pitchFamily="34" charset="-122"/>
                <a:cs typeface="Barlow" pitchFamily="34" charset="-120"/>
              </a:rPr>
              <a:t>Quien te acompaña hoy</a:t>
            </a:r>
            <a:r>
              <a:rPr lang="en-US" sz="3750" b="1" kern="0" spc="-75" dirty="0">
                <a:solidFill>
                  <a:srgbClr val="D04C81"/>
                </a:solidFill>
                <a:latin typeface="Barlow" pitchFamily="34" charset="0"/>
                <a:ea typeface="Barlow" pitchFamily="34" charset="-122"/>
                <a:cs typeface="Barlow" pitchFamily="34" charset="-120"/>
              </a:rPr>
              <a:t>.</a:t>
            </a:r>
            <a:endParaRPr lang="en-US" sz="3750" dirty="0"/>
          </a:p>
        </p:txBody>
      </p:sp>
      <p:sp>
        <p:nvSpPr>
          <p:cNvPr id="6" name="Text 3"/>
          <p:cNvSpPr/>
          <p:nvPr/>
        </p:nvSpPr>
        <p:spPr>
          <a:xfrm>
            <a:off x="5372100" y="3282255"/>
            <a:ext cx="13034010" cy="598140"/>
          </a:xfrm>
          <a:prstGeom prst="rect">
            <a:avLst/>
          </a:prstGeom>
          <a:noFill/>
          <a:ln/>
        </p:spPr>
        <p:txBody>
          <a:bodyPr wrap="square" lIns="25400" tIns="25400" rIns="25400" bIns="25400" rtlCol="0" anchor="t">
            <a:normAutofit lnSpcReduction="10000"/>
          </a:bodyPr>
          <a:lstStyle/>
          <a:p>
            <a:pPr marL="0" indent="0" algn="l">
              <a:lnSpc>
                <a:spcPct val="87761"/>
              </a:lnSpc>
              <a:buNone/>
            </a:pPr>
            <a:r>
              <a:rPr lang="en-US" sz="4200" b="1" kern="0" spc="-84" dirty="0">
                <a:solidFill>
                  <a:srgbClr val="041C2C"/>
                </a:solidFill>
                <a:latin typeface="Barlow" pitchFamily="34" charset="0"/>
                <a:ea typeface="Barlow" pitchFamily="34" charset="-122"/>
                <a:cs typeface="Barlow" pitchFamily="34" charset="-120"/>
              </a:rPr>
              <a:t>[Nombre y apellidos]</a:t>
            </a:r>
            <a:endParaRPr lang="en-US" sz="4200" dirty="0"/>
          </a:p>
        </p:txBody>
      </p:sp>
      <p:sp>
        <p:nvSpPr>
          <p:cNvPr id="7" name="Text 4"/>
          <p:cNvSpPr/>
          <p:nvPr/>
        </p:nvSpPr>
        <p:spPr>
          <a:xfrm>
            <a:off x="5372100" y="3994696"/>
            <a:ext cx="13034010" cy="36195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D04C81"/>
                </a:solidFill>
                <a:latin typeface="Barlow" pitchFamily="34" charset="0"/>
                <a:ea typeface="Barlow" pitchFamily="34" charset="-122"/>
                <a:cs typeface="Barlow" pitchFamily="34" charset="-120"/>
              </a:rPr>
              <a:t>[Cargo / rol en Entelgy]</a:t>
            </a:r>
            <a:endParaRPr lang="en-US" sz="2100" dirty="0"/>
          </a:p>
        </p:txBody>
      </p:sp>
      <p:sp>
        <p:nvSpPr>
          <p:cNvPr id="8" name="Text 5"/>
          <p:cNvSpPr/>
          <p:nvPr/>
        </p:nvSpPr>
        <p:spPr>
          <a:xfrm>
            <a:off x="5372100" y="4413796"/>
            <a:ext cx="1303401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354A5A"/>
                </a:solidFill>
                <a:latin typeface="Roboto" pitchFamily="34" charset="0"/>
                <a:ea typeface="Roboto" pitchFamily="34" charset="-122"/>
                <a:cs typeface="Roboto" pitchFamily="34" charset="-120"/>
              </a:rPr>
              <a:t>[Área o práctica]</a:t>
            </a:r>
            <a:endParaRPr lang="en-US" sz="1800" dirty="0"/>
          </a:p>
        </p:txBody>
      </p:sp>
      <p:sp>
        <p:nvSpPr>
          <p:cNvPr id="9" name="Text 6"/>
          <p:cNvSpPr/>
          <p:nvPr/>
        </p:nvSpPr>
        <p:spPr>
          <a:xfrm>
            <a:off x="5372100" y="4975771"/>
            <a:ext cx="13034010" cy="257175"/>
          </a:xfrm>
          <a:prstGeom prst="rect">
            <a:avLst/>
          </a:prstGeom>
          <a:noFill/>
          <a:ln/>
        </p:spPr>
        <p:txBody>
          <a:bodyPr wrap="square" lIns="25400" tIns="25400" rIns="25400" bIns="25400" rtlCol="0" anchor="t">
            <a:normAutofit/>
          </a:bodyPr>
          <a:lstStyle/>
          <a:p>
            <a:pPr marL="0" indent="0" algn="l">
              <a:buNone/>
            </a:pPr>
            <a:r>
              <a:rPr lang="en-US" sz="1350" kern="0" spc="27" dirty="0">
                <a:solidFill>
                  <a:srgbClr val="4A6273"/>
                </a:solidFill>
                <a:latin typeface="JetBrains Mono" pitchFamily="34" charset="0"/>
                <a:ea typeface="JetBrains Mono" pitchFamily="34" charset="-122"/>
                <a:cs typeface="JetBrains Mono" pitchFamily="34" charset="-120"/>
              </a:rPr>
              <a:t>[email] · [teléfono] · [LinkedIn]</a:t>
            </a:r>
            <a:endParaRPr lang="en-US" sz="1350" dirty="0"/>
          </a:p>
        </p:txBody>
      </p:sp>
      <p:sp>
        <p:nvSpPr>
          <p:cNvPr id="10" name="Shape 7"/>
          <p:cNvSpPr/>
          <p:nvPr/>
        </p:nvSpPr>
        <p:spPr>
          <a:xfrm>
            <a:off x="1066800" y="6461575"/>
            <a:ext cx="16154400" cy="9525"/>
          </a:xfrm>
          <a:prstGeom prst="rect">
            <a:avLst/>
          </a:prstGeom>
          <a:solidFill>
            <a:srgbClr val="C8D2DA"/>
          </a:solidFill>
          <a:ln/>
        </p:spPr>
        <p:txBody>
          <a:bodyPr/>
          <a:lstStyle/>
          <a:p>
            <a:endParaRPr lang="es-ES"/>
          </a:p>
        </p:txBody>
      </p:sp>
      <p:sp>
        <p:nvSpPr>
          <p:cNvPr id="11" name="Text 8"/>
          <p:cNvSpPr/>
          <p:nvPr/>
        </p:nvSpPr>
        <p:spPr>
          <a:xfrm>
            <a:off x="1066800" y="6680650"/>
            <a:ext cx="6348219" cy="257175"/>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354A5A"/>
                </a:solidFill>
                <a:latin typeface="Roboto" pitchFamily="34" charset="0"/>
                <a:ea typeface="Roboto" pitchFamily="34" charset="-122"/>
                <a:cs typeface="Roboto" pitchFamily="34" charset="-120"/>
              </a:rPr>
              <a:t>Detrás: [nº] profesionales de [área] · [referencia o certificación relevante]</a:t>
            </a:r>
            <a:endParaRPr lang="en-US" sz="1425" dirty="0"/>
          </a:p>
        </p:txBody>
      </p:sp>
      <p:sp>
        <p:nvSpPr>
          <p:cNvPr id="12" name="Text 9"/>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13" name="Text 10"/>
          <p:cNvSpPr/>
          <p:nvPr/>
        </p:nvSpPr>
        <p:spPr>
          <a:xfrm>
            <a:off x="14986546" y="9906000"/>
            <a:ext cx="245812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HUMAN DRIVEN TECHNOLOGY</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1C2C"/>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55AC6">
                  <a:alpha val="18000"/>
                </a:srgbClr>
              </a:gs>
              <a:gs pos="55000">
                <a:srgbClr val="855AC6">
                  <a:alpha val="0"/>
                </a:srgbClr>
              </a:gs>
            </a:gsLst>
            <a:path path="circle">
              <a:fillToRect l="16000" t="28000" r="84000" b="72000"/>
            </a:path>
          </a:gradFill>
          <a:ln/>
        </p:spPr>
        <p:txBody>
          <a:bodyPr/>
          <a:lstStyle/>
          <a:p>
            <a:endParaRPr lang="es-ES"/>
          </a:p>
        </p:txBody>
      </p:sp>
      <p:pic>
        <p:nvPicPr>
          <p:cNvPr id="3"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4" name="Text 1"/>
          <p:cNvSpPr/>
          <p:nvPr/>
        </p:nvSpPr>
        <p:spPr>
          <a:xfrm>
            <a:off x="1066800" y="4404420"/>
            <a:ext cx="2381667" cy="2049661"/>
          </a:xfrm>
          <a:prstGeom prst="rect">
            <a:avLst/>
          </a:prstGeom>
          <a:noFill/>
          <a:ln/>
        </p:spPr>
        <p:txBody>
          <a:bodyPr wrap="square" lIns="25400" tIns="25400" rIns="25400" bIns="25400" rtlCol="0" anchor="t">
            <a:normAutofit lnSpcReduction="10000"/>
          </a:bodyPr>
          <a:lstStyle/>
          <a:p>
            <a:pPr marL="0" indent="0" algn="l">
              <a:lnSpc>
                <a:spcPct val="66625"/>
              </a:lnSpc>
              <a:buNone/>
            </a:pPr>
            <a:r>
              <a:rPr lang="en-US" sz="19800" b="1" kern="0" spc="-594" dirty="0">
                <a:solidFill>
                  <a:srgbClr val="855AC6"/>
                </a:solidFill>
                <a:latin typeface="Barlow" pitchFamily="34" charset="0"/>
                <a:ea typeface="Barlow" pitchFamily="34" charset="-122"/>
                <a:cs typeface="Barlow" pitchFamily="34" charset="-120"/>
              </a:rPr>
              <a:t>01</a:t>
            </a:r>
            <a:endParaRPr lang="en-US" sz="19800" dirty="0"/>
          </a:p>
        </p:txBody>
      </p:sp>
      <p:sp>
        <p:nvSpPr>
          <p:cNvPr id="5" name="Shape 2"/>
          <p:cNvSpPr/>
          <p:nvPr/>
        </p:nvSpPr>
        <p:spPr>
          <a:xfrm>
            <a:off x="3727252" y="4305300"/>
            <a:ext cx="19050" cy="2209800"/>
          </a:xfrm>
          <a:prstGeom prst="rect">
            <a:avLst/>
          </a:prstGeom>
          <a:solidFill>
            <a:srgbClr val="855AC6">
              <a:alpha val="85000"/>
            </a:srgbClr>
          </a:solidFill>
          <a:ln/>
        </p:spPr>
        <p:txBody>
          <a:bodyPr/>
          <a:lstStyle/>
          <a:p>
            <a:endParaRPr lang="es-ES"/>
          </a:p>
        </p:txBody>
      </p:sp>
      <p:sp>
        <p:nvSpPr>
          <p:cNvPr id="6" name="Text 3"/>
          <p:cNvSpPr/>
          <p:nvPr/>
        </p:nvSpPr>
        <p:spPr>
          <a:xfrm>
            <a:off x="4241602" y="4518720"/>
            <a:ext cx="5207318" cy="876300"/>
          </a:xfrm>
          <a:prstGeom prst="rect">
            <a:avLst/>
          </a:prstGeom>
          <a:noFill/>
          <a:ln/>
        </p:spPr>
        <p:txBody>
          <a:bodyPr wrap="none" lIns="25400" tIns="25400" rIns="25400" bIns="25400" rtlCol="0" anchor="t">
            <a:normAutofit lnSpcReduction="10000"/>
          </a:bodyPr>
          <a:lstStyle/>
          <a:p>
            <a:pPr marL="0" indent="0" algn="l">
              <a:lnSpc>
                <a:spcPct val="83019"/>
              </a:lnSpc>
              <a:buNone/>
            </a:pPr>
            <a:r>
              <a:rPr lang="en-US" sz="6600" b="1" kern="0" spc="-132" dirty="0">
                <a:solidFill>
                  <a:srgbClr val="FFFFFF"/>
                </a:solidFill>
                <a:latin typeface="Barlow" pitchFamily="34" charset="0"/>
                <a:ea typeface="Barlow" pitchFamily="34" charset="-122"/>
                <a:cs typeface="Barlow" pitchFamily="34" charset="-120"/>
              </a:rPr>
              <a:t>La compañía</a:t>
            </a:r>
            <a:endParaRPr lang="en-US" sz="6600" dirty="0"/>
          </a:p>
        </p:txBody>
      </p:sp>
      <p:sp>
        <p:nvSpPr>
          <p:cNvPr id="7" name="Text 4"/>
          <p:cNvSpPr/>
          <p:nvPr/>
        </p:nvSpPr>
        <p:spPr>
          <a:xfrm>
            <a:off x="4241602" y="5528370"/>
            <a:ext cx="4875943" cy="811411"/>
          </a:xfrm>
          <a:prstGeom prst="rect">
            <a:avLst/>
          </a:prstGeom>
          <a:noFill/>
          <a:ln/>
        </p:spPr>
        <p:txBody>
          <a:bodyPr wrap="square" lIns="25400" tIns="25400" rIns="25400" bIns="25400" rtlCol="0" anchor="t">
            <a:normAutofit/>
          </a:bodyPr>
          <a:lstStyle/>
          <a:p>
            <a:pPr marL="0" indent="0" algn="l">
              <a:lnSpc>
                <a:spcPct val="119412"/>
              </a:lnSpc>
              <a:buNone/>
            </a:pPr>
            <a:r>
              <a:rPr lang="en-US" sz="2100" dirty="0">
                <a:solidFill>
                  <a:srgbClr val="FFFFFF">
                    <a:alpha val="72000"/>
                  </a:srgbClr>
                </a:solidFill>
                <a:latin typeface="Roboto" pitchFamily="34" charset="0"/>
                <a:ea typeface="Roboto" pitchFamily="34" charset="-122"/>
                <a:cs typeface="Roboto" pitchFamily="34" charset="-120"/>
              </a:rPr>
              <a:t>Por qué somos diferentes, y la escala que lo respalda.</a:t>
            </a:r>
            <a:endParaRPr lang="en-US" sz="2100" dirty="0"/>
          </a:p>
        </p:txBody>
      </p:sp>
      <p:sp>
        <p:nvSpPr>
          <p:cNvPr id="8" name="Text 5"/>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FFFFFF">
                    <a:alpha val="42000"/>
                  </a:srgbClr>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9" name="Text 6"/>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FFFFFF">
                    <a:alpha val="42000"/>
                  </a:srgbClr>
                </a:solidFill>
                <a:latin typeface="JetBrains Mono" pitchFamily="34" charset="0"/>
                <a:ea typeface="JetBrains Mono" pitchFamily="34" charset="-122"/>
                <a:cs typeface="JetBrains Mono" pitchFamily="34" charset="-120"/>
              </a:rPr>
              <a:t>02 / 24</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2481203" cy="228600"/>
          </a:xfrm>
          <a:prstGeom prst="rect">
            <a:avLst/>
          </a:prstGeom>
          <a:noFill/>
          <a:ln/>
        </p:spPr>
        <p:txBody>
          <a:bodyPr wrap="square" lIns="25400" tIns="25400" rIns="25400" bIns="25400" rtlCol="0" anchor="t">
            <a:normAutofit fontScale="925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POR QUÉ NOSOTROS</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104900"/>
            <a:ext cx="16639032" cy="1104900"/>
          </a:xfrm>
          <a:prstGeom prst="rect">
            <a:avLst/>
          </a:prstGeom>
          <a:noFill/>
          <a:ln/>
        </p:spPr>
        <p:txBody>
          <a:bodyPr wrap="square" lIns="25400" tIns="25400" rIns="25400" bIns="25400" rtlCol="0" anchor="t">
            <a:normAutofit/>
          </a:bodyPr>
          <a:lstStyle/>
          <a:p>
            <a:pPr marL="0" indent="0" algn="l">
              <a:lnSpc>
                <a:spcPct val="93333"/>
              </a:lnSpc>
              <a:buNone/>
            </a:pPr>
            <a:r>
              <a:rPr lang="en-US" sz="3750" b="1" kern="0" spc="-75" dirty="0">
                <a:solidFill>
                  <a:srgbClr val="041C2C"/>
                </a:solidFill>
                <a:latin typeface="Barlow" pitchFamily="34" charset="0"/>
                <a:ea typeface="Barlow" pitchFamily="34" charset="-122"/>
                <a:cs typeface="Barlow" pitchFamily="34" charset="-120"/>
              </a:rPr>
              <a:t>La diferencia no son las capacidades. </a:t>
            </a:r>
            <a:r>
              <a:rPr lang="en-US" sz="3750" b="1" kern="0" spc="-75" dirty="0">
                <a:solidFill>
                  <a:srgbClr val="855AC6"/>
                </a:solidFill>
                <a:latin typeface="Barlow" pitchFamily="34" charset="0"/>
                <a:ea typeface="Barlow" pitchFamily="34" charset="-122"/>
                <a:cs typeface="Barlow" pitchFamily="34" charset="-120"/>
              </a:rPr>
              <a:t>Es quién las lleva.</a:t>
            </a:r>
            <a:endParaRPr lang="en-US" sz="3750" dirty="0"/>
          </a:p>
        </p:txBody>
      </p:sp>
      <p:sp>
        <p:nvSpPr>
          <p:cNvPr id="6" name="Text 3"/>
          <p:cNvSpPr/>
          <p:nvPr/>
        </p:nvSpPr>
        <p:spPr>
          <a:xfrm>
            <a:off x="1066800" y="2400300"/>
            <a:ext cx="11700086" cy="1073944"/>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Recursos y capacidades los tiene cualquiera. Lo que no se copia es </a:t>
            </a:r>
            <a:r>
              <a:rPr lang="en-US" sz="1875" dirty="0">
                <a:solidFill>
                  <a:srgbClr val="041C2C"/>
                </a:solidFill>
                <a:latin typeface="Roboto" pitchFamily="34" charset="0"/>
                <a:ea typeface="Roboto" pitchFamily="34" charset="-122"/>
                <a:cs typeface="Roboto" pitchFamily="34" charset="-120"/>
              </a:rPr>
              <a:t>un método </a:t>
            </a:r>
            <a:r>
              <a:rPr lang="en-US" sz="1875" dirty="0">
                <a:solidFill>
                  <a:srgbClr val="041C2C">
                    <a:alpha val="82000"/>
                  </a:srgbClr>
                </a:solidFill>
                <a:latin typeface="Roboto" pitchFamily="34" charset="0"/>
                <a:ea typeface="Roboto" pitchFamily="34" charset="-122"/>
                <a:cs typeface="Roboto" pitchFamily="34" charset="-120"/>
              </a:rPr>
              <a:t>: la misma forma de hacer para procesos, software, dato o IA, con la mejora continua metida desde el origen. Afinado en cada proyecto, vive en la gente que lo ha puesto a funcionar —no en un documento.</a:t>
            </a:r>
            <a:endParaRPr lang="en-US" sz="1875" dirty="0"/>
          </a:p>
        </p:txBody>
      </p:sp>
      <p:sp>
        <p:nvSpPr>
          <p:cNvPr id="7" name="Shape 4"/>
          <p:cNvSpPr/>
          <p:nvPr/>
        </p:nvSpPr>
        <p:spPr>
          <a:xfrm>
            <a:off x="1066800" y="4442817"/>
            <a:ext cx="16154400" cy="9525"/>
          </a:xfrm>
          <a:prstGeom prst="rect">
            <a:avLst/>
          </a:prstGeom>
          <a:solidFill>
            <a:srgbClr val="C8D2DA"/>
          </a:solidFill>
          <a:ln/>
        </p:spPr>
        <p:txBody>
          <a:bodyPr/>
          <a:lstStyle/>
          <a:p>
            <a:endParaRPr lang="es-ES"/>
          </a:p>
        </p:txBody>
      </p:sp>
      <p:sp>
        <p:nvSpPr>
          <p:cNvPr id="8" name="Text 5"/>
          <p:cNvSpPr/>
          <p:nvPr/>
        </p:nvSpPr>
        <p:spPr>
          <a:xfrm>
            <a:off x="1066800" y="4738092"/>
            <a:ext cx="643086" cy="552450"/>
          </a:xfrm>
          <a:prstGeom prst="rect">
            <a:avLst/>
          </a:prstGeom>
          <a:noFill/>
          <a:ln/>
        </p:spPr>
        <p:txBody>
          <a:bodyPr wrap="square" lIns="25400" tIns="25400" rIns="25400" bIns="25400" rtlCol="0" anchor="t">
            <a:normAutofit lnSpcReduction="10000"/>
          </a:bodyPr>
          <a:lstStyle/>
          <a:p>
            <a:pPr marL="0" indent="0" algn="l">
              <a:lnSpc>
                <a:spcPct val="83077"/>
              </a:lnSpc>
              <a:buNone/>
            </a:pPr>
            <a:r>
              <a:rPr lang="en-US" sz="4050" b="1" dirty="0">
                <a:solidFill>
                  <a:srgbClr val="855AC6"/>
                </a:solidFill>
                <a:latin typeface="Barlow" pitchFamily="34" charset="0"/>
                <a:ea typeface="Barlow" pitchFamily="34" charset="-122"/>
                <a:cs typeface="Barlow" pitchFamily="34" charset="-120"/>
              </a:rPr>
              <a:t>01</a:t>
            </a:r>
            <a:endParaRPr lang="en-US" sz="4050" dirty="0"/>
          </a:p>
        </p:txBody>
      </p:sp>
      <p:sp>
        <p:nvSpPr>
          <p:cNvPr id="9" name="Shape 6"/>
          <p:cNvSpPr/>
          <p:nvPr/>
        </p:nvSpPr>
        <p:spPr>
          <a:xfrm>
            <a:off x="1805136" y="4971455"/>
            <a:ext cx="514350" cy="47625"/>
          </a:xfrm>
          <a:prstGeom prst="roundRect">
            <a:avLst>
              <a:gd name="adj" fmla="val 40000"/>
            </a:avLst>
          </a:prstGeom>
          <a:solidFill>
            <a:srgbClr val="855AC6"/>
          </a:solidFill>
          <a:ln/>
        </p:spPr>
        <p:txBody>
          <a:bodyPr/>
          <a:lstStyle/>
          <a:p>
            <a:endParaRPr lang="es-ES"/>
          </a:p>
        </p:txBody>
      </p:sp>
      <p:sp>
        <p:nvSpPr>
          <p:cNvPr id="10" name="Text 7"/>
          <p:cNvSpPr/>
          <p:nvPr/>
        </p:nvSpPr>
        <p:spPr>
          <a:xfrm>
            <a:off x="1066800" y="5519142"/>
            <a:ext cx="5441260" cy="411361"/>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2625" b="1" kern="0" spc="-52" dirty="0">
                <a:solidFill>
                  <a:srgbClr val="041C2C"/>
                </a:solidFill>
                <a:latin typeface="Barlow" pitchFamily="34" charset="0"/>
                <a:ea typeface="Barlow" pitchFamily="34" charset="-122"/>
                <a:cs typeface="Barlow" pitchFamily="34" charset="-120"/>
              </a:rPr>
              <a:t>Transformamos entornos críticos.</a:t>
            </a:r>
            <a:endParaRPr lang="en-US" sz="2625" dirty="0"/>
          </a:p>
        </p:txBody>
      </p:sp>
      <p:sp>
        <p:nvSpPr>
          <p:cNvPr id="11" name="Text 8"/>
          <p:cNvSpPr/>
          <p:nvPr/>
        </p:nvSpPr>
        <p:spPr>
          <a:xfrm>
            <a:off x="1066800" y="6063853"/>
            <a:ext cx="5094998" cy="1023938"/>
          </a:xfrm>
          <a:prstGeom prst="rect">
            <a:avLst/>
          </a:prstGeom>
          <a:noFill/>
          <a:ln/>
        </p:spPr>
        <p:txBody>
          <a:bodyPr wrap="square" lIns="25400" tIns="25400" rIns="25400" bIns="25400" rtlCol="0" anchor="t">
            <a:normAutofit/>
          </a:bodyPr>
          <a:lstStyle/>
          <a:p>
            <a:pPr marL="0" indent="0" algn="l">
              <a:lnSpc>
                <a:spcPct val="123214"/>
              </a:lnSpc>
              <a:buNone/>
            </a:pPr>
            <a:r>
              <a:rPr lang="en-US" sz="1725" dirty="0">
                <a:solidFill>
                  <a:srgbClr val="354A5A"/>
                </a:solidFill>
                <a:latin typeface="Roboto" pitchFamily="34" charset="0"/>
                <a:ea typeface="Roboto" pitchFamily="34" charset="-122"/>
                <a:cs typeface="Roboto" pitchFamily="34" charset="-120"/>
              </a:rPr>
              <a:t>Trabajamos con entornos y sistemas que no pueden parar. La continuidad no se negocia. Es nuestra especialidad desde hace +20 años.</a:t>
            </a:r>
            <a:endParaRPr lang="en-US" sz="1725" dirty="0"/>
          </a:p>
        </p:txBody>
      </p:sp>
      <p:sp>
        <p:nvSpPr>
          <p:cNvPr id="12" name="Shape 9"/>
          <p:cNvSpPr/>
          <p:nvPr/>
        </p:nvSpPr>
        <p:spPr>
          <a:xfrm>
            <a:off x="6451550" y="4738092"/>
            <a:ext cx="9525" cy="2684859"/>
          </a:xfrm>
          <a:prstGeom prst="rect">
            <a:avLst/>
          </a:prstGeom>
          <a:solidFill>
            <a:srgbClr val="E5EAEF"/>
          </a:solidFill>
          <a:ln/>
        </p:spPr>
        <p:txBody>
          <a:bodyPr/>
          <a:lstStyle/>
          <a:p>
            <a:endParaRPr lang="es-ES"/>
          </a:p>
        </p:txBody>
      </p:sp>
      <p:sp>
        <p:nvSpPr>
          <p:cNvPr id="13" name="Text 10"/>
          <p:cNvSpPr/>
          <p:nvPr/>
        </p:nvSpPr>
        <p:spPr>
          <a:xfrm>
            <a:off x="6899225" y="4738092"/>
            <a:ext cx="643086" cy="552450"/>
          </a:xfrm>
          <a:prstGeom prst="rect">
            <a:avLst/>
          </a:prstGeom>
          <a:noFill/>
          <a:ln/>
        </p:spPr>
        <p:txBody>
          <a:bodyPr wrap="square" lIns="25400" tIns="25400" rIns="25400" bIns="25400" rtlCol="0" anchor="t">
            <a:normAutofit lnSpcReduction="10000"/>
          </a:bodyPr>
          <a:lstStyle/>
          <a:p>
            <a:pPr marL="0" indent="0" algn="l">
              <a:lnSpc>
                <a:spcPct val="83077"/>
              </a:lnSpc>
              <a:buNone/>
            </a:pPr>
            <a:r>
              <a:rPr lang="en-US" sz="4050" b="1" dirty="0">
                <a:solidFill>
                  <a:srgbClr val="855AC6"/>
                </a:solidFill>
                <a:latin typeface="Barlow" pitchFamily="34" charset="0"/>
                <a:ea typeface="Barlow" pitchFamily="34" charset="-122"/>
                <a:cs typeface="Barlow" pitchFamily="34" charset="-120"/>
              </a:rPr>
              <a:t>02</a:t>
            </a:r>
            <a:endParaRPr lang="en-US" sz="4050" dirty="0"/>
          </a:p>
        </p:txBody>
      </p:sp>
      <p:sp>
        <p:nvSpPr>
          <p:cNvPr id="14" name="Shape 11"/>
          <p:cNvSpPr/>
          <p:nvPr/>
        </p:nvSpPr>
        <p:spPr>
          <a:xfrm>
            <a:off x="7637562" y="4971455"/>
            <a:ext cx="514350" cy="47625"/>
          </a:xfrm>
          <a:prstGeom prst="roundRect">
            <a:avLst>
              <a:gd name="adj" fmla="val 40000"/>
            </a:avLst>
          </a:prstGeom>
          <a:solidFill>
            <a:srgbClr val="855AC6"/>
          </a:solidFill>
          <a:ln/>
        </p:spPr>
        <p:txBody>
          <a:bodyPr/>
          <a:lstStyle/>
          <a:p>
            <a:endParaRPr lang="es-ES"/>
          </a:p>
        </p:txBody>
      </p:sp>
      <p:sp>
        <p:nvSpPr>
          <p:cNvPr id="15" name="Text 12"/>
          <p:cNvSpPr/>
          <p:nvPr/>
        </p:nvSpPr>
        <p:spPr>
          <a:xfrm>
            <a:off x="6899225" y="5519142"/>
            <a:ext cx="4633893" cy="784622"/>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2625" b="1" kern="0" spc="-52" dirty="0">
                <a:solidFill>
                  <a:srgbClr val="041C2C"/>
                </a:solidFill>
                <a:latin typeface="Barlow" pitchFamily="34" charset="0"/>
                <a:ea typeface="Barlow" pitchFamily="34" charset="-122"/>
                <a:cs typeface="Barlow" pitchFamily="34" charset="-120"/>
              </a:rPr>
              <a:t>Donde la tecnología sola fracasa, nosotros entregamos.</a:t>
            </a:r>
            <a:endParaRPr lang="en-US" sz="2625" dirty="0"/>
          </a:p>
        </p:txBody>
      </p:sp>
      <p:sp>
        <p:nvSpPr>
          <p:cNvPr id="16" name="Text 13"/>
          <p:cNvSpPr/>
          <p:nvPr/>
        </p:nvSpPr>
        <p:spPr>
          <a:xfrm>
            <a:off x="6899225" y="6437114"/>
            <a:ext cx="4633893" cy="1023938"/>
          </a:xfrm>
          <a:prstGeom prst="rect">
            <a:avLst/>
          </a:prstGeom>
          <a:noFill/>
          <a:ln/>
        </p:spPr>
        <p:txBody>
          <a:bodyPr wrap="square" lIns="25400" tIns="25400" rIns="25400" bIns="25400" rtlCol="0" anchor="t">
            <a:normAutofit/>
          </a:bodyPr>
          <a:lstStyle/>
          <a:p>
            <a:pPr marL="0" indent="0" algn="l">
              <a:lnSpc>
                <a:spcPct val="123214"/>
              </a:lnSpc>
              <a:buNone/>
            </a:pPr>
            <a:r>
              <a:rPr lang="en-US" sz="1725" dirty="0">
                <a:solidFill>
                  <a:srgbClr val="354A5A"/>
                </a:solidFill>
                <a:latin typeface="Roboto" pitchFamily="34" charset="0"/>
                <a:ea typeface="Roboto" pitchFamily="34" charset="-122"/>
                <a:cs typeface="Roboto" pitchFamily="34" charset="-120"/>
              </a:rPr>
              <a:t>Cruzamos </a:t>
            </a:r>
            <a:r>
              <a:rPr lang="en-US" sz="1725" b="1" dirty="0">
                <a:solidFill>
                  <a:srgbClr val="2F6FB0"/>
                </a:solidFill>
                <a:latin typeface="Roboto" pitchFamily="34" charset="0"/>
                <a:ea typeface="Roboto" pitchFamily="34" charset="-122"/>
                <a:cs typeface="Roboto" pitchFamily="34" charset="-120"/>
              </a:rPr>
              <a:t>procesos</a:t>
            </a:r>
            <a:r>
              <a:rPr lang="en-US" sz="1725" dirty="0">
                <a:solidFill>
                  <a:srgbClr val="354A5A"/>
                </a:solidFill>
                <a:latin typeface="Roboto" pitchFamily="34" charset="0"/>
                <a:ea typeface="Roboto" pitchFamily="34" charset="-122"/>
                <a:cs typeface="Roboto" pitchFamily="34" charset="-120"/>
              </a:rPr>
              <a:t>, </a:t>
            </a:r>
            <a:r>
              <a:rPr lang="en-US" sz="1725" b="1" dirty="0">
                <a:solidFill>
                  <a:srgbClr val="2EA66A"/>
                </a:solidFill>
                <a:latin typeface="Roboto" pitchFamily="34" charset="0"/>
                <a:ea typeface="Roboto" pitchFamily="34" charset="-122"/>
                <a:cs typeface="Roboto" pitchFamily="34" charset="-120"/>
              </a:rPr>
              <a:t>personas</a:t>
            </a:r>
            <a:r>
              <a:rPr lang="en-US" sz="1725" dirty="0">
                <a:solidFill>
                  <a:srgbClr val="354A5A"/>
                </a:solidFill>
                <a:latin typeface="Roboto" pitchFamily="34" charset="0"/>
                <a:ea typeface="Roboto" pitchFamily="34" charset="-122"/>
                <a:cs typeface="Roboto" pitchFamily="34" charset="-120"/>
              </a:rPr>
              <a:t>, </a:t>
            </a:r>
            <a:r>
              <a:rPr lang="en-US" sz="1725" b="1" dirty="0">
                <a:solidFill>
                  <a:srgbClr val="855AC6"/>
                </a:solidFill>
                <a:latin typeface="Roboto" pitchFamily="34" charset="0"/>
                <a:ea typeface="Roboto" pitchFamily="34" charset="-122"/>
                <a:cs typeface="Roboto" pitchFamily="34" charset="-120"/>
              </a:rPr>
              <a:t>tecnología </a:t>
            </a:r>
            <a:r>
              <a:rPr lang="en-US" sz="1725" dirty="0">
                <a:solidFill>
                  <a:srgbClr val="354A5A"/>
                </a:solidFill>
                <a:latin typeface="Roboto" pitchFamily="34" charset="0"/>
                <a:ea typeface="Roboto" pitchFamily="34" charset="-122"/>
                <a:cs typeface="Roboto" pitchFamily="34" charset="-120"/>
              </a:rPr>
              <a:t>y </a:t>
            </a:r>
            <a:r>
              <a:rPr lang="en-US" sz="1725" b="1" dirty="0">
                <a:solidFill>
                  <a:srgbClr val="D04C81"/>
                </a:solidFill>
                <a:latin typeface="Roboto" pitchFamily="34" charset="0"/>
                <a:ea typeface="Roboto" pitchFamily="34" charset="-122"/>
                <a:cs typeface="Roboto" pitchFamily="34" charset="-120"/>
              </a:rPr>
              <a:t>cultura </a:t>
            </a:r>
            <a:r>
              <a:rPr lang="en-US" sz="1725" dirty="0">
                <a:solidFill>
                  <a:srgbClr val="354A5A"/>
                </a:solidFill>
                <a:latin typeface="Roboto" pitchFamily="34" charset="0"/>
                <a:ea typeface="Roboto" pitchFamily="34" charset="-122"/>
                <a:cs typeface="Roboto" pitchFamily="34" charset="-120"/>
              </a:rPr>
              <a:t>— porque el 70% de los proyectos no falla por la herramienta.</a:t>
            </a:r>
            <a:endParaRPr lang="en-US" sz="1725" dirty="0"/>
          </a:p>
        </p:txBody>
      </p:sp>
      <p:sp>
        <p:nvSpPr>
          <p:cNvPr id="17" name="Shape 14"/>
          <p:cNvSpPr/>
          <p:nvPr/>
        </p:nvSpPr>
        <p:spPr>
          <a:xfrm>
            <a:off x="11836301" y="4738092"/>
            <a:ext cx="9525" cy="2640211"/>
          </a:xfrm>
          <a:prstGeom prst="rect">
            <a:avLst/>
          </a:prstGeom>
          <a:solidFill>
            <a:srgbClr val="E5EAEF"/>
          </a:solidFill>
          <a:ln/>
        </p:spPr>
        <p:txBody>
          <a:bodyPr/>
          <a:lstStyle/>
          <a:p>
            <a:endParaRPr lang="es-ES"/>
          </a:p>
        </p:txBody>
      </p:sp>
      <p:sp>
        <p:nvSpPr>
          <p:cNvPr id="18" name="Text 15"/>
          <p:cNvSpPr/>
          <p:nvPr/>
        </p:nvSpPr>
        <p:spPr>
          <a:xfrm>
            <a:off x="12283976" y="4738092"/>
            <a:ext cx="643086" cy="552450"/>
          </a:xfrm>
          <a:prstGeom prst="rect">
            <a:avLst/>
          </a:prstGeom>
          <a:noFill/>
          <a:ln/>
        </p:spPr>
        <p:txBody>
          <a:bodyPr wrap="square" lIns="25400" tIns="25400" rIns="25400" bIns="25400" rtlCol="0" anchor="t">
            <a:normAutofit lnSpcReduction="10000"/>
          </a:bodyPr>
          <a:lstStyle/>
          <a:p>
            <a:pPr marL="0" indent="0" algn="l">
              <a:lnSpc>
                <a:spcPct val="83077"/>
              </a:lnSpc>
              <a:buNone/>
            </a:pPr>
            <a:r>
              <a:rPr lang="en-US" sz="4050" b="1" dirty="0">
                <a:solidFill>
                  <a:srgbClr val="855AC6"/>
                </a:solidFill>
                <a:latin typeface="Barlow" pitchFamily="34" charset="0"/>
                <a:ea typeface="Barlow" pitchFamily="34" charset="-122"/>
                <a:cs typeface="Barlow" pitchFamily="34" charset="-120"/>
              </a:rPr>
              <a:t>03</a:t>
            </a:r>
            <a:endParaRPr lang="en-US" sz="4050" dirty="0"/>
          </a:p>
        </p:txBody>
      </p:sp>
      <p:sp>
        <p:nvSpPr>
          <p:cNvPr id="19" name="Shape 16"/>
          <p:cNvSpPr/>
          <p:nvPr/>
        </p:nvSpPr>
        <p:spPr>
          <a:xfrm>
            <a:off x="13022312" y="4971455"/>
            <a:ext cx="514350" cy="47625"/>
          </a:xfrm>
          <a:prstGeom prst="roundRect">
            <a:avLst>
              <a:gd name="adj" fmla="val 40000"/>
            </a:avLst>
          </a:prstGeom>
          <a:solidFill>
            <a:srgbClr val="855AC6"/>
          </a:solidFill>
          <a:ln/>
        </p:spPr>
        <p:txBody>
          <a:bodyPr/>
          <a:lstStyle/>
          <a:p>
            <a:endParaRPr lang="es-ES"/>
          </a:p>
        </p:txBody>
      </p:sp>
      <p:sp>
        <p:nvSpPr>
          <p:cNvPr id="20" name="Text 17"/>
          <p:cNvSpPr/>
          <p:nvPr/>
        </p:nvSpPr>
        <p:spPr>
          <a:xfrm>
            <a:off x="12283976" y="5519142"/>
            <a:ext cx="4948818" cy="411361"/>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2625" b="1" kern="0" spc="-52" dirty="0">
                <a:solidFill>
                  <a:srgbClr val="041C2C"/>
                </a:solidFill>
                <a:latin typeface="Barlow" pitchFamily="34" charset="0"/>
                <a:ea typeface="Barlow" pitchFamily="34" charset="-122"/>
                <a:cs typeface="Barlow" pitchFamily="34" charset="-120"/>
              </a:rPr>
              <a:t>Resultados, no proyectos.</a:t>
            </a:r>
            <a:endParaRPr lang="en-US" sz="2625" dirty="0"/>
          </a:p>
        </p:txBody>
      </p:sp>
      <p:sp>
        <p:nvSpPr>
          <p:cNvPr id="21" name="Text 18"/>
          <p:cNvSpPr/>
          <p:nvPr/>
        </p:nvSpPr>
        <p:spPr>
          <a:xfrm>
            <a:off x="12283976" y="6063853"/>
            <a:ext cx="4633893" cy="1352550"/>
          </a:xfrm>
          <a:prstGeom prst="rect">
            <a:avLst/>
          </a:prstGeom>
          <a:noFill/>
          <a:ln/>
        </p:spPr>
        <p:txBody>
          <a:bodyPr wrap="square" lIns="25400" tIns="25400" rIns="25400" bIns="25400" rtlCol="0" anchor="t">
            <a:normAutofit/>
          </a:bodyPr>
          <a:lstStyle/>
          <a:p>
            <a:pPr marL="0" indent="0" algn="l">
              <a:lnSpc>
                <a:spcPct val="123214"/>
              </a:lnSpc>
              <a:buNone/>
            </a:pPr>
            <a:r>
              <a:rPr lang="en-US" sz="1725" dirty="0">
                <a:solidFill>
                  <a:srgbClr val="354A5A"/>
                </a:solidFill>
                <a:latin typeface="Roboto" pitchFamily="34" charset="0"/>
                <a:ea typeface="Roboto" pitchFamily="34" charset="-122"/>
                <a:cs typeface="Roboto" pitchFamily="34" charset="-120"/>
              </a:rPr>
              <a:t>Desplegar tecnología es fácil. Que mueva tu cuenta de resultados, no. Respondemos de lo segundo: nos comprometemos con el impacto, no solo con la entrega.</a:t>
            </a:r>
            <a:endParaRPr lang="en-US" sz="1725" dirty="0"/>
          </a:p>
        </p:txBody>
      </p:sp>
      <p:sp>
        <p:nvSpPr>
          <p:cNvPr id="22" name="Shape 19"/>
          <p:cNvSpPr/>
          <p:nvPr/>
        </p:nvSpPr>
        <p:spPr>
          <a:xfrm>
            <a:off x="1066800" y="7765852"/>
            <a:ext cx="12140952" cy="9525"/>
          </a:xfrm>
          <a:prstGeom prst="rect">
            <a:avLst/>
          </a:prstGeom>
          <a:solidFill>
            <a:srgbClr val="E5EAEF"/>
          </a:solidFill>
          <a:ln/>
        </p:spPr>
        <p:txBody>
          <a:bodyPr/>
          <a:lstStyle/>
          <a:p>
            <a:endParaRPr lang="es-ES"/>
          </a:p>
        </p:txBody>
      </p:sp>
      <p:sp>
        <p:nvSpPr>
          <p:cNvPr id="23" name="Text 20"/>
          <p:cNvSpPr/>
          <p:nvPr/>
        </p:nvSpPr>
        <p:spPr>
          <a:xfrm>
            <a:off x="1066800" y="7984927"/>
            <a:ext cx="12505181" cy="638175"/>
          </a:xfrm>
          <a:prstGeom prst="rect">
            <a:avLst/>
          </a:prstGeom>
          <a:noFill/>
          <a:ln/>
        </p:spPr>
        <p:txBody>
          <a:bodyPr wrap="square" lIns="25400" tIns="25400" rIns="25400" bIns="25400" rtlCol="0" anchor="t">
            <a:normAutofit/>
          </a:bodyPr>
          <a:lstStyle/>
          <a:p>
            <a:pPr marL="0" indent="0" algn="l">
              <a:lnSpc>
                <a:spcPct val="126000"/>
              </a:lnSpc>
              <a:buNone/>
            </a:pPr>
            <a:r>
              <a:rPr lang="en-US" sz="1575" dirty="0">
                <a:solidFill>
                  <a:srgbClr val="4A6273"/>
                </a:solidFill>
                <a:latin typeface="Roboto" pitchFamily="34" charset="0"/>
                <a:ea typeface="Roboto" pitchFamily="34" charset="-122"/>
                <a:cs typeface="Roboto" pitchFamily="34" charset="-120"/>
              </a:rPr>
              <a:t>No son tres ventajas sueltas: son </a:t>
            </a:r>
            <a:r>
              <a:rPr lang="en-US" sz="1575" b="1" dirty="0">
                <a:solidFill>
                  <a:srgbClr val="041C2C"/>
                </a:solidFill>
                <a:latin typeface="Roboto" pitchFamily="34" charset="0"/>
                <a:ea typeface="Roboto" pitchFamily="34" charset="-122"/>
                <a:cs typeface="Roboto" pitchFamily="34" charset="-120"/>
              </a:rPr>
              <a:t>tres caras de un mismo método </a:t>
            </a:r>
            <a:r>
              <a:rPr lang="en-US" sz="1575" dirty="0">
                <a:solidFill>
                  <a:srgbClr val="4A6273"/>
                </a:solidFill>
                <a:latin typeface="Roboto" pitchFamily="34" charset="0"/>
                <a:ea typeface="Roboto" pitchFamily="34" charset="-122"/>
                <a:cs typeface="Roboto" pitchFamily="34" charset="-120"/>
              </a:rPr>
              <a:t>—el que gobierna el cambio y responde del resultado. </a:t>
            </a:r>
            <a:r>
              <a:rPr lang="en-US" sz="1350" dirty="0">
                <a:solidFill>
                  <a:srgbClr val="5E3D9B"/>
                </a:solidFill>
                <a:latin typeface="JetBrains Mono" pitchFamily="34" charset="0"/>
                <a:ea typeface="JetBrains Mono" pitchFamily="34" charset="-122"/>
                <a:cs typeface="JetBrains Mono" pitchFamily="34" charset="-120"/>
              </a:rPr>
              <a:t>→ Verlo en «Cómo trabajamos»</a:t>
            </a:r>
            <a:endParaRPr lang="en-US" sz="1575" dirty="0"/>
          </a:p>
        </p:txBody>
      </p:sp>
      <p:sp>
        <p:nvSpPr>
          <p:cNvPr id="24" name="Text 21"/>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5" name="Text 22"/>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03 / 24</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3566606"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GARANTÍAS Y CAPACIDADES</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104900"/>
            <a:ext cx="7282489" cy="10858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750" b="1" kern="0" spc="-75" dirty="0">
                <a:solidFill>
                  <a:srgbClr val="041C2C"/>
                </a:solidFill>
                <a:latin typeface="Barlow" pitchFamily="34" charset="0"/>
                <a:ea typeface="Barlow" pitchFamily="34" charset="-122"/>
                <a:cs typeface="Barlow" pitchFamily="34" charset="-120"/>
              </a:rPr>
              <a:t>La escala y la </a:t>
            </a:r>
            <a:r>
              <a:rPr lang="en-US" sz="3750" b="1" kern="0" spc="-75" dirty="0">
                <a:solidFill>
                  <a:srgbClr val="855AC6"/>
                </a:solidFill>
                <a:latin typeface="Barlow" pitchFamily="34" charset="0"/>
                <a:ea typeface="Barlow" pitchFamily="34" charset="-122"/>
                <a:cs typeface="Barlow" pitchFamily="34" charset="-120"/>
              </a:rPr>
              <a:t>independencia </a:t>
            </a:r>
            <a:r>
              <a:rPr lang="en-US" sz="3750" b="1" kern="0" spc="-75" dirty="0">
                <a:solidFill>
                  <a:srgbClr val="041C2C"/>
                </a:solidFill>
                <a:latin typeface="Barlow" pitchFamily="34" charset="0"/>
                <a:ea typeface="Barlow" pitchFamily="34" charset="-122"/>
                <a:cs typeface="Barlow" pitchFamily="34" charset="-120"/>
              </a:rPr>
              <a:t>para responder del resultado.</a:t>
            </a:r>
            <a:endParaRPr lang="en-US" sz="3750" dirty="0"/>
          </a:p>
        </p:txBody>
      </p:sp>
      <p:sp>
        <p:nvSpPr>
          <p:cNvPr id="6" name="Text 3"/>
          <p:cNvSpPr/>
          <p:nvPr/>
        </p:nvSpPr>
        <p:spPr>
          <a:xfrm>
            <a:off x="1066800" y="2362200"/>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Operamos en organizaciones complejas con escala, independencia de fabricante y 20 años de oficio.</a:t>
            </a:r>
            <a:endParaRPr lang="en-US" sz="1875" dirty="0"/>
          </a:p>
        </p:txBody>
      </p:sp>
      <p:pic>
        <p:nvPicPr>
          <p:cNvPr id="7" name="Image 1" descr="preencoded.png"/>
          <p:cNvPicPr>
            <a:picLocks noChangeAspect="1"/>
          </p:cNvPicPr>
          <p:nvPr/>
        </p:nvPicPr>
        <p:blipFill>
          <a:blip r:embed="rId4"/>
          <a:stretch>
            <a:fillRect/>
          </a:stretch>
        </p:blipFill>
        <p:spPr>
          <a:xfrm>
            <a:off x="12077700" y="1104900"/>
            <a:ext cx="5143500" cy="2571750"/>
          </a:xfrm>
          <a:prstGeom prst="rect">
            <a:avLst/>
          </a:prstGeom>
        </p:spPr>
      </p:pic>
      <p:sp>
        <p:nvSpPr>
          <p:cNvPr id="8" name="Shape 4"/>
          <p:cNvSpPr/>
          <p:nvPr/>
        </p:nvSpPr>
        <p:spPr>
          <a:xfrm>
            <a:off x="14540805" y="1757511"/>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9" name="Text 5"/>
          <p:cNvSpPr/>
          <p:nvPr/>
        </p:nvSpPr>
        <p:spPr>
          <a:xfrm>
            <a:off x="14693205" y="1728936"/>
            <a:ext cx="541586"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España</a:t>
            </a:r>
            <a:endParaRPr lang="en-US" sz="1125" dirty="0"/>
          </a:p>
        </p:txBody>
      </p:sp>
      <p:sp>
        <p:nvSpPr>
          <p:cNvPr id="10" name="Shape 6"/>
          <p:cNvSpPr/>
          <p:nvPr/>
        </p:nvSpPr>
        <p:spPr>
          <a:xfrm>
            <a:off x="13445282" y="1965722"/>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11" name="Text 7"/>
          <p:cNvSpPr/>
          <p:nvPr/>
        </p:nvSpPr>
        <p:spPr>
          <a:xfrm>
            <a:off x="13597682" y="1937147"/>
            <a:ext cx="527745"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EE. UU.</a:t>
            </a:r>
            <a:endParaRPr lang="en-US" sz="1125" dirty="0"/>
          </a:p>
        </p:txBody>
      </p:sp>
      <p:sp>
        <p:nvSpPr>
          <p:cNvPr id="12" name="Shape 8"/>
          <p:cNvSpPr/>
          <p:nvPr/>
        </p:nvSpPr>
        <p:spPr>
          <a:xfrm>
            <a:off x="13177838" y="2055763"/>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13" name="Text 9"/>
          <p:cNvSpPr/>
          <p:nvPr/>
        </p:nvSpPr>
        <p:spPr>
          <a:xfrm>
            <a:off x="12694444" y="2027188"/>
            <a:ext cx="521494"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México</a:t>
            </a:r>
            <a:endParaRPr lang="en-US" sz="1125" dirty="0"/>
          </a:p>
        </p:txBody>
      </p:sp>
      <p:sp>
        <p:nvSpPr>
          <p:cNvPr id="14" name="Shape 10"/>
          <p:cNvSpPr/>
          <p:nvPr/>
        </p:nvSpPr>
        <p:spPr>
          <a:xfrm>
            <a:off x="13532644" y="2266652"/>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15" name="Text 11"/>
          <p:cNvSpPr/>
          <p:nvPr/>
        </p:nvSpPr>
        <p:spPr>
          <a:xfrm>
            <a:off x="13685044" y="2238077"/>
            <a:ext cx="668982"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Colombia</a:t>
            </a:r>
            <a:endParaRPr lang="en-US" sz="1125" dirty="0"/>
          </a:p>
        </p:txBody>
      </p:sp>
      <p:sp>
        <p:nvSpPr>
          <p:cNvPr id="16" name="Shape 12"/>
          <p:cNvSpPr/>
          <p:nvPr/>
        </p:nvSpPr>
        <p:spPr>
          <a:xfrm>
            <a:off x="13491567" y="2505819"/>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17" name="Text 13"/>
          <p:cNvSpPr/>
          <p:nvPr/>
        </p:nvSpPr>
        <p:spPr>
          <a:xfrm>
            <a:off x="13161318" y="2477244"/>
            <a:ext cx="368350"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Perú</a:t>
            </a:r>
            <a:endParaRPr lang="en-US" sz="1125" dirty="0"/>
          </a:p>
        </p:txBody>
      </p:sp>
      <p:sp>
        <p:nvSpPr>
          <p:cNvPr id="18" name="Shape 14"/>
          <p:cNvSpPr/>
          <p:nvPr/>
        </p:nvSpPr>
        <p:spPr>
          <a:xfrm>
            <a:off x="13928675" y="2670423"/>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19" name="Text 15"/>
          <p:cNvSpPr/>
          <p:nvPr/>
        </p:nvSpPr>
        <p:spPr>
          <a:xfrm>
            <a:off x="14081075" y="2641848"/>
            <a:ext cx="437108"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Brasil</a:t>
            </a:r>
            <a:endParaRPr lang="en-US" sz="1125" dirty="0"/>
          </a:p>
        </p:txBody>
      </p:sp>
      <p:sp>
        <p:nvSpPr>
          <p:cNvPr id="20" name="Shape 16"/>
          <p:cNvSpPr/>
          <p:nvPr/>
        </p:nvSpPr>
        <p:spPr>
          <a:xfrm>
            <a:off x="13584138" y="2811959"/>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21" name="Text 17"/>
          <p:cNvSpPr/>
          <p:nvPr/>
        </p:nvSpPr>
        <p:spPr>
          <a:xfrm>
            <a:off x="13231713" y="2783384"/>
            <a:ext cx="390525"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Chile</a:t>
            </a:r>
            <a:endParaRPr lang="en-US" sz="1125" dirty="0"/>
          </a:p>
        </p:txBody>
      </p:sp>
      <p:sp>
        <p:nvSpPr>
          <p:cNvPr id="22" name="Shape 18"/>
          <p:cNvSpPr/>
          <p:nvPr/>
        </p:nvSpPr>
        <p:spPr>
          <a:xfrm>
            <a:off x="13759011" y="2827288"/>
            <a:ext cx="114300" cy="114300"/>
          </a:xfrm>
          <a:prstGeom prst="ellipse">
            <a:avLst/>
          </a:prstGeom>
          <a:solidFill>
            <a:srgbClr val="D04C81"/>
          </a:solidFill>
          <a:ln/>
          <a:effectLst>
            <a:outerShdw blurRad="101600" dist="50800" dir="16200000" algn="bl" rotWithShape="0">
              <a:srgbClr val="D04C81">
                <a:alpha val="20000"/>
              </a:srgbClr>
            </a:outerShdw>
          </a:effectLst>
        </p:spPr>
        <p:txBody>
          <a:bodyPr/>
          <a:lstStyle/>
          <a:p>
            <a:endParaRPr lang="es-ES"/>
          </a:p>
        </p:txBody>
      </p:sp>
      <p:sp>
        <p:nvSpPr>
          <p:cNvPr id="23" name="Text 19"/>
          <p:cNvSpPr/>
          <p:nvPr/>
        </p:nvSpPr>
        <p:spPr>
          <a:xfrm>
            <a:off x="13911411" y="2798713"/>
            <a:ext cx="703511" cy="209550"/>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041C2C"/>
                </a:solidFill>
                <a:latin typeface="Barlow" pitchFamily="34" charset="0"/>
                <a:ea typeface="Barlow" pitchFamily="34" charset="-122"/>
                <a:cs typeface="Barlow" pitchFamily="34" charset="-120"/>
              </a:rPr>
              <a:t>Argentina</a:t>
            </a:r>
            <a:endParaRPr lang="en-US" sz="1125" dirty="0"/>
          </a:p>
        </p:txBody>
      </p:sp>
      <p:sp>
        <p:nvSpPr>
          <p:cNvPr id="24" name="Shape 20"/>
          <p:cNvSpPr/>
          <p:nvPr/>
        </p:nvSpPr>
        <p:spPr>
          <a:xfrm>
            <a:off x="1066800" y="5194102"/>
            <a:ext cx="16154400" cy="9525"/>
          </a:xfrm>
          <a:prstGeom prst="rect">
            <a:avLst/>
          </a:prstGeom>
          <a:solidFill>
            <a:srgbClr val="C8D2DA"/>
          </a:solidFill>
          <a:ln/>
        </p:spPr>
        <p:txBody>
          <a:bodyPr/>
          <a:lstStyle/>
          <a:p>
            <a:endParaRPr lang="es-ES"/>
          </a:p>
        </p:txBody>
      </p:sp>
      <p:sp>
        <p:nvSpPr>
          <p:cNvPr id="25" name="Shape 21"/>
          <p:cNvSpPr/>
          <p:nvPr/>
        </p:nvSpPr>
        <p:spPr>
          <a:xfrm>
            <a:off x="1066800" y="3886200"/>
            <a:ext cx="16154400" cy="9525"/>
          </a:xfrm>
          <a:prstGeom prst="rect">
            <a:avLst/>
          </a:prstGeom>
          <a:solidFill>
            <a:srgbClr val="C8D2DA"/>
          </a:solidFill>
          <a:ln/>
        </p:spPr>
        <p:txBody>
          <a:bodyPr/>
          <a:lstStyle/>
          <a:p>
            <a:endParaRPr lang="es-ES"/>
          </a:p>
        </p:txBody>
      </p:sp>
      <p:sp>
        <p:nvSpPr>
          <p:cNvPr id="26" name="Text 22"/>
          <p:cNvSpPr/>
          <p:nvPr/>
        </p:nvSpPr>
        <p:spPr>
          <a:xfrm>
            <a:off x="1066800" y="4067175"/>
            <a:ext cx="4222433" cy="441127"/>
          </a:xfrm>
          <a:prstGeom prst="rect">
            <a:avLst/>
          </a:prstGeom>
          <a:noFill/>
          <a:ln/>
        </p:spPr>
        <p:txBody>
          <a:bodyPr wrap="square" lIns="25400" tIns="25400" rIns="25400" bIns="25400" rtlCol="0" anchor="t">
            <a:normAutofit lnSpcReduction="10000"/>
          </a:bodyPr>
          <a:lstStyle/>
          <a:p>
            <a:pPr marL="0" indent="0" algn="l">
              <a:lnSpc>
                <a:spcPct val="76945"/>
              </a:lnSpc>
              <a:buNone/>
            </a:pPr>
            <a:r>
              <a:rPr lang="en-US" sz="3450" b="1" dirty="0">
                <a:solidFill>
                  <a:srgbClr val="855AC6"/>
                </a:solidFill>
                <a:latin typeface="Barlow" pitchFamily="34" charset="0"/>
                <a:ea typeface="Barlow" pitchFamily="34" charset="-122"/>
                <a:cs typeface="Barlow" pitchFamily="34" charset="-120"/>
              </a:rPr>
              <a:t>20+</a:t>
            </a:r>
            <a:endParaRPr lang="en-US" sz="3450" dirty="0"/>
          </a:p>
        </p:txBody>
      </p:sp>
      <p:sp>
        <p:nvSpPr>
          <p:cNvPr id="27" name="Text 23"/>
          <p:cNvSpPr/>
          <p:nvPr/>
        </p:nvSpPr>
        <p:spPr>
          <a:xfrm>
            <a:off x="1066800" y="4546402"/>
            <a:ext cx="3953732" cy="49530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041C2C">
                    <a:alpha val="85000"/>
                  </a:srgbClr>
                </a:solidFill>
                <a:latin typeface="Arial" pitchFamily="34" charset="0"/>
                <a:ea typeface="Arial" pitchFamily="34" charset="-122"/>
                <a:cs typeface="Arial" pitchFamily="34" charset="-120"/>
              </a:rPr>
              <a:t>años trabajando en organizaciones complejas</a:t>
            </a:r>
            <a:endParaRPr lang="en-US" sz="1575" dirty="0"/>
          </a:p>
        </p:txBody>
      </p:sp>
      <p:sp>
        <p:nvSpPr>
          <p:cNvPr id="28" name="Shape 24"/>
          <p:cNvSpPr/>
          <p:nvPr/>
        </p:nvSpPr>
        <p:spPr>
          <a:xfrm>
            <a:off x="5172075" y="4067175"/>
            <a:ext cx="9525" cy="955477"/>
          </a:xfrm>
          <a:prstGeom prst="rect">
            <a:avLst/>
          </a:prstGeom>
          <a:solidFill>
            <a:srgbClr val="E5EAEF"/>
          </a:solidFill>
          <a:ln/>
        </p:spPr>
        <p:txBody>
          <a:bodyPr/>
          <a:lstStyle/>
          <a:p>
            <a:endParaRPr lang="es-ES"/>
          </a:p>
        </p:txBody>
      </p:sp>
      <p:sp>
        <p:nvSpPr>
          <p:cNvPr id="29" name="Text 25"/>
          <p:cNvSpPr/>
          <p:nvPr/>
        </p:nvSpPr>
        <p:spPr>
          <a:xfrm>
            <a:off x="5448300" y="4067175"/>
            <a:ext cx="3918585" cy="441127"/>
          </a:xfrm>
          <a:prstGeom prst="rect">
            <a:avLst/>
          </a:prstGeom>
          <a:noFill/>
          <a:ln/>
        </p:spPr>
        <p:txBody>
          <a:bodyPr wrap="square" lIns="25400" tIns="25400" rIns="25400" bIns="25400" rtlCol="0" anchor="t">
            <a:normAutofit lnSpcReduction="10000"/>
          </a:bodyPr>
          <a:lstStyle/>
          <a:p>
            <a:pPr marL="0" indent="0" algn="l">
              <a:lnSpc>
                <a:spcPct val="76945"/>
              </a:lnSpc>
              <a:buNone/>
            </a:pPr>
            <a:r>
              <a:rPr lang="en-US" sz="3450" b="1" dirty="0">
                <a:solidFill>
                  <a:srgbClr val="855AC6"/>
                </a:solidFill>
                <a:latin typeface="Barlow" pitchFamily="34" charset="0"/>
                <a:ea typeface="Barlow" pitchFamily="34" charset="-122"/>
                <a:cs typeface="Barlow" pitchFamily="34" charset="-120"/>
              </a:rPr>
              <a:t>2.000</a:t>
            </a:r>
            <a:endParaRPr lang="en-US" sz="3450" dirty="0"/>
          </a:p>
        </p:txBody>
      </p:sp>
      <p:sp>
        <p:nvSpPr>
          <p:cNvPr id="30" name="Text 26"/>
          <p:cNvSpPr/>
          <p:nvPr/>
        </p:nvSpPr>
        <p:spPr>
          <a:xfrm>
            <a:off x="5448300" y="4565452"/>
            <a:ext cx="3669221" cy="49530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041C2C">
                    <a:alpha val="85000"/>
                  </a:srgbClr>
                </a:solidFill>
                <a:latin typeface="Arial" pitchFamily="34" charset="0"/>
                <a:ea typeface="Arial" pitchFamily="34" charset="-122"/>
                <a:cs typeface="Arial" pitchFamily="34" charset="-120"/>
              </a:rPr>
              <a:t>profesionales delivery en España, LATAM y EEUU</a:t>
            </a:r>
            <a:endParaRPr lang="en-US" sz="1575" dirty="0"/>
          </a:p>
        </p:txBody>
      </p:sp>
      <p:sp>
        <p:nvSpPr>
          <p:cNvPr id="31" name="Shape 27"/>
          <p:cNvSpPr/>
          <p:nvPr/>
        </p:nvSpPr>
        <p:spPr>
          <a:xfrm>
            <a:off x="9277350" y="4067175"/>
            <a:ext cx="9525" cy="955477"/>
          </a:xfrm>
          <a:prstGeom prst="rect">
            <a:avLst/>
          </a:prstGeom>
          <a:solidFill>
            <a:srgbClr val="E5EAEF"/>
          </a:solidFill>
          <a:ln/>
        </p:spPr>
        <p:txBody>
          <a:bodyPr/>
          <a:lstStyle/>
          <a:p>
            <a:endParaRPr lang="es-ES"/>
          </a:p>
        </p:txBody>
      </p:sp>
      <p:sp>
        <p:nvSpPr>
          <p:cNvPr id="32" name="Text 28"/>
          <p:cNvSpPr/>
          <p:nvPr/>
        </p:nvSpPr>
        <p:spPr>
          <a:xfrm>
            <a:off x="9553575" y="4067175"/>
            <a:ext cx="3918585" cy="441127"/>
          </a:xfrm>
          <a:prstGeom prst="rect">
            <a:avLst/>
          </a:prstGeom>
          <a:noFill/>
          <a:ln/>
        </p:spPr>
        <p:txBody>
          <a:bodyPr wrap="square" lIns="25400" tIns="25400" rIns="25400" bIns="25400" rtlCol="0" anchor="t">
            <a:normAutofit lnSpcReduction="10000"/>
          </a:bodyPr>
          <a:lstStyle/>
          <a:p>
            <a:pPr marL="0" indent="0" algn="l">
              <a:lnSpc>
                <a:spcPct val="76945"/>
              </a:lnSpc>
              <a:buNone/>
            </a:pPr>
            <a:r>
              <a:rPr lang="en-US" sz="3450" b="1" dirty="0">
                <a:solidFill>
                  <a:srgbClr val="855AC6"/>
                </a:solidFill>
                <a:latin typeface="Barlow" pitchFamily="34" charset="0"/>
                <a:ea typeface="Barlow" pitchFamily="34" charset="-122"/>
                <a:cs typeface="Barlow" pitchFamily="34" charset="-120"/>
              </a:rPr>
              <a:t>100%</a:t>
            </a:r>
            <a:endParaRPr lang="en-US" sz="3450" dirty="0"/>
          </a:p>
        </p:txBody>
      </p:sp>
      <p:sp>
        <p:nvSpPr>
          <p:cNvPr id="33" name="Text 29"/>
          <p:cNvSpPr/>
          <p:nvPr/>
        </p:nvSpPr>
        <p:spPr>
          <a:xfrm>
            <a:off x="9553575" y="4565452"/>
            <a:ext cx="3669221" cy="49530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041C2C">
                    <a:alpha val="85000"/>
                  </a:srgbClr>
                </a:solidFill>
                <a:latin typeface="Arial" pitchFamily="34" charset="0"/>
                <a:ea typeface="Arial" pitchFamily="34" charset="-122"/>
                <a:cs typeface="Arial" pitchFamily="34" charset="-120"/>
              </a:rPr>
              <a:t>capital propio — independencia y visión de largo plazo</a:t>
            </a:r>
            <a:endParaRPr lang="en-US" sz="1575" dirty="0"/>
          </a:p>
        </p:txBody>
      </p:sp>
      <p:sp>
        <p:nvSpPr>
          <p:cNvPr id="34" name="Shape 30"/>
          <p:cNvSpPr/>
          <p:nvPr/>
        </p:nvSpPr>
        <p:spPr>
          <a:xfrm>
            <a:off x="13382625" y="4067175"/>
            <a:ext cx="9525" cy="955477"/>
          </a:xfrm>
          <a:prstGeom prst="rect">
            <a:avLst/>
          </a:prstGeom>
          <a:solidFill>
            <a:srgbClr val="E5EAEF"/>
          </a:solidFill>
          <a:ln/>
        </p:spPr>
        <p:txBody>
          <a:bodyPr/>
          <a:lstStyle/>
          <a:p>
            <a:endParaRPr lang="es-ES"/>
          </a:p>
        </p:txBody>
      </p:sp>
      <p:sp>
        <p:nvSpPr>
          <p:cNvPr id="35" name="Text 31"/>
          <p:cNvSpPr/>
          <p:nvPr/>
        </p:nvSpPr>
        <p:spPr>
          <a:xfrm>
            <a:off x="13658850" y="4067175"/>
            <a:ext cx="3918585" cy="441127"/>
          </a:xfrm>
          <a:prstGeom prst="rect">
            <a:avLst/>
          </a:prstGeom>
          <a:noFill/>
          <a:ln/>
        </p:spPr>
        <p:txBody>
          <a:bodyPr wrap="square" lIns="25400" tIns="25400" rIns="25400" bIns="25400" rtlCol="0" anchor="t">
            <a:normAutofit lnSpcReduction="10000"/>
          </a:bodyPr>
          <a:lstStyle/>
          <a:p>
            <a:pPr marL="0" indent="0" algn="l">
              <a:lnSpc>
                <a:spcPct val="76945"/>
              </a:lnSpc>
              <a:buNone/>
            </a:pPr>
            <a:r>
              <a:rPr lang="en-US" sz="3450" b="1" dirty="0">
                <a:solidFill>
                  <a:srgbClr val="855AC6"/>
                </a:solidFill>
                <a:latin typeface="Barlow" pitchFamily="34" charset="0"/>
                <a:ea typeface="Barlow" pitchFamily="34" charset="-122"/>
                <a:cs typeface="Barlow" pitchFamily="34" charset="-120"/>
              </a:rPr>
              <a:t>&gt;95%</a:t>
            </a:r>
            <a:endParaRPr lang="en-US" sz="3450" dirty="0"/>
          </a:p>
        </p:txBody>
      </p:sp>
      <p:sp>
        <p:nvSpPr>
          <p:cNvPr id="36" name="Text 32"/>
          <p:cNvSpPr/>
          <p:nvPr/>
        </p:nvSpPr>
        <p:spPr>
          <a:xfrm>
            <a:off x="13658850" y="4565452"/>
            <a:ext cx="3669221" cy="495300"/>
          </a:xfrm>
          <a:prstGeom prst="rect">
            <a:avLst/>
          </a:prstGeom>
          <a:noFill/>
          <a:ln/>
        </p:spPr>
        <p:txBody>
          <a:bodyPr wrap="square" lIns="25400" tIns="25400" rIns="25400" bIns="25400" rtlCol="0" anchor="t">
            <a:normAutofit lnSpcReduction="10000"/>
          </a:bodyPr>
          <a:lstStyle/>
          <a:p>
            <a:pPr marL="0" indent="0" algn="l">
              <a:buNone/>
            </a:pPr>
            <a:r>
              <a:rPr lang="en-US" sz="1575" dirty="0">
                <a:solidFill>
                  <a:srgbClr val="041C2C">
                    <a:alpha val="85000"/>
                  </a:srgbClr>
                </a:solidFill>
                <a:latin typeface="Arial" pitchFamily="34" charset="0"/>
                <a:ea typeface="Arial" pitchFamily="34" charset="-122"/>
                <a:cs typeface="Arial" pitchFamily="34" charset="-120"/>
              </a:rPr>
              <a:t>clientes renuevan — confianza sostenida</a:t>
            </a:r>
            <a:endParaRPr lang="en-US" sz="1575" dirty="0"/>
          </a:p>
        </p:txBody>
      </p:sp>
      <p:sp>
        <p:nvSpPr>
          <p:cNvPr id="37" name="Text 33"/>
          <p:cNvSpPr/>
          <p:nvPr/>
        </p:nvSpPr>
        <p:spPr>
          <a:xfrm>
            <a:off x="1066800" y="5622727"/>
            <a:ext cx="7177088"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CERTIFICACIONES</a:t>
            </a:r>
            <a:endParaRPr lang="en-US" sz="1350" dirty="0"/>
          </a:p>
        </p:txBody>
      </p:sp>
      <p:sp>
        <p:nvSpPr>
          <p:cNvPr id="38" name="Shape 34"/>
          <p:cNvSpPr/>
          <p:nvPr/>
        </p:nvSpPr>
        <p:spPr>
          <a:xfrm>
            <a:off x="1066800" y="6070402"/>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3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09675" y="6213277"/>
            <a:ext cx="228600" cy="228600"/>
          </a:xfrm>
          <a:prstGeom prst="rect">
            <a:avLst/>
          </a:prstGeom>
        </p:spPr>
      </p:pic>
      <p:sp>
        <p:nvSpPr>
          <p:cNvPr id="40" name="Text 35"/>
          <p:cNvSpPr/>
          <p:nvPr/>
        </p:nvSpPr>
        <p:spPr>
          <a:xfrm>
            <a:off x="1543050" y="6247507"/>
            <a:ext cx="678954"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 27001</a:t>
            </a:r>
            <a:endParaRPr lang="en-US" sz="1125" dirty="0"/>
          </a:p>
        </p:txBody>
      </p:sp>
      <p:sp>
        <p:nvSpPr>
          <p:cNvPr id="41" name="Shape 36"/>
          <p:cNvSpPr/>
          <p:nvPr/>
        </p:nvSpPr>
        <p:spPr>
          <a:xfrm>
            <a:off x="3276600" y="6070402"/>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4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19475" y="6213277"/>
            <a:ext cx="228600" cy="228600"/>
          </a:xfrm>
          <a:prstGeom prst="rect">
            <a:avLst/>
          </a:prstGeom>
        </p:spPr>
      </p:pic>
      <p:sp>
        <p:nvSpPr>
          <p:cNvPr id="43" name="Text 37"/>
          <p:cNvSpPr/>
          <p:nvPr/>
        </p:nvSpPr>
        <p:spPr>
          <a:xfrm>
            <a:off x="3752850" y="6247507"/>
            <a:ext cx="668387"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 27701</a:t>
            </a:r>
            <a:endParaRPr lang="en-US" sz="1125" dirty="0"/>
          </a:p>
        </p:txBody>
      </p:sp>
      <p:sp>
        <p:nvSpPr>
          <p:cNvPr id="44" name="Shape 38"/>
          <p:cNvSpPr/>
          <p:nvPr/>
        </p:nvSpPr>
        <p:spPr>
          <a:xfrm>
            <a:off x="5486400" y="6070402"/>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4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29275" y="6213277"/>
            <a:ext cx="228600" cy="228600"/>
          </a:xfrm>
          <a:prstGeom prst="rect">
            <a:avLst/>
          </a:prstGeom>
        </p:spPr>
      </p:pic>
      <p:sp>
        <p:nvSpPr>
          <p:cNvPr id="46" name="Text 39"/>
          <p:cNvSpPr/>
          <p:nvPr/>
        </p:nvSpPr>
        <p:spPr>
          <a:xfrm>
            <a:off x="5962650" y="6247507"/>
            <a:ext cx="721965"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 20000</a:t>
            </a:r>
            <a:endParaRPr lang="en-US" sz="1125" dirty="0"/>
          </a:p>
        </p:txBody>
      </p:sp>
      <p:sp>
        <p:nvSpPr>
          <p:cNvPr id="47" name="Shape 40"/>
          <p:cNvSpPr/>
          <p:nvPr/>
        </p:nvSpPr>
        <p:spPr>
          <a:xfrm>
            <a:off x="1066800" y="6689527"/>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4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09675" y="6832402"/>
            <a:ext cx="228600" cy="228600"/>
          </a:xfrm>
          <a:prstGeom prst="rect">
            <a:avLst/>
          </a:prstGeom>
        </p:spPr>
      </p:pic>
      <p:sp>
        <p:nvSpPr>
          <p:cNvPr id="49" name="Text 41"/>
          <p:cNvSpPr/>
          <p:nvPr/>
        </p:nvSpPr>
        <p:spPr>
          <a:xfrm>
            <a:off x="1543050" y="6866632"/>
            <a:ext cx="603945"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 9001</a:t>
            </a:r>
            <a:endParaRPr lang="en-US" sz="1125" dirty="0"/>
          </a:p>
        </p:txBody>
      </p:sp>
      <p:sp>
        <p:nvSpPr>
          <p:cNvPr id="50" name="Shape 42"/>
          <p:cNvSpPr/>
          <p:nvPr/>
        </p:nvSpPr>
        <p:spPr>
          <a:xfrm>
            <a:off x="3276600" y="6689527"/>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5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19475" y="6832402"/>
            <a:ext cx="228600" cy="228600"/>
          </a:xfrm>
          <a:prstGeom prst="rect">
            <a:avLst/>
          </a:prstGeom>
        </p:spPr>
      </p:pic>
      <p:sp>
        <p:nvSpPr>
          <p:cNvPr id="52" name="Text 43"/>
          <p:cNvSpPr/>
          <p:nvPr/>
        </p:nvSpPr>
        <p:spPr>
          <a:xfrm>
            <a:off x="3752850" y="6866632"/>
            <a:ext cx="665113"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 14001</a:t>
            </a:r>
            <a:endParaRPr lang="en-US" sz="1125" dirty="0"/>
          </a:p>
        </p:txBody>
      </p:sp>
      <p:sp>
        <p:nvSpPr>
          <p:cNvPr id="53" name="Shape 44"/>
          <p:cNvSpPr/>
          <p:nvPr/>
        </p:nvSpPr>
        <p:spPr>
          <a:xfrm>
            <a:off x="5486400" y="6689527"/>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5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29275" y="6832402"/>
            <a:ext cx="228600" cy="228600"/>
          </a:xfrm>
          <a:prstGeom prst="rect">
            <a:avLst/>
          </a:prstGeom>
        </p:spPr>
      </p:pic>
      <p:sp>
        <p:nvSpPr>
          <p:cNvPr id="55" name="Text 45"/>
          <p:cNvSpPr/>
          <p:nvPr/>
        </p:nvSpPr>
        <p:spPr>
          <a:xfrm>
            <a:off x="5962650" y="6866632"/>
            <a:ext cx="697706"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 14064</a:t>
            </a:r>
            <a:endParaRPr lang="en-US" sz="1125" dirty="0"/>
          </a:p>
        </p:txBody>
      </p:sp>
      <p:sp>
        <p:nvSpPr>
          <p:cNvPr id="56" name="Shape 46"/>
          <p:cNvSpPr/>
          <p:nvPr/>
        </p:nvSpPr>
        <p:spPr>
          <a:xfrm>
            <a:off x="1066800" y="7308652"/>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57"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209675" y="7451527"/>
            <a:ext cx="228600" cy="228600"/>
          </a:xfrm>
          <a:prstGeom prst="rect">
            <a:avLst/>
          </a:prstGeom>
        </p:spPr>
      </p:pic>
      <p:sp>
        <p:nvSpPr>
          <p:cNvPr id="58" name="Text 47"/>
          <p:cNvSpPr/>
          <p:nvPr/>
        </p:nvSpPr>
        <p:spPr>
          <a:xfrm>
            <a:off x="1543050" y="7485757"/>
            <a:ext cx="990302"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ISO/IEC 33000</a:t>
            </a:r>
            <a:endParaRPr lang="en-US" sz="1125" dirty="0"/>
          </a:p>
        </p:txBody>
      </p:sp>
      <p:sp>
        <p:nvSpPr>
          <p:cNvPr id="59" name="Shape 48"/>
          <p:cNvSpPr/>
          <p:nvPr/>
        </p:nvSpPr>
        <p:spPr>
          <a:xfrm>
            <a:off x="3276600" y="7308652"/>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60"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419475" y="7451527"/>
            <a:ext cx="228600" cy="228600"/>
          </a:xfrm>
          <a:prstGeom prst="rect">
            <a:avLst/>
          </a:prstGeom>
        </p:spPr>
      </p:pic>
      <p:sp>
        <p:nvSpPr>
          <p:cNvPr id="61" name="Text 49"/>
          <p:cNvSpPr/>
          <p:nvPr/>
        </p:nvSpPr>
        <p:spPr>
          <a:xfrm>
            <a:off x="3752850" y="7485757"/>
            <a:ext cx="705892"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UNE 19601</a:t>
            </a:r>
            <a:endParaRPr lang="en-US" sz="1125" dirty="0"/>
          </a:p>
        </p:txBody>
      </p:sp>
      <p:sp>
        <p:nvSpPr>
          <p:cNvPr id="62" name="Shape 50"/>
          <p:cNvSpPr/>
          <p:nvPr/>
        </p:nvSpPr>
        <p:spPr>
          <a:xfrm>
            <a:off x="5486400" y="7308652"/>
            <a:ext cx="2105025" cy="514350"/>
          </a:xfrm>
          <a:prstGeom prst="roundRect">
            <a:avLst>
              <a:gd name="adj" fmla="val 1851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63"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29275" y="7451527"/>
            <a:ext cx="228600" cy="228600"/>
          </a:xfrm>
          <a:prstGeom prst="rect">
            <a:avLst/>
          </a:prstGeom>
        </p:spPr>
      </p:pic>
      <p:sp>
        <p:nvSpPr>
          <p:cNvPr id="64" name="Text 51"/>
          <p:cNvSpPr/>
          <p:nvPr/>
        </p:nvSpPr>
        <p:spPr>
          <a:xfrm>
            <a:off x="5962650" y="7485757"/>
            <a:ext cx="733127"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UNE 18295</a:t>
            </a:r>
            <a:endParaRPr lang="en-US" sz="1125" dirty="0"/>
          </a:p>
        </p:txBody>
      </p:sp>
      <p:sp>
        <p:nvSpPr>
          <p:cNvPr id="65" name="Shape 52"/>
          <p:cNvSpPr/>
          <p:nvPr/>
        </p:nvSpPr>
        <p:spPr>
          <a:xfrm>
            <a:off x="1066800" y="7927777"/>
            <a:ext cx="2105025" cy="548580"/>
          </a:xfrm>
          <a:prstGeom prst="roundRect">
            <a:avLst>
              <a:gd name="adj" fmla="val 17363"/>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66"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209675" y="8087767"/>
            <a:ext cx="149870" cy="228600"/>
          </a:xfrm>
          <a:prstGeom prst="rect">
            <a:avLst/>
          </a:prstGeom>
        </p:spPr>
      </p:pic>
      <p:sp>
        <p:nvSpPr>
          <p:cNvPr id="67" name="Text 53"/>
          <p:cNvSpPr/>
          <p:nvPr/>
        </p:nvSpPr>
        <p:spPr>
          <a:xfrm>
            <a:off x="1464320" y="8042077"/>
            <a:ext cx="1640830" cy="35808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ENS · Esquema Nacional de Seguridad</a:t>
            </a:r>
            <a:endParaRPr lang="en-US" sz="1125" dirty="0"/>
          </a:p>
        </p:txBody>
      </p:sp>
      <p:sp>
        <p:nvSpPr>
          <p:cNvPr id="68" name="Shape 54"/>
          <p:cNvSpPr/>
          <p:nvPr/>
        </p:nvSpPr>
        <p:spPr>
          <a:xfrm>
            <a:off x="3276600" y="7927777"/>
            <a:ext cx="2105025" cy="548580"/>
          </a:xfrm>
          <a:prstGeom prst="roundRect">
            <a:avLst>
              <a:gd name="adj" fmla="val 17363"/>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pic>
        <p:nvPicPr>
          <p:cNvPr id="69"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419475" y="8087767"/>
            <a:ext cx="228600" cy="228600"/>
          </a:xfrm>
          <a:prstGeom prst="rect">
            <a:avLst/>
          </a:prstGeom>
        </p:spPr>
      </p:pic>
      <p:sp>
        <p:nvSpPr>
          <p:cNvPr id="70" name="Text 55"/>
          <p:cNvSpPr/>
          <p:nvPr/>
        </p:nvSpPr>
        <p:spPr>
          <a:xfrm>
            <a:off x="3752850" y="8121997"/>
            <a:ext cx="1467832" cy="198090"/>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1125" b="1" dirty="0">
                <a:solidFill>
                  <a:srgbClr val="041C2C"/>
                </a:solidFill>
                <a:latin typeface="Barlow" pitchFamily="34" charset="0"/>
                <a:ea typeface="Barlow" pitchFamily="34" charset="-122"/>
                <a:cs typeface="Barlow" pitchFamily="34" charset="-120"/>
              </a:rPr>
              <a:t>European Scrum Org.</a:t>
            </a:r>
            <a:endParaRPr lang="en-US" sz="1125" dirty="0"/>
          </a:p>
        </p:txBody>
      </p:sp>
      <p:sp>
        <p:nvSpPr>
          <p:cNvPr id="71" name="Text 56"/>
          <p:cNvSpPr/>
          <p:nvPr/>
        </p:nvSpPr>
        <p:spPr>
          <a:xfrm>
            <a:off x="8086725" y="5622727"/>
            <a:ext cx="10047923"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MÁS DE 50 ALIANZAS ESTRATÉGICAS</a:t>
            </a:r>
            <a:endParaRPr lang="en-US" sz="1350" dirty="0"/>
          </a:p>
        </p:txBody>
      </p:sp>
      <p:pic>
        <p:nvPicPr>
          <p:cNvPr id="72" name="Image 13" descr="preencoded.png"/>
          <p:cNvPicPr>
            <a:picLocks noChangeAspect="1"/>
          </p:cNvPicPr>
          <p:nvPr/>
        </p:nvPicPr>
        <p:blipFill>
          <a:blip r:embed="rId16"/>
          <a:srcRect l="-13" r="-13"/>
          <a:stretch/>
        </p:blipFill>
        <p:spPr>
          <a:xfrm>
            <a:off x="8843963" y="6139160"/>
            <a:ext cx="1371600" cy="338733"/>
          </a:xfrm>
          <a:prstGeom prst="rect">
            <a:avLst/>
          </a:prstGeom>
        </p:spPr>
      </p:pic>
      <p:pic>
        <p:nvPicPr>
          <p:cNvPr id="73" name="Image 14" descr="preencoded.png"/>
          <p:cNvPicPr>
            <a:picLocks noChangeAspect="1"/>
          </p:cNvPicPr>
          <p:nvPr/>
        </p:nvPicPr>
        <p:blipFill>
          <a:blip r:embed="rId17"/>
          <a:srcRect l="-7" r="-7"/>
          <a:stretch/>
        </p:blipFill>
        <p:spPr>
          <a:xfrm>
            <a:off x="10643295" y="6070402"/>
            <a:ext cx="897136" cy="476101"/>
          </a:xfrm>
          <a:prstGeom prst="rect">
            <a:avLst/>
          </a:prstGeom>
        </p:spPr>
      </p:pic>
      <p:pic>
        <p:nvPicPr>
          <p:cNvPr id="74" name="Image 15" descr="preencoded.png"/>
          <p:cNvPicPr>
            <a:picLocks noChangeAspect="1"/>
          </p:cNvPicPr>
          <p:nvPr/>
        </p:nvPicPr>
        <p:blipFill>
          <a:blip r:embed="rId18"/>
          <a:srcRect l="-14" r="-14"/>
          <a:stretch/>
        </p:blipFill>
        <p:spPr>
          <a:xfrm>
            <a:off x="12256294" y="6070402"/>
            <a:ext cx="795189" cy="476101"/>
          </a:xfrm>
          <a:prstGeom prst="rect">
            <a:avLst/>
          </a:prstGeom>
        </p:spPr>
      </p:pic>
      <p:pic>
        <p:nvPicPr>
          <p:cNvPr id="75" name="Image 16" descr="preencoded.png"/>
          <p:cNvPicPr>
            <a:picLocks noChangeAspect="1"/>
          </p:cNvPicPr>
          <p:nvPr/>
        </p:nvPicPr>
        <p:blipFill>
          <a:blip r:embed="rId19"/>
          <a:srcRect/>
          <a:stretch/>
        </p:blipFill>
        <p:spPr>
          <a:xfrm>
            <a:off x="13977938" y="6070402"/>
            <a:ext cx="476250" cy="476250"/>
          </a:xfrm>
          <a:prstGeom prst="rect">
            <a:avLst/>
          </a:prstGeom>
        </p:spPr>
      </p:pic>
      <p:pic>
        <p:nvPicPr>
          <p:cNvPr id="76" name="Image 17" descr="preencoded.png"/>
          <p:cNvPicPr>
            <a:picLocks noChangeAspect="1"/>
          </p:cNvPicPr>
          <p:nvPr/>
        </p:nvPicPr>
        <p:blipFill>
          <a:blip r:embed="rId20"/>
          <a:srcRect l="-14" r="-14"/>
          <a:stretch/>
        </p:blipFill>
        <p:spPr>
          <a:xfrm>
            <a:off x="15092362" y="6119813"/>
            <a:ext cx="1371600" cy="377428"/>
          </a:xfrm>
          <a:prstGeom prst="rect">
            <a:avLst/>
          </a:prstGeom>
        </p:spPr>
      </p:pic>
      <p:pic>
        <p:nvPicPr>
          <p:cNvPr id="77" name="Image 18" descr="preencoded.png"/>
          <p:cNvPicPr>
            <a:picLocks noChangeAspect="1"/>
          </p:cNvPicPr>
          <p:nvPr/>
        </p:nvPicPr>
        <p:blipFill>
          <a:blip r:embed="rId21"/>
          <a:srcRect l="-8" r="-8"/>
          <a:stretch/>
        </p:blipFill>
        <p:spPr>
          <a:xfrm>
            <a:off x="9106495" y="6756202"/>
            <a:ext cx="846534" cy="476101"/>
          </a:xfrm>
          <a:prstGeom prst="rect">
            <a:avLst/>
          </a:prstGeom>
        </p:spPr>
      </p:pic>
      <p:pic>
        <p:nvPicPr>
          <p:cNvPr id="78" name="Image 19" descr="preencoded.png"/>
          <p:cNvPicPr>
            <a:picLocks noChangeAspect="1"/>
          </p:cNvPicPr>
          <p:nvPr/>
        </p:nvPicPr>
        <p:blipFill>
          <a:blip r:embed="rId22"/>
          <a:srcRect l="-14" r="-14"/>
          <a:stretch/>
        </p:blipFill>
        <p:spPr>
          <a:xfrm>
            <a:off x="10480625" y="6756202"/>
            <a:ext cx="1222325" cy="476101"/>
          </a:xfrm>
          <a:prstGeom prst="rect">
            <a:avLst/>
          </a:prstGeom>
        </p:spPr>
      </p:pic>
      <p:pic>
        <p:nvPicPr>
          <p:cNvPr id="79" name="Image 20" descr="preencoded.png"/>
          <p:cNvPicPr>
            <a:picLocks noChangeAspect="1"/>
          </p:cNvPicPr>
          <p:nvPr/>
        </p:nvPicPr>
        <p:blipFill>
          <a:blip r:embed="rId23"/>
          <a:srcRect l="-13" r="-13"/>
          <a:stretch/>
        </p:blipFill>
        <p:spPr>
          <a:xfrm>
            <a:off x="12229951" y="6756202"/>
            <a:ext cx="848023" cy="476101"/>
          </a:xfrm>
          <a:prstGeom prst="rect">
            <a:avLst/>
          </a:prstGeom>
        </p:spPr>
      </p:pic>
      <p:pic>
        <p:nvPicPr>
          <p:cNvPr id="80" name="Image 21" descr="preencoded.png"/>
          <p:cNvPicPr>
            <a:picLocks noChangeAspect="1"/>
          </p:cNvPicPr>
          <p:nvPr/>
        </p:nvPicPr>
        <p:blipFill>
          <a:blip r:embed="rId24"/>
          <a:srcRect l="-11" r="-11"/>
          <a:stretch/>
        </p:blipFill>
        <p:spPr>
          <a:xfrm>
            <a:off x="13848904" y="6756202"/>
            <a:ext cx="734318" cy="476101"/>
          </a:xfrm>
          <a:prstGeom prst="rect">
            <a:avLst/>
          </a:prstGeom>
        </p:spPr>
      </p:pic>
      <p:pic>
        <p:nvPicPr>
          <p:cNvPr id="81" name="Image 22" descr="preencoded.png"/>
          <p:cNvPicPr>
            <a:picLocks noChangeAspect="1"/>
          </p:cNvPicPr>
          <p:nvPr/>
        </p:nvPicPr>
        <p:blipFill>
          <a:blip r:embed="rId25"/>
          <a:srcRect l="-8" r="-8"/>
          <a:stretch/>
        </p:blipFill>
        <p:spPr>
          <a:xfrm>
            <a:off x="15354895" y="6756202"/>
            <a:ext cx="846534" cy="476101"/>
          </a:xfrm>
          <a:prstGeom prst="rect">
            <a:avLst/>
          </a:prstGeom>
        </p:spPr>
      </p:pic>
      <p:pic>
        <p:nvPicPr>
          <p:cNvPr id="82" name="Image 23" descr="preencoded.png"/>
          <p:cNvPicPr>
            <a:picLocks noChangeAspect="1"/>
          </p:cNvPicPr>
          <p:nvPr/>
        </p:nvPicPr>
        <p:blipFill>
          <a:blip r:embed="rId26"/>
          <a:srcRect l="-33" r="-33"/>
          <a:stretch/>
        </p:blipFill>
        <p:spPr>
          <a:xfrm>
            <a:off x="8843963" y="7588448"/>
            <a:ext cx="1371600" cy="183356"/>
          </a:xfrm>
          <a:prstGeom prst="rect">
            <a:avLst/>
          </a:prstGeom>
        </p:spPr>
      </p:pic>
      <p:pic>
        <p:nvPicPr>
          <p:cNvPr id="83" name="Image 24" descr="preencoded.png"/>
          <p:cNvPicPr>
            <a:picLocks noChangeAspect="1"/>
          </p:cNvPicPr>
          <p:nvPr/>
        </p:nvPicPr>
        <p:blipFill>
          <a:blip r:embed="rId27"/>
          <a:srcRect l="-10" r="-10"/>
          <a:stretch/>
        </p:blipFill>
        <p:spPr>
          <a:xfrm>
            <a:off x="10576173" y="7442002"/>
            <a:ext cx="1031379" cy="476101"/>
          </a:xfrm>
          <a:prstGeom prst="rect">
            <a:avLst/>
          </a:prstGeom>
        </p:spPr>
      </p:pic>
      <p:pic>
        <p:nvPicPr>
          <p:cNvPr id="84" name="Image 25" descr="preencoded.png"/>
          <p:cNvPicPr>
            <a:picLocks noChangeAspect="1"/>
          </p:cNvPicPr>
          <p:nvPr/>
        </p:nvPicPr>
        <p:blipFill>
          <a:blip r:embed="rId28"/>
          <a:srcRect l="-14" r="-14"/>
          <a:stretch/>
        </p:blipFill>
        <p:spPr>
          <a:xfrm>
            <a:off x="12177117" y="7442002"/>
            <a:ext cx="953691" cy="476101"/>
          </a:xfrm>
          <a:prstGeom prst="rect">
            <a:avLst/>
          </a:prstGeom>
        </p:spPr>
      </p:pic>
      <p:pic>
        <p:nvPicPr>
          <p:cNvPr id="85" name="Image 26" descr="preencoded.png"/>
          <p:cNvPicPr>
            <a:picLocks noChangeAspect="1"/>
          </p:cNvPicPr>
          <p:nvPr/>
        </p:nvPicPr>
        <p:blipFill>
          <a:blip r:embed="rId29"/>
          <a:srcRect/>
          <a:stretch/>
        </p:blipFill>
        <p:spPr>
          <a:xfrm>
            <a:off x="13977938" y="7442002"/>
            <a:ext cx="476250" cy="476250"/>
          </a:xfrm>
          <a:prstGeom prst="rect">
            <a:avLst/>
          </a:prstGeom>
        </p:spPr>
      </p:pic>
      <p:pic>
        <p:nvPicPr>
          <p:cNvPr id="86" name="Image 27" descr="preencoded.png"/>
          <p:cNvPicPr>
            <a:picLocks noChangeAspect="1"/>
          </p:cNvPicPr>
          <p:nvPr/>
        </p:nvPicPr>
        <p:blipFill>
          <a:blip r:embed="rId30"/>
          <a:srcRect l="-14" r="-14"/>
          <a:stretch/>
        </p:blipFill>
        <p:spPr>
          <a:xfrm>
            <a:off x="15302210" y="7442002"/>
            <a:ext cx="951905" cy="476101"/>
          </a:xfrm>
          <a:prstGeom prst="rect">
            <a:avLst/>
          </a:prstGeom>
        </p:spPr>
      </p:pic>
      <p:pic>
        <p:nvPicPr>
          <p:cNvPr id="87" name="Image 28" descr="preencoded.png"/>
          <p:cNvPicPr>
            <a:picLocks noChangeAspect="1"/>
          </p:cNvPicPr>
          <p:nvPr/>
        </p:nvPicPr>
        <p:blipFill>
          <a:blip r:embed="rId31"/>
          <a:srcRect l="-15" r="-15"/>
          <a:stretch/>
        </p:blipFill>
        <p:spPr>
          <a:xfrm>
            <a:off x="8843963" y="8261449"/>
            <a:ext cx="1371600" cy="208806"/>
          </a:xfrm>
          <a:prstGeom prst="rect">
            <a:avLst/>
          </a:prstGeom>
        </p:spPr>
      </p:pic>
      <p:pic>
        <p:nvPicPr>
          <p:cNvPr id="88" name="Image 29" descr="preencoded.png"/>
          <p:cNvPicPr>
            <a:picLocks noChangeAspect="1"/>
          </p:cNvPicPr>
          <p:nvPr/>
        </p:nvPicPr>
        <p:blipFill>
          <a:blip r:embed="rId32"/>
          <a:srcRect l="-14" r="-14"/>
          <a:stretch/>
        </p:blipFill>
        <p:spPr>
          <a:xfrm>
            <a:off x="10406063" y="8140154"/>
            <a:ext cx="1371600" cy="451396"/>
          </a:xfrm>
          <a:prstGeom prst="rect">
            <a:avLst/>
          </a:prstGeom>
        </p:spPr>
      </p:pic>
      <p:pic>
        <p:nvPicPr>
          <p:cNvPr id="89" name="Image 30" descr="preencoded.png"/>
          <p:cNvPicPr>
            <a:picLocks noChangeAspect="1"/>
          </p:cNvPicPr>
          <p:nvPr/>
        </p:nvPicPr>
        <p:blipFill>
          <a:blip r:embed="rId33"/>
          <a:srcRect l="-11" r="-11"/>
          <a:stretch/>
        </p:blipFill>
        <p:spPr>
          <a:xfrm>
            <a:off x="12083653" y="8127802"/>
            <a:ext cx="1140619" cy="476101"/>
          </a:xfrm>
          <a:prstGeom prst="rect">
            <a:avLst/>
          </a:prstGeom>
        </p:spPr>
      </p:pic>
      <p:pic>
        <p:nvPicPr>
          <p:cNvPr id="90" name="Image 31" descr="preencoded.png"/>
          <p:cNvPicPr>
            <a:picLocks noChangeAspect="1"/>
          </p:cNvPicPr>
          <p:nvPr/>
        </p:nvPicPr>
        <p:blipFill>
          <a:blip r:embed="rId34"/>
          <a:srcRect l="-8" r="-8"/>
          <a:stretch/>
        </p:blipFill>
        <p:spPr>
          <a:xfrm>
            <a:off x="13530263" y="8169325"/>
            <a:ext cx="1371600" cy="393204"/>
          </a:xfrm>
          <a:prstGeom prst="rect">
            <a:avLst/>
          </a:prstGeom>
        </p:spPr>
      </p:pic>
      <p:pic>
        <p:nvPicPr>
          <p:cNvPr id="91" name="Image 32" descr="preencoded.png"/>
          <p:cNvPicPr>
            <a:picLocks noChangeAspect="1"/>
          </p:cNvPicPr>
          <p:nvPr/>
        </p:nvPicPr>
        <p:blipFill>
          <a:blip r:embed="rId35"/>
          <a:srcRect l="-15" r="-15"/>
          <a:stretch/>
        </p:blipFill>
        <p:spPr>
          <a:xfrm>
            <a:off x="15222885" y="8127802"/>
            <a:ext cx="1110555" cy="476101"/>
          </a:xfrm>
          <a:prstGeom prst="rect">
            <a:avLst/>
          </a:prstGeom>
        </p:spPr>
      </p:pic>
      <p:pic>
        <p:nvPicPr>
          <p:cNvPr id="92" name="Image 33" descr="preencoded.png"/>
          <p:cNvPicPr>
            <a:picLocks noChangeAspect="1"/>
          </p:cNvPicPr>
          <p:nvPr/>
        </p:nvPicPr>
        <p:blipFill>
          <a:blip r:embed="rId36"/>
          <a:srcRect/>
          <a:stretch/>
        </p:blipFill>
        <p:spPr>
          <a:xfrm>
            <a:off x="10496550" y="8813602"/>
            <a:ext cx="1190625" cy="476250"/>
          </a:xfrm>
          <a:prstGeom prst="rect">
            <a:avLst/>
          </a:prstGeom>
        </p:spPr>
      </p:pic>
      <p:pic>
        <p:nvPicPr>
          <p:cNvPr id="93" name="Image 34" descr="preencoded.png"/>
          <p:cNvPicPr>
            <a:picLocks noChangeAspect="1"/>
          </p:cNvPicPr>
          <p:nvPr/>
        </p:nvPicPr>
        <p:blipFill>
          <a:blip r:embed="rId37"/>
          <a:srcRect l="-9" r="-9"/>
          <a:stretch/>
        </p:blipFill>
        <p:spPr>
          <a:xfrm>
            <a:off x="12361664" y="8813602"/>
            <a:ext cx="584448" cy="476101"/>
          </a:xfrm>
          <a:prstGeom prst="rect">
            <a:avLst/>
          </a:prstGeom>
        </p:spPr>
      </p:pic>
      <p:pic>
        <p:nvPicPr>
          <p:cNvPr id="94" name="Image 35" descr="preencoded.png"/>
          <p:cNvPicPr>
            <a:picLocks noChangeAspect="1"/>
          </p:cNvPicPr>
          <p:nvPr/>
        </p:nvPicPr>
        <p:blipFill>
          <a:blip r:embed="rId38"/>
          <a:srcRect l="-15" r="-15"/>
          <a:stretch/>
        </p:blipFill>
        <p:spPr>
          <a:xfrm>
            <a:off x="13642330" y="8813602"/>
            <a:ext cx="1147465" cy="476101"/>
          </a:xfrm>
          <a:prstGeom prst="rect">
            <a:avLst/>
          </a:prstGeom>
        </p:spPr>
      </p:pic>
      <p:sp>
        <p:nvSpPr>
          <p:cNvPr id="95" name="Text 57"/>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96" name="Text 58"/>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04 / 24</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2946306"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SECTORES Y CLIENTES</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104900"/>
            <a:ext cx="7282489" cy="10858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750" b="1" kern="0" spc="-75" dirty="0">
                <a:solidFill>
                  <a:srgbClr val="041C2C"/>
                </a:solidFill>
                <a:latin typeface="Barlow" pitchFamily="34" charset="0"/>
                <a:ea typeface="Barlow" pitchFamily="34" charset="-122"/>
                <a:cs typeface="Barlow" pitchFamily="34" charset="-120"/>
              </a:rPr>
              <a:t>Capacidad transversal, profundidad sectorial.</a:t>
            </a:r>
            <a:endParaRPr lang="en-US" sz="3750" dirty="0"/>
          </a:p>
        </p:txBody>
      </p:sp>
      <p:sp>
        <p:nvSpPr>
          <p:cNvPr id="6" name="Text 3"/>
          <p:cNvSpPr/>
          <p:nvPr/>
        </p:nvSpPr>
        <p:spPr>
          <a:xfrm>
            <a:off x="1066800" y="2276475"/>
            <a:ext cx="10067516"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b="1" dirty="0">
                <a:solidFill>
                  <a:srgbClr val="041C2C">
                    <a:alpha val="82000"/>
                  </a:srgbClr>
                </a:solidFill>
                <a:latin typeface="Roboto" pitchFamily="34" charset="0"/>
                <a:ea typeface="Roboto" pitchFamily="34" charset="-122"/>
                <a:cs typeface="Roboto" pitchFamily="34" charset="-120"/>
              </a:rPr>
              <a:t>No aprendemos en tu sector: ya entregamos en él. </a:t>
            </a:r>
            <a:r>
              <a:rPr lang="en-US" sz="1875" dirty="0">
                <a:solidFill>
                  <a:srgbClr val="041C2C">
                    <a:alpha val="82000"/>
                  </a:srgbClr>
                </a:solidFill>
                <a:latin typeface="Roboto" pitchFamily="34" charset="0"/>
                <a:ea typeface="Roboto" pitchFamily="34" charset="-122"/>
                <a:cs typeface="Roboto" pitchFamily="34" charset="-120"/>
              </a:rPr>
              <a:t>El mismo método, con profundidad real en cada industria — en España y Latinoamérica.</a:t>
            </a:r>
            <a:endParaRPr lang="en-US" sz="1875" dirty="0"/>
          </a:p>
        </p:txBody>
      </p:sp>
      <p:sp>
        <p:nvSpPr>
          <p:cNvPr id="7" name="Shape 4"/>
          <p:cNvSpPr/>
          <p:nvPr/>
        </p:nvSpPr>
        <p:spPr>
          <a:xfrm>
            <a:off x="1066800" y="3176588"/>
            <a:ext cx="7972425" cy="3164681"/>
          </a:xfrm>
          <a:prstGeom prst="roundRect">
            <a:avLst>
              <a:gd name="adj" fmla="val 421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8" name="Shape 5"/>
          <p:cNvSpPr/>
          <p:nvPr/>
        </p:nvSpPr>
        <p:spPr>
          <a:xfrm>
            <a:off x="1066800" y="6331744"/>
            <a:ext cx="7972425" cy="9525"/>
          </a:xfrm>
          <a:prstGeom prst="rect">
            <a:avLst/>
          </a:prstGeom>
          <a:solidFill>
            <a:srgbClr val="C8D2DA"/>
          </a:solidFill>
          <a:ln/>
        </p:spPr>
        <p:txBody>
          <a:bodyPr/>
          <a:lstStyle/>
          <a:p>
            <a:endParaRPr lang="es-ES"/>
          </a:p>
        </p:txBody>
      </p:sp>
      <p:sp>
        <p:nvSpPr>
          <p:cNvPr id="9" name="Shape 6"/>
          <p:cNvSpPr/>
          <p:nvPr/>
        </p:nvSpPr>
        <p:spPr>
          <a:xfrm>
            <a:off x="1066800" y="3176588"/>
            <a:ext cx="7972425" cy="38100"/>
          </a:xfrm>
          <a:prstGeom prst="rect">
            <a:avLst/>
          </a:prstGeom>
          <a:solidFill>
            <a:srgbClr val="D04C81"/>
          </a:solidFill>
          <a:ln/>
        </p:spPr>
        <p:txBody>
          <a:bodyPr/>
          <a:lstStyle/>
          <a:p>
            <a:endParaRPr lang="es-ES"/>
          </a:p>
        </p:txBody>
      </p:sp>
      <p:sp>
        <p:nvSpPr>
          <p:cNvPr id="10" name="Shape 7"/>
          <p:cNvSpPr/>
          <p:nvPr/>
        </p:nvSpPr>
        <p:spPr>
          <a:xfrm>
            <a:off x="1066800" y="3176588"/>
            <a:ext cx="9525" cy="3164681"/>
          </a:xfrm>
          <a:prstGeom prst="rect">
            <a:avLst/>
          </a:prstGeom>
          <a:solidFill>
            <a:srgbClr val="C8D2DA"/>
          </a:solidFill>
          <a:ln/>
        </p:spPr>
        <p:txBody>
          <a:bodyPr/>
          <a:lstStyle/>
          <a:p>
            <a:endParaRPr lang="es-ES"/>
          </a:p>
        </p:txBody>
      </p:sp>
      <p:sp>
        <p:nvSpPr>
          <p:cNvPr id="11" name="Shape 8"/>
          <p:cNvSpPr/>
          <p:nvPr/>
        </p:nvSpPr>
        <p:spPr>
          <a:xfrm>
            <a:off x="9029700" y="3176588"/>
            <a:ext cx="9525" cy="3164681"/>
          </a:xfrm>
          <a:prstGeom prst="rect">
            <a:avLst/>
          </a:prstGeom>
          <a:solidFill>
            <a:srgbClr val="C8D2DA"/>
          </a:solidFill>
          <a:ln/>
        </p:spPr>
        <p:txBody>
          <a:bodyPr/>
          <a:lstStyle/>
          <a:p>
            <a:endParaRPr lang="es-ES"/>
          </a:p>
        </p:txBody>
      </p:sp>
      <p:sp>
        <p:nvSpPr>
          <p:cNvPr id="12" name="Text 9"/>
          <p:cNvSpPr/>
          <p:nvPr/>
        </p:nvSpPr>
        <p:spPr>
          <a:xfrm>
            <a:off x="1362075" y="3709988"/>
            <a:ext cx="8120062" cy="3238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2250" b="1" kern="0" spc="-22" dirty="0">
                <a:solidFill>
                  <a:srgbClr val="041C2C"/>
                </a:solidFill>
                <a:latin typeface="Barlow" pitchFamily="34" charset="0"/>
                <a:ea typeface="Barlow" pitchFamily="34" charset="-122"/>
                <a:cs typeface="Barlow" pitchFamily="34" charset="-120"/>
              </a:rPr>
              <a:t>Financiero</a:t>
            </a:r>
            <a:endParaRPr lang="en-US" sz="2250" dirty="0"/>
          </a:p>
        </p:txBody>
      </p:sp>
      <p:pic>
        <p:nvPicPr>
          <p:cNvPr id="13" name="Image 1" descr="preencoded.png"/>
          <p:cNvPicPr>
            <a:picLocks noChangeAspect="1"/>
          </p:cNvPicPr>
          <p:nvPr/>
        </p:nvPicPr>
        <p:blipFill>
          <a:blip r:embed="rId4">
            <a:alphaModFix amt="90000"/>
          </a:blip>
          <a:srcRect t="-5" b="-5"/>
          <a:stretch/>
        </p:blipFill>
        <p:spPr>
          <a:xfrm>
            <a:off x="1948011" y="4633913"/>
            <a:ext cx="1123652" cy="220266"/>
          </a:xfrm>
          <a:prstGeom prst="rect">
            <a:avLst/>
          </a:prstGeom>
        </p:spPr>
      </p:pic>
      <p:pic>
        <p:nvPicPr>
          <p:cNvPr id="14" name="Image 2" descr="preencoded.png"/>
          <p:cNvPicPr>
            <a:picLocks noChangeAspect="1"/>
          </p:cNvPicPr>
          <p:nvPr/>
        </p:nvPicPr>
        <p:blipFill>
          <a:blip r:embed="rId5">
            <a:alphaModFix amt="90000"/>
          </a:blip>
          <a:srcRect t="-1" b="-1"/>
          <a:stretch/>
        </p:blipFill>
        <p:spPr>
          <a:xfrm>
            <a:off x="4556373" y="4582120"/>
            <a:ext cx="993130" cy="323850"/>
          </a:xfrm>
          <a:prstGeom prst="rect">
            <a:avLst/>
          </a:prstGeom>
        </p:spPr>
      </p:pic>
      <p:pic>
        <p:nvPicPr>
          <p:cNvPr id="15" name="Image 3" descr="preencoded.png"/>
          <p:cNvPicPr>
            <a:picLocks noChangeAspect="1"/>
          </p:cNvPicPr>
          <p:nvPr/>
        </p:nvPicPr>
        <p:blipFill>
          <a:blip r:embed="rId6">
            <a:alphaModFix amt="90000"/>
          </a:blip>
          <a:srcRect t="-2" b="-2"/>
          <a:stretch/>
        </p:blipFill>
        <p:spPr>
          <a:xfrm>
            <a:off x="7034510" y="4643586"/>
            <a:ext cx="1123355" cy="200918"/>
          </a:xfrm>
          <a:prstGeom prst="rect">
            <a:avLst/>
          </a:prstGeom>
        </p:spPr>
      </p:pic>
      <p:pic>
        <p:nvPicPr>
          <p:cNvPr id="16" name="Image 4" descr="preencoded.png"/>
          <p:cNvPicPr>
            <a:picLocks noChangeAspect="1"/>
          </p:cNvPicPr>
          <p:nvPr/>
        </p:nvPicPr>
        <p:blipFill>
          <a:blip r:embed="rId7">
            <a:alphaModFix amt="90000"/>
          </a:blip>
          <a:srcRect/>
          <a:stretch/>
        </p:blipFill>
        <p:spPr>
          <a:xfrm>
            <a:off x="1948160" y="5322391"/>
            <a:ext cx="1123355" cy="198239"/>
          </a:xfrm>
          <a:prstGeom prst="rect">
            <a:avLst/>
          </a:prstGeom>
        </p:spPr>
      </p:pic>
      <p:pic>
        <p:nvPicPr>
          <p:cNvPr id="17" name="Image 5" descr="preencoded.png"/>
          <p:cNvPicPr>
            <a:picLocks noChangeAspect="1"/>
          </p:cNvPicPr>
          <p:nvPr/>
        </p:nvPicPr>
        <p:blipFill>
          <a:blip r:embed="rId8">
            <a:alphaModFix amt="90000"/>
          </a:blip>
          <a:srcRect/>
          <a:stretch/>
        </p:blipFill>
        <p:spPr>
          <a:xfrm>
            <a:off x="4891088" y="5259586"/>
            <a:ext cx="323850" cy="323850"/>
          </a:xfrm>
          <a:prstGeom prst="rect">
            <a:avLst/>
          </a:prstGeom>
        </p:spPr>
      </p:pic>
      <p:pic>
        <p:nvPicPr>
          <p:cNvPr id="18" name="Image 6" descr="preencoded.png"/>
          <p:cNvPicPr>
            <a:picLocks noChangeAspect="1"/>
          </p:cNvPicPr>
          <p:nvPr/>
        </p:nvPicPr>
        <p:blipFill>
          <a:blip r:embed="rId9">
            <a:alphaModFix amt="90000"/>
          </a:blip>
          <a:srcRect t="-3" b="-3"/>
          <a:stretch/>
        </p:blipFill>
        <p:spPr>
          <a:xfrm>
            <a:off x="7034213" y="5265093"/>
            <a:ext cx="1123801" cy="312688"/>
          </a:xfrm>
          <a:prstGeom prst="rect">
            <a:avLst/>
          </a:prstGeom>
        </p:spPr>
      </p:pic>
      <p:sp>
        <p:nvSpPr>
          <p:cNvPr id="19" name="Shape 10"/>
          <p:cNvSpPr/>
          <p:nvPr/>
        </p:nvSpPr>
        <p:spPr>
          <a:xfrm>
            <a:off x="1362075" y="5826919"/>
            <a:ext cx="7381875" cy="9525"/>
          </a:xfrm>
          <a:prstGeom prst="rect">
            <a:avLst/>
          </a:prstGeom>
          <a:solidFill>
            <a:srgbClr val="E5EAEF"/>
          </a:solidFill>
          <a:ln/>
        </p:spPr>
        <p:txBody>
          <a:bodyPr/>
          <a:lstStyle/>
          <a:p>
            <a:endParaRPr lang="es-ES"/>
          </a:p>
        </p:txBody>
      </p:sp>
      <p:sp>
        <p:nvSpPr>
          <p:cNvPr id="20" name="Text 11"/>
          <p:cNvSpPr/>
          <p:nvPr/>
        </p:nvSpPr>
        <p:spPr>
          <a:xfrm>
            <a:off x="1362075" y="5969794"/>
            <a:ext cx="2306523" cy="247650"/>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6E8493"/>
                </a:solidFill>
                <a:latin typeface="Roboto" pitchFamily="34" charset="0"/>
                <a:ea typeface="Roboto" pitchFamily="34" charset="-122"/>
                <a:cs typeface="Roboto" pitchFamily="34" charset="-120"/>
              </a:rPr>
              <a:t>Banca, seguros y mercados</a:t>
            </a:r>
            <a:endParaRPr lang="en-US" sz="1350" dirty="0"/>
          </a:p>
        </p:txBody>
      </p:sp>
      <p:sp>
        <p:nvSpPr>
          <p:cNvPr id="21" name="Text 12"/>
          <p:cNvSpPr/>
          <p:nvPr/>
        </p:nvSpPr>
        <p:spPr>
          <a:xfrm>
            <a:off x="3563689" y="5998369"/>
            <a:ext cx="12382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C8D2DA"/>
                </a:solidFill>
                <a:latin typeface="Arial" pitchFamily="34" charset="0"/>
                <a:ea typeface="Arial" pitchFamily="34" charset="-122"/>
                <a:cs typeface="Arial" pitchFamily="34" charset="-120"/>
              </a:rPr>
              <a:t>·</a:t>
            </a:r>
            <a:endParaRPr lang="en-US" sz="1125" dirty="0"/>
          </a:p>
        </p:txBody>
      </p:sp>
      <p:sp>
        <p:nvSpPr>
          <p:cNvPr id="22" name="Text 13"/>
          <p:cNvSpPr/>
          <p:nvPr/>
        </p:nvSpPr>
        <p:spPr>
          <a:xfrm>
            <a:off x="3716089" y="5969794"/>
            <a:ext cx="2693536" cy="247650"/>
          </a:xfrm>
          <a:prstGeom prst="rect">
            <a:avLst/>
          </a:prstGeom>
          <a:noFill/>
          <a:ln/>
        </p:spPr>
        <p:txBody>
          <a:bodyPr wrap="square" lIns="25400" tIns="25400" rIns="25400" bIns="25400" rtlCol="0" anchor="t">
            <a:normAutofit/>
          </a:bodyPr>
          <a:lstStyle/>
          <a:p>
            <a:pPr marL="0" indent="0" algn="l">
              <a:buNone/>
            </a:pPr>
            <a:r>
              <a:rPr lang="en-US" sz="1275" b="1" kern="0" spc="38" dirty="0">
                <a:solidFill>
                  <a:srgbClr val="041C2C"/>
                </a:solidFill>
                <a:latin typeface="JetBrains Mono" pitchFamily="34" charset="0"/>
                <a:ea typeface="JetBrains Mono" pitchFamily="34" charset="-122"/>
                <a:cs typeface="JetBrains Mono" pitchFamily="34" charset="-120"/>
              </a:rPr>
              <a:t>+25 </a:t>
            </a:r>
            <a:r>
              <a:rPr lang="en-US" sz="1275" kern="0" spc="38" dirty="0">
                <a:solidFill>
                  <a:srgbClr val="4A6273"/>
                </a:solidFill>
                <a:latin typeface="JetBrains Mono" pitchFamily="34" charset="0"/>
                <a:ea typeface="JetBrains Mono" pitchFamily="34" charset="-122"/>
                <a:cs typeface="JetBrains Mono" pitchFamily="34" charset="-120"/>
              </a:rPr>
              <a:t>entidades · </a:t>
            </a:r>
            <a:r>
              <a:rPr lang="en-US" sz="1275" b="1" kern="0" spc="38" dirty="0">
                <a:solidFill>
                  <a:srgbClr val="041C2C"/>
                </a:solidFill>
                <a:latin typeface="JetBrains Mono" pitchFamily="34" charset="0"/>
                <a:ea typeface="JetBrains Mono" pitchFamily="34" charset="-122"/>
                <a:cs typeface="JetBrains Mono" pitchFamily="34" charset="-120"/>
              </a:rPr>
              <a:t>+20 </a:t>
            </a:r>
            <a:r>
              <a:rPr lang="en-US" sz="1275" kern="0" spc="38" dirty="0">
                <a:solidFill>
                  <a:srgbClr val="4A6273"/>
                </a:solidFill>
                <a:latin typeface="JetBrains Mono" pitchFamily="34" charset="0"/>
                <a:ea typeface="JetBrains Mono" pitchFamily="34" charset="-122"/>
                <a:cs typeface="JetBrains Mono" pitchFamily="34" charset="-120"/>
              </a:rPr>
              <a:t>años</a:t>
            </a:r>
            <a:endParaRPr lang="en-US" sz="1275" dirty="0"/>
          </a:p>
        </p:txBody>
      </p:sp>
      <p:sp>
        <p:nvSpPr>
          <p:cNvPr id="23" name="Shape 14"/>
          <p:cNvSpPr/>
          <p:nvPr/>
        </p:nvSpPr>
        <p:spPr>
          <a:xfrm>
            <a:off x="9248775" y="3176588"/>
            <a:ext cx="7972425" cy="3164681"/>
          </a:xfrm>
          <a:prstGeom prst="roundRect">
            <a:avLst>
              <a:gd name="adj" fmla="val 421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24" name="Shape 15"/>
          <p:cNvSpPr/>
          <p:nvPr/>
        </p:nvSpPr>
        <p:spPr>
          <a:xfrm>
            <a:off x="9248775" y="6331744"/>
            <a:ext cx="7972425" cy="9525"/>
          </a:xfrm>
          <a:prstGeom prst="rect">
            <a:avLst/>
          </a:prstGeom>
          <a:solidFill>
            <a:srgbClr val="C8D2DA"/>
          </a:solidFill>
          <a:ln/>
        </p:spPr>
        <p:txBody>
          <a:bodyPr/>
          <a:lstStyle/>
          <a:p>
            <a:endParaRPr lang="es-ES"/>
          </a:p>
        </p:txBody>
      </p:sp>
      <p:sp>
        <p:nvSpPr>
          <p:cNvPr id="25" name="Shape 16"/>
          <p:cNvSpPr/>
          <p:nvPr/>
        </p:nvSpPr>
        <p:spPr>
          <a:xfrm>
            <a:off x="9248775" y="3176588"/>
            <a:ext cx="7972425" cy="38100"/>
          </a:xfrm>
          <a:prstGeom prst="rect">
            <a:avLst/>
          </a:prstGeom>
          <a:solidFill>
            <a:srgbClr val="855AC6"/>
          </a:solidFill>
          <a:ln/>
        </p:spPr>
        <p:txBody>
          <a:bodyPr/>
          <a:lstStyle/>
          <a:p>
            <a:endParaRPr lang="es-ES"/>
          </a:p>
        </p:txBody>
      </p:sp>
      <p:sp>
        <p:nvSpPr>
          <p:cNvPr id="26" name="Shape 17"/>
          <p:cNvSpPr/>
          <p:nvPr/>
        </p:nvSpPr>
        <p:spPr>
          <a:xfrm>
            <a:off x="9248775" y="3176588"/>
            <a:ext cx="9525" cy="3164681"/>
          </a:xfrm>
          <a:prstGeom prst="rect">
            <a:avLst/>
          </a:prstGeom>
          <a:solidFill>
            <a:srgbClr val="C8D2DA"/>
          </a:solidFill>
          <a:ln/>
        </p:spPr>
        <p:txBody>
          <a:bodyPr/>
          <a:lstStyle/>
          <a:p>
            <a:endParaRPr lang="es-ES"/>
          </a:p>
        </p:txBody>
      </p:sp>
      <p:sp>
        <p:nvSpPr>
          <p:cNvPr id="27" name="Shape 18"/>
          <p:cNvSpPr/>
          <p:nvPr/>
        </p:nvSpPr>
        <p:spPr>
          <a:xfrm>
            <a:off x="17211675" y="3176588"/>
            <a:ext cx="9525" cy="3164681"/>
          </a:xfrm>
          <a:prstGeom prst="rect">
            <a:avLst/>
          </a:prstGeom>
          <a:solidFill>
            <a:srgbClr val="C8D2DA"/>
          </a:solidFill>
          <a:ln/>
        </p:spPr>
        <p:txBody>
          <a:bodyPr/>
          <a:lstStyle/>
          <a:p>
            <a:endParaRPr lang="es-ES"/>
          </a:p>
        </p:txBody>
      </p:sp>
      <p:sp>
        <p:nvSpPr>
          <p:cNvPr id="28" name="Text 19"/>
          <p:cNvSpPr/>
          <p:nvPr/>
        </p:nvSpPr>
        <p:spPr>
          <a:xfrm>
            <a:off x="9544050" y="3709988"/>
            <a:ext cx="8120062" cy="3238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2250" b="1" kern="0" spc="-22" dirty="0">
                <a:solidFill>
                  <a:srgbClr val="041C2C"/>
                </a:solidFill>
                <a:latin typeface="Barlow" pitchFamily="34" charset="0"/>
                <a:ea typeface="Barlow" pitchFamily="34" charset="-122"/>
                <a:cs typeface="Barlow" pitchFamily="34" charset="-120"/>
              </a:rPr>
              <a:t>Sector público</a:t>
            </a:r>
            <a:endParaRPr lang="en-US" sz="2250" dirty="0"/>
          </a:p>
        </p:txBody>
      </p:sp>
      <p:pic>
        <p:nvPicPr>
          <p:cNvPr id="29" name="Image 7" descr="preencoded.png"/>
          <p:cNvPicPr>
            <a:picLocks noChangeAspect="1"/>
          </p:cNvPicPr>
          <p:nvPr/>
        </p:nvPicPr>
        <p:blipFill>
          <a:blip r:embed="rId10">
            <a:alphaModFix amt="90000"/>
          </a:blip>
          <a:srcRect t="-6" b="-6"/>
          <a:stretch/>
        </p:blipFill>
        <p:spPr>
          <a:xfrm>
            <a:off x="10326439" y="4553545"/>
            <a:ext cx="730597" cy="381000"/>
          </a:xfrm>
          <a:prstGeom prst="rect">
            <a:avLst/>
          </a:prstGeom>
        </p:spPr>
      </p:pic>
      <p:pic>
        <p:nvPicPr>
          <p:cNvPr id="30" name="Image 8" descr="preencoded.png"/>
          <p:cNvPicPr>
            <a:picLocks noChangeAspect="1"/>
          </p:cNvPicPr>
          <p:nvPr/>
        </p:nvPicPr>
        <p:blipFill>
          <a:blip r:embed="rId11">
            <a:alphaModFix amt="90000"/>
          </a:blip>
          <a:srcRect/>
          <a:stretch/>
        </p:blipFill>
        <p:spPr>
          <a:xfrm>
            <a:off x="12673161" y="4659213"/>
            <a:ext cx="1123504" cy="169664"/>
          </a:xfrm>
          <a:prstGeom prst="rect">
            <a:avLst/>
          </a:prstGeom>
        </p:spPr>
      </p:pic>
      <p:pic>
        <p:nvPicPr>
          <p:cNvPr id="31" name="Image 9" descr="preencoded.png"/>
          <p:cNvPicPr>
            <a:picLocks noChangeAspect="1"/>
          </p:cNvPicPr>
          <p:nvPr/>
        </p:nvPicPr>
        <p:blipFill>
          <a:blip r:embed="rId12">
            <a:alphaModFix amt="90000"/>
          </a:blip>
          <a:srcRect/>
          <a:stretch/>
        </p:blipFill>
        <p:spPr>
          <a:xfrm>
            <a:off x="15587663" y="4553545"/>
            <a:ext cx="381000" cy="381000"/>
          </a:xfrm>
          <a:prstGeom prst="rect">
            <a:avLst/>
          </a:prstGeom>
        </p:spPr>
      </p:pic>
      <p:pic>
        <p:nvPicPr>
          <p:cNvPr id="32" name="Image 10" descr="preencoded.png"/>
          <p:cNvPicPr>
            <a:picLocks noChangeAspect="1"/>
          </p:cNvPicPr>
          <p:nvPr/>
        </p:nvPicPr>
        <p:blipFill>
          <a:blip r:embed="rId13">
            <a:alphaModFix amt="90000"/>
          </a:blip>
          <a:srcRect t="-7" b="-7"/>
          <a:stretch/>
        </p:blipFill>
        <p:spPr>
          <a:xfrm>
            <a:off x="10249495" y="5231011"/>
            <a:ext cx="884634" cy="381000"/>
          </a:xfrm>
          <a:prstGeom prst="rect">
            <a:avLst/>
          </a:prstGeom>
        </p:spPr>
      </p:pic>
      <p:pic>
        <p:nvPicPr>
          <p:cNvPr id="33" name="Image 11" descr="preencoded.png"/>
          <p:cNvPicPr>
            <a:picLocks noChangeAspect="1"/>
          </p:cNvPicPr>
          <p:nvPr/>
        </p:nvPicPr>
        <p:blipFill>
          <a:blip r:embed="rId14">
            <a:alphaModFix amt="90000"/>
          </a:blip>
          <a:srcRect t="-1" b="-1"/>
          <a:stretch/>
        </p:blipFill>
        <p:spPr>
          <a:xfrm>
            <a:off x="12673161" y="5275362"/>
            <a:ext cx="1123504" cy="292298"/>
          </a:xfrm>
          <a:prstGeom prst="rect">
            <a:avLst/>
          </a:prstGeom>
        </p:spPr>
      </p:pic>
      <p:pic>
        <p:nvPicPr>
          <p:cNvPr id="34" name="Image 12" descr="preencoded.png"/>
          <p:cNvPicPr>
            <a:picLocks noChangeAspect="1"/>
          </p:cNvPicPr>
          <p:nvPr/>
        </p:nvPicPr>
        <p:blipFill>
          <a:blip r:embed="rId15">
            <a:alphaModFix amt="90000"/>
          </a:blip>
          <a:srcRect t="-11" b="-11"/>
          <a:stretch/>
        </p:blipFill>
        <p:spPr>
          <a:xfrm>
            <a:off x="15597188" y="5231011"/>
            <a:ext cx="361801" cy="381000"/>
          </a:xfrm>
          <a:prstGeom prst="rect">
            <a:avLst/>
          </a:prstGeom>
        </p:spPr>
      </p:pic>
      <p:sp>
        <p:nvSpPr>
          <p:cNvPr id="35" name="Shape 20"/>
          <p:cNvSpPr/>
          <p:nvPr/>
        </p:nvSpPr>
        <p:spPr>
          <a:xfrm>
            <a:off x="9544050" y="5826919"/>
            <a:ext cx="7381875" cy="9525"/>
          </a:xfrm>
          <a:prstGeom prst="rect">
            <a:avLst/>
          </a:prstGeom>
          <a:solidFill>
            <a:srgbClr val="E5EAEF"/>
          </a:solidFill>
          <a:ln/>
        </p:spPr>
        <p:txBody>
          <a:bodyPr/>
          <a:lstStyle/>
          <a:p>
            <a:endParaRPr lang="es-ES"/>
          </a:p>
        </p:txBody>
      </p:sp>
      <p:sp>
        <p:nvSpPr>
          <p:cNvPr id="36" name="Text 21"/>
          <p:cNvSpPr/>
          <p:nvPr/>
        </p:nvSpPr>
        <p:spPr>
          <a:xfrm>
            <a:off x="9544050" y="5969794"/>
            <a:ext cx="2319620" cy="247650"/>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6E8493"/>
                </a:solidFill>
                <a:latin typeface="Roboto" pitchFamily="34" charset="0"/>
                <a:ea typeface="Roboto" pitchFamily="34" charset="-122"/>
                <a:cs typeface="Roboto" pitchFamily="34" charset="-120"/>
              </a:rPr>
              <a:t>Administración y educación</a:t>
            </a:r>
            <a:endParaRPr lang="en-US" sz="1350" dirty="0"/>
          </a:p>
        </p:txBody>
      </p:sp>
      <p:sp>
        <p:nvSpPr>
          <p:cNvPr id="37" name="Text 22"/>
          <p:cNvSpPr/>
          <p:nvPr/>
        </p:nvSpPr>
        <p:spPr>
          <a:xfrm>
            <a:off x="11757571" y="5998369"/>
            <a:ext cx="12382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C8D2DA"/>
                </a:solidFill>
                <a:latin typeface="Arial" pitchFamily="34" charset="0"/>
                <a:ea typeface="Arial" pitchFamily="34" charset="-122"/>
                <a:cs typeface="Arial" pitchFamily="34" charset="-120"/>
              </a:rPr>
              <a:t>·</a:t>
            </a:r>
            <a:endParaRPr lang="en-US" sz="1125" dirty="0"/>
          </a:p>
        </p:txBody>
      </p:sp>
      <p:sp>
        <p:nvSpPr>
          <p:cNvPr id="38" name="Text 23"/>
          <p:cNvSpPr/>
          <p:nvPr/>
        </p:nvSpPr>
        <p:spPr>
          <a:xfrm>
            <a:off x="11909971" y="5969794"/>
            <a:ext cx="2469088" cy="247650"/>
          </a:xfrm>
          <a:prstGeom prst="rect">
            <a:avLst/>
          </a:prstGeom>
          <a:noFill/>
          <a:ln/>
        </p:spPr>
        <p:txBody>
          <a:bodyPr wrap="square" lIns="25400" tIns="25400" rIns="25400" bIns="25400" rtlCol="0" anchor="t">
            <a:normAutofit/>
          </a:bodyPr>
          <a:lstStyle/>
          <a:p>
            <a:pPr marL="0" indent="0" algn="l">
              <a:buNone/>
            </a:pPr>
            <a:r>
              <a:rPr lang="en-US" sz="1275" b="1" kern="0" spc="38" dirty="0">
                <a:solidFill>
                  <a:srgbClr val="041C2C"/>
                </a:solidFill>
                <a:latin typeface="JetBrains Mono" pitchFamily="34" charset="0"/>
                <a:ea typeface="JetBrains Mono" pitchFamily="34" charset="-122"/>
                <a:cs typeface="JetBrains Mono" pitchFamily="34" charset="-120"/>
              </a:rPr>
              <a:t>+30 </a:t>
            </a:r>
            <a:r>
              <a:rPr lang="en-US" sz="1275" kern="0" spc="38" dirty="0">
                <a:solidFill>
                  <a:srgbClr val="4A6273"/>
                </a:solidFill>
                <a:latin typeface="JetBrains Mono" pitchFamily="34" charset="0"/>
                <a:ea typeface="JetBrains Mono" pitchFamily="34" charset="-122"/>
                <a:cs typeface="JetBrains Mono" pitchFamily="34" charset="-120"/>
              </a:rPr>
              <a:t>cuentas · </a:t>
            </a:r>
            <a:r>
              <a:rPr lang="en-US" sz="1275" b="1" kern="0" spc="38" dirty="0">
                <a:solidFill>
                  <a:srgbClr val="041C2C"/>
                </a:solidFill>
                <a:latin typeface="JetBrains Mono" pitchFamily="34" charset="0"/>
                <a:ea typeface="JetBrains Mono" pitchFamily="34" charset="-122"/>
                <a:cs typeface="JetBrains Mono" pitchFamily="34" charset="-120"/>
              </a:rPr>
              <a:t>+15 </a:t>
            </a:r>
            <a:r>
              <a:rPr lang="en-US" sz="1275" kern="0" spc="38" dirty="0">
                <a:solidFill>
                  <a:srgbClr val="4A6273"/>
                </a:solidFill>
                <a:latin typeface="JetBrains Mono" pitchFamily="34" charset="0"/>
                <a:ea typeface="JetBrains Mono" pitchFamily="34" charset="-122"/>
                <a:cs typeface="JetBrains Mono" pitchFamily="34" charset="-120"/>
              </a:rPr>
              <a:t>años</a:t>
            </a:r>
            <a:endParaRPr lang="en-US" sz="1275" dirty="0"/>
          </a:p>
        </p:txBody>
      </p:sp>
      <p:sp>
        <p:nvSpPr>
          <p:cNvPr id="39" name="Shape 24"/>
          <p:cNvSpPr/>
          <p:nvPr/>
        </p:nvSpPr>
        <p:spPr>
          <a:xfrm>
            <a:off x="1066800" y="6550819"/>
            <a:ext cx="7972425" cy="3164681"/>
          </a:xfrm>
          <a:prstGeom prst="roundRect">
            <a:avLst>
              <a:gd name="adj" fmla="val 421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40" name="Shape 25"/>
          <p:cNvSpPr/>
          <p:nvPr/>
        </p:nvSpPr>
        <p:spPr>
          <a:xfrm>
            <a:off x="1066800" y="9705975"/>
            <a:ext cx="7972425" cy="9525"/>
          </a:xfrm>
          <a:prstGeom prst="rect">
            <a:avLst/>
          </a:prstGeom>
          <a:solidFill>
            <a:srgbClr val="C8D2DA"/>
          </a:solidFill>
          <a:ln/>
        </p:spPr>
        <p:txBody>
          <a:bodyPr/>
          <a:lstStyle/>
          <a:p>
            <a:endParaRPr lang="es-ES"/>
          </a:p>
        </p:txBody>
      </p:sp>
      <p:sp>
        <p:nvSpPr>
          <p:cNvPr id="41" name="Shape 26"/>
          <p:cNvSpPr/>
          <p:nvPr/>
        </p:nvSpPr>
        <p:spPr>
          <a:xfrm>
            <a:off x="1066800" y="6550819"/>
            <a:ext cx="7972425" cy="38100"/>
          </a:xfrm>
          <a:prstGeom prst="rect">
            <a:avLst/>
          </a:prstGeom>
          <a:solidFill>
            <a:srgbClr val="4F5BD5"/>
          </a:solidFill>
          <a:ln/>
        </p:spPr>
        <p:txBody>
          <a:bodyPr/>
          <a:lstStyle/>
          <a:p>
            <a:endParaRPr lang="es-ES"/>
          </a:p>
        </p:txBody>
      </p:sp>
      <p:sp>
        <p:nvSpPr>
          <p:cNvPr id="42" name="Shape 27"/>
          <p:cNvSpPr/>
          <p:nvPr/>
        </p:nvSpPr>
        <p:spPr>
          <a:xfrm>
            <a:off x="1066800" y="6550819"/>
            <a:ext cx="9525" cy="3164681"/>
          </a:xfrm>
          <a:prstGeom prst="rect">
            <a:avLst/>
          </a:prstGeom>
          <a:solidFill>
            <a:srgbClr val="C8D2DA"/>
          </a:solidFill>
          <a:ln/>
        </p:spPr>
        <p:txBody>
          <a:bodyPr/>
          <a:lstStyle/>
          <a:p>
            <a:endParaRPr lang="es-ES"/>
          </a:p>
        </p:txBody>
      </p:sp>
      <p:sp>
        <p:nvSpPr>
          <p:cNvPr id="43" name="Shape 28"/>
          <p:cNvSpPr/>
          <p:nvPr/>
        </p:nvSpPr>
        <p:spPr>
          <a:xfrm>
            <a:off x="9029700" y="6550819"/>
            <a:ext cx="9525" cy="3164681"/>
          </a:xfrm>
          <a:prstGeom prst="rect">
            <a:avLst/>
          </a:prstGeom>
          <a:solidFill>
            <a:srgbClr val="C8D2DA"/>
          </a:solidFill>
          <a:ln/>
        </p:spPr>
        <p:txBody>
          <a:bodyPr/>
          <a:lstStyle/>
          <a:p>
            <a:endParaRPr lang="es-ES"/>
          </a:p>
        </p:txBody>
      </p:sp>
      <p:sp>
        <p:nvSpPr>
          <p:cNvPr id="44" name="Text 29"/>
          <p:cNvSpPr/>
          <p:nvPr/>
        </p:nvSpPr>
        <p:spPr>
          <a:xfrm>
            <a:off x="1362075" y="7084219"/>
            <a:ext cx="8120062" cy="3238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2250" b="1" kern="0" spc="-22" dirty="0">
                <a:solidFill>
                  <a:srgbClr val="041C2C"/>
                </a:solidFill>
                <a:latin typeface="Barlow" pitchFamily="34" charset="0"/>
                <a:ea typeface="Barlow" pitchFamily="34" charset="-122"/>
                <a:cs typeface="Barlow" pitchFamily="34" charset="-120"/>
              </a:rPr>
              <a:t>Telco y media</a:t>
            </a:r>
            <a:endParaRPr lang="en-US" sz="2250" dirty="0"/>
          </a:p>
        </p:txBody>
      </p:sp>
      <p:pic>
        <p:nvPicPr>
          <p:cNvPr id="45" name="Image 13" descr="preencoded.png"/>
          <p:cNvPicPr>
            <a:picLocks noChangeAspect="1"/>
          </p:cNvPicPr>
          <p:nvPr/>
        </p:nvPicPr>
        <p:blipFill>
          <a:blip r:embed="rId16">
            <a:alphaModFix amt="90000"/>
          </a:blip>
          <a:srcRect t="-1" b="-1"/>
          <a:stretch/>
        </p:blipFill>
        <p:spPr>
          <a:xfrm>
            <a:off x="1947863" y="7970490"/>
            <a:ext cx="1123801" cy="295424"/>
          </a:xfrm>
          <a:prstGeom prst="rect">
            <a:avLst/>
          </a:prstGeom>
        </p:spPr>
      </p:pic>
      <p:pic>
        <p:nvPicPr>
          <p:cNvPr id="46" name="Image 14" descr="preencoded.png"/>
          <p:cNvPicPr>
            <a:picLocks noChangeAspect="1"/>
          </p:cNvPicPr>
          <p:nvPr/>
        </p:nvPicPr>
        <p:blipFill>
          <a:blip r:embed="rId17">
            <a:alphaModFix amt="90000"/>
          </a:blip>
          <a:srcRect t="-13" b="-13"/>
          <a:stretch/>
        </p:blipFill>
        <p:spPr>
          <a:xfrm>
            <a:off x="4826794" y="7956352"/>
            <a:ext cx="452438" cy="323850"/>
          </a:xfrm>
          <a:prstGeom prst="rect">
            <a:avLst/>
          </a:prstGeom>
        </p:spPr>
      </p:pic>
      <p:pic>
        <p:nvPicPr>
          <p:cNvPr id="47" name="Image 15" descr="preencoded.png"/>
          <p:cNvPicPr>
            <a:picLocks noChangeAspect="1"/>
          </p:cNvPicPr>
          <p:nvPr/>
        </p:nvPicPr>
        <p:blipFill>
          <a:blip r:embed="rId18">
            <a:alphaModFix amt="90000"/>
          </a:blip>
          <a:srcRect t="-5" b="-5"/>
          <a:stretch/>
        </p:blipFill>
        <p:spPr>
          <a:xfrm>
            <a:off x="7034361" y="7960668"/>
            <a:ext cx="1123504" cy="315069"/>
          </a:xfrm>
          <a:prstGeom prst="rect">
            <a:avLst/>
          </a:prstGeom>
        </p:spPr>
      </p:pic>
      <p:pic>
        <p:nvPicPr>
          <p:cNvPr id="48" name="Image 16" descr="preencoded.png"/>
          <p:cNvPicPr>
            <a:picLocks noChangeAspect="1"/>
          </p:cNvPicPr>
          <p:nvPr/>
        </p:nvPicPr>
        <p:blipFill>
          <a:blip r:embed="rId19">
            <a:alphaModFix amt="90000"/>
          </a:blip>
          <a:srcRect t="-2" b="-2"/>
          <a:stretch/>
        </p:blipFill>
        <p:spPr>
          <a:xfrm>
            <a:off x="1947863" y="8687395"/>
            <a:ext cx="1123801" cy="216545"/>
          </a:xfrm>
          <a:prstGeom prst="rect">
            <a:avLst/>
          </a:prstGeom>
        </p:spPr>
      </p:pic>
      <p:pic>
        <p:nvPicPr>
          <p:cNvPr id="49" name="Image 17" descr="preencoded.png"/>
          <p:cNvPicPr>
            <a:picLocks noChangeAspect="1"/>
          </p:cNvPicPr>
          <p:nvPr/>
        </p:nvPicPr>
        <p:blipFill>
          <a:blip r:embed="rId20">
            <a:alphaModFix amt="90000"/>
          </a:blip>
          <a:srcRect t="-1" b="-1"/>
          <a:stretch/>
        </p:blipFill>
        <p:spPr>
          <a:xfrm>
            <a:off x="4491186" y="8660755"/>
            <a:ext cx="1123504" cy="269974"/>
          </a:xfrm>
          <a:prstGeom prst="rect">
            <a:avLst/>
          </a:prstGeom>
        </p:spPr>
      </p:pic>
      <p:pic>
        <p:nvPicPr>
          <p:cNvPr id="50" name="Image 18" descr="preencoded.png"/>
          <p:cNvPicPr>
            <a:picLocks noChangeAspect="1"/>
          </p:cNvPicPr>
          <p:nvPr/>
        </p:nvPicPr>
        <p:blipFill>
          <a:blip r:embed="rId21">
            <a:alphaModFix amt="90000"/>
          </a:blip>
          <a:srcRect t="-1" b="-1"/>
          <a:stretch/>
        </p:blipFill>
        <p:spPr>
          <a:xfrm>
            <a:off x="7270403" y="8633817"/>
            <a:ext cx="651570" cy="323850"/>
          </a:xfrm>
          <a:prstGeom prst="rect">
            <a:avLst/>
          </a:prstGeom>
        </p:spPr>
      </p:pic>
      <p:sp>
        <p:nvSpPr>
          <p:cNvPr id="51" name="Shape 30"/>
          <p:cNvSpPr/>
          <p:nvPr/>
        </p:nvSpPr>
        <p:spPr>
          <a:xfrm>
            <a:off x="1362075" y="9201150"/>
            <a:ext cx="7381875" cy="9525"/>
          </a:xfrm>
          <a:prstGeom prst="rect">
            <a:avLst/>
          </a:prstGeom>
          <a:solidFill>
            <a:srgbClr val="E5EAEF"/>
          </a:solidFill>
          <a:ln/>
        </p:spPr>
        <p:txBody>
          <a:bodyPr/>
          <a:lstStyle/>
          <a:p>
            <a:endParaRPr lang="es-ES"/>
          </a:p>
        </p:txBody>
      </p:sp>
      <p:sp>
        <p:nvSpPr>
          <p:cNvPr id="52" name="Text 31"/>
          <p:cNvSpPr/>
          <p:nvPr/>
        </p:nvSpPr>
        <p:spPr>
          <a:xfrm>
            <a:off x="1362075" y="9344025"/>
            <a:ext cx="2535228" cy="247650"/>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6E8493"/>
                </a:solidFill>
                <a:latin typeface="Roboto" pitchFamily="34" charset="0"/>
                <a:ea typeface="Roboto" pitchFamily="34" charset="-122"/>
                <a:cs typeface="Roboto" pitchFamily="34" charset="-120"/>
              </a:rPr>
              <a:t>Telecomunicaciones y medios</a:t>
            </a:r>
            <a:endParaRPr lang="en-US" sz="1350" dirty="0"/>
          </a:p>
        </p:txBody>
      </p:sp>
      <p:sp>
        <p:nvSpPr>
          <p:cNvPr id="53" name="Text 32"/>
          <p:cNvSpPr/>
          <p:nvPr/>
        </p:nvSpPr>
        <p:spPr>
          <a:xfrm>
            <a:off x="3771602" y="9372600"/>
            <a:ext cx="12382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C8D2DA"/>
                </a:solidFill>
                <a:latin typeface="Arial" pitchFamily="34" charset="0"/>
                <a:ea typeface="Arial" pitchFamily="34" charset="-122"/>
                <a:cs typeface="Arial" pitchFamily="34" charset="-120"/>
              </a:rPr>
              <a:t>·</a:t>
            </a:r>
            <a:endParaRPr lang="en-US" sz="1125" dirty="0"/>
          </a:p>
        </p:txBody>
      </p:sp>
      <p:sp>
        <p:nvSpPr>
          <p:cNvPr id="54" name="Text 33"/>
          <p:cNvSpPr/>
          <p:nvPr/>
        </p:nvSpPr>
        <p:spPr>
          <a:xfrm>
            <a:off x="3924002" y="9344025"/>
            <a:ext cx="2469088" cy="247650"/>
          </a:xfrm>
          <a:prstGeom prst="rect">
            <a:avLst/>
          </a:prstGeom>
          <a:noFill/>
          <a:ln/>
        </p:spPr>
        <p:txBody>
          <a:bodyPr wrap="square" lIns="25400" tIns="25400" rIns="25400" bIns="25400" rtlCol="0" anchor="t">
            <a:normAutofit/>
          </a:bodyPr>
          <a:lstStyle/>
          <a:p>
            <a:pPr marL="0" indent="0" algn="l">
              <a:buNone/>
            </a:pPr>
            <a:r>
              <a:rPr lang="en-US" sz="1275" b="1" kern="0" spc="38" dirty="0">
                <a:solidFill>
                  <a:srgbClr val="041C2C"/>
                </a:solidFill>
                <a:latin typeface="JetBrains Mono" pitchFamily="34" charset="0"/>
                <a:ea typeface="JetBrains Mono" pitchFamily="34" charset="-122"/>
                <a:cs typeface="JetBrains Mono" pitchFamily="34" charset="-120"/>
              </a:rPr>
              <a:t>+15 </a:t>
            </a:r>
            <a:r>
              <a:rPr lang="en-US" sz="1275" kern="0" spc="38" dirty="0">
                <a:solidFill>
                  <a:srgbClr val="4A6273"/>
                </a:solidFill>
                <a:latin typeface="JetBrains Mono" pitchFamily="34" charset="0"/>
                <a:ea typeface="JetBrains Mono" pitchFamily="34" charset="-122"/>
                <a:cs typeface="JetBrains Mono" pitchFamily="34" charset="-120"/>
              </a:rPr>
              <a:t>cuentas · </a:t>
            </a:r>
            <a:r>
              <a:rPr lang="en-US" sz="1275" b="1" kern="0" spc="38" dirty="0">
                <a:solidFill>
                  <a:srgbClr val="041C2C"/>
                </a:solidFill>
                <a:latin typeface="JetBrains Mono" pitchFamily="34" charset="0"/>
                <a:ea typeface="JetBrains Mono" pitchFamily="34" charset="-122"/>
                <a:cs typeface="JetBrains Mono" pitchFamily="34" charset="-120"/>
              </a:rPr>
              <a:t>+15 </a:t>
            </a:r>
            <a:r>
              <a:rPr lang="en-US" sz="1275" kern="0" spc="38" dirty="0">
                <a:solidFill>
                  <a:srgbClr val="4A6273"/>
                </a:solidFill>
                <a:latin typeface="JetBrains Mono" pitchFamily="34" charset="0"/>
                <a:ea typeface="JetBrains Mono" pitchFamily="34" charset="-122"/>
                <a:cs typeface="JetBrains Mono" pitchFamily="34" charset="-120"/>
              </a:rPr>
              <a:t>años</a:t>
            </a:r>
            <a:endParaRPr lang="en-US" sz="1275" dirty="0"/>
          </a:p>
        </p:txBody>
      </p:sp>
      <p:sp>
        <p:nvSpPr>
          <p:cNvPr id="55" name="Shape 34"/>
          <p:cNvSpPr/>
          <p:nvPr/>
        </p:nvSpPr>
        <p:spPr>
          <a:xfrm>
            <a:off x="9248775" y="6550819"/>
            <a:ext cx="7972425" cy="3164681"/>
          </a:xfrm>
          <a:prstGeom prst="roundRect">
            <a:avLst>
              <a:gd name="adj" fmla="val 421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56" name="Shape 35"/>
          <p:cNvSpPr/>
          <p:nvPr/>
        </p:nvSpPr>
        <p:spPr>
          <a:xfrm>
            <a:off x="9248775" y="9705975"/>
            <a:ext cx="7972425" cy="9525"/>
          </a:xfrm>
          <a:prstGeom prst="rect">
            <a:avLst/>
          </a:prstGeom>
          <a:solidFill>
            <a:srgbClr val="C8D2DA"/>
          </a:solidFill>
          <a:ln/>
        </p:spPr>
        <p:txBody>
          <a:bodyPr/>
          <a:lstStyle/>
          <a:p>
            <a:endParaRPr lang="es-ES"/>
          </a:p>
        </p:txBody>
      </p:sp>
      <p:sp>
        <p:nvSpPr>
          <p:cNvPr id="57" name="Shape 36"/>
          <p:cNvSpPr/>
          <p:nvPr/>
        </p:nvSpPr>
        <p:spPr>
          <a:xfrm>
            <a:off x="9248775" y="6550819"/>
            <a:ext cx="7972425" cy="38100"/>
          </a:xfrm>
          <a:prstGeom prst="rect">
            <a:avLst/>
          </a:prstGeom>
          <a:solidFill>
            <a:srgbClr val="FE5000"/>
          </a:solidFill>
          <a:ln/>
        </p:spPr>
        <p:txBody>
          <a:bodyPr/>
          <a:lstStyle/>
          <a:p>
            <a:endParaRPr lang="es-ES"/>
          </a:p>
        </p:txBody>
      </p:sp>
      <p:sp>
        <p:nvSpPr>
          <p:cNvPr id="58" name="Shape 37"/>
          <p:cNvSpPr/>
          <p:nvPr/>
        </p:nvSpPr>
        <p:spPr>
          <a:xfrm>
            <a:off x="9248775" y="6550819"/>
            <a:ext cx="9525" cy="3164681"/>
          </a:xfrm>
          <a:prstGeom prst="rect">
            <a:avLst/>
          </a:prstGeom>
          <a:solidFill>
            <a:srgbClr val="C8D2DA"/>
          </a:solidFill>
          <a:ln/>
        </p:spPr>
        <p:txBody>
          <a:bodyPr/>
          <a:lstStyle/>
          <a:p>
            <a:endParaRPr lang="es-ES"/>
          </a:p>
        </p:txBody>
      </p:sp>
      <p:sp>
        <p:nvSpPr>
          <p:cNvPr id="59" name="Shape 38"/>
          <p:cNvSpPr/>
          <p:nvPr/>
        </p:nvSpPr>
        <p:spPr>
          <a:xfrm>
            <a:off x="17211675" y="6550819"/>
            <a:ext cx="9525" cy="3164681"/>
          </a:xfrm>
          <a:prstGeom prst="rect">
            <a:avLst/>
          </a:prstGeom>
          <a:solidFill>
            <a:srgbClr val="C8D2DA"/>
          </a:solidFill>
          <a:ln/>
        </p:spPr>
        <p:txBody>
          <a:bodyPr/>
          <a:lstStyle/>
          <a:p>
            <a:endParaRPr lang="es-ES"/>
          </a:p>
        </p:txBody>
      </p:sp>
      <p:sp>
        <p:nvSpPr>
          <p:cNvPr id="60" name="Text 39"/>
          <p:cNvSpPr/>
          <p:nvPr/>
        </p:nvSpPr>
        <p:spPr>
          <a:xfrm>
            <a:off x="9544050" y="7084219"/>
            <a:ext cx="8120062" cy="3238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2250" b="1" kern="0" spc="-22" dirty="0">
                <a:solidFill>
                  <a:srgbClr val="041C2C"/>
                </a:solidFill>
                <a:latin typeface="Barlow" pitchFamily="34" charset="0"/>
                <a:ea typeface="Barlow" pitchFamily="34" charset="-122"/>
                <a:cs typeface="Barlow" pitchFamily="34" charset="-120"/>
              </a:rPr>
              <a:t>Industria y servicios</a:t>
            </a:r>
            <a:endParaRPr lang="en-US" sz="2250" dirty="0"/>
          </a:p>
        </p:txBody>
      </p:sp>
      <p:pic>
        <p:nvPicPr>
          <p:cNvPr id="61" name="Image 19" descr="preencoded.png"/>
          <p:cNvPicPr>
            <a:picLocks noChangeAspect="1"/>
          </p:cNvPicPr>
          <p:nvPr/>
        </p:nvPicPr>
        <p:blipFill>
          <a:blip r:embed="rId22">
            <a:alphaModFix amt="90000"/>
          </a:blip>
          <a:srcRect t="-16" b="-16"/>
          <a:stretch/>
        </p:blipFill>
        <p:spPr>
          <a:xfrm>
            <a:off x="10549235" y="7843391"/>
            <a:ext cx="285155" cy="323850"/>
          </a:xfrm>
          <a:prstGeom prst="rect">
            <a:avLst/>
          </a:prstGeom>
        </p:spPr>
      </p:pic>
      <p:pic>
        <p:nvPicPr>
          <p:cNvPr id="62" name="Image 20" descr="preencoded.png"/>
          <p:cNvPicPr>
            <a:picLocks noChangeAspect="1"/>
          </p:cNvPicPr>
          <p:nvPr/>
        </p:nvPicPr>
        <p:blipFill>
          <a:blip r:embed="rId23">
            <a:alphaModFix amt="90000"/>
          </a:blip>
          <a:srcRect t="-7" b="-7"/>
          <a:stretch/>
        </p:blipFill>
        <p:spPr>
          <a:xfrm>
            <a:off x="12793266" y="7843391"/>
            <a:ext cx="883295" cy="323850"/>
          </a:xfrm>
          <a:prstGeom prst="rect">
            <a:avLst/>
          </a:prstGeom>
        </p:spPr>
      </p:pic>
      <p:pic>
        <p:nvPicPr>
          <p:cNvPr id="63" name="Image 21" descr="preencoded.png"/>
          <p:cNvPicPr>
            <a:picLocks noChangeAspect="1"/>
          </p:cNvPicPr>
          <p:nvPr/>
        </p:nvPicPr>
        <p:blipFill>
          <a:blip r:embed="rId24">
            <a:alphaModFix amt="90000"/>
          </a:blip>
          <a:srcRect/>
          <a:stretch/>
        </p:blipFill>
        <p:spPr>
          <a:xfrm>
            <a:off x="15416213" y="7843391"/>
            <a:ext cx="723900" cy="323850"/>
          </a:xfrm>
          <a:prstGeom prst="rect">
            <a:avLst/>
          </a:prstGeom>
        </p:spPr>
      </p:pic>
      <p:pic>
        <p:nvPicPr>
          <p:cNvPr id="64" name="Image 22" descr="preencoded.png"/>
          <p:cNvPicPr>
            <a:picLocks noChangeAspect="1"/>
          </p:cNvPicPr>
          <p:nvPr/>
        </p:nvPicPr>
        <p:blipFill>
          <a:blip r:embed="rId25">
            <a:alphaModFix amt="90000"/>
          </a:blip>
          <a:srcRect t="-4" b="-4"/>
          <a:stretch/>
        </p:blipFill>
        <p:spPr>
          <a:xfrm>
            <a:off x="10129986" y="8315325"/>
            <a:ext cx="1123652" cy="283220"/>
          </a:xfrm>
          <a:prstGeom prst="rect">
            <a:avLst/>
          </a:prstGeom>
        </p:spPr>
      </p:pic>
      <p:pic>
        <p:nvPicPr>
          <p:cNvPr id="65" name="Image 23" descr="preencoded.png"/>
          <p:cNvPicPr>
            <a:picLocks noChangeAspect="1"/>
          </p:cNvPicPr>
          <p:nvPr/>
        </p:nvPicPr>
        <p:blipFill>
          <a:blip r:embed="rId26">
            <a:alphaModFix amt="90000"/>
          </a:blip>
          <a:srcRect t="-8" b="-8"/>
          <a:stretch/>
        </p:blipFill>
        <p:spPr>
          <a:xfrm>
            <a:off x="12862768" y="8294936"/>
            <a:ext cx="744438" cy="323850"/>
          </a:xfrm>
          <a:prstGeom prst="rect">
            <a:avLst/>
          </a:prstGeom>
        </p:spPr>
      </p:pic>
      <p:pic>
        <p:nvPicPr>
          <p:cNvPr id="66" name="Image 24" descr="preencoded.png"/>
          <p:cNvPicPr>
            <a:picLocks noChangeAspect="1"/>
          </p:cNvPicPr>
          <p:nvPr/>
        </p:nvPicPr>
        <p:blipFill>
          <a:blip r:embed="rId27">
            <a:alphaModFix amt="90000"/>
          </a:blip>
          <a:srcRect t="-7" b="-7"/>
          <a:stretch/>
        </p:blipFill>
        <p:spPr>
          <a:xfrm>
            <a:off x="15425142" y="8294936"/>
            <a:ext cx="706041" cy="323850"/>
          </a:xfrm>
          <a:prstGeom prst="rect">
            <a:avLst/>
          </a:prstGeom>
        </p:spPr>
      </p:pic>
      <p:pic>
        <p:nvPicPr>
          <p:cNvPr id="67" name="Image 25" descr="preencoded.png"/>
          <p:cNvPicPr>
            <a:picLocks noChangeAspect="1"/>
          </p:cNvPicPr>
          <p:nvPr/>
        </p:nvPicPr>
        <p:blipFill>
          <a:blip r:embed="rId28">
            <a:alphaModFix amt="90000"/>
          </a:blip>
          <a:srcRect t="-10" b="-10"/>
          <a:stretch/>
        </p:blipFill>
        <p:spPr>
          <a:xfrm>
            <a:off x="10357545" y="8746629"/>
            <a:ext cx="668387" cy="323850"/>
          </a:xfrm>
          <a:prstGeom prst="rect">
            <a:avLst/>
          </a:prstGeom>
        </p:spPr>
      </p:pic>
      <p:pic>
        <p:nvPicPr>
          <p:cNvPr id="68" name="Image 26" descr="preencoded.png"/>
          <p:cNvPicPr>
            <a:picLocks noChangeAspect="1"/>
          </p:cNvPicPr>
          <p:nvPr/>
        </p:nvPicPr>
        <p:blipFill>
          <a:blip r:embed="rId29">
            <a:alphaModFix amt="90000"/>
          </a:blip>
          <a:srcRect t="-2" b="-2"/>
          <a:stretch/>
        </p:blipFill>
        <p:spPr>
          <a:xfrm>
            <a:off x="12673459" y="8811667"/>
            <a:ext cx="1123057" cy="193774"/>
          </a:xfrm>
          <a:prstGeom prst="rect">
            <a:avLst/>
          </a:prstGeom>
        </p:spPr>
      </p:pic>
      <p:pic>
        <p:nvPicPr>
          <p:cNvPr id="69" name="Image 27" descr="preencoded.png"/>
          <p:cNvPicPr>
            <a:picLocks noChangeAspect="1"/>
          </p:cNvPicPr>
          <p:nvPr/>
        </p:nvPicPr>
        <p:blipFill>
          <a:blip r:embed="rId30">
            <a:alphaModFix amt="90000"/>
          </a:blip>
          <a:srcRect t="-2" b="-2"/>
          <a:stretch/>
        </p:blipFill>
        <p:spPr>
          <a:xfrm>
            <a:off x="15452527" y="8746629"/>
            <a:ext cx="651272" cy="323850"/>
          </a:xfrm>
          <a:prstGeom prst="rect">
            <a:avLst/>
          </a:prstGeom>
        </p:spPr>
      </p:pic>
      <p:sp>
        <p:nvSpPr>
          <p:cNvPr id="70" name="Shape 40"/>
          <p:cNvSpPr/>
          <p:nvPr/>
        </p:nvSpPr>
        <p:spPr>
          <a:xfrm>
            <a:off x="9544050" y="9201150"/>
            <a:ext cx="7381875" cy="9525"/>
          </a:xfrm>
          <a:prstGeom prst="rect">
            <a:avLst/>
          </a:prstGeom>
          <a:solidFill>
            <a:srgbClr val="E5EAEF"/>
          </a:solidFill>
          <a:ln/>
        </p:spPr>
        <p:txBody>
          <a:bodyPr/>
          <a:lstStyle/>
          <a:p>
            <a:endParaRPr lang="es-ES"/>
          </a:p>
        </p:txBody>
      </p:sp>
      <p:sp>
        <p:nvSpPr>
          <p:cNvPr id="71" name="Text 41"/>
          <p:cNvSpPr/>
          <p:nvPr/>
        </p:nvSpPr>
        <p:spPr>
          <a:xfrm>
            <a:off x="9544050" y="9344025"/>
            <a:ext cx="2877056" cy="247650"/>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6E8493"/>
                </a:solidFill>
                <a:latin typeface="Roboto" pitchFamily="34" charset="0"/>
                <a:ea typeface="Roboto" pitchFamily="34" charset="-122"/>
                <a:cs typeface="Roboto" pitchFamily="34" charset="-120"/>
              </a:rPr>
              <a:t>Industria, energía, retail y servicios</a:t>
            </a:r>
            <a:endParaRPr lang="en-US" sz="1350" dirty="0"/>
          </a:p>
        </p:txBody>
      </p:sp>
      <p:sp>
        <p:nvSpPr>
          <p:cNvPr id="72" name="Text 42"/>
          <p:cNvSpPr/>
          <p:nvPr/>
        </p:nvSpPr>
        <p:spPr>
          <a:xfrm>
            <a:off x="12264330" y="9372600"/>
            <a:ext cx="12382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dirty="0">
                <a:solidFill>
                  <a:srgbClr val="C8D2DA"/>
                </a:solidFill>
                <a:latin typeface="Arial" pitchFamily="34" charset="0"/>
                <a:ea typeface="Arial" pitchFamily="34" charset="-122"/>
                <a:cs typeface="Arial" pitchFamily="34" charset="-120"/>
              </a:rPr>
              <a:t>·</a:t>
            </a:r>
            <a:endParaRPr lang="en-US" sz="1125" dirty="0"/>
          </a:p>
        </p:txBody>
      </p:sp>
      <p:sp>
        <p:nvSpPr>
          <p:cNvPr id="73" name="Text 43"/>
          <p:cNvSpPr/>
          <p:nvPr/>
        </p:nvSpPr>
        <p:spPr>
          <a:xfrm>
            <a:off x="12416730" y="9344025"/>
            <a:ext cx="2469088" cy="247650"/>
          </a:xfrm>
          <a:prstGeom prst="rect">
            <a:avLst/>
          </a:prstGeom>
          <a:noFill/>
          <a:ln/>
        </p:spPr>
        <p:txBody>
          <a:bodyPr wrap="square" lIns="25400" tIns="25400" rIns="25400" bIns="25400" rtlCol="0" anchor="t">
            <a:normAutofit/>
          </a:bodyPr>
          <a:lstStyle/>
          <a:p>
            <a:pPr marL="0" indent="0" algn="l">
              <a:buNone/>
            </a:pPr>
            <a:r>
              <a:rPr lang="en-US" sz="1275" b="1" kern="0" spc="38" dirty="0">
                <a:solidFill>
                  <a:srgbClr val="041C2C"/>
                </a:solidFill>
                <a:latin typeface="JetBrains Mono" pitchFamily="34" charset="0"/>
                <a:ea typeface="JetBrains Mono" pitchFamily="34" charset="-122"/>
                <a:cs typeface="JetBrains Mono" pitchFamily="34" charset="-120"/>
              </a:rPr>
              <a:t>+40 </a:t>
            </a:r>
            <a:r>
              <a:rPr lang="en-US" sz="1275" kern="0" spc="38" dirty="0">
                <a:solidFill>
                  <a:srgbClr val="4A6273"/>
                </a:solidFill>
                <a:latin typeface="JetBrains Mono" pitchFamily="34" charset="0"/>
                <a:ea typeface="JetBrains Mono" pitchFamily="34" charset="-122"/>
                <a:cs typeface="JetBrains Mono" pitchFamily="34" charset="-120"/>
              </a:rPr>
              <a:t>cuentas · </a:t>
            </a:r>
            <a:r>
              <a:rPr lang="en-US" sz="1275" b="1" kern="0" spc="38" dirty="0">
                <a:solidFill>
                  <a:srgbClr val="041C2C"/>
                </a:solidFill>
                <a:latin typeface="JetBrains Mono" pitchFamily="34" charset="0"/>
                <a:ea typeface="JetBrains Mono" pitchFamily="34" charset="-122"/>
                <a:cs typeface="JetBrains Mono" pitchFamily="34" charset="-120"/>
              </a:rPr>
              <a:t>+20 </a:t>
            </a:r>
            <a:r>
              <a:rPr lang="en-US" sz="1275" kern="0" spc="38" dirty="0">
                <a:solidFill>
                  <a:srgbClr val="4A6273"/>
                </a:solidFill>
                <a:latin typeface="JetBrains Mono" pitchFamily="34" charset="0"/>
                <a:ea typeface="JetBrains Mono" pitchFamily="34" charset="-122"/>
                <a:cs typeface="JetBrains Mono" pitchFamily="34" charset="-120"/>
              </a:rPr>
              <a:t>años</a:t>
            </a:r>
            <a:endParaRPr lang="en-US" sz="1275" dirty="0"/>
          </a:p>
        </p:txBody>
      </p:sp>
      <p:sp>
        <p:nvSpPr>
          <p:cNvPr id="74" name="Text 44"/>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75" name="Text 45"/>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05 / 24</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1063079"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EL RETO</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104900"/>
            <a:ext cx="17769840" cy="561975"/>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750" b="1" kern="0" spc="-75" dirty="0">
                <a:solidFill>
                  <a:srgbClr val="041C2C"/>
                </a:solidFill>
                <a:latin typeface="Barlow" pitchFamily="34" charset="0"/>
                <a:ea typeface="Barlow" pitchFamily="34" charset="-122"/>
                <a:cs typeface="Barlow" pitchFamily="34" charset="-120"/>
              </a:rPr>
              <a:t>El reto no es técnico.</a:t>
            </a:r>
            <a:endParaRPr lang="en-US" sz="3750" dirty="0"/>
          </a:p>
        </p:txBody>
      </p:sp>
      <p:sp>
        <p:nvSpPr>
          <p:cNvPr id="6" name="Text 3"/>
          <p:cNvSpPr/>
          <p:nvPr/>
        </p:nvSpPr>
        <p:spPr>
          <a:xfrm>
            <a:off x="1066800" y="1800225"/>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Legacy, cloud, IA y regulación aprietan desde fuera. El ROI se decide dentro: en cómo se mueven procesos y personas.</a:t>
            </a:r>
            <a:endParaRPr lang="en-US" sz="1875" dirty="0"/>
          </a:p>
        </p:txBody>
      </p:sp>
      <p:sp>
        <p:nvSpPr>
          <p:cNvPr id="7" name="Shape 4"/>
          <p:cNvSpPr/>
          <p:nvPr/>
        </p:nvSpPr>
        <p:spPr>
          <a:xfrm>
            <a:off x="1066800" y="2776538"/>
            <a:ext cx="4697611" cy="3288506"/>
          </a:xfrm>
          <a:prstGeom prst="roundRect">
            <a:avLst>
              <a:gd name="adj" fmla="val 3476"/>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8" name="Text 5"/>
          <p:cNvSpPr/>
          <p:nvPr/>
        </p:nvSpPr>
        <p:spPr>
          <a:xfrm>
            <a:off x="1323975" y="3014663"/>
            <a:ext cx="4601587"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LEGACY Y DEUDA TÉCNICA</a:t>
            </a:r>
            <a:endParaRPr lang="en-US" sz="1350" dirty="0"/>
          </a:p>
        </p:txBody>
      </p:sp>
      <p:sp>
        <p:nvSpPr>
          <p:cNvPr id="9" name="Text 6"/>
          <p:cNvSpPr/>
          <p:nvPr/>
        </p:nvSpPr>
        <p:spPr>
          <a:xfrm>
            <a:off x="1323975" y="3328988"/>
            <a:ext cx="4601587" cy="598884"/>
          </a:xfrm>
          <a:prstGeom prst="rect">
            <a:avLst/>
          </a:prstGeom>
          <a:noFill/>
          <a:ln/>
        </p:spPr>
        <p:txBody>
          <a:bodyPr wrap="square" lIns="25400" tIns="25400" rIns="25400" bIns="25400" rtlCol="0" anchor="t">
            <a:normAutofit lnSpcReduction="10000"/>
          </a:bodyPr>
          <a:lstStyle/>
          <a:p>
            <a:pPr marL="0" indent="0" algn="l">
              <a:lnSpc>
                <a:spcPct val="76468"/>
              </a:lnSpc>
              <a:buNone/>
            </a:pPr>
            <a:r>
              <a:rPr lang="en-US" sz="4800" b="1" dirty="0">
                <a:solidFill>
                  <a:srgbClr val="855AC6"/>
                </a:solidFill>
                <a:latin typeface="Barlow" pitchFamily="34" charset="0"/>
                <a:ea typeface="Barlow" pitchFamily="34" charset="-122"/>
                <a:cs typeface="Barlow" pitchFamily="34" charset="-120"/>
              </a:rPr>
              <a:t>70%</a:t>
            </a:r>
            <a:endParaRPr lang="en-US" sz="4800" dirty="0"/>
          </a:p>
        </p:txBody>
      </p:sp>
      <p:sp>
        <p:nvSpPr>
          <p:cNvPr id="10" name="Text 7"/>
          <p:cNvSpPr/>
          <p:nvPr/>
        </p:nvSpPr>
        <p:spPr>
          <a:xfrm>
            <a:off x="1323975" y="3985022"/>
            <a:ext cx="4308759" cy="5715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41C2C">
                    <a:alpha val="85000"/>
                  </a:srgbClr>
                </a:solidFill>
                <a:latin typeface="Arial" pitchFamily="34" charset="0"/>
                <a:ea typeface="Arial" pitchFamily="34" charset="-122"/>
                <a:cs typeface="Arial" pitchFamily="34" charset="-120"/>
              </a:rPr>
              <a:t>del gasto IT sigue en «mantener lo existente» .</a:t>
            </a:r>
            <a:endParaRPr lang="en-US" sz="1800" dirty="0"/>
          </a:p>
        </p:txBody>
      </p:sp>
      <p:sp>
        <p:nvSpPr>
          <p:cNvPr id="11" name="Text 8"/>
          <p:cNvSpPr/>
          <p:nvPr/>
        </p:nvSpPr>
        <p:spPr>
          <a:xfrm>
            <a:off x="1323975" y="5636419"/>
            <a:ext cx="4601587" cy="228600"/>
          </a:xfrm>
          <a:prstGeom prst="rect">
            <a:avLst/>
          </a:prstGeom>
          <a:noFill/>
          <a:ln/>
        </p:spPr>
        <p:txBody>
          <a:bodyPr wrap="square" lIns="25400" tIns="25400" rIns="25400" bIns="25400" rtlCol="0" anchor="t">
            <a:normAutofit lnSpcReduction="10000"/>
          </a:bodyPr>
          <a:lstStyle/>
          <a:p>
            <a:pPr marL="0" indent="0" algn="l">
              <a:buNone/>
            </a:pPr>
            <a:r>
              <a:rPr lang="en-US" sz="1275" kern="0" spc="179" dirty="0">
                <a:solidFill>
                  <a:srgbClr val="6E8493"/>
                </a:solidFill>
                <a:latin typeface="Arial" pitchFamily="34" charset="0"/>
                <a:ea typeface="Arial" pitchFamily="34" charset="-122"/>
                <a:cs typeface="Arial" pitchFamily="34" charset="-120"/>
              </a:rPr>
              <a:t>GARTNER · IT BUDGET 2026</a:t>
            </a:r>
            <a:endParaRPr lang="en-US" sz="1275" dirty="0"/>
          </a:p>
        </p:txBody>
      </p:sp>
      <p:sp>
        <p:nvSpPr>
          <p:cNvPr id="12" name="Shape 9"/>
          <p:cNvSpPr/>
          <p:nvPr/>
        </p:nvSpPr>
        <p:spPr>
          <a:xfrm>
            <a:off x="5935861" y="2776538"/>
            <a:ext cx="4697760" cy="3288506"/>
          </a:xfrm>
          <a:prstGeom prst="roundRect">
            <a:avLst>
              <a:gd name="adj" fmla="val 3476"/>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13" name="Text 10"/>
          <p:cNvSpPr/>
          <p:nvPr/>
        </p:nvSpPr>
        <p:spPr>
          <a:xfrm>
            <a:off x="6193036" y="3014663"/>
            <a:ext cx="4601751"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CLOUD E INFRAESTRUCTURA</a:t>
            </a:r>
            <a:endParaRPr lang="en-US" sz="1350" dirty="0"/>
          </a:p>
        </p:txBody>
      </p:sp>
      <p:sp>
        <p:nvSpPr>
          <p:cNvPr id="14" name="Text 11"/>
          <p:cNvSpPr/>
          <p:nvPr/>
        </p:nvSpPr>
        <p:spPr>
          <a:xfrm>
            <a:off x="6193036" y="3328988"/>
            <a:ext cx="4601751" cy="598884"/>
          </a:xfrm>
          <a:prstGeom prst="rect">
            <a:avLst/>
          </a:prstGeom>
          <a:noFill/>
          <a:ln/>
        </p:spPr>
        <p:txBody>
          <a:bodyPr wrap="square" lIns="25400" tIns="25400" rIns="25400" bIns="25400" rtlCol="0" anchor="t">
            <a:normAutofit lnSpcReduction="10000"/>
          </a:bodyPr>
          <a:lstStyle/>
          <a:p>
            <a:pPr marL="0" indent="0" algn="l">
              <a:lnSpc>
                <a:spcPct val="76468"/>
              </a:lnSpc>
              <a:buNone/>
            </a:pPr>
            <a:r>
              <a:rPr lang="en-US" sz="4800" b="1" dirty="0">
                <a:solidFill>
                  <a:srgbClr val="855AC6"/>
                </a:solidFill>
                <a:latin typeface="Barlow" pitchFamily="34" charset="0"/>
                <a:ea typeface="Barlow" pitchFamily="34" charset="-122"/>
                <a:cs typeface="Barlow" pitchFamily="34" charset="-120"/>
              </a:rPr>
              <a:t>29%</a:t>
            </a:r>
            <a:endParaRPr lang="en-US" sz="4800" dirty="0"/>
          </a:p>
        </p:txBody>
      </p:sp>
      <p:sp>
        <p:nvSpPr>
          <p:cNvPr id="15" name="Text 12"/>
          <p:cNvSpPr/>
          <p:nvPr/>
        </p:nvSpPr>
        <p:spPr>
          <a:xfrm>
            <a:off x="6193036" y="3985022"/>
            <a:ext cx="4308912" cy="5715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41C2C">
                    <a:alpha val="85000"/>
                  </a:srgbClr>
                </a:solidFill>
                <a:latin typeface="Arial" pitchFamily="34" charset="0"/>
                <a:ea typeface="Arial" pitchFamily="34" charset="-122"/>
                <a:cs typeface="Arial" pitchFamily="34" charset="-120"/>
              </a:rPr>
              <a:t>del gasto cloud se desperdicia — al alza por primera vez en 5 años, por la IA.</a:t>
            </a:r>
            <a:endParaRPr lang="en-US" sz="1800" dirty="0"/>
          </a:p>
        </p:txBody>
      </p:sp>
      <p:sp>
        <p:nvSpPr>
          <p:cNvPr id="16" name="Text 13"/>
          <p:cNvSpPr/>
          <p:nvPr/>
        </p:nvSpPr>
        <p:spPr>
          <a:xfrm>
            <a:off x="6193036" y="5636419"/>
            <a:ext cx="4601751" cy="228600"/>
          </a:xfrm>
          <a:prstGeom prst="rect">
            <a:avLst/>
          </a:prstGeom>
          <a:noFill/>
          <a:ln/>
        </p:spPr>
        <p:txBody>
          <a:bodyPr wrap="square" lIns="25400" tIns="25400" rIns="25400" bIns="25400" rtlCol="0" anchor="t">
            <a:normAutofit lnSpcReduction="10000"/>
          </a:bodyPr>
          <a:lstStyle/>
          <a:p>
            <a:pPr marL="0" indent="0" algn="l">
              <a:buNone/>
            </a:pPr>
            <a:r>
              <a:rPr lang="en-US" sz="1275" kern="0" spc="179" dirty="0">
                <a:solidFill>
                  <a:srgbClr val="6E8493"/>
                </a:solidFill>
                <a:latin typeface="Arial" pitchFamily="34" charset="0"/>
                <a:ea typeface="Arial" pitchFamily="34" charset="-122"/>
                <a:cs typeface="Arial" pitchFamily="34" charset="-120"/>
              </a:rPr>
              <a:t>FLEXERA · STATE OF THE CLOUD 2026</a:t>
            </a:r>
            <a:endParaRPr lang="en-US" sz="1275" dirty="0"/>
          </a:p>
        </p:txBody>
      </p:sp>
      <p:sp>
        <p:nvSpPr>
          <p:cNvPr id="17" name="Shape 14"/>
          <p:cNvSpPr/>
          <p:nvPr/>
        </p:nvSpPr>
        <p:spPr>
          <a:xfrm>
            <a:off x="1066800" y="6236494"/>
            <a:ext cx="4697611" cy="3479006"/>
          </a:xfrm>
          <a:prstGeom prst="roundRect">
            <a:avLst>
              <a:gd name="adj" fmla="val 3285"/>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18" name="Text 15"/>
          <p:cNvSpPr/>
          <p:nvPr/>
        </p:nvSpPr>
        <p:spPr>
          <a:xfrm>
            <a:off x="1323975" y="6474619"/>
            <a:ext cx="4601587"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IA Y AUTOMATIZACIÓN</a:t>
            </a:r>
            <a:endParaRPr lang="en-US" sz="1350" dirty="0"/>
          </a:p>
        </p:txBody>
      </p:sp>
      <p:sp>
        <p:nvSpPr>
          <p:cNvPr id="19" name="Text 16"/>
          <p:cNvSpPr/>
          <p:nvPr/>
        </p:nvSpPr>
        <p:spPr>
          <a:xfrm>
            <a:off x="1323975" y="6788944"/>
            <a:ext cx="4601587" cy="598884"/>
          </a:xfrm>
          <a:prstGeom prst="rect">
            <a:avLst/>
          </a:prstGeom>
          <a:noFill/>
          <a:ln/>
        </p:spPr>
        <p:txBody>
          <a:bodyPr wrap="square" lIns="25400" tIns="25400" rIns="25400" bIns="25400" rtlCol="0" anchor="t">
            <a:normAutofit lnSpcReduction="10000"/>
          </a:bodyPr>
          <a:lstStyle/>
          <a:p>
            <a:pPr marL="0" indent="0" algn="l">
              <a:lnSpc>
                <a:spcPct val="76468"/>
              </a:lnSpc>
              <a:buNone/>
            </a:pPr>
            <a:r>
              <a:rPr lang="en-US" sz="4800" b="1" dirty="0">
                <a:solidFill>
                  <a:srgbClr val="855AC6"/>
                </a:solidFill>
                <a:latin typeface="Barlow" pitchFamily="34" charset="0"/>
                <a:ea typeface="Barlow" pitchFamily="34" charset="-122"/>
                <a:cs typeface="Barlow" pitchFamily="34" charset="-120"/>
              </a:rPr>
              <a:t>60%</a:t>
            </a:r>
            <a:endParaRPr lang="en-US" sz="4800" dirty="0"/>
          </a:p>
        </p:txBody>
      </p:sp>
      <p:sp>
        <p:nvSpPr>
          <p:cNvPr id="20" name="Text 17"/>
          <p:cNvSpPr/>
          <p:nvPr/>
        </p:nvSpPr>
        <p:spPr>
          <a:xfrm>
            <a:off x="1323975" y="7444978"/>
            <a:ext cx="4308759" cy="5715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41C2C">
                    <a:alpha val="85000"/>
                  </a:srgbClr>
                </a:solidFill>
                <a:latin typeface="Arial" pitchFamily="34" charset="0"/>
                <a:ea typeface="Arial" pitchFamily="34" charset="-122"/>
                <a:cs typeface="Arial" pitchFamily="34" charset="-120"/>
              </a:rPr>
              <a:t>de las organizaciones aún no ve impacto en EBIT de su IA.</a:t>
            </a:r>
            <a:endParaRPr lang="en-US" sz="1800" dirty="0"/>
          </a:p>
        </p:txBody>
      </p:sp>
      <p:sp>
        <p:nvSpPr>
          <p:cNvPr id="21" name="Text 18"/>
          <p:cNvSpPr/>
          <p:nvPr/>
        </p:nvSpPr>
        <p:spPr>
          <a:xfrm>
            <a:off x="1323975" y="9286875"/>
            <a:ext cx="4601587" cy="228600"/>
          </a:xfrm>
          <a:prstGeom prst="rect">
            <a:avLst/>
          </a:prstGeom>
          <a:noFill/>
          <a:ln/>
        </p:spPr>
        <p:txBody>
          <a:bodyPr wrap="square" lIns="25400" tIns="25400" rIns="25400" bIns="25400" rtlCol="0" anchor="t">
            <a:normAutofit lnSpcReduction="10000"/>
          </a:bodyPr>
          <a:lstStyle/>
          <a:p>
            <a:pPr marL="0" indent="0" algn="l">
              <a:buNone/>
            </a:pPr>
            <a:r>
              <a:rPr lang="en-US" sz="1275" kern="0" spc="179" dirty="0">
                <a:solidFill>
                  <a:srgbClr val="6E8493"/>
                </a:solidFill>
                <a:latin typeface="Arial" pitchFamily="34" charset="0"/>
                <a:ea typeface="Arial" pitchFamily="34" charset="-122"/>
                <a:cs typeface="Arial" pitchFamily="34" charset="-120"/>
              </a:rPr>
              <a:t>MCKINSEY · 2026</a:t>
            </a:r>
            <a:endParaRPr lang="en-US" sz="1275" dirty="0"/>
          </a:p>
        </p:txBody>
      </p:sp>
      <p:sp>
        <p:nvSpPr>
          <p:cNvPr id="22" name="Shape 19"/>
          <p:cNvSpPr/>
          <p:nvPr/>
        </p:nvSpPr>
        <p:spPr>
          <a:xfrm>
            <a:off x="5935861" y="6236494"/>
            <a:ext cx="4697760" cy="3479006"/>
          </a:xfrm>
          <a:prstGeom prst="roundRect">
            <a:avLst>
              <a:gd name="adj" fmla="val 3285"/>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23" name="Text 20"/>
          <p:cNvSpPr/>
          <p:nvPr/>
        </p:nvSpPr>
        <p:spPr>
          <a:xfrm>
            <a:off x="6193036" y="6474619"/>
            <a:ext cx="4601751"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RESILIENCIA Y REGULACIÓN</a:t>
            </a:r>
            <a:endParaRPr lang="en-US" sz="1350" dirty="0"/>
          </a:p>
        </p:txBody>
      </p:sp>
      <p:sp>
        <p:nvSpPr>
          <p:cNvPr id="24" name="Text 21"/>
          <p:cNvSpPr/>
          <p:nvPr/>
        </p:nvSpPr>
        <p:spPr>
          <a:xfrm>
            <a:off x="6193036" y="6788944"/>
            <a:ext cx="4601751" cy="598884"/>
          </a:xfrm>
          <a:prstGeom prst="rect">
            <a:avLst/>
          </a:prstGeom>
          <a:noFill/>
          <a:ln/>
        </p:spPr>
        <p:txBody>
          <a:bodyPr wrap="square" lIns="25400" tIns="25400" rIns="25400" bIns="25400" rtlCol="0" anchor="t">
            <a:normAutofit lnSpcReduction="10000"/>
          </a:bodyPr>
          <a:lstStyle/>
          <a:p>
            <a:pPr marL="0" indent="0" algn="l">
              <a:lnSpc>
                <a:spcPct val="76468"/>
              </a:lnSpc>
              <a:buNone/>
            </a:pPr>
            <a:r>
              <a:rPr lang="en-US" sz="4800" b="1" dirty="0">
                <a:solidFill>
                  <a:srgbClr val="855AC6"/>
                </a:solidFill>
                <a:latin typeface="Barlow" pitchFamily="34" charset="0"/>
                <a:ea typeface="Barlow" pitchFamily="34" charset="-122"/>
                <a:cs typeface="Barlow" pitchFamily="34" charset="-120"/>
              </a:rPr>
              <a:t>2027</a:t>
            </a:r>
            <a:endParaRPr lang="en-US" sz="4800" dirty="0"/>
          </a:p>
        </p:txBody>
      </p:sp>
      <p:sp>
        <p:nvSpPr>
          <p:cNvPr id="25" name="Text 22"/>
          <p:cNvSpPr/>
          <p:nvPr/>
        </p:nvSpPr>
        <p:spPr>
          <a:xfrm>
            <a:off x="6193036" y="7444978"/>
            <a:ext cx="4308912" cy="5715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41C2C">
                    <a:alpha val="85000"/>
                  </a:srgbClr>
                </a:solidFill>
                <a:latin typeface="Arial" pitchFamily="34" charset="0"/>
                <a:ea typeface="Arial" pitchFamily="34" charset="-122"/>
                <a:cs typeface="Arial" pitchFamily="34" charset="-120"/>
              </a:rPr>
              <a:t>AI Act, NIS2, DORA, RGPD y Data Act aprietan a la vez.</a:t>
            </a:r>
            <a:endParaRPr lang="en-US" sz="1800" dirty="0"/>
          </a:p>
        </p:txBody>
      </p:sp>
      <p:sp>
        <p:nvSpPr>
          <p:cNvPr id="26" name="Text 23"/>
          <p:cNvSpPr/>
          <p:nvPr/>
        </p:nvSpPr>
        <p:spPr>
          <a:xfrm>
            <a:off x="6193036" y="9096375"/>
            <a:ext cx="4308912" cy="419100"/>
          </a:xfrm>
          <a:prstGeom prst="rect">
            <a:avLst/>
          </a:prstGeom>
          <a:noFill/>
          <a:ln/>
        </p:spPr>
        <p:txBody>
          <a:bodyPr wrap="square" lIns="25400" tIns="25400" rIns="25400" bIns="25400" rtlCol="0" anchor="t">
            <a:normAutofit lnSpcReduction="10000"/>
          </a:bodyPr>
          <a:lstStyle/>
          <a:p>
            <a:pPr marL="0" indent="0" algn="l">
              <a:buNone/>
            </a:pPr>
            <a:r>
              <a:rPr lang="en-US" sz="1275" kern="0" spc="179" dirty="0">
                <a:solidFill>
                  <a:srgbClr val="6E8493"/>
                </a:solidFill>
                <a:latin typeface="Arial" pitchFamily="34" charset="0"/>
                <a:ea typeface="Arial" pitchFamily="34" charset="-122"/>
                <a:cs typeface="Arial" pitchFamily="34" charset="-120"/>
              </a:rPr>
              <a:t>UE · AI ACT · NIS2 · DORA · RGPD · DATA ACT</a:t>
            </a:r>
            <a:endParaRPr lang="en-US" sz="1275" dirty="0"/>
          </a:p>
        </p:txBody>
      </p:sp>
      <p:sp>
        <p:nvSpPr>
          <p:cNvPr id="27" name="Shape 24"/>
          <p:cNvSpPr/>
          <p:nvPr/>
        </p:nvSpPr>
        <p:spPr>
          <a:xfrm>
            <a:off x="10843171" y="2776538"/>
            <a:ext cx="6377880" cy="6938963"/>
          </a:xfrm>
          <a:prstGeom prst="roundRect">
            <a:avLst>
              <a:gd name="adj" fmla="val 1792"/>
            </a:avLst>
          </a:prstGeom>
          <a:solidFill>
            <a:srgbClr val="041C2C"/>
          </a:solidFill>
          <a:ln/>
        </p:spPr>
        <p:txBody>
          <a:bodyPr/>
          <a:lstStyle/>
          <a:p>
            <a:endParaRPr lang="es-ES"/>
          </a:p>
        </p:txBody>
      </p:sp>
      <p:sp>
        <p:nvSpPr>
          <p:cNvPr id="28" name="Shape 25"/>
          <p:cNvSpPr/>
          <p:nvPr/>
        </p:nvSpPr>
        <p:spPr>
          <a:xfrm>
            <a:off x="11167021" y="4241453"/>
            <a:ext cx="1743075" cy="342900"/>
          </a:xfrm>
          <a:prstGeom prst="roundRect">
            <a:avLst>
              <a:gd name="adj" fmla="val 50000"/>
            </a:avLst>
          </a:prstGeom>
          <a:ln w="9525">
            <a:solidFill>
              <a:srgbClr val="FE5000">
                <a:alpha val="45000"/>
              </a:srgbClr>
            </a:solidFill>
            <a:prstDash val="solid"/>
          </a:ln>
        </p:spPr>
        <p:txBody>
          <a:bodyPr/>
          <a:lstStyle/>
          <a:p>
            <a:endParaRPr lang="es-ES"/>
          </a:p>
        </p:txBody>
      </p:sp>
      <p:sp>
        <p:nvSpPr>
          <p:cNvPr id="29" name="Text 26"/>
          <p:cNvSpPr/>
          <p:nvPr/>
        </p:nvSpPr>
        <p:spPr>
          <a:xfrm>
            <a:off x="11328946" y="4308128"/>
            <a:ext cx="1495425"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216" dirty="0">
                <a:solidFill>
                  <a:srgbClr val="FE5000"/>
                </a:solidFill>
                <a:latin typeface="Barlow" pitchFamily="34" charset="0"/>
                <a:ea typeface="Barlow" pitchFamily="34" charset="-122"/>
                <a:cs typeface="Barlow" pitchFamily="34" charset="-120"/>
              </a:rPr>
              <a:t>EL RETO REAL</a:t>
            </a:r>
            <a:endParaRPr lang="en-US" sz="1350" dirty="0"/>
          </a:p>
        </p:txBody>
      </p:sp>
      <p:sp>
        <p:nvSpPr>
          <p:cNvPr id="30" name="Text 27"/>
          <p:cNvSpPr/>
          <p:nvPr/>
        </p:nvSpPr>
        <p:spPr>
          <a:xfrm>
            <a:off x="11167021" y="4708178"/>
            <a:ext cx="6303199" cy="418058"/>
          </a:xfrm>
          <a:prstGeom prst="rect">
            <a:avLst/>
          </a:prstGeom>
          <a:noFill/>
          <a:ln/>
        </p:spPr>
        <p:txBody>
          <a:bodyPr wrap="square" lIns="25400" tIns="25400" rIns="25400" bIns="25400" rtlCol="0" anchor="t">
            <a:normAutofit lnSpcReduction="10000"/>
          </a:bodyPr>
          <a:lstStyle/>
          <a:p>
            <a:pPr marL="0" indent="0" algn="l">
              <a:lnSpc>
                <a:spcPct val="86739"/>
              </a:lnSpc>
              <a:buNone/>
            </a:pPr>
            <a:r>
              <a:rPr lang="en-US" sz="2850" b="1" dirty="0">
                <a:solidFill>
                  <a:srgbClr val="FFFFFF"/>
                </a:solidFill>
                <a:latin typeface="Barlow" pitchFamily="34" charset="0"/>
                <a:ea typeface="Barlow" pitchFamily="34" charset="-122"/>
                <a:cs typeface="Barlow" pitchFamily="34" charset="-120"/>
              </a:rPr>
              <a:t>La tecnología es la parte fácil.</a:t>
            </a:r>
            <a:endParaRPr lang="en-US" sz="2850" dirty="0"/>
          </a:p>
        </p:txBody>
      </p:sp>
      <p:sp>
        <p:nvSpPr>
          <p:cNvPr id="31" name="Text 28"/>
          <p:cNvSpPr/>
          <p:nvPr/>
        </p:nvSpPr>
        <p:spPr>
          <a:xfrm>
            <a:off x="11167021" y="5240536"/>
            <a:ext cx="5902086" cy="981075"/>
          </a:xfrm>
          <a:prstGeom prst="rect">
            <a:avLst/>
          </a:prstGeom>
          <a:noFill/>
          <a:ln/>
        </p:spPr>
        <p:txBody>
          <a:bodyPr wrap="square" lIns="25400" tIns="25400" rIns="25400" bIns="25400" rtlCol="0" anchor="t">
            <a:normAutofit lnSpcReduction="10000"/>
          </a:bodyPr>
          <a:lstStyle/>
          <a:p>
            <a:pPr marL="0" indent="0" algn="l">
              <a:lnSpc>
                <a:spcPct val="126923"/>
              </a:lnSpc>
              <a:buNone/>
            </a:pPr>
            <a:r>
              <a:rPr lang="en-US" sz="1650" dirty="0">
                <a:solidFill>
                  <a:srgbClr val="FFFFFF">
                    <a:alpha val="85000"/>
                  </a:srgbClr>
                </a:solidFill>
                <a:latin typeface="Arial" pitchFamily="34" charset="0"/>
                <a:ea typeface="Arial" pitchFamily="34" charset="-122"/>
                <a:cs typeface="Arial" pitchFamily="34" charset="-120"/>
              </a:rPr>
              <a:t>La </a:t>
            </a:r>
            <a:r>
              <a:rPr lang="en-US" sz="1650" b="1" dirty="0">
                <a:solidFill>
                  <a:srgbClr val="FFFFFF"/>
                </a:solidFill>
                <a:latin typeface="Arial" pitchFamily="34" charset="0"/>
                <a:ea typeface="Arial" pitchFamily="34" charset="-122"/>
                <a:cs typeface="Arial" pitchFamily="34" charset="-120"/>
              </a:rPr>
              <a:t>tecnología </a:t>
            </a:r>
            <a:r>
              <a:rPr lang="en-US" sz="1650" dirty="0">
                <a:solidFill>
                  <a:srgbClr val="FFFFFF">
                    <a:alpha val="85000"/>
                  </a:srgbClr>
                </a:solidFill>
                <a:latin typeface="Arial" pitchFamily="34" charset="0"/>
                <a:ea typeface="Arial" pitchFamily="34" charset="-122"/>
                <a:cs typeface="Arial" pitchFamily="34" charset="-120"/>
              </a:rPr>
              <a:t>se implanta. Lo que cuesta es que encaje con los </a:t>
            </a:r>
            <a:r>
              <a:rPr lang="en-US" sz="1650" b="1" dirty="0">
                <a:solidFill>
                  <a:srgbClr val="FFFFFF"/>
                </a:solidFill>
                <a:latin typeface="Arial" pitchFamily="34" charset="0"/>
                <a:ea typeface="Arial" pitchFamily="34" charset="-122"/>
                <a:cs typeface="Arial" pitchFamily="34" charset="-120"/>
              </a:rPr>
              <a:t>procesos </a:t>
            </a:r>
            <a:r>
              <a:rPr lang="en-US" sz="1650" dirty="0">
                <a:solidFill>
                  <a:srgbClr val="FFFFFF">
                    <a:alpha val="85000"/>
                  </a:srgbClr>
                </a:solidFill>
                <a:latin typeface="Arial" pitchFamily="34" charset="0"/>
                <a:ea typeface="Arial" pitchFamily="34" charset="-122"/>
                <a:cs typeface="Arial" pitchFamily="34" charset="-120"/>
              </a:rPr>
              <a:t>que ya existen, con las </a:t>
            </a:r>
            <a:r>
              <a:rPr lang="en-US" sz="1650" b="1" dirty="0">
                <a:solidFill>
                  <a:srgbClr val="FFFFFF"/>
                </a:solidFill>
                <a:latin typeface="Arial" pitchFamily="34" charset="0"/>
                <a:ea typeface="Arial" pitchFamily="34" charset="-122"/>
                <a:cs typeface="Arial" pitchFamily="34" charset="-120"/>
              </a:rPr>
              <a:t>personas </a:t>
            </a:r>
            <a:r>
              <a:rPr lang="en-US" sz="1650" dirty="0">
                <a:solidFill>
                  <a:srgbClr val="FFFFFF">
                    <a:alpha val="85000"/>
                  </a:srgbClr>
                </a:solidFill>
                <a:latin typeface="Arial" pitchFamily="34" charset="0"/>
                <a:ea typeface="Arial" pitchFamily="34" charset="-122"/>
                <a:cs typeface="Arial" pitchFamily="34" charset="-120"/>
              </a:rPr>
              <a:t>que la usan y con la </a:t>
            </a:r>
            <a:r>
              <a:rPr lang="en-US" sz="1650" b="1" dirty="0">
                <a:solidFill>
                  <a:srgbClr val="FFFFFF"/>
                </a:solidFill>
                <a:latin typeface="Arial" pitchFamily="34" charset="0"/>
                <a:ea typeface="Arial" pitchFamily="34" charset="-122"/>
                <a:cs typeface="Arial" pitchFamily="34" charset="-120"/>
              </a:rPr>
              <a:t>cultura </a:t>
            </a:r>
            <a:r>
              <a:rPr lang="en-US" sz="1650" dirty="0">
                <a:solidFill>
                  <a:srgbClr val="FFFFFF">
                    <a:alpha val="85000"/>
                  </a:srgbClr>
                </a:solidFill>
                <a:latin typeface="Arial" pitchFamily="34" charset="0"/>
                <a:ea typeface="Arial" pitchFamily="34" charset="-122"/>
                <a:cs typeface="Arial" pitchFamily="34" charset="-120"/>
              </a:rPr>
              <a:t>que la sostiene.</a:t>
            </a:r>
            <a:endParaRPr lang="en-US" sz="1650" dirty="0"/>
          </a:p>
        </p:txBody>
      </p:sp>
      <p:sp>
        <p:nvSpPr>
          <p:cNvPr id="32" name="Text 29"/>
          <p:cNvSpPr/>
          <p:nvPr/>
        </p:nvSpPr>
        <p:spPr>
          <a:xfrm>
            <a:off x="11167021" y="6393061"/>
            <a:ext cx="6303199"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kern="0" spc="180" dirty="0">
                <a:solidFill>
                  <a:srgbClr val="FFFFFF">
                    <a:alpha val="55000"/>
                  </a:srgbClr>
                </a:solidFill>
                <a:latin typeface="Arial" pitchFamily="34" charset="0"/>
                <a:ea typeface="Arial" pitchFamily="34" charset="-122"/>
                <a:cs typeface="Arial" pitchFamily="34" charset="-120"/>
              </a:rPr>
              <a:t>LAS CUATRO VARIABLES DEL CAMBIO</a:t>
            </a:r>
            <a:endParaRPr lang="en-US" sz="1200" dirty="0"/>
          </a:p>
        </p:txBody>
      </p:sp>
      <p:sp>
        <p:nvSpPr>
          <p:cNvPr id="33" name="Shape 30"/>
          <p:cNvSpPr/>
          <p:nvPr/>
        </p:nvSpPr>
        <p:spPr>
          <a:xfrm>
            <a:off x="11167021" y="6688336"/>
            <a:ext cx="1361033" cy="676275"/>
          </a:xfrm>
          <a:prstGeom prst="roundRect">
            <a:avLst>
              <a:gd name="adj" fmla="val 12676"/>
            </a:avLst>
          </a:prstGeom>
          <a:solidFill>
            <a:srgbClr val="855AC6">
              <a:alpha val="18000"/>
            </a:srgbClr>
          </a:solidFill>
          <a:ln w="9525">
            <a:solidFill>
              <a:srgbClr val="855AC6">
                <a:alpha val="55000"/>
              </a:srgbClr>
            </a:solidFill>
            <a:prstDash val="solid"/>
          </a:ln>
          <a:effectLst>
            <a:outerShdw blurRad="266700" dist="95250" dir="5400000" algn="bl" rotWithShape="0">
              <a:srgbClr val="855AC6">
                <a:alpha val="85000"/>
              </a:srgbClr>
            </a:outerShdw>
          </a:effectLst>
        </p:spPr>
        <p:txBody>
          <a:bodyPr/>
          <a:lstStyle/>
          <a:p>
            <a:endParaRPr lang="es-ES"/>
          </a:p>
        </p:txBody>
      </p:sp>
      <p:sp>
        <p:nvSpPr>
          <p:cNvPr id="34" name="Shape 31"/>
          <p:cNvSpPr/>
          <p:nvPr/>
        </p:nvSpPr>
        <p:spPr>
          <a:xfrm>
            <a:off x="11733163" y="6850261"/>
            <a:ext cx="228600" cy="28575"/>
          </a:xfrm>
          <a:prstGeom prst="roundRect">
            <a:avLst>
              <a:gd name="adj" fmla="val 50000"/>
            </a:avLst>
          </a:prstGeom>
          <a:solidFill>
            <a:srgbClr val="855AC6"/>
          </a:solidFill>
          <a:ln/>
        </p:spPr>
        <p:txBody>
          <a:bodyPr/>
          <a:lstStyle/>
          <a:p>
            <a:endParaRPr lang="es-ES"/>
          </a:p>
        </p:txBody>
      </p:sp>
      <p:sp>
        <p:nvSpPr>
          <p:cNvPr id="35" name="Text 32"/>
          <p:cNvSpPr/>
          <p:nvPr/>
        </p:nvSpPr>
        <p:spPr>
          <a:xfrm>
            <a:off x="11214646" y="6983611"/>
            <a:ext cx="1265783" cy="266700"/>
          </a:xfrm>
          <a:prstGeom prst="rect">
            <a:avLst/>
          </a:prstGeom>
          <a:noFill/>
          <a:ln/>
        </p:spPr>
        <p:txBody>
          <a:bodyPr wrap="square" lIns="25400" tIns="25400" rIns="25400" bIns="25400" rtlCol="0" anchor="t">
            <a:normAutofit lnSpcReduction="10000"/>
          </a:bodyPr>
          <a:lstStyle/>
          <a:p>
            <a:pPr marL="0" indent="0" algn="ctr">
              <a:lnSpc>
                <a:spcPct val="82759"/>
              </a:lnSpc>
              <a:buNone/>
            </a:pPr>
            <a:r>
              <a:rPr lang="en-US" sz="1800" b="1" dirty="0">
                <a:solidFill>
                  <a:srgbClr val="FFFFFF"/>
                </a:solidFill>
                <a:latin typeface="Barlow" pitchFamily="34" charset="0"/>
                <a:ea typeface="Barlow" pitchFamily="34" charset="-122"/>
                <a:cs typeface="Barlow" pitchFamily="34" charset="-120"/>
              </a:rPr>
              <a:t>Procesos</a:t>
            </a:r>
            <a:endParaRPr lang="en-US" sz="1800" dirty="0"/>
          </a:p>
        </p:txBody>
      </p:sp>
      <p:sp>
        <p:nvSpPr>
          <p:cNvPr id="36" name="Shape 33"/>
          <p:cNvSpPr/>
          <p:nvPr/>
        </p:nvSpPr>
        <p:spPr>
          <a:xfrm>
            <a:off x="12623304" y="6688336"/>
            <a:ext cx="1361182" cy="676275"/>
          </a:xfrm>
          <a:prstGeom prst="roundRect">
            <a:avLst>
              <a:gd name="adj" fmla="val 12676"/>
            </a:avLst>
          </a:prstGeom>
          <a:ln w="9525">
            <a:solidFill>
              <a:srgbClr val="FFFFFF">
                <a:alpha val="20000"/>
              </a:srgbClr>
            </a:solidFill>
            <a:prstDash val="dash"/>
          </a:ln>
        </p:spPr>
        <p:txBody>
          <a:bodyPr/>
          <a:lstStyle/>
          <a:p>
            <a:endParaRPr lang="es-ES"/>
          </a:p>
        </p:txBody>
      </p:sp>
      <p:sp>
        <p:nvSpPr>
          <p:cNvPr id="37" name="Shape 34"/>
          <p:cNvSpPr/>
          <p:nvPr/>
        </p:nvSpPr>
        <p:spPr>
          <a:xfrm>
            <a:off x="13189595" y="6850261"/>
            <a:ext cx="228600" cy="28575"/>
          </a:xfrm>
          <a:prstGeom prst="roundRect">
            <a:avLst>
              <a:gd name="adj" fmla="val 50000"/>
            </a:avLst>
          </a:prstGeom>
          <a:solidFill>
            <a:srgbClr val="FFFFFF">
              <a:alpha val="14000"/>
            </a:srgbClr>
          </a:solidFill>
          <a:ln/>
        </p:spPr>
        <p:txBody>
          <a:bodyPr/>
          <a:lstStyle/>
          <a:p>
            <a:endParaRPr lang="es-ES"/>
          </a:p>
        </p:txBody>
      </p:sp>
      <p:sp>
        <p:nvSpPr>
          <p:cNvPr id="38" name="Text 35"/>
          <p:cNvSpPr/>
          <p:nvPr/>
        </p:nvSpPr>
        <p:spPr>
          <a:xfrm>
            <a:off x="12670929" y="6983611"/>
            <a:ext cx="1265932" cy="266700"/>
          </a:xfrm>
          <a:prstGeom prst="rect">
            <a:avLst/>
          </a:prstGeom>
          <a:noFill/>
          <a:ln/>
        </p:spPr>
        <p:txBody>
          <a:bodyPr wrap="square" lIns="25400" tIns="25400" rIns="25400" bIns="25400" rtlCol="0" anchor="t">
            <a:normAutofit lnSpcReduction="10000"/>
          </a:bodyPr>
          <a:lstStyle/>
          <a:p>
            <a:pPr marL="0" indent="0" algn="ctr">
              <a:lnSpc>
                <a:spcPct val="82759"/>
              </a:lnSpc>
              <a:buNone/>
            </a:pPr>
            <a:r>
              <a:rPr lang="en-US" sz="1800" b="1" dirty="0">
                <a:solidFill>
                  <a:srgbClr val="FFFFFF">
                    <a:alpha val="40000"/>
                  </a:srgbClr>
                </a:solidFill>
                <a:latin typeface="Barlow" pitchFamily="34" charset="0"/>
                <a:ea typeface="Barlow" pitchFamily="34" charset="-122"/>
                <a:cs typeface="Barlow" pitchFamily="34" charset="-120"/>
              </a:rPr>
              <a:t>Tecnología</a:t>
            </a:r>
            <a:endParaRPr lang="en-US" sz="1800" dirty="0"/>
          </a:p>
        </p:txBody>
      </p:sp>
      <p:sp>
        <p:nvSpPr>
          <p:cNvPr id="39" name="Shape 36"/>
          <p:cNvSpPr/>
          <p:nvPr/>
        </p:nvSpPr>
        <p:spPr>
          <a:xfrm>
            <a:off x="14079736" y="6688336"/>
            <a:ext cx="1361033" cy="676275"/>
          </a:xfrm>
          <a:prstGeom prst="roundRect">
            <a:avLst>
              <a:gd name="adj" fmla="val 12676"/>
            </a:avLst>
          </a:prstGeom>
          <a:solidFill>
            <a:srgbClr val="855AC6">
              <a:alpha val="18000"/>
            </a:srgbClr>
          </a:solidFill>
          <a:ln w="9525">
            <a:solidFill>
              <a:srgbClr val="855AC6">
                <a:alpha val="55000"/>
              </a:srgbClr>
            </a:solidFill>
            <a:prstDash val="solid"/>
          </a:ln>
          <a:effectLst>
            <a:outerShdw blurRad="266700" dist="95250" dir="5400000" algn="bl" rotWithShape="0">
              <a:srgbClr val="855AC6">
                <a:alpha val="85000"/>
              </a:srgbClr>
            </a:outerShdw>
          </a:effectLst>
        </p:spPr>
        <p:txBody>
          <a:bodyPr/>
          <a:lstStyle/>
          <a:p>
            <a:endParaRPr lang="es-ES"/>
          </a:p>
        </p:txBody>
      </p:sp>
      <p:sp>
        <p:nvSpPr>
          <p:cNvPr id="40" name="Shape 37"/>
          <p:cNvSpPr/>
          <p:nvPr/>
        </p:nvSpPr>
        <p:spPr>
          <a:xfrm>
            <a:off x="14645878" y="6850261"/>
            <a:ext cx="228600" cy="28575"/>
          </a:xfrm>
          <a:prstGeom prst="roundRect">
            <a:avLst>
              <a:gd name="adj" fmla="val 50000"/>
            </a:avLst>
          </a:prstGeom>
          <a:solidFill>
            <a:srgbClr val="855AC6"/>
          </a:solidFill>
          <a:ln/>
        </p:spPr>
        <p:txBody>
          <a:bodyPr/>
          <a:lstStyle/>
          <a:p>
            <a:endParaRPr lang="es-ES"/>
          </a:p>
        </p:txBody>
      </p:sp>
      <p:sp>
        <p:nvSpPr>
          <p:cNvPr id="41" name="Text 38"/>
          <p:cNvSpPr/>
          <p:nvPr/>
        </p:nvSpPr>
        <p:spPr>
          <a:xfrm>
            <a:off x="14127361" y="6983611"/>
            <a:ext cx="1265783" cy="266700"/>
          </a:xfrm>
          <a:prstGeom prst="rect">
            <a:avLst/>
          </a:prstGeom>
          <a:noFill/>
          <a:ln/>
        </p:spPr>
        <p:txBody>
          <a:bodyPr wrap="square" lIns="25400" tIns="25400" rIns="25400" bIns="25400" rtlCol="0" anchor="t">
            <a:normAutofit lnSpcReduction="10000"/>
          </a:bodyPr>
          <a:lstStyle/>
          <a:p>
            <a:pPr marL="0" indent="0" algn="ctr">
              <a:lnSpc>
                <a:spcPct val="82759"/>
              </a:lnSpc>
              <a:buNone/>
            </a:pPr>
            <a:r>
              <a:rPr lang="en-US" sz="1800" b="1" dirty="0">
                <a:solidFill>
                  <a:srgbClr val="FFFFFF"/>
                </a:solidFill>
                <a:latin typeface="Barlow" pitchFamily="34" charset="0"/>
                <a:ea typeface="Barlow" pitchFamily="34" charset="-122"/>
                <a:cs typeface="Barlow" pitchFamily="34" charset="-120"/>
              </a:rPr>
              <a:t>Personas</a:t>
            </a:r>
            <a:endParaRPr lang="en-US" sz="1800" dirty="0"/>
          </a:p>
        </p:txBody>
      </p:sp>
      <p:sp>
        <p:nvSpPr>
          <p:cNvPr id="42" name="Shape 39"/>
          <p:cNvSpPr/>
          <p:nvPr/>
        </p:nvSpPr>
        <p:spPr>
          <a:xfrm>
            <a:off x="15536019" y="6688336"/>
            <a:ext cx="1361182" cy="676275"/>
          </a:xfrm>
          <a:prstGeom prst="roundRect">
            <a:avLst>
              <a:gd name="adj" fmla="val 12676"/>
            </a:avLst>
          </a:prstGeom>
          <a:solidFill>
            <a:srgbClr val="855AC6">
              <a:alpha val="18000"/>
            </a:srgbClr>
          </a:solidFill>
          <a:ln w="9525">
            <a:solidFill>
              <a:srgbClr val="855AC6">
                <a:alpha val="55000"/>
              </a:srgbClr>
            </a:solidFill>
            <a:prstDash val="solid"/>
          </a:ln>
          <a:effectLst>
            <a:outerShdw blurRad="266700" dist="95250" dir="5400000" algn="bl" rotWithShape="0">
              <a:srgbClr val="855AC6">
                <a:alpha val="85000"/>
              </a:srgbClr>
            </a:outerShdw>
          </a:effectLst>
        </p:spPr>
        <p:txBody>
          <a:bodyPr/>
          <a:lstStyle/>
          <a:p>
            <a:endParaRPr lang="es-ES"/>
          </a:p>
        </p:txBody>
      </p:sp>
      <p:sp>
        <p:nvSpPr>
          <p:cNvPr id="43" name="Shape 40"/>
          <p:cNvSpPr/>
          <p:nvPr/>
        </p:nvSpPr>
        <p:spPr>
          <a:xfrm>
            <a:off x="16102310" y="6850261"/>
            <a:ext cx="228600" cy="28575"/>
          </a:xfrm>
          <a:prstGeom prst="roundRect">
            <a:avLst>
              <a:gd name="adj" fmla="val 50000"/>
            </a:avLst>
          </a:prstGeom>
          <a:solidFill>
            <a:srgbClr val="855AC6"/>
          </a:solidFill>
          <a:ln/>
        </p:spPr>
        <p:txBody>
          <a:bodyPr/>
          <a:lstStyle/>
          <a:p>
            <a:endParaRPr lang="es-ES"/>
          </a:p>
        </p:txBody>
      </p:sp>
      <p:sp>
        <p:nvSpPr>
          <p:cNvPr id="44" name="Text 41"/>
          <p:cNvSpPr/>
          <p:nvPr/>
        </p:nvSpPr>
        <p:spPr>
          <a:xfrm>
            <a:off x="15583644" y="6983611"/>
            <a:ext cx="1265932" cy="266700"/>
          </a:xfrm>
          <a:prstGeom prst="rect">
            <a:avLst/>
          </a:prstGeom>
          <a:noFill/>
          <a:ln/>
        </p:spPr>
        <p:txBody>
          <a:bodyPr wrap="square" lIns="25400" tIns="25400" rIns="25400" bIns="25400" rtlCol="0" anchor="t">
            <a:normAutofit lnSpcReduction="10000"/>
          </a:bodyPr>
          <a:lstStyle/>
          <a:p>
            <a:pPr marL="0" indent="0" algn="ctr">
              <a:lnSpc>
                <a:spcPct val="82759"/>
              </a:lnSpc>
              <a:buNone/>
            </a:pPr>
            <a:r>
              <a:rPr lang="en-US" sz="1800" b="1" dirty="0">
                <a:solidFill>
                  <a:srgbClr val="FFFFFF"/>
                </a:solidFill>
                <a:latin typeface="Barlow" pitchFamily="34" charset="0"/>
                <a:ea typeface="Barlow" pitchFamily="34" charset="-122"/>
                <a:cs typeface="Barlow" pitchFamily="34" charset="-120"/>
              </a:rPr>
              <a:t>Cultura</a:t>
            </a:r>
            <a:endParaRPr lang="en-US" sz="1800" dirty="0"/>
          </a:p>
        </p:txBody>
      </p:sp>
      <p:sp>
        <p:nvSpPr>
          <p:cNvPr id="45" name="Text 42"/>
          <p:cNvSpPr/>
          <p:nvPr/>
        </p:nvSpPr>
        <p:spPr>
          <a:xfrm>
            <a:off x="11167021" y="7555111"/>
            <a:ext cx="5902086" cy="666750"/>
          </a:xfrm>
          <a:prstGeom prst="rect">
            <a:avLst/>
          </a:prstGeom>
          <a:noFill/>
          <a:ln/>
        </p:spPr>
        <p:txBody>
          <a:bodyPr wrap="square" lIns="25400" tIns="25400" rIns="25400" bIns="25400" rtlCol="0" anchor="t">
            <a:normAutofit/>
          </a:bodyPr>
          <a:lstStyle/>
          <a:p>
            <a:pPr marL="0" indent="0" algn="l">
              <a:lnSpc>
                <a:spcPct val="126923"/>
              </a:lnSpc>
              <a:buNone/>
            </a:pPr>
            <a:r>
              <a:rPr lang="en-US" sz="1650" dirty="0">
                <a:solidFill>
                  <a:srgbClr val="FFFFFF">
                    <a:alpha val="85000"/>
                  </a:srgbClr>
                </a:solidFill>
                <a:latin typeface="Arial" pitchFamily="34" charset="0"/>
                <a:ea typeface="Arial" pitchFamily="34" charset="-122"/>
                <a:cs typeface="Arial" pitchFamily="34" charset="-120"/>
              </a:rPr>
              <a:t>La IA acelera ese choque: redefine procesos y funciones más rápido de lo que la organización los absorbe.</a:t>
            </a:r>
            <a:endParaRPr lang="en-US" sz="1650" dirty="0"/>
          </a:p>
        </p:txBody>
      </p:sp>
      <p:sp>
        <p:nvSpPr>
          <p:cNvPr id="46" name="Text 43"/>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47" name="Text 44"/>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06 / 24</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2636237" cy="228600"/>
          </a:xfrm>
          <a:prstGeom prst="rect">
            <a:avLst/>
          </a:prstGeom>
          <a:noFill/>
          <a:ln/>
        </p:spPr>
        <p:txBody>
          <a:bodyPr wrap="square" lIns="25400" tIns="25400" rIns="25400" bIns="25400" rtlCol="0" anchor="t">
            <a:normAutofit fontScale="925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NUESTRA PROPUESTA</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717030"/>
            <a:ext cx="17769840" cy="538163"/>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3750" b="1" kern="0" spc="-75" dirty="0">
                <a:solidFill>
                  <a:srgbClr val="041C2C"/>
                </a:solidFill>
                <a:latin typeface="Barlow" pitchFamily="34" charset="0"/>
                <a:ea typeface="Barlow" pitchFamily="34" charset="-122"/>
                <a:cs typeface="Barlow" pitchFamily="34" charset="-120"/>
              </a:rPr>
              <a:t>Tecnología que </a:t>
            </a:r>
            <a:r>
              <a:rPr lang="en-US" sz="3750" b="1" kern="0" spc="-75" dirty="0">
                <a:solidFill>
                  <a:srgbClr val="3A8E63"/>
                </a:solidFill>
                <a:latin typeface="Barlow" pitchFamily="34" charset="0"/>
                <a:ea typeface="Barlow" pitchFamily="34" charset="-122"/>
                <a:cs typeface="Barlow" pitchFamily="34" charset="-120"/>
              </a:rPr>
              <a:t>llega a la cuenta de resultados.</a:t>
            </a:r>
            <a:endParaRPr lang="en-US" sz="3750" dirty="0"/>
          </a:p>
        </p:txBody>
      </p:sp>
      <p:sp>
        <p:nvSpPr>
          <p:cNvPr id="6" name="Text 3"/>
          <p:cNvSpPr/>
          <p:nvPr/>
        </p:nvSpPr>
        <p:spPr>
          <a:xfrm>
            <a:off x="1066800" y="2331393"/>
            <a:ext cx="10477500" cy="335161"/>
          </a:xfrm>
          <a:prstGeom prst="rect">
            <a:avLst/>
          </a:prstGeom>
          <a:noFill/>
          <a:ln/>
        </p:spPr>
        <p:txBody>
          <a:bodyPr wrap="square" lIns="25400" tIns="25400" rIns="25400" bIns="25400" rtlCol="0" anchor="t">
            <a:normAutofit/>
          </a:bodyPr>
          <a:lstStyle/>
          <a:p>
            <a:pPr marL="0" indent="0" algn="l">
              <a:lnSpc>
                <a:spcPct val="107586"/>
              </a:lnSpc>
              <a:buNone/>
            </a:pPr>
            <a:r>
              <a:rPr lang="en-US" sz="1800" dirty="0">
                <a:solidFill>
                  <a:srgbClr val="354A5A"/>
                </a:solidFill>
                <a:latin typeface="Barlow" pitchFamily="34" charset="0"/>
                <a:ea typeface="Barlow" pitchFamily="34" charset="-122"/>
                <a:cs typeface="Barlow" pitchFamily="34" charset="-120"/>
              </a:rPr>
              <a:t>Lo que el mercado demuestra que funciona es </a:t>
            </a:r>
            <a:r>
              <a:rPr lang="en-US" sz="1800" b="1" dirty="0">
                <a:solidFill>
                  <a:srgbClr val="041C2C"/>
                </a:solidFill>
                <a:latin typeface="Barlow" pitchFamily="34" charset="0"/>
                <a:ea typeface="Barlow" pitchFamily="34" charset="-122"/>
                <a:cs typeface="Barlow" pitchFamily="34" charset="-120"/>
              </a:rPr>
              <a:t>exactamente como trabajamos</a:t>
            </a:r>
            <a:r>
              <a:rPr lang="en-US" sz="1800" dirty="0">
                <a:solidFill>
                  <a:srgbClr val="354A5A"/>
                </a:solidFill>
                <a:latin typeface="Barlow" pitchFamily="34" charset="0"/>
                <a:ea typeface="Barlow" pitchFamily="34" charset="-122"/>
                <a:cs typeface="Barlow" pitchFamily="34" charset="-120"/>
              </a:rPr>
              <a:t>.</a:t>
            </a:r>
            <a:endParaRPr lang="en-US" sz="1800" dirty="0"/>
          </a:p>
        </p:txBody>
      </p:sp>
      <p:sp>
        <p:nvSpPr>
          <p:cNvPr id="7" name="Shape 4"/>
          <p:cNvSpPr/>
          <p:nvPr/>
        </p:nvSpPr>
        <p:spPr>
          <a:xfrm>
            <a:off x="1066800" y="3104704"/>
            <a:ext cx="4065984" cy="6132016"/>
          </a:xfrm>
          <a:prstGeom prst="roundRect">
            <a:avLst>
              <a:gd name="adj" fmla="val 3280"/>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8" name="Text 5"/>
          <p:cNvSpPr/>
          <p:nvPr/>
        </p:nvSpPr>
        <p:spPr>
          <a:xfrm>
            <a:off x="1304925" y="3361879"/>
            <a:ext cx="3948708"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041C2C"/>
                </a:solidFill>
                <a:latin typeface="Barlow" pitchFamily="34" charset="0"/>
                <a:ea typeface="Barlow" pitchFamily="34" charset="-122"/>
                <a:cs typeface="Barlow" pitchFamily="34" charset="-120"/>
              </a:rPr>
              <a:t>Por qué fracasan los proyectos</a:t>
            </a:r>
            <a:endParaRPr lang="en-US" sz="1875" dirty="0"/>
          </a:p>
        </p:txBody>
      </p:sp>
      <p:sp>
        <p:nvSpPr>
          <p:cNvPr id="9" name="Text 6"/>
          <p:cNvSpPr/>
          <p:nvPr/>
        </p:nvSpPr>
        <p:spPr>
          <a:xfrm>
            <a:off x="1457325" y="3800029"/>
            <a:ext cx="3781068" cy="251520"/>
          </a:xfrm>
          <a:prstGeom prst="rect">
            <a:avLst/>
          </a:prstGeom>
          <a:noFill/>
          <a:ln/>
        </p:spPr>
        <p:txBody>
          <a:bodyPr wrap="square" lIns="25400" tIns="25400" rIns="25400" bIns="25400" rtlCol="0" anchor="t">
            <a:normAutofit lnSpcReduction="10000"/>
          </a:bodyPr>
          <a:lstStyle/>
          <a:p>
            <a:pPr marL="0" indent="0" algn="l">
              <a:lnSpc>
                <a:spcPct val="97478"/>
              </a:lnSpc>
              <a:buNone/>
            </a:pPr>
            <a:r>
              <a:rPr lang="en-US" sz="1425" b="1" kern="0" spc="-14" dirty="0">
                <a:solidFill>
                  <a:srgbClr val="041C2C"/>
                </a:solidFill>
                <a:latin typeface="Barlow" pitchFamily="34" charset="0"/>
                <a:ea typeface="Barlow" pitchFamily="34" charset="-122"/>
                <a:cs typeface="Barlow" pitchFamily="34" charset="-120"/>
              </a:rPr>
              <a:t>Estrategia sin </a:t>
            </a:r>
            <a:r>
              <a:rPr lang="en-US" sz="1425" b="1" kern="0" spc="-14" dirty="0">
                <a:solidFill>
                  <a:srgbClr val="5E3D9B"/>
                </a:solidFill>
                <a:latin typeface="Barlow" pitchFamily="34" charset="0"/>
                <a:ea typeface="Barlow" pitchFamily="34" charset="-122"/>
                <a:cs typeface="Barlow" pitchFamily="34" charset="-120"/>
              </a:rPr>
              <a:t>ejecución</a:t>
            </a:r>
            <a:endParaRPr lang="en-US" sz="1425" dirty="0"/>
          </a:p>
        </p:txBody>
      </p:sp>
      <p:sp>
        <p:nvSpPr>
          <p:cNvPr id="10" name="Text 7"/>
          <p:cNvSpPr/>
          <p:nvPr/>
        </p:nvSpPr>
        <p:spPr>
          <a:xfrm>
            <a:off x="1457325" y="4070598"/>
            <a:ext cx="3540454"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i="1" dirty="0">
                <a:solidFill>
                  <a:srgbClr val="354A5A"/>
                </a:solidFill>
                <a:latin typeface="Barlow" pitchFamily="34" charset="0"/>
                <a:ea typeface="Barlow" pitchFamily="34" charset="-122"/>
                <a:cs typeface="Barlow" pitchFamily="34" charset="-120"/>
              </a:rPr>
              <a:t>Solo </a:t>
            </a:r>
            <a:r>
              <a:rPr lang="en-US" sz="1275" b="1" i="1" dirty="0">
                <a:solidFill>
                  <a:srgbClr val="041C2C"/>
                </a:solidFill>
                <a:latin typeface="Barlow" pitchFamily="34" charset="0"/>
                <a:ea typeface="Barlow" pitchFamily="34" charset="-122"/>
                <a:cs typeface="Barlow" pitchFamily="34" charset="-120"/>
              </a:rPr>
              <a:t>1 de cada 3 </a:t>
            </a:r>
            <a:r>
              <a:rPr lang="en-US" sz="1275" i="1" dirty="0">
                <a:solidFill>
                  <a:srgbClr val="354A5A"/>
                </a:solidFill>
                <a:latin typeface="Barlow" pitchFamily="34" charset="0"/>
                <a:ea typeface="Barlow" pitchFamily="34" charset="-122"/>
                <a:cs typeface="Barlow" pitchFamily="34" charset="-120"/>
              </a:rPr>
              <a:t>transformaciones alcanza sus objetivos. </a:t>
            </a:r>
            <a:r>
              <a:rPr lang="en-US" sz="1050" i="1" dirty="0">
                <a:solidFill>
                  <a:srgbClr val="6E8493"/>
                </a:solidFill>
                <a:latin typeface="JetBrains Mono" pitchFamily="34" charset="0"/>
                <a:ea typeface="JetBrains Mono" pitchFamily="34" charset="-122"/>
                <a:cs typeface="JetBrains Mono" pitchFamily="34" charset="-120"/>
              </a:rPr>
              <a:t>BCG</a:t>
            </a:r>
            <a:endParaRPr lang="en-US" sz="1275" dirty="0"/>
          </a:p>
        </p:txBody>
      </p:sp>
      <p:sp>
        <p:nvSpPr>
          <p:cNvPr id="11" name="Text 8"/>
          <p:cNvSpPr/>
          <p:nvPr/>
        </p:nvSpPr>
        <p:spPr>
          <a:xfrm>
            <a:off x="1457325" y="4637633"/>
            <a:ext cx="3781068" cy="251520"/>
          </a:xfrm>
          <a:prstGeom prst="rect">
            <a:avLst/>
          </a:prstGeom>
          <a:noFill/>
          <a:ln/>
        </p:spPr>
        <p:txBody>
          <a:bodyPr wrap="square" lIns="25400" tIns="25400" rIns="25400" bIns="25400" rtlCol="0" anchor="t">
            <a:normAutofit lnSpcReduction="10000"/>
          </a:bodyPr>
          <a:lstStyle/>
          <a:p>
            <a:pPr marL="0" indent="0" algn="l">
              <a:lnSpc>
                <a:spcPct val="97478"/>
              </a:lnSpc>
              <a:buNone/>
            </a:pPr>
            <a:r>
              <a:rPr lang="en-US" sz="1425" b="1" kern="0" spc="-14" dirty="0">
                <a:solidFill>
                  <a:srgbClr val="041C2C"/>
                </a:solidFill>
                <a:latin typeface="Barlow" pitchFamily="34" charset="0"/>
                <a:ea typeface="Barlow" pitchFamily="34" charset="-122"/>
                <a:cs typeface="Barlow" pitchFamily="34" charset="-120"/>
              </a:rPr>
              <a:t>Tecnología sin </a:t>
            </a:r>
            <a:r>
              <a:rPr lang="en-US" sz="1425" b="1" kern="0" spc="-14" dirty="0">
                <a:solidFill>
                  <a:srgbClr val="5E3D9B"/>
                </a:solidFill>
                <a:latin typeface="Barlow" pitchFamily="34" charset="0"/>
                <a:ea typeface="Barlow" pitchFamily="34" charset="-122"/>
                <a:cs typeface="Barlow" pitchFamily="34" charset="-120"/>
              </a:rPr>
              <a:t>adopción</a:t>
            </a:r>
            <a:endParaRPr lang="en-US" sz="1425" dirty="0"/>
          </a:p>
        </p:txBody>
      </p:sp>
      <p:sp>
        <p:nvSpPr>
          <p:cNvPr id="12" name="Text 9"/>
          <p:cNvSpPr/>
          <p:nvPr/>
        </p:nvSpPr>
        <p:spPr>
          <a:xfrm>
            <a:off x="1457325" y="4908203"/>
            <a:ext cx="3540454" cy="471785"/>
          </a:xfrm>
          <a:prstGeom prst="rect">
            <a:avLst/>
          </a:prstGeom>
          <a:noFill/>
          <a:ln/>
        </p:spPr>
        <p:txBody>
          <a:bodyPr wrap="square" lIns="25400" tIns="25400" rIns="25400" bIns="25400" rtlCol="0" anchor="t">
            <a:normAutofit/>
          </a:bodyPr>
          <a:lstStyle/>
          <a:p>
            <a:pPr marL="0" indent="0" algn="l">
              <a:lnSpc>
                <a:spcPct val="113900"/>
              </a:lnSpc>
              <a:buNone/>
            </a:pPr>
            <a:r>
              <a:rPr lang="en-US" sz="1275" i="1" dirty="0">
                <a:solidFill>
                  <a:srgbClr val="354A5A"/>
                </a:solidFill>
                <a:latin typeface="Barlow" pitchFamily="34" charset="0"/>
                <a:ea typeface="Barlow" pitchFamily="34" charset="-122"/>
                <a:cs typeface="Barlow" pitchFamily="34" charset="-120"/>
              </a:rPr>
              <a:t>Hasta </a:t>
            </a:r>
            <a:r>
              <a:rPr lang="en-US" sz="1275" b="1" i="1" dirty="0">
                <a:solidFill>
                  <a:srgbClr val="041C2C"/>
                </a:solidFill>
                <a:latin typeface="Barlow" pitchFamily="34" charset="0"/>
                <a:ea typeface="Barlow" pitchFamily="34" charset="-122"/>
                <a:cs typeface="Barlow" pitchFamily="34" charset="-120"/>
              </a:rPr>
              <a:t>7× </a:t>
            </a:r>
            <a:r>
              <a:rPr lang="en-US" sz="1275" i="1" dirty="0">
                <a:solidFill>
                  <a:srgbClr val="354A5A"/>
                </a:solidFill>
                <a:latin typeface="Barlow" pitchFamily="34" charset="0"/>
                <a:ea typeface="Barlow" pitchFamily="34" charset="-122"/>
                <a:cs typeface="Barlow" pitchFamily="34" charset="-120"/>
              </a:rPr>
              <a:t>más éxito con gestión del cambio. </a:t>
            </a:r>
            <a:r>
              <a:rPr lang="en-US" sz="1050" i="1" dirty="0">
                <a:solidFill>
                  <a:srgbClr val="6E8493"/>
                </a:solidFill>
                <a:latin typeface="JetBrains Mono" pitchFamily="34" charset="0"/>
                <a:ea typeface="JetBrains Mono" pitchFamily="34" charset="-122"/>
                <a:cs typeface="JetBrains Mono" pitchFamily="34" charset="-120"/>
              </a:rPr>
              <a:t>Prosci</a:t>
            </a:r>
            <a:endParaRPr lang="en-US" sz="1275" dirty="0"/>
          </a:p>
        </p:txBody>
      </p:sp>
      <p:sp>
        <p:nvSpPr>
          <p:cNvPr id="13" name="Text 10"/>
          <p:cNvSpPr/>
          <p:nvPr/>
        </p:nvSpPr>
        <p:spPr>
          <a:xfrm>
            <a:off x="1457325" y="5475238"/>
            <a:ext cx="3781068" cy="251520"/>
          </a:xfrm>
          <a:prstGeom prst="rect">
            <a:avLst/>
          </a:prstGeom>
          <a:noFill/>
          <a:ln/>
        </p:spPr>
        <p:txBody>
          <a:bodyPr wrap="square" lIns="25400" tIns="25400" rIns="25400" bIns="25400" rtlCol="0" anchor="t">
            <a:normAutofit lnSpcReduction="10000"/>
          </a:bodyPr>
          <a:lstStyle/>
          <a:p>
            <a:pPr marL="0" indent="0" algn="l">
              <a:lnSpc>
                <a:spcPct val="97478"/>
              </a:lnSpc>
              <a:buNone/>
            </a:pPr>
            <a:r>
              <a:rPr lang="en-US" sz="1425" b="1" kern="0" spc="-14" dirty="0">
                <a:solidFill>
                  <a:srgbClr val="041C2C"/>
                </a:solidFill>
                <a:latin typeface="Barlow" pitchFamily="34" charset="0"/>
                <a:ea typeface="Barlow" pitchFamily="34" charset="-122"/>
                <a:cs typeface="Barlow" pitchFamily="34" charset="-120"/>
              </a:rPr>
              <a:t>Automatización sin </a:t>
            </a:r>
            <a:r>
              <a:rPr lang="en-US" sz="1425" b="1" kern="0" spc="-14" dirty="0">
                <a:solidFill>
                  <a:srgbClr val="5E3D9B"/>
                </a:solidFill>
                <a:latin typeface="Barlow" pitchFamily="34" charset="0"/>
                <a:ea typeface="Barlow" pitchFamily="34" charset="-122"/>
                <a:cs typeface="Barlow" pitchFamily="34" charset="-120"/>
              </a:rPr>
              <a:t>revisión del proceso</a:t>
            </a:r>
            <a:endParaRPr lang="en-US" sz="1425" dirty="0"/>
          </a:p>
        </p:txBody>
      </p:sp>
      <p:sp>
        <p:nvSpPr>
          <p:cNvPr id="14" name="Text 11"/>
          <p:cNvSpPr/>
          <p:nvPr/>
        </p:nvSpPr>
        <p:spPr>
          <a:xfrm>
            <a:off x="1457325" y="5745807"/>
            <a:ext cx="3540454" cy="471785"/>
          </a:xfrm>
          <a:prstGeom prst="rect">
            <a:avLst/>
          </a:prstGeom>
          <a:noFill/>
          <a:ln/>
        </p:spPr>
        <p:txBody>
          <a:bodyPr wrap="square" lIns="25400" tIns="25400" rIns="25400" bIns="25400" rtlCol="0" anchor="t">
            <a:normAutofit/>
          </a:bodyPr>
          <a:lstStyle/>
          <a:p>
            <a:pPr marL="0" indent="0" algn="l">
              <a:lnSpc>
                <a:spcPct val="113900"/>
              </a:lnSpc>
              <a:buNone/>
            </a:pPr>
            <a:r>
              <a:rPr lang="en-US" sz="1275" i="1" dirty="0">
                <a:solidFill>
                  <a:srgbClr val="354A5A"/>
                </a:solidFill>
                <a:latin typeface="Barlow" pitchFamily="34" charset="0"/>
                <a:ea typeface="Barlow" pitchFamily="34" charset="-122"/>
                <a:cs typeface="Barlow" pitchFamily="34" charset="-120"/>
              </a:rPr>
              <a:t>Hasta </a:t>
            </a:r>
            <a:r>
              <a:rPr lang="en-US" sz="1275" b="1" i="1" dirty="0">
                <a:solidFill>
                  <a:srgbClr val="041C2C"/>
                </a:solidFill>
                <a:latin typeface="Barlow" pitchFamily="34" charset="0"/>
                <a:ea typeface="Barlow" pitchFamily="34" charset="-122"/>
                <a:cs typeface="Barlow" pitchFamily="34" charset="-120"/>
              </a:rPr>
              <a:t>la mitad </a:t>
            </a:r>
            <a:r>
              <a:rPr lang="en-US" sz="1275" i="1" dirty="0">
                <a:solidFill>
                  <a:srgbClr val="354A5A"/>
                </a:solidFill>
                <a:latin typeface="Barlow" pitchFamily="34" charset="0"/>
                <a:ea typeface="Barlow" pitchFamily="34" charset="-122"/>
                <a:cs typeface="Barlow" pitchFamily="34" charset="-120"/>
              </a:rPr>
              <a:t>de las automatizaciones fracasan. </a:t>
            </a:r>
            <a:r>
              <a:rPr lang="en-US" sz="1050" i="1" dirty="0">
                <a:solidFill>
                  <a:srgbClr val="6E8493"/>
                </a:solidFill>
                <a:latin typeface="JetBrains Mono" pitchFamily="34" charset="0"/>
                <a:ea typeface="JetBrains Mono" pitchFamily="34" charset="-122"/>
                <a:cs typeface="JetBrains Mono" pitchFamily="34" charset="-120"/>
              </a:rPr>
              <a:t>EY</a:t>
            </a:r>
            <a:endParaRPr lang="en-US" sz="1275" dirty="0"/>
          </a:p>
        </p:txBody>
      </p:sp>
      <p:sp>
        <p:nvSpPr>
          <p:cNvPr id="15" name="Text 12"/>
          <p:cNvSpPr/>
          <p:nvPr/>
        </p:nvSpPr>
        <p:spPr>
          <a:xfrm>
            <a:off x="1457325" y="6312843"/>
            <a:ext cx="3781068" cy="251520"/>
          </a:xfrm>
          <a:prstGeom prst="rect">
            <a:avLst/>
          </a:prstGeom>
          <a:noFill/>
          <a:ln/>
        </p:spPr>
        <p:txBody>
          <a:bodyPr wrap="square" lIns="25400" tIns="25400" rIns="25400" bIns="25400" rtlCol="0" anchor="t">
            <a:normAutofit lnSpcReduction="10000"/>
          </a:bodyPr>
          <a:lstStyle/>
          <a:p>
            <a:pPr marL="0" indent="0" algn="l">
              <a:lnSpc>
                <a:spcPct val="97478"/>
              </a:lnSpc>
              <a:buNone/>
            </a:pPr>
            <a:r>
              <a:rPr lang="en-US" sz="1425" b="1" kern="0" spc="-14" dirty="0">
                <a:solidFill>
                  <a:srgbClr val="041C2C"/>
                </a:solidFill>
                <a:latin typeface="Barlow" pitchFamily="34" charset="0"/>
                <a:ea typeface="Barlow" pitchFamily="34" charset="-122"/>
                <a:cs typeface="Barlow" pitchFamily="34" charset="-120"/>
              </a:rPr>
              <a:t>Proyecto sin </a:t>
            </a:r>
            <a:r>
              <a:rPr lang="en-US" sz="1425" b="1" kern="0" spc="-14" dirty="0">
                <a:solidFill>
                  <a:srgbClr val="5E3D9B"/>
                </a:solidFill>
                <a:latin typeface="Barlow" pitchFamily="34" charset="0"/>
                <a:ea typeface="Barlow" pitchFamily="34" charset="-122"/>
                <a:cs typeface="Barlow" pitchFamily="34" charset="-120"/>
              </a:rPr>
              <a:t>operación</a:t>
            </a:r>
            <a:endParaRPr lang="en-US" sz="1425" dirty="0"/>
          </a:p>
        </p:txBody>
      </p:sp>
      <p:sp>
        <p:nvSpPr>
          <p:cNvPr id="16" name="Text 13"/>
          <p:cNvSpPr/>
          <p:nvPr/>
        </p:nvSpPr>
        <p:spPr>
          <a:xfrm>
            <a:off x="1457325" y="6583412"/>
            <a:ext cx="3540454"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i="1" dirty="0">
                <a:solidFill>
                  <a:srgbClr val="354A5A"/>
                </a:solidFill>
                <a:latin typeface="Barlow" pitchFamily="34" charset="0"/>
                <a:ea typeface="Barlow" pitchFamily="34" charset="-122"/>
                <a:cs typeface="Barlow" pitchFamily="34" charset="-120"/>
              </a:rPr>
              <a:t>Solo </a:t>
            </a:r>
            <a:r>
              <a:rPr lang="en-US" sz="1275" b="1" i="1" dirty="0">
                <a:solidFill>
                  <a:srgbClr val="041C2C"/>
                </a:solidFill>
                <a:latin typeface="Barlow" pitchFamily="34" charset="0"/>
                <a:ea typeface="Barlow" pitchFamily="34" charset="-122"/>
                <a:cs typeface="Barlow" pitchFamily="34" charset="-120"/>
              </a:rPr>
              <a:t>1 de cada 3 </a:t>
            </a:r>
            <a:r>
              <a:rPr lang="en-US" sz="1275" i="1" dirty="0">
                <a:solidFill>
                  <a:srgbClr val="354A5A"/>
                </a:solidFill>
                <a:latin typeface="Barlow" pitchFamily="34" charset="0"/>
                <a:ea typeface="Barlow" pitchFamily="34" charset="-122"/>
                <a:cs typeface="Barlow" pitchFamily="34" charset="-120"/>
              </a:rPr>
              <a:t>proyectos IT mantiene el éxito en el tiempo. </a:t>
            </a:r>
            <a:r>
              <a:rPr lang="en-US" sz="1050" i="1" dirty="0">
                <a:solidFill>
                  <a:srgbClr val="6E8493"/>
                </a:solidFill>
                <a:latin typeface="JetBrains Mono" pitchFamily="34" charset="0"/>
                <a:ea typeface="JetBrains Mono" pitchFamily="34" charset="-122"/>
                <a:cs typeface="JetBrains Mono" pitchFamily="34" charset="-120"/>
              </a:rPr>
              <a:t>Standish Group</a:t>
            </a:r>
            <a:endParaRPr lang="en-US" sz="1275" dirty="0"/>
          </a:p>
        </p:txBody>
      </p:sp>
      <p:sp>
        <p:nvSpPr>
          <p:cNvPr id="17" name="Shape 14"/>
          <p:cNvSpPr/>
          <p:nvPr/>
        </p:nvSpPr>
        <p:spPr>
          <a:xfrm>
            <a:off x="1304925" y="8180338"/>
            <a:ext cx="3589734" cy="799207"/>
          </a:xfrm>
          <a:prstGeom prst="roundRect">
            <a:avLst>
              <a:gd name="adj" fmla="val 14302"/>
            </a:avLst>
          </a:prstGeom>
          <a:solidFill>
            <a:srgbClr val="041C2C"/>
          </a:solidFill>
          <a:ln/>
          <a:effectLst>
            <a:outerShdw blurRad="38100" dist="19050" dir="5400000" algn="bl" rotWithShape="0">
              <a:srgbClr val="041C2C">
                <a:alpha val="7000"/>
              </a:srgbClr>
            </a:outerShdw>
          </a:effectLst>
        </p:spPr>
        <p:txBody>
          <a:bodyPr/>
          <a:lstStyle/>
          <a:p>
            <a:endParaRPr lang="es-ES"/>
          </a:p>
        </p:txBody>
      </p:sp>
      <p:sp>
        <p:nvSpPr>
          <p:cNvPr id="18" name="Text 15"/>
          <p:cNvSpPr/>
          <p:nvPr/>
        </p:nvSpPr>
        <p:spPr>
          <a:xfrm>
            <a:off x="1476375" y="8332738"/>
            <a:ext cx="3354526" cy="532507"/>
          </a:xfrm>
          <a:prstGeom prst="rect">
            <a:avLst/>
          </a:prstGeom>
          <a:noFill/>
          <a:ln/>
        </p:spPr>
        <p:txBody>
          <a:bodyPr wrap="square" lIns="25400" tIns="25400" rIns="25400" bIns="25400" rtlCol="0" anchor="t">
            <a:normAutofit lnSpcReduction="10000"/>
          </a:bodyPr>
          <a:lstStyle/>
          <a:p>
            <a:pPr marL="0" indent="0" algn="l">
              <a:lnSpc>
                <a:spcPct val="99846"/>
              </a:lnSpc>
              <a:buNone/>
            </a:pPr>
            <a:r>
              <a:rPr lang="en-US" sz="1650" b="1" dirty="0">
                <a:solidFill>
                  <a:srgbClr val="FFFFFF"/>
                </a:solidFill>
                <a:highlight>
                  <a:srgbClr val="041C2C"/>
                </a:highlight>
                <a:latin typeface="Barlow" pitchFamily="34" charset="0"/>
                <a:ea typeface="Barlow" pitchFamily="34" charset="-122"/>
                <a:cs typeface="Barlow" pitchFamily="34" charset="-120"/>
              </a:rPr>
              <a:t>Por eso </a:t>
            </a:r>
            <a:r>
              <a:rPr lang="en-US" sz="1650" b="1" dirty="0">
                <a:solidFill>
                  <a:srgbClr val="B79BE6"/>
                </a:solidFill>
                <a:latin typeface="Barlow" pitchFamily="34" charset="0"/>
                <a:ea typeface="Barlow" pitchFamily="34" charset="-122"/>
                <a:cs typeface="Barlow" pitchFamily="34" charset="-120"/>
              </a:rPr>
              <a:t>no trabajamos como el mercado.</a:t>
            </a:r>
            <a:endParaRPr lang="en-US" sz="165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66134" y="6046887"/>
            <a:ext cx="247650" cy="247650"/>
          </a:xfrm>
          <a:prstGeom prst="rect">
            <a:avLst/>
          </a:prstGeom>
        </p:spPr>
      </p:pic>
      <p:sp>
        <p:nvSpPr>
          <p:cNvPr id="20" name="Shape 16"/>
          <p:cNvSpPr/>
          <p:nvPr/>
        </p:nvSpPr>
        <p:spPr>
          <a:xfrm>
            <a:off x="5647134" y="3104704"/>
            <a:ext cx="6993582" cy="6132016"/>
          </a:xfrm>
          <a:prstGeom prst="roundRect">
            <a:avLst>
              <a:gd name="adj" fmla="val 2175"/>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21" name="Text 17"/>
          <p:cNvSpPr/>
          <p:nvPr/>
        </p:nvSpPr>
        <p:spPr>
          <a:xfrm>
            <a:off x="5875734" y="3352354"/>
            <a:ext cx="7190021"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FFFFFF"/>
                </a:solidFill>
                <a:latin typeface="Barlow" pitchFamily="34" charset="0"/>
                <a:ea typeface="Barlow" pitchFamily="34" charset="-122"/>
                <a:cs typeface="Barlow" pitchFamily="34" charset="-120"/>
              </a:rPr>
              <a:t>Nuestro método</a:t>
            </a:r>
            <a:endParaRPr lang="en-US" sz="1875"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29351" y="3714304"/>
            <a:ext cx="3429000" cy="3429000"/>
          </a:xfrm>
          <a:prstGeom prst="rect">
            <a:avLst/>
          </a:prstGeom>
        </p:spPr>
      </p:pic>
      <p:sp>
        <p:nvSpPr>
          <p:cNvPr id="23" name="Shape 18"/>
          <p:cNvSpPr/>
          <p:nvPr/>
        </p:nvSpPr>
        <p:spPr>
          <a:xfrm>
            <a:off x="7886551" y="4171504"/>
            <a:ext cx="742950" cy="742950"/>
          </a:xfrm>
          <a:prstGeom prst="ellipse">
            <a:avLst/>
          </a:prstGeom>
          <a:solidFill>
            <a:srgbClr val="0B2536"/>
          </a:solidFill>
          <a:ln w="28575">
            <a:solidFill>
              <a:srgbClr val="FE5000"/>
            </a:solidFill>
            <a:prstDash val="solid"/>
          </a:ln>
          <a:effectLst>
            <a:outerShdw blurRad="228600" dist="95250" dir="5400000" algn="bl" rotWithShape="0">
              <a:srgbClr val="000000">
                <a:alpha val="70000"/>
              </a:srgbClr>
            </a:outerShdw>
          </a:effectLst>
        </p:spPr>
        <p:txBody>
          <a:bodyPr/>
          <a:lstStyle/>
          <a:p>
            <a:endParaRPr lang="es-E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15151" y="4400104"/>
            <a:ext cx="285750" cy="285750"/>
          </a:xfrm>
          <a:prstGeom prst="rect">
            <a:avLst/>
          </a:prstGeom>
        </p:spPr>
      </p:pic>
      <p:sp>
        <p:nvSpPr>
          <p:cNvPr id="25" name="Text 19"/>
          <p:cNvSpPr/>
          <p:nvPr/>
        </p:nvSpPr>
        <p:spPr>
          <a:xfrm>
            <a:off x="7472214" y="3956298"/>
            <a:ext cx="1571625" cy="205680"/>
          </a:xfrm>
          <a:prstGeom prst="rect">
            <a:avLst/>
          </a:prstGeom>
          <a:noFill/>
          <a:ln/>
        </p:spPr>
        <p:txBody>
          <a:bodyPr wrap="none" lIns="25400" tIns="25400" rIns="25400" bIns="25400" rtlCol="0" anchor="t">
            <a:normAutofit lnSpcReduction="10000"/>
          </a:bodyPr>
          <a:lstStyle/>
          <a:p>
            <a:pPr marL="0" indent="0" algn="ctr">
              <a:lnSpc>
                <a:spcPct val="92632"/>
              </a:lnSpc>
              <a:buNone/>
            </a:pPr>
            <a:r>
              <a:rPr lang="en-US" sz="1200" b="1" dirty="0">
                <a:solidFill>
                  <a:srgbClr val="FFFFFF"/>
                </a:solidFill>
                <a:latin typeface="Barlow" pitchFamily="34" charset="0"/>
                <a:ea typeface="Barlow" pitchFamily="34" charset="-122"/>
                <a:cs typeface="Barlow" pitchFamily="34" charset="-120"/>
              </a:rPr>
              <a:t>Tecnología</a:t>
            </a:r>
            <a:endParaRPr lang="en-US" sz="1200" dirty="0"/>
          </a:p>
        </p:txBody>
      </p:sp>
      <p:sp>
        <p:nvSpPr>
          <p:cNvPr id="26" name="Shape 20"/>
          <p:cNvSpPr/>
          <p:nvPr/>
        </p:nvSpPr>
        <p:spPr>
          <a:xfrm>
            <a:off x="9658201" y="4171504"/>
            <a:ext cx="742950" cy="742950"/>
          </a:xfrm>
          <a:prstGeom prst="ellipse">
            <a:avLst/>
          </a:prstGeom>
          <a:solidFill>
            <a:srgbClr val="0B2536"/>
          </a:solidFill>
          <a:ln w="28575">
            <a:solidFill>
              <a:srgbClr val="FFFFFF">
                <a:alpha val="55000"/>
              </a:srgbClr>
            </a:solidFill>
            <a:prstDash val="solid"/>
          </a:ln>
          <a:effectLst>
            <a:outerShdw blurRad="228600" dist="95250" dir="5400000" algn="bl" rotWithShape="0">
              <a:srgbClr val="000000">
                <a:alpha val="70000"/>
              </a:srgbClr>
            </a:outerShdw>
          </a:effectLst>
        </p:spPr>
        <p:txBody>
          <a:bodyPr/>
          <a:lstStyle/>
          <a:p>
            <a:endParaRPr lang="es-ES"/>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86801" y="4400104"/>
            <a:ext cx="285750" cy="285750"/>
          </a:xfrm>
          <a:prstGeom prst="rect">
            <a:avLst/>
          </a:prstGeom>
        </p:spPr>
      </p:pic>
      <p:sp>
        <p:nvSpPr>
          <p:cNvPr id="28" name="Text 21"/>
          <p:cNvSpPr/>
          <p:nvPr/>
        </p:nvSpPr>
        <p:spPr>
          <a:xfrm>
            <a:off x="9243864" y="3956298"/>
            <a:ext cx="1571625" cy="205680"/>
          </a:xfrm>
          <a:prstGeom prst="rect">
            <a:avLst/>
          </a:prstGeom>
          <a:noFill/>
          <a:ln/>
        </p:spPr>
        <p:txBody>
          <a:bodyPr wrap="none" lIns="25400" tIns="25400" rIns="25400" bIns="25400" rtlCol="0" anchor="t">
            <a:normAutofit lnSpcReduction="10000"/>
          </a:bodyPr>
          <a:lstStyle/>
          <a:p>
            <a:pPr marL="0" indent="0" algn="ctr">
              <a:lnSpc>
                <a:spcPct val="92632"/>
              </a:lnSpc>
              <a:buNone/>
            </a:pPr>
            <a:r>
              <a:rPr lang="en-US" sz="1200" b="1" dirty="0">
                <a:solidFill>
                  <a:srgbClr val="FFFFFF"/>
                </a:solidFill>
                <a:latin typeface="Barlow" pitchFamily="34" charset="0"/>
                <a:ea typeface="Barlow" pitchFamily="34" charset="-122"/>
                <a:cs typeface="Barlow" pitchFamily="34" charset="-120"/>
              </a:rPr>
              <a:t>Procesos</a:t>
            </a:r>
            <a:endParaRPr lang="en-US" sz="1200" dirty="0"/>
          </a:p>
        </p:txBody>
      </p:sp>
      <p:sp>
        <p:nvSpPr>
          <p:cNvPr id="29" name="Shape 22"/>
          <p:cNvSpPr/>
          <p:nvPr/>
        </p:nvSpPr>
        <p:spPr>
          <a:xfrm>
            <a:off x="7886551" y="5943154"/>
            <a:ext cx="742950" cy="742950"/>
          </a:xfrm>
          <a:prstGeom prst="ellipse">
            <a:avLst/>
          </a:prstGeom>
          <a:solidFill>
            <a:srgbClr val="0B2536"/>
          </a:solidFill>
          <a:ln w="28575">
            <a:solidFill>
              <a:srgbClr val="FE5000"/>
            </a:solidFill>
            <a:prstDash val="solid"/>
          </a:ln>
          <a:effectLst>
            <a:outerShdw blurRad="228600" dist="95250" dir="5400000" algn="bl" rotWithShape="0">
              <a:srgbClr val="000000">
                <a:alpha val="70000"/>
              </a:srgbClr>
            </a:outerShdw>
          </a:effectLst>
        </p:spPr>
        <p:txBody>
          <a:bodyPr/>
          <a:lstStyle/>
          <a:p>
            <a:endParaRPr lang="es-ES"/>
          </a:p>
        </p:txBody>
      </p:sp>
      <p:pic>
        <p:nvPicPr>
          <p:cNvPr id="3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15151" y="6171754"/>
            <a:ext cx="285750" cy="285750"/>
          </a:xfrm>
          <a:prstGeom prst="rect">
            <a:avLst/>
          </a:prstGeom>
        </p:spPr>
      </p:pic>
      <p:sp>
        <p:nvSpPr>
          <p:cNvPr id="31" name="Text 23"/>
          <p:cNvSpPr/>
          <p:nvPr/>
        </p:nvSpPr>
        <p:spPr>
          <a:xfrm>
            <a:off x="7472214" y="6733729"/>
            <a:ext cx="1571625" cy="205680"/>
          </a:xfrm>
          <a:prstGeom prst="rect">
            <a:avLst/>
          </a:prstGeom>
          <a:noFill/>
          <a:ln/>
        </p:spPr>
        <p:txBody>
          <a:bodyPr wrap="none" lIns="25400" tIns="25400" rIns="25400" bIns="25400" rtlCol="0" anchor="t">
            <a:normAutofit lnSpcReduction="10000"/>
          </a:bodyPr>
          <a:lstStyle/>
          <a:p>
            <a:pPr marL="0" indent="0" algn="ctr">
              <a:lnSpc>
                <a:spcPct val="92632"/>
              </a:lnSpc>
              <a:buNone/>
            </a:pPr>
            <a:r>
              <a:rPr lang="en-US" sz="1200" b="1" dirty="0">
                <a:solidFill>
                  <a:srgbClr val="FFFFFF"/>
                </a:solidFill>
                <a:latin typeface="Barlow" pitchFamily="34" charset="0"/>
                <a:ea typeface="Barlow" pitchFamily="34" charset="-122"/>
                <a:cs typeface="Barlow" pitchFamily="34" charset="-120"/>
              </a:rPr>
              <a:t>Personas</a:t>
            </a:r>
            <a:endParaRPr lang="en-US" sz="1200" dirty="0"/>
          </a:p>
        </p:txBody>
      </p:sp>
      <p:sp>
        <p:nvSpPr>
          <p:cNvPr id="32" name="Shape 24"/>
          <p:cNvSpPr/>
          <p:nvPr/>
        </p:nvSpPr>
        <p:spPr>
          <a:xfrm>
            <a:off x="9658201" y="5943154"/>
            <a:ext cx="742950" cy="742950"/>
          </a:xfrm>
          <a:prstGeom prst="ellipse">
            <a:avLst/>
          </a:prstGeom>
          <a:solidFill>
            <a:srgbClr val="0B2536"/>
          </a:solidFill>
          <a:ln w="28575">
            <a:solidFill>
              <a:srgbClr val="FFFFFF">
                <a:alpha val="55000"/>
              </a:srgbClr>
            </a:solidFill>
            <a:prstDash val="solid"/>
          </a:ln>
          <a:effectLst>
            <a:outerShdw blurRad="228600" dist="95250" dir="5400000" algn="bl" rotWithShape="0">
              <a:srgbClr val="000000">
                <a:alpha val="70000"/>
              </a:srgbClr>
            </a:outerShdw>
          </a:effectLst>
        </p:spPr>
        <p:txBody>
          <a:bodyPr/>
          <a:lstStyle/>
          <a:p>
            <a:endParaRPr lang="es-ES"/>
          </a:p>
        </p:txBody>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886801" y="6171754"/>
            <a:ext cx="285750" cy="285750"/>
          </a:xfrm>
          <a:prstGeom prst="rect">
            <a:avLst/>
          </a:prstGeom>
        </p:spPr>
      </p:pic>
      <p:sp>
        <p:nvSpPr>
          <p:cNvPr id="34" name="Text 25"/>
          <p:cNvSpPr/>
          <p:nvPr/>
        </p:nvSpPr>
        <p:spPr>
          <a:xfrm>
            <a:off x="9243864" y="6733729"/>
            <a:ext cx="1571625" cy="205680"/>
          </a:xfrm>
          <a:prstGeom prst="rect">
            <a:avLst/>
          </a:prstGeom>
          <a:noFill/>
          <a:ln/>
        </p:spPr>
        <p:txBody>
          <a:bodyPr wrap="none" lIns="25400" tIns="25400" rIns="25400" bIns="25400" rtlCol="0" anchor="t">
            <a:normAutofit lnSpcReduction="10000"/>
          </a:bodyPr>
          <a:lstStyle/>
          <a:p>
            <a:pPr marL="0" indent="0" algn="ctr">
              <a:lnSpc>
                <a:spcPct val="92632"/>
              </a:lnSpc>
              <a:buNone/>
            </a:pPr>
            <a:r>
              <a:rPr lang="en-US" sz="1200" b="1" dirty="0">
                <a:solidFill>
                  <a:srgbClr val="FFFFFF"/>
                </a:solidFill>
                <a:latin typeface="Barlow" pitchFamily="34" charset="0"/>
                <a:ea typeface="Barlow" pitchFamily="34" charset="-122"/>
                <a:cs typeface="Barlow" pitchFamily="34" charset="-120"/>
              </a:rPr>
              <a:t>Cultura</a:t>
            </a:r>
            <a:endParaRPr lang="en-US" sz="1200" dirty="0"/>
          </a:p>
        </p:txBody>
      </p:sp>
      <p:sp>
        <p:nvSpPr>
          <p:cNvPr id="35" name="Shape 26"/>
          <p:cNvSpPr/>
          <p:nvPr/>
        </p:nvSpPr>
        <p:spPr>
          <a:xfrm>
            <a:off x="8372326" y="4657279"/>
            <a:ext cx="1543050" cy="1543050"/>
          </a:xfrm>
          <a:prstGeom prst="ellipse">
            <a:avLst/>
          </a:prstGeom>
          <a:gradFill rotWithShape="1">
            <a:gsLst>
              <a:gs pos="0">
                <a:srgbClr val="153A52">
                  <a:alpha val="100000"/>
                </a:srgbClr>
              </a:gs>
              <a:gs pos="74000">
                <a:srgbClr val="071926">
                  <a:alpha val="33000"/>
                </a:srgbClr>
              </a:gs>
            </a:gsLst>
            <a:path path="circle">
              <a:fillToRect l="50000" t="36000" r="50000" b="64000"/>
            </a:path>
          </a:gradFill>
          <a:ln w="19050">
            <a:solidFill>
              <a:srgbClr val="FFFFFF">
                <a:alpha val="20000"/>
              </a:srgbClr>
            </a:solidFill>
            <a:prstDash val="solid"/>
          </a:ln>
          <a:effectLst>
            <a:outerShdw blurRad="361950" dist="152400" dir="5400000" algn="bl" rotWithShape="0">
              <a:srgbClr val="000000">
                <a:alpha val="70000"/>
              </a:srgbClr>
            </a:outerShdw>
          </a:effectLst>
        </p:spPr>
        <p:txBody>
          <a:bodyPr/>
          <a:lstStyle/>
          <a:p>
            <a:endParaRPr lang="es-ES"/>
          </a:p>
        </p:txBody>
      </p:sp>
      <p:sp>
        <p:nvSpPr>
          <p:cNvPr id="36" name="Text 27"/>
          <p:cNvSpPr/>
          <p:nvPr/>
        </p:nvSpPr>
        <p:spPr>
          <a:xfrm>
            <a:off x="8555087" y="4939159"/>
            <a:ext cx="1177379" cy="421481"/>
          </a:xfrm>
          <a:prstGeom prst="rect">
            <a:avLst/>
          </a:prstGeom>
          <a:noFill/>
          <a:ln/>
        </p:spPr>
        <p:txBody>
          <a:bodyPr wrap="square" lIns="25400" tIns="25400" rIns="25400" bIns="25400" rtlCol="0" anchor="t">
            <a:normAutofit lnSpcReduction="10000"/>
          </a:bodyPr>
          <a:lstStyle/>
          <a:p>
            <a:pPr marL="0" indent="0" algn="ctr">
              <a:lnSpc>
                <a:spcPct val="87565"/>
              </a:lnSpc>
              <a:buNone/>
            </a:pPr>
            <a:r>
              <a:rPr lang="en-US" sz="1425" b="1" kern="0" spc="-14" dirty="0">
                <a:solidFill>
                  <a:srgbClr val="FFFFFF"/>
                </a:solidFill>
                <a:latin typeface="Barlow" pitchFamily="34" charset="0"/>
                <a:ea typeface="Barlow" pitchFamily="34" charset="-122"/>
                <a:cs typeface="Barlow" pitchFamily="34" charset="-120"/>
              </a:rPr>
              <a:t>Conocimiento sectorial</a:t>
            </a:r>
            <a:endParaRPr lang="en-US" sz="1425" dirty="0"/>
          </a:p>
        </p:txBody>
      </p:sp>
      <p:sp>
        <p:nvSpPr>
          <p:cNvPr id="37" name="Text 28"/>
          <p:cNvSpPr/>
          <p:nvPr/>
        </p:nvSpPr>
        <p:spPr>
          <a:xfrm>
            <a:off x="8543776" y="5398740"/>
            <a:ext cx="1200150" cy="557808"/>
          </a:xfrm>
          <a:prstGeom prst="rect">
            <a:avLst/>
          </a:prstGeom>
          <a:noFill/>
          <a:ln/>
        </p:spPr>
        <p:txBody>
          <a:bodyPr wrap="square" lIns="25400" tIns="25400" rIns="25400" bIns="25400" rtlCol="0" anchor="t">
            <a:normAutofit/>
          </a:bodyPr>
          <a:lstStyle/>
          <a:p>
            <a:pPr marL="0" indent="0" algn="ctr">
              <a:lnSpc>
                <a:spcPct val="107059"/>
              </a:lnSpc>
              <a:buNone/>
            </a:pPr>
            <a:r>
              <a:rPr lang="en-US" sz="1050" dirty="0">
                <a:solidFill>
                  <a:srgbClr val="FFFFFF">
                    <a:alpha val="66000"/>
                  </a:srgbClr>
                </a:solidFill>
                <a:latin typeface="Roboto" pitchFamily="34" charset="0"/>
                <a:ea typeface="Roboto" pitchFamily="34" charset="-122"/>
                <a:cs typeface="Roboto" pitchFamily="34" charset="-120"/>
              </a:rPr>
              <a:t>Eje que ancla la tecnología al negocio.</a:t>
            </a:r>
            <a:endParaRPr lang="en-US" sz="1050" dirty="0"/>
          </a:p>
        </p:txBody>
      </p:sp>
      <p:sp>
        <p:nvSpPr>
          <p:cNvPr id="38" name="Text 29"/>
          <p:cNvSpPr/>
          <p:nvPr/>
        </p:nvSpPr>
        <p:spPr>
          <a:xfrm>
            <a:off x="5777689" y="7410004"/>
            <a:ext cx="6732474" cy="581025"/>
          </a:xfrm>
          <a:prstGeom prst="rect">
            <a:avLst/>
          </a:prstGeom>
          <a:noFill/>
          <a:ln/>
        </p:spPr>
        <p:txBody>
          <a:bodyPr wrap="square" lIns="25400" tIns="25400" rIns="25400" bIns="25400" rtlCol="0" anchor="t">
            <a:normAutofit/>
          </a:bodyPr>
          <a:lstStyle/>
          <a:p>
            <a:pPr marL="0" indent="0" algn="ctr">
              <a:lnSpc>
                <a:spcPct val="123913"/>
              </a:lnSpc>
              <a:buNone/>
            </a:pPr>
            <a:r>
              <a:rPr lang="en-US" sz="1425" dirty="0">
                <a:solidFill>
                  <a:srgbClr val="FFFFFF">
                    <a:alpha val="82000"/>
                  </a:srgbClr>
                </a:solidFill>
                <a:latin typeface="Barlow" pitchFamily="34" charset="0"/>
                <a:ea typeface="Barlow" pitchFamily="34" charset="-122"/>
                <a:cs typeface="Barlow" pitchFamily="34" charset="-120"/>
              </a:rPr>
              <a:t>El método integra las cuatro variables alrededor del conocimiento de tu sector. Esa integración es la que asegura el impacto.</a:t>
            </a:r>
            <a:endParaRPr lang="en-US" sz="1425" dirty="0"/>
          </a:p>
        </p:txBody>
      </p:sp>
      <p:sp>
        <p:nvSpPr>
          <p:cNvPr id="39" name="Shape 30"/>
          <p:cNvSpPr/>
          <p:nvPr/>
        </p:nvSpPr>
        <p:spPr>
          <a:xfrm>
            <a:off x="5875734" y="8162479"/>
            <a:ext cx="6536382" cy="826591"/>
          </a:xfrm>
          <a:prstGeom prst="roundRect">
            <a:avLst>
              <a:gd name="adj" fmla="val 13828"/>
            </a:avLst>
          </a:prstGeom>
          <a:solidFill>
            <a:srgbClr val="57BE8A">
              <a:alpha val="14000"/>
            </a:srgbClr>
          </a:solidFill>
          <a:ln w="9525">
            <a:solidFill>
              <a:srgbClr val="57BE8A">
                <a:alpha val="40000"/>
              </a:srgbClr>
            </a:solidFill>
            <a:prstDash val="solid"/>
          </a:ln>
        </p:spPr>
        <p:txBody>
          <a:bodyPr/>
          <a:lstStyle/>
          <a:p>
            <a:endParaRPr lang="es-ES"/>
          </a:p>
        </p:txBody>
      </p:sp>
      <p:sp>
        <p:nvSpPr>
          <p:cNvPr id="40" name="Text 31"/>
          <p:cNvSpPr/>
          <p:nvPr/>
        </p:nvSpPr>
        <p:spPr>
          <a:xfrm>
            <a:off x="7253883" y="8333929"/>
            <a:ext cx="1643063" cy="285750"/>
          </a:xfrm>
          <a:prstGeom prst="rect">
            <a:avLst/>
          </a:prstGeom>
          <a:noFill/>
          <a:ln/>
        </p:spPr>
        <p:txBody>
          <a:bodyPr wrap="square" lIns="0" tIns="0" rIns="0" bIns="0" rtlCol="0" anchor="t">
            <a:normAutofit/>
          </a:bodyPr>
          <a:lstStyle/>
          <a:p>
            <a:pPr marL="0" indent="0" algn="ctr">
              <a:lnSpc>
                <a:spcPct val="110000"/>
              </a:lnSpc>
              <a:buNone/>
            </a:pPr>
            <a:r>
              <a:rPr lang="en-US" sz="1650" b="1" dirty="0">
                <a:solidFill>
                  <a:srgbClr val="FFFFFF"/>
                </a:solidFill>
                <a:latin typeface="Barlow" pitchFamily="34" charset="0"/>
                <a:ea typeface="Barlow" pitchFamily="34" charset="-122"/>
                <a:cs typeface="Barlow" pitchFamily="34" charset="-120"/>
              </a:rPr>
              <a:t>Es como opera el</a:t>
            </a:r>
            <a:endParaRPr lang="en-US" sz="1650" dirty="0"/>
          </a:p>
        </p:txBody>
      </p:sp>
      <p:sp>
        <p:nvSpPr>
          <p:cNvPr id="41" name="Text 32"/>
          <p:cNvSpPr/>
          <p:nvPr/>
        </p:nvSpPr>
        <p:spPr>
          <a:xfrm>
            <a:off x="8824615" y="8333929"/>
            <a:ext cx="361504" cy="285750"/>
          </a:xfrm>
          <a:prstGeom prst="rect">
            <a:avLst/>
          </a:prstGeom>
          <a:noFill/>
          <a:ln/>
        </p:spPr>
        <p:txBody>
          <a:bodyPr wrap="square" lIns="25400" tIns="25400" rIns="25400" bIns="25400" rtlCol="0" anchor="t">
            <a:normAutofit fontScale="92500" lnSpcReduction="10000"/>
          </a:bodyPr>
          <a:lstStyle/>
          <a:p>
            <a:pPr marL="0" indent="0" algn="ctr">
              <a:lnSpc>
                <a:spcPct val="110000"/>
              </a:lnSpc>
              <a:buNone/>
            </a:pPr>
            <a:r>
              <a:rPr lang="en-US" sz="1650" b="1" dirty="0">
                <a:solidFill>
                  <a:srgbClr val="57BE8A"/>
                </a:solidFill>
                <a:latin typeface="Barlow" pitchFamily="34" charset="0"/>
                <a:ea typeface="Barlow" pitchFamily="34" charset="-122"/>
                <a:cs typeface="Barlow" pitchFamily="34" charset="-120"/>
              </a:rPr>
              <a:t>6%</a:t>
            </a:r>
            <a:endParaRPr lang="en-US" sz="1650" dirty="0"/>
          </a:p>
        </p:txBody>
      </p:sp>
      <p:sp>
        <p:nvSpPr>
          <p:cNvPr id="42" name="Text 33"/>
          <p:cNvSpPr/>
          <p:nvPr/>
        </p:nvSpPr>
        <p:spPr>
          <a:xfrm>
            <a:off x="9189839" y="8333929"/>
            <a:ext cx="1920329" cy="285750"/>
          </a:xfrm>
          <a:prstGeom prst="rect">
            <a:avLst/>
          </a:prstGeom>
          <a:noFill/>
          <a:ln/>
        </p:spPr>
        <p:txBody>
          <a:bodyPr wrap="square" lIns="0" tIns="0" rIns="0" bIns="0" rtlCol="0" anchor="t">
            <a:normAutofit/>
          </a:bodyPr>
          <a:lstStyle/>
          <a:p>
            <a:pPr marL="0" indent="0" algn="ctr">
              <a:lnSpc>
                <a:spcPct val="110000"/>
              </a:lnSpc>
              <a:buNone/>
            </a:pPr>
            <a:r>
              <a:rPr lang="en-US" sz="1650" b="1" dirty="0">
                <a:solidFill>
                  <a:srgbClr val="FFFFFF"/>
                </a:solidFill>
                <a:latin typeface="Barlow" pitchFamily="34" charset="0"/>
                <a:ea typeface="Barlow" pitchFamily="34" charset="-122"/>
                <a:cs typeface="Barlow" pitchFamily="34" charset="-120"/>
              </a:rPr>
              <a:t>que sí captura valor.</a:t>
            </a:r>
            <a:endParaRPr lang="en-US" sz="1650" dirty="0"/>
          </a:p>
        </p:txBody>
      </p:sp>
      <p:sp>
        <p:nvSpPr>
          <p:cNvPr id="43" name="Text 34"/>
          <p:cNvSpPr/>
          <p:nvPr/>
        </p:nvSpPr>
        <p:spPr>
          <a:xfrm>
            <a:off x="5747988" y="8653909"/>
            <a:ext cx="6791876" cy="211336"/>
          </a:xfrm>
          <a:prstGeom prst="rect">
            <a:avLst/>
          </a:prstGeom>
          <a:noFill/>
          <a:ln/>
        </p:spPr>
        <p:txBody>
          <a:bodyPr wrap="square" lIns="25400" tIns="25400" rIns="25400" bIns="25400" rtlCol="0" anchor="t">
            <a:normAutofit/>
          </a:bodyPr>
          <a:lstStyle/>
          <a:p>
            <a:pPr marL="0" indent="0" algn="ctr">
              <a:lnSpc>
                <a:spcPct val="101111"/>
              </a:lnSpc>
              <a:buNone/>
            </a:pPr>
            <a:r>
              <a:rPr lang="en-US" sz="1050" kern="0" spc="32" dirty="0">
                <a:solidFill>
                  <a:srgbClr val="FFFFFF">
                    <a:alpha val="55000"/>
                  </a:srgbClr>
                </a:solidFill>
                <a:latin typeface="JetBrains Mono" pitchFamily="34" charset="0"/>
                <a:ea typeface="JetBrains Mono" pitchFamily="34" charset="-122"/>
                <a:cs typeface="JetBrains Mono" pitchFamily="34" charset="-120"/>
              </a:rPr>
              <a:t>MCKINSEY · STATE OF AI 2025</a:t>
            </a:r>
            <a:endParaRPr lang="en-US" sz="1050" dirty="0"/>
          </a:p>
        </p:txBody>
      </p:sp>
      <p:pic>
        <p:nvPicPr>
          <p:cNvPr id="4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774067" y="6046887"/>
            <a:ext cx="247650" cy="247650"/>
          </a:xfrm>
          <a:prstGeom prst="rect">
            <a:avLst/>
          </a:prstGeom>
        </p:spPr>
      </p:pic>
      <p:sp>
        <p:nvSpPr>
          <p:cNvPr id="45" name="Shape 35"/>
          <p:cNvSpPr/>
          <p:nvPr/>
        </p:nvSpPr>
        <p:spPr>
          <a:xfrm>
            <a:off x="13155067" y="3104704"/>
            <a:ext cx="4066133" cy="6132016"/>
          </a:xfrm>
          <a:prstGeom prst="roundRect">
            <a:avLst>
              <a:gd name="adj" fmla="val 3280"/>
            </a:avLst>
          </a:prstGeom>
          <a:gradFill rotWithShape="1">
            <a:gsLst>
              <a:gs pos="0">
                <a:srgbClr val="57BE8A">
                  <a:alpha val="9000"/>
                </a:srgbClr>
              </a:gs>
              <a:gs pos="100000">
                <a:srgbClr val="57BE8A">
                  <a:alpha val="2000"/>
                </a:srgbClr>
              </a:gs>
            </a:gsLst>
            <a:lin ang="5400000" scaled="0"/>
          </a:gradFill>
          <a:ln w="9525">
            <a:solidFill>
              <a:srgbClr val="57BE8A">
                <a:alpha val="35000"/>
              </a:srgbClr>
            </a:solidFill>
            <a:prstDash val="solid"/>
          </a:ln>
          <a:effectLst>
            <a:outerShdw blurRad="38100" dist="19050" dir="5400000" algn="bl" rotWithShape="0">
              <a:srgbClr val="041C2C">
                <a:alpha val="7000"/>
              </a:srgbClr>
            </a:outerShdw>
          </a:effectLst>
        </p:spPr>
        <p:txBody>
          <a:bodyPr/>
          <a:lstStyle/>
          <a:p>
            <a:endParaRPr lang="es-ES"/>
          </a:p>
        </p:txBody>
      </p:sp>
      <p:sp>
        <p:nvSpPr>
          <p:cNvPr id="46" name="Text 36"/>
          <p:cNvSpPr/>
          <p:nvPr/>
        </p:nvSpPr>
        <p:spPr>
          <a:xfrm>
            <a:off x="13393192" y="3361879"/>
            <a:ext cx="3948872"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041C2C"/>
                </a:solidFill>
                <a:latin typeface="Barlow" pitchFamily="34" charset="0"/>
                <a:ea typeface="Barlow" pitchFamily="34" charset="-122"/>
                <a:cs typeface="Barlow" pitchFamily="34" charset="-120"/>
              </a:rPr>
              <a:t>Lo que conseguimos</a:t>
            </a:r>
            <a:endParaRPr lang="en-US" sz="1875" dirty="0"/>
          </a:p>
        </p:txBody>
      </p:sp>
      <p:pic>
        <p:nvPicPr>
          <p:cNvPr id="47"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393192" y="3838129"/>
            <a:ext cx="171450" cy="171450"/>
          </a:xfrm>
          <a:prstGeom prst="rect">
            <a:avLst/>
          </a:prstGeom>
        </p:spPr>
      </p:pic>
      <p:sp>
        <p:nvSpPr>
          <p:cNvPr id="48" name="Text 37"/>
          <p:cNvSpPr/>
          <p:nvPr/>
        </p:nvSpPr>
        <p:spPr>
          <a:xfrm>
            <a:off x="13678942" y="3800029"/>
            <a:ext cx="3634547" cy="255240"/>
          </a:xfrm>
          <a:prstGeom prst="rect">
            <a:avLst/>
          </a:prstGeom>
          <a:noFill/>
          <a:ln/>
        </p:spPr>
        <p:txBody>
          <a:bodyPr wrap="square" lIns="25400" tIns="25400" rIns="25400" bIns="25400" rtlCol="0" anchor="t">
            <a:normAutofit lnSpcReduction="10000"/>
          </a:bodyPr>
          <a:lstStyle/>
          <a:p>
            <a:pPr marL="0" indent="0" algn="l">
              <a:lnSpc>
                <a:spcPct val="99130"/>
              </a:lnSpc>
              <a:buNone/>
            </a:pPr>
            <a:r>
              <a:rPr lang="en-US" sz="1425" b="1" dirty="0">
                <a:solidFill>
                  <a:srgbClr val="041C2C"/>
                </a:solidFill>
                <a:latin typeface="Barlow" pitchFamily="34" charset="0"/>
                <a:ea typeface="Barlow" pitchFamily="34" charset="-122"/>
                <a:cs typeface="Barlow" pitchFamily="34" charset="-120"/>
              </a:rPr>
              <a:t>Menos coste de operar.</a:t>
            </a:r>
            <a:endParaRPr lang="en-US" sz="1425" dirty="0"/>
          </a:p>
        </p:txBody>
      </p:sp>
      <p:sp>
        <p:nvSpPr>
          <p:cNvPr id="49" name="Text 38"/>
          <p:cNvSpPr/>
          <p:nvPr/>
        </p:nvSpPr>
        <p:spPr>
          <a:xfrm>
            <a:off x="13678942" y="4055269"/>
            <a:ext cx="3634547" cy="254943"/>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4A6273"/>
                </a:solidFill>
                <a:latin typeface="Barlow" pitchFamily="34" charset="0"/>
                <a:ea typeface="Barlow" pitchFamily="34" charset="-122"/>
                <a:cs typeface="Barlow" pitchFamily="34" charset="-120"/>
              </a:rPr>
              <a:t>Rediseñamos el proceso antes de automatizar.</a:t>
            </a:r>
            <a:endParaRPr lang="en-US" sz="1275" dirty="0"/>
          </a:p>
        </p:txBody>
      </p:sp>
      <p:pic>
        <p:nvPicPr>
          <p:cNvPr id="50"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3393192" y="4519761"/>
            <a:ext cx="171450" cy="171450"/>
          </a:xfrm>
          <a:prstGeom prst="rect">
            <a:avLst/>
          </a:prstGeom>
        </p:spPr>
      </p:pic>
      <p:sp>
        <p:nvSpPr>
          <p:cNvPr id="51" name="Text 39"/>
          <p:cNvSpPr/>
          <p:nvPr/>
        </p:nvSpPr>
        <p:spPr>
          <a:xfrm>
            <a:off x="13678942" y="4481661"/>
            <a:ext cx="3634547" cy="255240"/>
          </a:xfrm>
          <a:prstGeom prst="rect">
            <a:avLst/>
          </a:prstGeom>
          <a:noFill/>
          <a:ln/>
        </p:spPr>
        <p:txBody>
          <a:bodyPr wrap="square" lIns="25400" tIns="25400" rIns="25400" bIns="25400" rtlCol="0" anchor="t">
            <a:normAutofit lnSpcReduction="10000"/>
          </a:bodyPr>
          <a:lstStyle/>
          <a:p>
            <a:pPr marL="0" indent="0" algn="l">
              <a:lnSpc>
                <a:spcPct val="99130"/>
              </a:lnSpc>
              <a:buNone/>
            </a:pPr>
            <a:r>
              <a:rPr lang="en-US" sz="1425" b="1" dirty="0">
                <a:solidFill>
                  <a:srgbClr val="041C2C"/>
                </a:solidFill>
                <a:latin typeface="Barlow" pitchFamily="34" charset="0"/>
                <a:ea typeface="Barlow" pitchFamily="34" charset="-122"/>
                <a:cs typeface="Barlow" pitchFamily="34" charset="-120"/>
              </a:rPr>
              <a:t>Productividad que llega al EBIT.</a:t>
            </a:r>
            <a:endParaRPr lang="en-US" sz="1425" dirty="0"/>
          </a:p>
        </p:txBody>
      </p:sp>
      <p:sp>
        <p:nvSpPr>
          <p:cNvPr id="52" name="Text 40"/>
          <p:cNvSpPr/>
          <p:nvPr/>
        </p:nvSpPr>
        <p:spPr>
          <a:xfrm>
            <a:off x="13678942" y="4736902"/>
            <a:ext cx="3403257" cy="471785"/>
          </a:xfrm>
          <a:prstGeom prst="rect">
            <a:avLst/>
          </a:prstGeom>
          <a:noFill/>
          <a:ln/>
        </p:spPr>
        <p:txBody>
          <a:bodyPr wrap="square" lIns="25400" tIns="25400" rIns="25400" bIns="25400" rtlCol="0" anchor="t">
            <a:normAutofit/>
          </a:bodyPr>
          <a:lstStyle/>
          <a:p>
            <a:pPr marL="0" indent="0" algn="l">
              <a:lnSpc>
                <a:spcPct val="113900"/>
              </a:lnSpc>
              <a:buNone/>
            </a:pPr>
            <a:r>
              <a:rPr lang="en-US" sz="1275" dirty="0">
                <a:solidFill>
                  <a:srgbClr val="4A6273"/>
                </a:solidFill>
                <a:latin typeface="Barlow" pitchFamily="34" charset="0"/>
                <a:ea typeface="Barlow" pitchFamily="34" charset="-122"/>
                <a:cs typeface="Barlow" pitchFamily="34" charset="-120"/>
              </a:rPr>
              <a:t>Gestionamos la adopción, no solo el despliegue.</a:t>
            </a:r>
            <a:endParaRPr lang="en-US" sz="1275" dirty="0"/>
          </a:p>
        </p:txBody>
      </p:sp>
      <p:pic>
        <p:nvPicPr>
          <p:cNvPr id="53" name="Image 10"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3393192" y="5418237"/>
            <a:ext cx="171450" cy="171450"/>
          </a:xfrm>
          <a:prstGeom prst="rect">
            <a:avLst/>
          </a:prstGeom>
        </p:spPr>
      </p:pic>
      <p:sp>
        <p:nvSpPr>
          <p:cNvPr id="54" name="Text 41"/>
          <p:cNvSpPr/>
          <p:nvPr/>
        </p:nvSpPr>
        <p:spPr>
          <a:xfrm>
            <a:off x="13678942" y="5380137"/>
            <a:ext cx="3634547" cy="255240"/>
          </a:xfrm>
          <a:prstGeom prst="rect">
            <a:avLst/>
          </a:prstGeom>
          <a:noFill/>
          <a:ln/>
        </p:spPr>
        <p:txBody>
          <a:bodyPr wrap="square" lIns="25400" tIns="25400" rIns="25400" bIns="25400" rtlCol="0" anchor="t">
            <a:normAutofit lnSpcReduction="10000"/>
          </a:bodyPr>
          <a:lstStyle/>
          <a:p>
            <a:pPr marL="0" indent="0" algn="l">
              <a:lnSpc>
                <a:spcPct val="99130"/>
              </a:lnSpc>
              <a:buNone/>
            </a:pPr>
            <a:r>
              <a:rPr lang="en-US" sz="1425" b="1" dirty="0">
                <a:solidFill>
                  <a:srgbClr val="041C2C"/>
                </a:solidFill>
                <a:latin typeface="Barlow" pitchFamily="34" charset="0"/>
                <a:ea typeface="Barlow" pitchFamily="34" charset="-122"/>
                <a:cs typeface="Barlow" pitchFamily="34" charset="-120"/>
              </a:rPr>
              <a:t>Riesgo bajo control.</a:t>
            </a:r>
            <a:endParaRPr lang="en-US" sz="1425" dirty="0"/>
          </a:p>
        </p:txBody>
      </p:sp>
      <p:sp>
        <p:nvSpPr>
          <p:cNvPr id="55" name="Text 42"/>
          <p:cNvSpPr/>
          <p:nvPr/>
        </p:nvSpPr>
        <p:spPr>
          <a:xfrm>
            <a:off x="13678942" y="5635377"/>
            <a:ext cx="3403257"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4A6273"/>
                </a:solidFill>
                <a:latin typeface="Barlow" pitchFamily="34" charset="0"/>
                <a:ea typeface="Barlow" pitchFamily="34" charset="-122"/>
                <a:cs typeface="Barlow" pitchFamily="34" charset="-120"/>
              </a:rPr>
              <a:t>Gobernamos y auditamos lo que va a producción.</a:t>
            </a:r>
            <a:endParaRPr lang="en-US" sz="1275" dirty="0"/>
          </a:p>
        </p:txBody>
      </p:sp>
      <p:pic>
        <p:nvPicPr>
          <p:cNvPr id="56" name="Image 11" descr="preencoded.png"/>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3393192" y="6316712"/>
            <a:ext cx="171450" cy="171450"/>
          </a:xfrm>
          <a:prstGeom prst="rect">
            <a:avLst/>
          </a:prstGeom>
        </p:spPr>
      </p:pic>
      <p:sp>
        <p:nvSpPr>
          <p:cNvPr id="57" name="Text 43"/>
          <p:cNvSpPr/>
          <p:nvPr/>
        </p:nvSpPr>
        <p:spPr>
          <a:xfrm>
            <a:off x="13678942" y="6278612"/>
            <a:ext cx="3634547" cy="255240"/>
          </a:xfrm>
          <a:prstGeom prst="rect">
            <a:avLst/>
          </a:prstGeom>
          <a:noFill/>
          <a:ln/>
        </p:spPr>
        <p:txBody>
          <a:bodyPr wrap="square" lIns="25400" tIns="25400" rIns="25400" bIns="25400" rtlCol="0" anchor="t">
            <a:normAutofit lnSpcReduction="10000"/>
          </a:bodyPr>
          <a:lstStyle/>
          <a:p>
            <a:pPr marL="0" indent="0" algn="l">
              <a:lnSpc>
                <a:spcPct val="99130"/>
              </a:lnSpc>
              <a:buNone/>
            </a:pPr>
            <a:r>
              <a:rPr lang="en-US" sz="1425" b="1" dirty="0">
                <a:solidFill>
                  <a:srgbClr val="041C2C"/>
                </a:solidFill>
                <a:latin typeface="Barlow" pitchFamily="34" charset="0"/>
                <a:ea typeface="Barlow" pitchFamily="34" charset="-122"/>
                <a:cs typeface="Barlow" pitchFamily="34" charset="-120"/>
              </a:rPr>
              <a:t>Valor que aguanta.</a:t>
            </a:r>
            <a:endParaRPr lang="en-US" sz="1425" dirty="0"/>
          </a:p>
        </p:txBody>
      </p:sp>
      <p:sp>
        <p:nvSpPr>
          <p:cNvPr id="58" name="Text 44"/>
          <p:cNvSpPr/>
          <p:nvPr/>
        </p:nvSpPr>
        <p:spPr>
          <a:xfrm>
            <a:off x="13678942" y="6533852"/>
            <a:ext cx="3634547" cy="254943"/>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4A6273"/>
                </a:solidFill>
                <a:latin typeface="Barlow" pitchFamily="34" charset="0"/>
                <a:ea typeface="Barlow" pitchFamily="34" charset="-122"/>
                <a:cs typeface="Barlow" pitchFamily="34" charset="-120"/>
              </a:rPr>
              <a:t>Lo dejamos operando.</a:t>
            </a:r>
            <a:endParaRPr lang="en-US" sz="1275" dirty="0"/>
          </a:p>
        </p:txBody>
      </p:sp>
      <p:sp>
        <p:nvSpPr>
          <p:cNvPr id="59" name="Shape 45"/>
          <p:cNvSpPr/>
          <p:nvPr/>
        </p:nvSpPr>
        <p:spPr>
          <a:xfrm>
            <a:off x="13393192" y="8171111"/>
            <a:ext cx="3589883" cy="808434"/>
          </a:xfrm>
          <a:prstGeom prst="roundRect">
            <a:avLst>
              <a:gd name="adj" fmla="val 14138"/>
            </a:avLst>
          </a:prstGeom>
          <a:solidFill>
            <a:srgbClr val="3A8E63"/>
          </a:solidFill>
          <a:ln/>
          <a:effectLst>
            <a:outerShdw blurRad="38100" dist="19050" dir="5400000" algn="bl" rotWithShape="0">
              <a:srgbClr val="041C2C">
                <a:alpha val="7000"/>
              </a:srgbClr>
            </a:outerShdw>
          </a:effectLst>
        </p:spPr>
        <p:txBody>
          <a:bodyPr/>
          <a:lstStyle/>
          <a:p>
            <a:endParaRPr lang="es-ES"/>
          </a:p>
        </p:txBody>
      </p:sp>
      <p:pic>
        <p:nvPicPr>
          <p:cNvPr id="60" name="Image 12" descr="preencoded.png"/>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3564642" y="8432453"/>
            <a:ext cx="285750" cy="285750"/>
          </a:xfrm>
          <a:prstGeom prst="rect">
            <a:avLst/>
          </a:prstGeom>
        </p:spPr>
      </p:pic>
      <p:sp>
        <p:nvSpPr>
          <p:cNvPr id="61" name="Text 46"/>
          <p:cNvSpPr/>
          <p:nvPr/>
        </p:nvSpPr>
        <p:spPr>
          <a:xfrm>
            <a:off x="13983742" y="8323511"/>
            <a:ext cx="2912720" cy="541734"/>
          </a:xfrm>
          <a:prstGeom prst="rect">
            <a:avLst/>
          </a:prstGeom>
          <a:noFill/>
          <a:ln/>
        </p:spPr>
        <p:txBody>
          <a:bodyPr wrap="square" lIns="25400" tIns="25400" rIns="25400" bIns="25400" rtlCol="0" anchor="t">
            <a:normAutofit lnSpcReduction="10000"/>
          </a:bodyPr>
          <a:lstStyle/>
          <a:p>
            <a:pPr marL="0" indent="0" algn="l">
              <a:lnSpc>
                <a:spcPct val="94464"/>
              </a:lnSpc>
              <a:buNone/>
            </a:pPr>
            <a:r>
              <a:rPr lang="en-US" sz="1725" b="1" dirty="0">
                <a:solidFill>
                  <a:srgbClr val="FFFFFF"/>
                </a:solidFill>
                <a:latin typeface="Barlow" pitchFamily="34" charset="0"/>
                <a:ea typeface="Barlow" pitchFamily="34" charset="-122"/>
                <a:cs typeface="Barlow" pitchFamily="34" charset="-120"/>
              </a:rPr>
              <a:t>Impacto real en tu cuenta de resultados</a:t>
            </a:r>
            <a:endParaRPr lang="en-US" sz="1725" dirty="0"/>
          </a:p>
        </p:txBody>
      </p:sp>
      <p:sp>
        <p:nvSpPr>
          <p:cNvPr id="62" name="Text 47"/>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63" name="Text 48"/>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07 / 24</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2170971"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NUESTRA VISIÓN</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181100"/>
            <a:ext cx="17769840" cy="542925"/>
          </a:xfrm>
          <a:prstGeom prst="rect">
            <a:avLst/>
          </a:prstGeom>
          <a:noFill/>
          <a:ln/>
        </p:spPr>
        <p:txBody>
          <a:bodyPr wrap="square" lIns="25400" tIns="25400" rIns="25400" bIns="25400" rtlCol="0" anchor="t">
            <a:normAutofit lnSpcReduction="10000"/>
          </a:bodyPr>
          <a:lstStyle/>
          <a:p>
            <a:pPr marL="0" indent="0" algn="l">
              <a:lnSpc>
                <a:spcPct val="88333"/>
              </a:lnSpc>
              <a:buNone/>
            </a:pPr>
            <a:r>
              <a:rPr lang="en-US" sz="3750" b="1" kern="0" spc="-75" dirty="0">
                <a:solidFill>
                  <a:srgbClr val="041C2C"/>
                </a:solidFill>
                <a:latin typeface="Barlow" pitchFamily="34" charset="0"/>
                <a:ea typeface="Barlow" pitchFamily="34" charset="-122"/>
                <a:cs typeface="Barlow" pitchFamily="34" charset="-120"/>
              </a:rPr>
              <a:t>Convertir cada empresa en una </a:t>
            </a:r>
            <a:r>
              <a:rPr lang="en-US" sz="3750" b="1" kern="0" spc="-75" dirty="0">
                <a:solidFill>
                  <a:srgbClr val="FE5000"/>
                </a:solidFill>
                <a:latin typeface="Barlow" pitchFamily="34" charset="0"/>
                <a:ea typeface="Barlow" pitchFamily="34" charset="-122"/>
                <a:cs typeface="Barlow" pitchFamily="34" charset="-120"/>
              </a:rPr>
              <a:t>compañía aumentada por IA</a:t>
            </a:r>
            <a:r>
              <a:rPr lang="en-US" sz="3750" b="1" kern="0" spc="-75" dirty="0">
                <a:solidFill>
                  <a:srgbClr val="041C2C"/>
                </a:solidFill>
                <a:latin typeface="Barlow" pitchFamily="34" charset="0"/>
                <a:ea typeface="Barlow" pitchFamily="34" charset="-122"/>
                <a:cs typeface="Barlow" pitchFamily="34" charset="-120"/>
              </a:rPr>
              <a:t>.</a:t>
            </a:r>
            <a:endParaRPr lang="en-US" sz="3750" dirty="0"/>
          </a:p>
        </p:txBody>
      </p:sp>
      <p:sp>
        <p:nvSpPr>
          <p:cNvPr id="6" name="Text 3"/>
          <p:cNvSpPr/>
          <p:nvPr/>
        </p:nvSpPr>
        <p:spPr>
          <a:xfrm>
            <a:off x="1066800" y="1895475"/>
            <a:ext cx="7161848" cy="990898"/>
          </a:xfrm>
          <a:prstGeom prst="rect">
            <a:avLst/>
          </a:prstGeom>
          <a:noFill/>
          <a:ln/>
        </p:spPr>
        <p:txBody>
          <a:bodyPr wrap="square" lIns="25400" tIns="25400" rIns="25400" bIns="25400" rtlCol="0" anchor="t">
            <a:normAutofit/>
          </a:bodyPr>
          <a:lstStyle/>
          <a:p>
            <a:pPr marL="0" indent="0" algn="l">
              <a:lnSpc>
                <a:spcPct val="119107"/>
              </a:lnSpc>
              <a:buNone/>
            </a:pPr>
            <a:r>
              <a:rPr lang="en-US" sz="1725" dirty="0">
                <a:solidFill>
                  <a:srgbClr val="354A5A"/>
                </a:solidFill>
                <a:latin typeface="Roboto" pitchFamily="34" charset="0"/>
                <a:ea typeface="Roboto" pitchFamily="34" charset="-122"/>
                <a:cs typeface="Roboto" pitchFamily="34" charset="-120"/>
              </a:rPr>
              <a:t>Ser el mejor socio para que cualquier organización se convierta en una compañía aumentada por la IA. El salto no lo decide la tecnología, sino reinventar </a:t>
            </a:r>
            <a:r>
              <a:rPr lang="en-US" sz="1725" b="1" dirty="0">
                <a:solidFill>
                  <a:srgbClr val="041C2C"/>
                </a:solidFill>
                <a:latin typeface="Roboto" pitchFamily="34" charset="0"/>
                <a:ea typeface="Roboto" pitchFamily="34" charset="-122"/>
                <a:cs typeface="Roboto" pitchFamily="34" charset="-120"/>
              </a:rPr>
              <a:t>toda la organización</a:t>
            </a:r>
            <a:r>
              <a:rPr lang="en-US" sz="1725" dirty="0">
                <a:solidFill>
                  <a:srgbClr val="354A5A"/>
                </a:solidFill>
                <a:latin typeface="Roboto" pitchFamily="34" charset="0"/>
                <a:ea typeface="Roboto" pitchFamily="34" charset="-122"/>
                <a:cs typeface="Roboto" pitchFamily="34" charset="-120"/>
              </a:rPr>
              <a:t>: ese es nuestro oficio.</a:t>
            </a:r>
            <a:endParaRPr lang="en-US" sz="1725" dirty="0"/>
          </a:p>
        </p:txBody>
      </p:sp>
      <p:sp>
        <p:nvSpPr>
          <p:cNvPr id="7" name="Text 4"/>
          <p:cNvSpPr/>
          <p:nvPr/>
        </p:nvSpPr>
        <p:spPr>
          <a:xfrm>
            <a:off x="1695450" y="4867275"/>
            <a:ext cx="3101340" cy="228600"/>
          </a:xfrm>
          <a:prstGeom prst="rect">
            <a:avLst/>
          </a:prstGeom>
          <a:noFill/>
          <a:ln/>
        </p:spPr>
        <p:txBody>
          <a:bodyPr wrap="square" lIns="25400" tIns="25400" rIns="25400" bIns="25400" rtlCol="0" anchor="t">
            <a:normAutofit/>
          </a:bodyPr>
          <a:lstStyle/>
          <a:p>
            <a:pPr marL="0" indent="0" algn="l">
              <a:buNone/>
            </a:pPr>
            <a:r>
              <a:rPr lang="en-US" sz="1125" b="1" kern="0" spc="146" dirty="0">
                <a:solidFill>
                  <a:srgbClr val="6E8493"/>
                </a:solidFill>
                <a:latin typeface="JetBrains Mono" pitchFamily="34" charset="0"/>
                <a:ea typeface="JetBrains Mono" pitchFamily="34" charset="-122"/>
                <a:cs typeface="JetBrains Mono" pitchFamily="34" charset="-120"/>
              </a:rPr>
              <a:t>PUNTO DE PARTIDA</a:t>
            </a:r>
            <a:endParaRPr lang="en-US" sz="1125" dirty="0"/>
          </a:p>
        </p:txBody>
      </p:sp>
      <p:sp>
        <p:nvSpPr>
          <p:cNvPr id="8" name="Text 5"/>
          <p:cNvSpPr/>
          <p:nvPr/>
        </p:nvSpPr>
        <p:spPr>
          <a:xfrm>
            <a:off x="1695450" y="5114925"/>
            <a:ext cx="2903982" cy="572988"/>
          </a:xfrm>
          <a:prstGeom prst="rect">
            <a:avLst/>
          </a:prstGeom>
          <a:noFill/>
          <a:ln/>
        </p:spPr>
        <p:txBody>
          <a:bodyPr wrap="square" lIns="25400" tIns="25400" rIns="25400" bIns="25400" rtlCol="0" anchor="t">
            <a:normAutofit lnSpcReduction="10000"/>
          </a:bodyPr>
          <a:lstStyle/>
          <a:p>
            <a:pPr marL="0" indent="0" algn="l">
              <a:lnSpc>
                <a:spcPct val="87750"/>
              </a:lnSpc>
              <a:buNone/>
            </a:pPr>
            <a:r>
              <a:rPr lang="en-US" sz="2025" b="1" kern="0" spc="-20" dirty="0">
                <a:solidFill>
                  <a:srgbClr val="6E8493"/>
                </a:solidFill>
                <a:latin typeface="Barlow" pitchFamily="34" charset="0"/>
                <a:ea typeface="Barlow" pitchFamily="34" charset="-122"/>
                <a:cs typeface="Barlow" pitchFamily="34" charset="-120"/>
              </a:rPr>
              <a:t>Personas aumentadas por IA</a:t>
            </a:r>
            <a:endParaRPr lang="en-US" sz="2025" dirty="0"/>
          </a:p>
        </p:txBody>
      </p:sp>
      <p:sp>
        <p:nvSpPr>
          <p:cNvPr id="9" name="Text 6"/>
          <p:cNvSpPr/>
          <p:nvPr/>
        </p:nvSpPr>
        <p:spPr>
          <a:xfrm>
            <a:off x="1695450" y="5726013"/>
            <a:ext cx="2903982" cy="552450"/>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00" dirty="0">
                <a:solidFill>
                  <a:srgbClr val="4A6273"/>
                </a:solidFill>
                <a:latin typeface="Roboto" pitchFamily="34" charset="0"/>
                <a:ea typeface="Roboto" pitchFamily="34" charset="-122"/>
                <a:cs typeface="Roboto" pitchFamily="34" charset="-120"/>
              </a:rPr>
              <a:t>La IA mejora tareas sueltas · ≈ 88% ya está aquí</a:t>
            </a:r>
            <a:endParaRPr lang="en-US" sz="1500" dirty="0"/>
          </a:p>
        </p:txBody>
      </p:sp>
      <p:sp>
        <p:nvSpPr>
          <p:cNvPr id="10" name="Text 7"/>
          <p:cNvSpPr/>
          <p:nvPr/>
        </p:nvSpPr>
        <p:spPr>
          <a:xfrm>
            <a:off x="6400800" y="4010025"/>
            <a:ext cx="3143250" cy="228600"/>
          </a:xfrm>
          <a:prstGeom prst="rect">
            <a:avLst/>
          </a:prstGeom>
          <a:noFill/>
          <a:ln/>
        </p:spPr>
        <p:txBody>
          <a:bodyPr wrap="square" lIns="25400" tIns="25400" rIns="25400" bIns="25400" rtlCol="0" anchor="t">
            <a:normAutofit/>
          </a:bodyPr>
          <a:lstStyle/>
          <a:p>
            <a:pPr marL="0" indent="0" algn="l">
              <a:buNone/>
            </a:pPr>
            <a:r>
              <a:rPr lang="en-US" sz="1125" b="1" kern="0" spc="146" dirty="0">
                <a:solidFill>
                  <a:srgbClr val="FE5000"/>
                </a:solidFill>
                <a:latin typeface="JetBrains Mono" pitchFamily="34" charset="0"/>
                <a:ea typeface="JetBrains Mono" pitchFamily="34" charset="-122"/>
                <a:cs typeface="JetBrains Mono" pitchFamily="34" charset="-120"/>
              </a:rPr>
              <a:t>EL SALTO · FACTOR ENTELGY</a:t>
            </a:r>
            <a:endParaRPr lang="en-US" sz="1125" dirty="0"/>
          </a:p>
        </p:txBody>
      </p:sp>
      <p:sp>
        <p:nvSpPr>
          <p:cNvPr id="11" name="Text 8"/>
          <p:cNvSpPr/>
          <p:nvPr/>
        </p:nvSpPr>
        <p:spPr>
          <a:xfrm>
            <a:off x="6400800" y="4257675"/>
            <a:ext cx="3143250" cy="305544"/>
          </a:xfrm>
          <a:prstGeom prst="rect">
            <a:avLst/>
          </a:prstGeom>
          <a:noFill/>
          <a:ln/>
        </p:spPr>
        <p:txBody>
          <a:bodyPr wrap="square" lIns="25400" tIns="25400" rIns="25400" bIns="25400" rtlCol="0" anchor="t">
            <a:normAutofit lnSpcReduction="10000"/>
          </a:bodyPr>
          <a:lstStyle/>
          <a:p>
            <a:pPr marL="0" indent="0" algn="l">
              <a:lnSpc>
                <a:spcPct val="87750"/>
              </a:lnSpc>
              <a:buNone/>
            </a:pPr>
            <a:r>
              <a:rPr lang="en-US" sz="2025" b="1" kern="0" spc="-20" dirty="0">
                <a:solidFill>
                  <a:srgbClr val="041C2C"/>
                </a:solidFill>
                <a:latin typeface="Barlow" pitchFamily="34" charset="0"/>
                <a:ea typeface="Barlow" pitchFamily="34" charset="-122"/>
                <a:cs typeface="Barlow" pitchFamily="34" charset="-120"/>
              </a:rPr>
              <a:t>Gestión del cambio</a:t>
            </a:r>
            <a:endParaRPr lang="en-US" sz="2025" dirty="0"/>
          </a:p>
        </p:txBody>
      </p:sp>
      <p:sp>
        <p:nvSpPr>
          <p:cNvPr id="12" name="Text 9"/>
          <p:cNvSpPr/>
          <p:nvPr/>
        </p:nvSpPr>
        <p:spPr>
          <a:xfrm>
            <a:off x="6400800" y="4601319"/>
            <a:ext cx="2943225" cy="80962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00" dirty="0">
                <a:solidFill>
                  <a:srgbClr val="4A6273"/>
                </a:solidFill>
                <a:latin typeface="Roboto" pitchFamily="34" charset="0"/>
                <a:ea typeface="Roboto" pitchFamily="34" charset="-122"/>
                <a:cs typeface="Roboto" pitchFamily="34" charset="-120"/>
              </a:rPr>
              <a:t>El motor crítico del salto, sobre los 4 ejes: </a:t>
            </a:r>
            <a:r>
              <a:rPr lang="en-US" sz="1500" b="1" dirty="0">
                <a:solidFill>
                  <a:srgbClr val="855AC6"/>
                </a:solidFill>
                <a:latin typeface="Roboto" pitchFamily="34" charset="0"/>
                <a:ea typeface="Roboto" pitchFamily="34" charset="-122"/>
                <a:cs typeface="Roboto" pitchFamily="34" charset="-120"/>
              </a:rPr>
              <a:t>tecnología</a:t>
            </a:r>
            <a:r>
              <a:rPr lang="en-US" sz="1500" dirty="0">
                <a:solidFill>
                  <a:srgbClr val="4A6273"/>
                </a:solidFill>
                <a:latin typeface="Roboto" pitchFamily="34" charset="0"/>
                <a:ea typeface="Roboto" pitchFamily="34" charset="-122"/>
                <a:cs typeface="Roboto" pitchFamily="34" charset="-120"/>
              </a:rPr>
              <a:t>, </a:t>
            </a:r>
            <a:r>
              <a:rPr lang="en-US" sz="1500" b="1" dirty="0">
                <a:solidFill>
                  <a:srgbClr val="2EA66A"/>
                </a:solidFill>
                <a:latin typeface="Roboto" pitchFamily="34" charset="0"/>
                <a:ea typeface="Roboto" pitchFamily="34" charset="-122"/>
                <a:cs typeface="Roboto" pitchFamily="34" charset="-120"/>
              </a:rPr>
              <a:t>personas</a:t>
            </a:r>
            <a:r>
              <a:rPr lang="en-US" sz="1500" dirty="0">
                <a:solidFill>
                  <a:srgbClr val="4A6273"/>
                </a:solidFill>
                <a:latin typeface="Roboto" pitchFamily="34" charset="0"/>
                <a:ea typeface="Roboto" pitchFamily="34" charset="-122"/>
                <a:cs typeface="Roboto" pitchFamily="34" charset="-120"/>
              </a:rPr>
              <a:t>, </a:t>
            </a:r>
            <a:r>
              <a:rPr lang="en-US" sz="1500" b="1" dirty="0">
                <a:solidFill>
                  <a:srgbClr val="2F6FB0"/>
                </a:solidFill>
                <a:latin typeface="Roboto" pitchFamily="34" charset="0"/>
                <a:ea typeface="Roboto" pitchFamily="34" charset="-122"/>
                <a:cs typeface="Roboto" pitchFamily="34" charset="-120"/>
              </a:rPr>
              <a:t>procesos </a:t>
            </a:r>
            <a:r>
              <a:rPr lang="en-US" sz="1500" dirty="0">
                <a:solidFill>
                  <a:srgbClr val="4A6273"/>
                </a:solidFill>
                <a:latin typeface="Roboto" pitchFamily="34" charset="0"/>
                <a:ea typeface="Roboto" pitchFamily="34" charset="-122"/>
                <a:cs typeface="Roboto" pitchFamily="34" charset="-120"/>
              </a:rPr>
              <a:t>y </a:t>
            </a:r>
            <a:r>
              <a:rPr lang="en-US" sz="1500" b="1" dirty="0">
                <a:solidFill>
                  <a:srgbClr val="D04C81"/>
                </a:solidFill>
                <a:latin typeface="Roboto" pitchFamily="34" charset="0"/>
                <a:ea typeface="Roboto" pitchFamily="34" charset="-122"/>
                <a:cs typeface="Roboto" pitchFamily="34" charset="-120"/>
              </a:rPr>
              <a:t>cultura</a:t>
            </a:r>
            <a:r>
              <a:rPr lang="en-US" sz="1500" dirty="0">
                <a:solidFill>
                  <a:srgbClr val="4A6273"/>
                </a:solidFill>
                <a:latin typeface="Roboto" pitchFamily="34" charset="0"/>
                <a:ea typeface="Roboto" pitchFamily="34" charset="-122"/>
                <a:cs typeface="Roboto" pitchFamily="34" charset="-120"/>
              </a:rPr>
              <a:t>.</a:t>
            </a:r>
            <a:endParaRPr lang="en-US" sz="1500" dirty="0"/>
          </a:p>
        </p:txBody>
      </p:sp>
      <p:sp>
        <p:nvSpPr>
          <p:cNvPr id="13" name="Text 10"/>
          <p:cNvSpPr/>
          <p:nvPr/>
        </p:nvSpPr>
        <p:spPr>
          <a:xfrm>
            <a:off x="12458700" y="3038475"/>
            <a:ext cx="3143250" cy="228600"/>
          </a:xfrm>
          <a:prstGeom prst="rect">
            <a:avLst/>
          </a:prstGeom>
          <a:noFill/>
          <a:ln/>
        </p:spPr>
        <p:txBody>
          <a:bodyPr wrap="square" lIns="25400" tIns="25400" rIns="25400" bIns="25400" rtlCol="0" anchor="t">
            <a:normAutofit/>
          </a:bodyPr>
          <a:lstStyle/>
          <a:p>
            <a:pPr marL="0" indent="0" algn="l">
              <a:buNone/>
            </a:pPr>
            <a:r>
              <a:rPr lang="en-US" sz="1125" b="1" kern="0" spc="146" dirty="0">
                <a:solidFill>
                  <a:srgbClr val="FE5000"/>
                </a:solidFill>
                <a:latin typeface="JetBrains Mono" pitchFamily="34" charset="0"/>
                <a:ea typeface="JetBrains Mono" pitchFamily="34" charset="-122"/>
                <a:cs typeface="JetBrains Mono" pitchFamily="34" charset="-120"/>
              </a:rPr>
              <a:t>EL DESTINO</a:t>
            </a:r>
            <a:endParaRPr lang="en-US" sz="1125" dirty="0"/>
          </a:p>
        </p:txBody>
      </p:sp>
      <p:sp>
        <p:nvSpPr>
          <p:cNvPr id="14" name="Text 11"/>
          <p:cNvSpPr/>
          <p:nvPr/>
        </p:nvSpPr>
        <p:spPr>
          <a:xfrm>
            <a:off x="12458700" y="3286125"/>
            <a:ext cx="3143250" cy="305544"/>
          </a:xfrm>
          <a:prstGeom prst="rect">
            <a:avLst/>
          </a:prstGeom>
          <a:noFill/>
          <a:ln/>
        </p:spPr>
        <p:txBody>
          <a:bodyPr wrap="square" lIns="25400" tIns="25400" rIns="25400" bIns="25400" rtlCol="0" anchor="t">
            <a:normAutofit lnSpcReduction="10000"/>
          </a:bodyPr>
          <a:lstStyle/>
          <a:p>
            <a:pPr marL="0" indent="0" algn="l">
              <a:lnSpc>
                <a:spcPct val="87750"/>
              </a:lnSpc>
              <a:buNone/>
            </a:pPr>
            <a:r>
              <a:rPr lang="en-US" sz="2025" b="1" kern="0" spc="-20" dirty="0">
                <a:solidFill>
                  <a:srgbClr val="041C2C"/>
                </a:solidFill>
                <a:latin typeface="Barlow" pitchFamily="34" charset="0"/>
                <a:ea typeface="Barlow" pitchFamily="34" charset="-122"/>
                <a:cs typeface="Barlow" pitchFamily="34" charset="-120"/>
              </a:rPr>
              <a:t>La compañía </a:t>
            </a:r>
            <a:r>
              <a:rPr lang="en-US" sz="2025" b="1" kern="0" spc="-20" dirty="0">
                <a:solidFill>
                  <a:srgbClr val="FE5000"/>
                </a:solidFill>
                <a:latin typeface="Barlow" pitchFamily="34" charset="0"/>
                <a:ea typeface="Barlow" pitchFamily="34" charset="-122"/>
                <a:cs typeface="Barlow" pitchFamily="34" charset="-120"/>
              </a:rPr>
              <a:t>aumentada</a:t>
            </a:r>
            <a:endParaRPr lang="en-US" sz="2025" dirty="0"/>
          </a:p>
        </p:txBody>
      </p:sp>
      <p:sp>
        <p:nvSpPr>
          <p:cNvPr id="15" name="Text 12"/>
          <p:cNvSpPr/>
          <p:nvPr/>
        </p:nvSpPr>
        <p:spPr>
          <a:xfrm>
            <a:off x="12458700" y="3629769"/>
            <a:ext cx="2943225" cy="809625"/>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1500" dirty="0">
                <a:solidFill>
                  <a:srgbClr val="4A6273"/>
                </a:solidFill>
                <a:latin typeface="Roboto" pitchFamily="34" charset="0"/>
                <a:ea typeface="Roboto" pitchFamily="34" charset="-122"/>
                <a:cs typeface="Roboto" pitchFamily="34" charset="-120"/>
              </a:rPr>
              <a:t>La organización entera, reinventada con IA. Distinta a la que empezó.</a:t>
            </a:r>
            <a:endParaRPr lang="en-US" sz="150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6800" y="3705225"/>
            <a:ext cx="16154400" cy="4095750"/>
          </a:xfrm>
          <a:prstGeom prst="rect">
            <a:avLst/>
          </a:prstGeom>
        </p:spPr>
      </p:pic>
      <p:sp>
        <p:nvSpPr>
          <p:cNvPr id="17" name="Shape 13"/>
          <p:cNvSpPr/>
          <p:nvPr/>
        </p:nvSpPr>
        <p:spPr>
          <a:xfrm>
            <a:off x="1066800" y="7991475"/>
            <a:ext cx="16154400" cy="552450"/>
          </a:xfrm>
          <a:prstGeom prst="rect">
            <a:avLst/>
          </a:prstGeom>
          <a:solidFill>
            <a:srgbClr val="FFFFFF"/>
          </a:solidFill>
          <a:ln/>
        </p:spPr>
        <p:txBody>
          <a:bodyPr/>
          <a:lstStyle/>
          <a:p>
            <a:endParaRPr lang="es-ES"/>
          </a:p>
        </p:txBody>
      </p:sp>
      <p:sp>
        <p:nvSpPr>
          <p:cNvPr id="18" name="Shape 14"/>
          <p:cNvSpPr/>
          <p:nvPr/>
        </p:nvSpPr>
        <p:spPr>
          <a:xfrm>
            <a:off x="1066800" y="8534400"/>
            <a:ext cx="16154400" cy="9525"/>
          </a:xfrm>
          <a:prstGeom prst="rect">
            <a:avLst/>
          </a:prstGeom>
          <a:solidFill>
            <a:srgbClr val="C8D2DA"/>
          </a:solidFill>
          <a:ln/>
        </p:spPr>
        <p:txBody>
          <a:bodyPr/>
          <a:lstStyle/>
          <a:p>
            <a:endParaRPr lang="es-ES"/>
          </a:p>
        </p:txBody>
      </p:sp>
      <p:sp>
        <p:nvSpPr>
          <p:cNvPr id="19" name="Shape 15"/>
          <p:cNvSpPr/>
          <p:nvPr/>
        </p:nvSpPr>
        <p:spPr>
          <a:xfrm>
            <a:off x="1066800" y="7991475"/>
            <a:ext cx="16154400" cy="9525"/>
          </a:xfrm>
          <a:prstGeom prst="rect">
            <a:avLst/>
          </a:prstGeom>
          <a:solidFill>
            <a:srgbClr val="C8D2DA"/>
          </a:solidFill>
          <a:ln/>
        </p:spPr>
        <p:txBody>
          <a:bodyPr/>
          <a:lstStyle/>
          <a:p>
            <a:endParaRPr lang="es-ES"/>
          </a:p>
        </p:txBody>
      </p:sp>
      <p:sp>
        <p:nvSpPr>
          <p:cNvPr id="20" name="Shape 16"/>
          <p:cNvSpPr/>
          <p:nvPr/>
        </p:nvSpPr>
        <p:spPr>
          <a:xfrm>
            <a:off x="1066800" y="7991475"/>
            <a:ext cx="47625" cy="552450"/>
          </a:xfrm>
          <a:prstGeom prst="rect">
            <a:avLst/>
          </a:prstGeom>
          <a:solidFill>
            <a:srgbClr val="FE5000"/>
          </a:solidFill>
          <a:ln/>
        </p:spPr>
        <p:txBody>
          <a:bodyPr/>
          <a:lstStyle/>
          <a:p>
            <a:endParaRPr lang="es-ES"/>
          </a:p>
        </p:txBody>
      </p:sp>
      <p:sp>
        <p:nvSpPr>
          <p:cNvPr id="21" name="Shape 17"/>
          <p:cNvSpPr/>
          <p:nvPr/>
        </p:nvSpPr>
        <p:spPr>
          <a:xfrm>
            <a:off x="17211675" y="7991475"/>
            <a:ext cx="9525" cy="552450"/>
          </a:xfrm>
          <a:prstGeom prst="rect">
            <a:avLst/>
          </a:prstGeom>
          <a:solidFill>
            <a:srgbClr val="C8D2DA"/>
          </a:solidFill>
          <a:ln/>
        </p:spPr>
        <p:txBody>
          <a:bodyPr/>
          <a:lstStyle/>
          <a:p>
            <a:endParaRPr lang="es-ES"/>
          </a:p>
        </p:txBody>
      </p:sp>
      <p:sp>
        <p:nvSpPr>
          <p:cNvPr id="22" name="Text 18"/>
          <p:cNvSpPr/>
          <p:nvPr/>
        </p:nvSpPr>
        <p:spPr>
          <a:xfrm>
            <a:off x="1362075" y="8143875"/>
            <a:ext cx="16086582" cy="28575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041C2C"/>
                </a:solidFill>
                <a:highlight>
                  <a:srgbClr val="FFFFFF"/>
                </a:highlight>
                <a:latin typeface="Barlow" pitchFamily="34" charset="0"/>
                <a:ea typeface="Barlow" pitchFamily="34" charset="-122"/>
                <a:cs typeface="Barlow" pitchFamily="34" charset="-120"/>
              </a:rPr>
              <a:t>No ayudamos a usar la IA. </a:t>
            </a:r>
            <a:r>
              <a:rPr lang="en-US" sz="1650" b="1" dirty="0">
                <a:solidFill>
                  <a:srgbClr val="041C2C"/>
                </a:solidFill>
                <a:latin typeface="Barlow" pitchFamily="34" charset="0"/>
                <a:ea typeface="Barlow" pitchFamily="34" charset="-122"/>
                <a:cs typeface="Barlow" pitchFamily="34" charset="-120"/>
              </a:rPr>
              <a:t>Ayudamos a reinventarse con ella, como compañía.</a:t>
            </a:r>
            <a:endParaRPr lang="en-US" sz="1650" dirty="0"/>
          </a:p>
        </p:txBody>
      </p:sp>
      <p:sp>
        <p:nvSpPr>
          <p:cNvPr id="23" name="Text 19"/>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4" name="Text 20"/>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08 / 24</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1C2C"/>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55AC6">
                  <a:alpha val="18000"/>
                </a:srgbClr>
              </a:gs>
              <a:gs pos="55000">
                <a:srgbClr val="855AC6">
                  <a:alpha val="0"/>
                </a:srgbClr>
              </a:gs>
            </a:gsLst>
            <a:path path="circle">
              <a:fillToRect l="16000" t="28000" r="84000" b="72000"/>
            </a:path>
          </a:gradFill>
          <a:ln/>
        </p:spPr>
        <p:txBody>
          <a:bodyPr/>
          <a:lstStyle/>
          <a:p>
            <a:endParaRPr lang="es-ES"/>
          </a:p>
        </p:txBody>
      </p:sp>
      <p:pic>
        <p:nvPicPr>
          <p:cNvPr id="3"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4" name="Text 1"/>
          <p:cNvSpPr/>
          <p:nvPr/>
        </p:nvSpPr>
        <p:spPr>
          <a:xfrm>
            <a:off x="1066800" y="4404420"/>
            <a:ext cx="2984614" cy="2049661"/>
          </a:xfrm>
          <a:prstGeom prst="rect">
            <a:avLst/>
          </a:prstGeom>
          <a:noFill/>
          <a:ln/>
        </p:spPr>
        <p:txBody>
          <a:bodyPr wrap="square" lIns="25400" tIns="25400" rIns="25400" bIns="25400" rtlCol="0" anchor="t">
            <a:normAutofit lnSpcReduction="10000"/>
          </a:bodyPr>
          <a:lstStyle/>
          <a:p>
            <a:pPr marL="0" indent="0" algn="l">
              <a:lnSpc>
                <a:spcPct val="66625"/>
              </a:lnSpc>
              <a:buNone/>
            </a:pPr>
            <a:r>
              <a:rPr lang="en-US" sz="19800" b="1" kern="0" spc="-594" dirty="0">
                <a:solidFill>
                  <a:srgbClr val="57BE8A"/>
                </a:solidFill>
                <a:latin typeface="Barlow" pitchFamily="34" charset="0"/>
                <a:ea typeface="Barlow" pitchFamily="34" charset="-122"/>
                <a:cs typeface="Barlow" pitchFamily="34" charset="-120"/>
              </a:rPr>
              <a:t>02</a:t>
            </a:r>
            <a:endParaRPr lang="en-US" sz="19800" dirty="0"/>
          </a:p>
        </p:txBody>
      </p:sp>
      <p:sp>
        <p:nvSpPr>
          <p:cNvPr id="5" name="Shape 2"/>
          <p:cNvSpPr/>
          <p:nvPr/>
        </p:nvSpPr>
        <p:spPr>
          <a:xfrm>
            <a:off x="4275386" y="4305300"/>
            <a:ext cx="19050" cy="2209800"/>
          </a:xfrm>
          <a:prstGeom prst="rect">
            <a:avLst/>
          </a:prstGeom>
          <a:solidFill>
            <a:srgbClr val="57BE8A">
              <a:alpha val="85000"/>
            </a:srgbClr>
          </a:solidFill>
          <a:ln/>
        </p:spPr>
        <p:txBody>
          <a:bodyPr/>
          <a:lstStyle/>
          <a:p>
            <a:endParaRPr lang="es-ES"/>
          </a:p>
        </p:txBody>
      </p:sp>
      <p:sp>
        <p:nvSpPr>
          <p:cNvPr id="6" name="Text 3"/>
          <p:cNvSpPr/>
          <p:nvPr/>
        </p:nvSpPr>
        <p:spPr>
          <a:xfrm>
            <a:off x="4789736" y="4518720"/>
            <a:ext cx="6979816" cy="876300"/>
          </a:xfrm>
          <a:prstGeom prst="rect">
            <a:avLst/>
          </a:prstGeom>
          <a:noFill/>
          <a:ln/>
        </p:spPr>
        <p:txBody>
          <a:bodyPr wrap="none" lIns="25400" tIns="25400" rIns="25400" bIns="25400" rtlCol="0" anchor="t">
            <a:normAutofit lnSpcReduction="10000"/>
          </a:bodyPr>
          <a:lstStyle/>
          <a:p>
            <a:pPr marL="0" indent="0" algn="l">
              <a:lnSpc>
                <a:spcPct val="83019"/>
              </a:lnSpc>
              <a:buNone/>
            </a:pPr>
            <a:r>
              <a:rPr lang="en-US" sz="6600" b="1" kern="0" spc="-132" dirty="0">
                <a:solidFill>
                  <a:srgbClr val="FFFFFF"/>
                </a:solidFill>
                <a:latin typeface="Barlow" pitchFamily="34" charset="0"/>
                <a:ea typeface="Barlow" pitchFamily="34" charset="-122"/>
                <a:cs typeface="Barlow" pitchFamily="34" charset="-120"/>
              </a:rPr>
              <a:t>Cómo trabajamos</a:t>
            </a:r>
            <a:endParaRPr lang="en-US" sz="6600" dirty="0"/>
          </a:p>
        </p:txBody>
      </p:sp>
      <p:sp>
        <p:nvSpPr>
          <p:cNvPr id="7" name="Text 4"/>
          <p:cNvSpPr/>
          <p:nvPr/>
        </p:nvSpPr>
        <p:spPr>
          <a:xfrm>
            <a:off x="4789736" y="5528370"/>
            <a:ext cx="4875943" cy="811411"/>
          </a:xfrm>
          <a:prstGeom prst="rect">
            <a:avLst/>
          </a:prstGeom>
          <a:noFill/>
          <a:ln/>
        </p:spPr>
        <p:txBody>
          <a:bodyPr wrap="square" lIns="25400" tIns="25400" rIns="25400" bIns="25400" rtlCol="0" anchor="t">
            <a:normAutofit/>
          </a:bodyPr>
          <a:lstStyle/>
          <a:p>
            <a:pPr marL="0" indent="0" algn="l">
              <a:lnSpc>
                <a:spcPct val="119412"/>
              </a:lnSpc>
              <a:buNone/>
            </a:pPr>
            <a:r>
              <a:rPr lang="en-US" sz="2100" dirty="0">
                <a:solidFill>
                  <a:srgbClr val="FFFFFF">
                    <a:alpha val="72000"/>
                  </a:srgbClr>
                </a:solidFill>
                <a:latin typeface="Roboto" pitchFamily="34" charset="0"/>
                <a:ea typeface="Roboto" pitchFamily="34" charset="-122"/>
                <a:cs typeface="Roboto" pitchFamily="34" charset="-120"/>
              </a:rPr>
              <a:t>Un método único de extremo a extremo, cinco prácticas que lo aplican.</a:t>
            </a:r>
            <a:endParaRPr lang="en-US" sz="2100" dirty="0"/>
          </a:p>
        </p:txBody>
      </p:sp>
      <p:sp>
        <p:nvSpPr>
          <p:cNvPr id="8" name="Text 5"/>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FFFFFF">
                    <a:alpha val="42000"/>
                  </a:srgbClr>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9" name="Text 6"/>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FFFFFF">
                    <a:alpha val="42000"/>
                  </a:srgbClr>
                </a:solidFill>
                <a:latin typeface="JetBrains Mono" pitchFamily="34" charset="0"/>
                <a:ea typeface="JetBrains Mono" pitchFamily="34" charset="-122"/>
                <a:cs typeface="JetBrains Mono" pitchFamily="34" charset="-120"/>
              </a:rPr>
              <a:t>09 / 24</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661988"/>
            <a:ext cx="342900" cy="28575"/>
          </a:xfrm>
          <a:prstGeom prst="rect">
            <a:avLst/>
          </a:prstGeom>
          <a:solidFill>
            <a:srgbClr val="855AC6"/>
          </a:solidFill>
          <a:ln/>
        </p:spPr>
        <p:txBody>
          <a:bodyPr/>
          <a:lstStyle/>
          <a:p>
            <a:endParaRPr lang="es-ES"/>
          </a:p>
        </p:txBody>
      </p:sp>
      <p:sp>
        <p:nvSpPr>
          <p:cNvPr id="3" name="Text 1"/>
          <p:cNvSpPr/>
          <p:nvPr/>
        </p:nvSpPr>
        <p:spPr>
          <a:xfrm>
            <a:off x="1543050" y="581025"/>
            <a:ext cx="2326005" cy="228600"/>
          </a:xfrm>
          <a:prstGeom prst="rect">
            <a:avLst/>
          </a:prstGeom>
          <a:noFill/>
          <a:ln/>
        </p:spPr>
        <p:txBody>
          <a:bodyPr wrap="square" lIns="25400" tIns="25400" rIns="25400" bIns="25400" rtlCol="0" anchor="t">
            <a:normAutofit fontScale="925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CÓMO TRABAJAMOS</a:t>
            </a:r>
            <a:endParaRPr lang="en-US" sz="1500" dirty="0"/>
          </a:p>
        </p:txBody>
      </p:sp>
      <p:pic>
        <p:nvPicPr>
          <p:cNvPr id="4" name="Image 0" descr="preencoded.png"/>
          <p:cNvPicPr>
            <a:picLocks noChangeAspect="1"/>
          </p:cNvPicPr>
          <p:nvPr/>
        </p:nvPicPr>
        <p:blipFill>
          <a:blip r:embed="rId3"/>
          <a:stretch>
            <a:fillRect/>
          </a:stretch>
        </p:blipFill>
        <p:spPr>
          <a:xfrm>
            <a:off x="16200686" y="533400"/>
            <a:ext cx="1020514" cy="285750"/>
          </a:xfrm>
          <a:prstGeom prst="rect">
            <a:avLst/>
          </a:prstGeom>
        </p:spPr>
      </p:pic>
      <p:sp>
        <p:nvSpPr>
          <p:cNvPr id="5" name="Text 2"/>
          <p:cNvSpPr/>
          <p:nvPr/>
        </p:nvSpPr>
        <p:spPr>
          <a:xfrm>
            <a:off x="1066800" y="1428006"/>
            <a:ext cx="17769840" cy="542925"/>
          </a:xfrm>
          <a:prstGeom prst="rect">
            <a:avLst/>
          </a:prstGeom>
          <a:noFill/>
          <a:ln/>
        </p:spPr>
        <p:txBody>
          <a:bodyPr wrap="square" lIns="25400" tIns="25400" rIns="25400" bIns="25400" rtlCol="0" anchor="t">
            <a:normAutofit lnSpcReduction="10000"/>
          </a:bodyPr>
          <a:lstStyle/>
          <a:p>
            <a:pPr marL="0" indent="0" algn="l">
              <a:lnSpc>
                <a:spcPct val="88333"/>
              </a:lnSpc>
              <a:buNone/>
            </a:pPr>
            <a:r>
              <a:rPr lang="en-US" sz="3750" b="1" kern="0" spc="-75" dirty="0">
                <a:solidFill>
                  <a:srgbClr val="FE5000"/>
                </a:solidFill>
                <a:latin typeface="Barlow" pitchFamily="34" charset="0"/>
                <a:ea typeface="Barlow" pitchFamily="34" charset="-122"/>
                <a:cs typeface="Barlow" pitchFamily="34" charset="-120"/>
              </a:rPr>
              <a:t>Un solo método. </a:t>
            </a:r>
            <a:r>
              <a:rPr lang="en-US" sz="3750" b="1" kern="0" spc="-75" dirty="0">
                <a:solidFill>
                  <a:srgbClr val="041C2C"/>
                </a:solidFill>
                <a:latin typeface="Barlow" pitchFamily="34" charset="0"/>
                <a:ea typeface="Barlow" pitchFamily="34" charset="-122"/>
                <a:cs typeface="Barlow" pitchFamily="34" charset="-120"/>
              </a:rPr>
              <a:t>Cinco prácticas.</a:t>
            </a:r>
            <a:endParaRPr lang="en-US" sz="3750" dirty="0"/>
          </a:p>
        </p:txBody>
      </p:sp>
      <p:sp>
        <p:nvSpPr>
          <p:cNvPr id="6" name="Text 3"/>
          <p:cNvSpPr/>
          <p:nvPr/>
        </p:nvSpPr>
        <p:spPr>
          <a:xfrm>
            <a:off x="1066800" y="2047131"/>
            <a:ext cx="8717607" cy="383381"/>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El mismo método en las cinco prácticas. Elige por dónde empezar.</a:t>
            </a:r>
            <a:endParaRPr lang="en-US" sz="1875" dirty="0"/>
          </a:p>
        </p:txBody>
      </p:sp>
      <p:sp>
        <p:nvSpPr>
          <p:cNvPr id="7" name="Shape 4"/>
          <p:cNvSpPr/>
          <p:nvPr/>
        </p:nvSpPr>
        <p:spPr>
          <a:xfrm>
            <a:off x="1066800" y="2563862"/>
            <a:ext cx="16154400" cy="2857500"/>
          </a:xfrm>
          <a:prstGeom prst="roundRect">
            <a:avLst>
              <a:gd name="adj" fmla="val 5333"/>
            </a:avLst>
          </a:prstGeom>
          <a:solidFill>
            <a:srgbClr val="0C2436"/>
          </a:solidFill>
          <a:ln w="9525">
            <a:solidFill>
              <a:srgbClr val="FFFFFF">
                <a:alpha val="10000"/>
              </a:srgbClr>
            </a:solidFill>
            <a:prstDash val="solid"/>
          </a:ln>
          <a:effectLst>
            <a:outerShdw blurRad="152400" dist="57150" dir="5400000" algn="bl" rotWithShape="0">
              <a:srgbClr val="041C2C">
                <a:alpha val="10000"/>
              </a:srgbClr>
            </a:outerShdw>
          </a:effectLst>
        </p:spPr>
        <p:txBody>
          <a:bodyPr/>
          <a:lstStyle/>
          <a:p>
            <a:endParaRPr lang="es-ES"/>
          </a:p>
        </p:txBody>
      </p:sp>
      <p:sp>
        <p:nvSpPr>
          <p:cNvPr id="8" name="Text 5"/>
          <p:cNvSpPr/>
          <p:nvPr/>
        </p:nvSpPr>
        <p:spPr>
          <a:xfrm>
            <a:off x="1457325" y="2816275"/>
            <a:ext cx="2165077" cy="257175"/>
          </a:xfrm>
          <a:prstGeom prst="rect">
            <a:avLst/>
          </a:prstGeom>
          <a:noFill/>
          <a:ln/>
        </p:spPr>
        <p:txBody>
          <a:bodyPr wrap="square" lIns="25400" tIns="25400" rIns="25400" bIns="25400" rtlCol="0" anchor="t">
            <a:normAutofit fontScale="92500"/>
          </a:bodyPr>
          <a:lstStyle/>
          <a:p>
            <a:pPr marL="0" indent="0" algn="l">
              <a:buNone/>
            </a:pPr>
            <a:r>
              <a:rPr lang="en-US" sz="1350" b="1" kern="0" spc="297" dirty="0">
                <a:solidFill>
                  <a:srgbClr val="FE5000"/>
                </a:solidFill>
                <a:latin typeface="JetBrains Mono" pitchFamily="34" charset="0"/>
                <a:ea typeface="JetBrains Mono" pitchFamily="34" charset="-122"/>
                <a:cs typeface="JetBrains Mono" pitchFamily="34" charset="-120"/>
              </a:rPr>
              <a:t>MÉTODO ENTELGY</a:t>
            </a:r>
            <a:endParaRPr lang="en-US" sz="1350" dirty="0"/>
          </a:p>
        </p:txBody>
      </p:sp>
      <p:sp>
        <p:nvSpPr>
          <p:cNvPr id="9" name="Shape 6"/>
          <p:cNvSpPr/>
          <p:nvPr/>
        </p:nvSpPr>
        <p:spPr>
          <a:xfrm>
            <a:off x="3577977" y="2840087"/>
            <a:ext cx="9525" cy="171450"/>
          </a:xfrm>
          <a:prstGeom prst="rect">
            <a:avLst/>
          </a:prstGeom>
          <a:solidFill>
            <a:srgbClr val="FFFFFF">
              <a:alpha val="24000"/>
            </a:srgbClr>
          </a:solidFill>
          <a:ln/>
        </p:spPr>
        <p:txBody>
          <a:bodyPr/>
          <a:lstStyle/>
          <a:p>
            <a:endParaRPr lang="es-ES"/>
          </a:p>
        </p:txBody>
      </p:sp>
      <p:sp>
        <p:nvSpPr>
          <p:cNvPr id="10" name="Text 7"/>
          <p:cNvSpPr/>
          <p:nvPr/>
        </p:nvSpPr>
        <p:spPr>
          <a:xfrm>
            <a:off x="3739902" y="2801987"/>
            <a:ext cx="8291140" cy="285750"/>
          </a:xfrm>
          <a:prstGeom prst="rect">
            <a:avLst/>
          </a:prstGeom>
          <a:noFill/>
          <a:ln/>
        </p:spPr>
        <p:txBody>
          <a:bodyPr wrap="square" lIns="25400" tIns="25400" rIns="25400" bIns="25400" rtlCol="0" anchor="t">
            <a:normAutofit/>
          </a:bodyPr>
          <a:lstStyle/>
          <a:p>
            <a:pPr marL="0" indent="0" algn="l">
              <a:lnSpc>
                <a:spcPct val="108333"/>
              </a:lnSpc>
              <a:buNone/>
            </a:pPr>
            <a:r>
              <a:rPr lang="en-US" sz="1500" dirty="0">
                <a:solidFill>
                  <a:srgbClr val="FFFFFF">
                    <a:alpha val="82000"/>
                  </a:srgbClr>
                </a:solidFill>
                <a:latin typeface="Roboto" pitchFamily="34" charset="0"/>
                <a:ea typeface="Roboto" pitchFamily="34" charset="-122"/>
                <a:cs typeface="Roboto" pitchFamily="34" charset="-120"/>
              </a:rPr>
              <a:t>Un ciclo de extremo a extremo, no un proyecto que acaba: cada vuelta consolida el avance.</a:t>
            </a:r>
            <a:endParaRPr lang="en-US" sz="1500" dirty="0"/>
          </a:p>
        </p:txBody>
      </p:sp>
      <p:sp>
        <p:nvSpPr>
          <p:cNvPr id="11" name="Text 8">
            <a:hlinkClick r:id="rId4" action="ppaction://hlinksldjump"/>
          </p:cNvPr>
          <p:cNvSpPr/>
          <p:nvPr/>
        </p:nvSpPr>
        <p:spPr>
          <a:xfrm>
            <a:off x="15658058" y="2844850"/>
            <a:ext cx="1029742" cy="200025"/>
          </a:xfrm>
          <a:prstGeom prst="rect">
            <a:avLst/>
          </a:prstGeom>
          <a:noFill/>
          <a:ln/>
        </p:spPr>
        <p:txBody>
          <a:bodyPr wrap="none" lIns="0" tIns="0" rIns="0" bIns="0" rtlCol="0" anchor="t">
            <a:normAutofit/>
          </a:bodyPr>
          <a:lstStyle/>
          <a:p>
            <a:pPr marL="0" indent="0" algn="l">
              <a:buNone/>
            </a:pPr>
            <a:r>
              <a:rPr lang="en-US" sz="975" b="1" i="1" kern="0" spc="98" dirty="0">
                <a:solidFill>
                  <a:srgbClr val="FE5000"/>
                </a:solidFill>
                <a:latin typeface="JetBrains Mono" pitchFamily="34" charset="0"/>
                <a:ea typeface="JetBrains Mono" pitchFamily="34" charset="-122"/>
                <a:cs typeface="JetBrains Mono" pitchFamily="34" charset="-120"/>
              </a:rPr>
              <a:t>VER DETALLE</a:t>
            </a:r>
            <a:endParaRPr lang="en-US" sz="975"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678275" y="2849612"/>
            <a:ext cx="152400" cy="152400"/>
          </a:xfrm>
          <a:prstGeom prst="rect">
            <a:avLst/>
          </a:prstGeom>
        </p:spPr>
      </p:pic>
      <p:pic>
        <p:nvPicPr>
          <p:cNvPr id="13"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57325" y="3125837"/>
            <a:ext cx="15373350" cy="2095500"/>
          </a:xfrm>
          <a:prstGeom prst="rect">
            <a:avLst/>
          </a:prstGeom>
        </p:spPr>
      </p:pic>
      <p:sp>
        <p:nvSpPr>
          <p:cNvPr id="14" name="Text 9"/>
          <p:cNvSpPr/>
          <p:nvPr/>
        </p:nvSpPr>
        <p:spPr>
          <a:xfrm>
            <a:off x="1166812" y="3316337"/>
            <a:ext cx="2409825" cy="285750"/>
          </a:xfrm>
          <a:prstGeom prst="rect">
            <a:avLst/>
          </a:prstGeom>
          <a:noFill/>
          <a:ln/>
        </p:spPr>
        <p:txBody>
          <a:bodyPr wrap="none" lIns="25400" tIns="25400" rIns="25400" bIns="25400" rtlCol="0" anchor="t">
            <a:normAutofit lnSpcReduction="10000"/>
          </a:bodyPr>
          <a:lstStyle/>
          <a:p>
            <a:pPr marL="0" indent="0" algn="ctr">
              <a:lnSpc>
                <a:spcPct val="83871"/>
              </a:lnSpc>
              <a:buNone/>
            </a:pPr>
            <a:r>
              <a:rPr lang="en-US" sz="1950" b="1" kern="0" spc="-19" dirty="0">
                <a:solidFill>
                  <a:srgbClr val="FE5000"/>
                </a:solidFill>
                <a:latin typeface="Barlow" pitchFamily="34" charset="0"/>
                <a:ea typeface="Barlow" pitchFamily="34" charset="-122"/>
                <a:cs typeface="Barlow" pitchFamily="34" charset="-120"/>
              </a:rPr>
              <a:t>01 </a:t>
            </a:r>
            <a:r>
              <a:rPr lang="en-US" sz="1950" b="1" kern="0" spc="-19" dirty="0">
                <a:solidFill>
                  <a:srgbClr val="FFFFFF"/>
                </a:solidFill>
                <a:latin typeface="Barlow" pitchFamily="34" charset="0"/>
                <a:ea typeface="Barlow" pitchFamily="34" charset="-122"/>
                <a:cs typeface="Barlow" pitchFamily="34" charset="-120"/>
              </a:rPr>
              <a:t>Entender</a:t>
            </a:r>
            <a:endParaRPr lang="en-US" sz="1950" dirty="0"/>
          </a:p>
        </p:txBody>
      </p:sp>
      <p:sp>
        <p:nvSpPr>
          <p:cNvPr id="15" name="Text 10"/>
          <p:cNvSpPr/>
          <p:nvPr/>
        </p:nvSpPr>
        <p:spPr>
          <a:xfrm>
            <a:off x="1166812" y="3649712"/>
            <a:ext cx="2409825" cy="247650"/>
          </a:xfrm>
          <a:prstGeom prst="rect">
            <a:avLst/>
          </a:prstGeom>
          <a:noFill/>
          <a:ln/>
        </p:spPr>
        <p:txBody>
          <a:bodyPr wrap="none" lIns="25400" tIns="25400" rIns="25400" bIns="25400" rtlCol="0" anchor="t">
            <a:normAutofit lnSpcReduction="10000"/>
          </a:bodyPr>
          <a:lstStyle/>
          <a:p>
            <a:pPr marL="0" indent="0" algn="ctr">
              <a:buNone/>
            </a:pPr>
            <a:r>
              <a:rPr lang="en-US" sz="1350" dirty="0">
                <a:solidFill>
                  <a:srgbClr val="FFFFFF">
                    <a:alpha val="55000"/>
                  </a:srgbClr>
                </a:solidFill>
                <a:latin typeface="Roboto" pitchFamily="34" charset="0"/>
                <a:ea typeface="Roboto" pitchFamily="34" charset="-122"/>
                <a:cs typeface="Roboto" pitchFamily="34" charset="-120"/>
              </a:rPr>
              <a:t>As-Is real</a:t>
            </a:r>
            <a:endParaRPr lang="en-US" sz="1350" dirty="0"/>
          </a:p>
        </p:txBody>
      </p:sp>
      <p:sp>
        <p:nvSpPr>
          <p:cNvPr id="16" name="Text 11"/>
          <p:cNvSpPr/>
          <p:nvPr/>
        </p:nvSpPr>
        <p:spPr>
          <a:xfrm>
            <a:off x="4557713" y="3316337"/>
            <a:ext cx="2409825" cy="285750"/>
          </a:xfrm>
          <a:prstGeom prst="rect">
            <a:avLst/>
          </a:prstGeom>
          <a:noFill/>
          <a:ln/>
        </p:spPr>
        <p:txBody>
          <a:bodyPr wrap="none" lIns="25400" tIns="25400" rIns="25400" bIns="25400" rtlCol="0" anchor="t">
            <a:normAutofit lnSpcReduction="10000"/>
          </a:bodyPr>
          <a:lstStyle/>
          <a:p>
            <a:pPr marL="0" indent="0" algn="ctr">
              <a:lnSpc>
                <a:spcPct val="83871"/>
              </a:lnSpc>
              <a:buNone/>
            </a:pPr>
            <a:r>
              <a:rPr lang="en-US" sz="1950" b="1" kern="0" spc="-19" dirty="0">
                <a:solidFill>
                  <a:srgbClr val="FE5000"/>
                </a:solidFill>
                <a:latin typeface="Barlow" pitchFamily="34" charset="0"/>
                <a:ea typeface="Barlow" pitchFamily="34" charset="-122"/>
                <a:cs typeface="Barlow" pitchFamily="34" charset="-120"/>
              </a:rPr>
              <a:t>02 </a:t>
            </a:r>
            <a:r>
              <a:rPr lang="en-US" sz="1950" b="1" kern="0" spc="-19" dirty="0">
                <a:solidFill>
                  <a:srgbClr val="FFFFFF"/>
                </a:solidFill>
                <a:latin typeface="Barlow" pitchFamily="34" charset="0"/>
                <a:ea typeface="Barlow" pitchFamily="34" charset="-122"/>
                <a:cs typeface="Barlow" pitchFamily="34" charset="-120"/>
              </a:rPr>
              <a:t>Diseñar</a:t>
            </a:r>
            <a:endParaRPr lang="en-US" sz="1950" dirty="0"/>
          </a:p>
        </p:txBody>
      </p:sp>
      <p:sp>
        <p:nvSpPr>
          <p:cNvPr id="17" name="Text 12"/>
          <p:cNvSpPr/>
          <p:nvPr/>
        </p:nvSpPr>
        <p:spPr>
          <a:xfrm>
            <a:off x="4557713" y="3649712"/>
            <a:ext cx="2409825" cy="247650"/>
          </a:xfrm>
          <a:prstGeom prst="rect">
            <a:avLst/>
          </a:prstGeom>
          <a:noFill/>
          <a:ln/>
        </p:spPr>
        <p:txBody>
          <a:bodyPr wrap="none" lIns="25400" tIns="25400" rIns="25400" bIns="25400" rtlCol="0" anchor="t">
            <a:normAutofit lnSpcReduction="10000"/>
          </a:bodyPr>
          <a:lstStyle/>
          <a:p>
            <a:pPr marL="0" indent="0" algn="ctr">
              <a:buNone/>
            </a:pPr>
            <a:r>
              <a:rPr lang="en-US" sz="1350" dirty="0">
                <a:solidFill>
                  <a:srgbClr val="FFFFFF">
                    <a:alpha val="55000"/>
                  </a:srgbClr>
                </a:solidFill>
                <a:latin typeface="Roboto" pitchFamily="34" charset="0"/>
                <a:ea typeface="Roboto" pitchFamily="34" charset="-122"/>
                <a:cs typeface="Roboto" pitchFamily="34" charset="-120"/>
              </a:rPr>
              <a:t>To-Be gobernado</a:t>
            </a:r>
            <a:endParaRPr lang="en-US" sz="1350" dirty="0"/>
          </a:p>
        </p:txBody>
      </p:sp>
      <p:sp>
        <p:nvSpPr>
          <p:cNvPr id="18" name="Text 13"/>
          <p:cNvSpPr/>
          <p:nvPr/>
        </p:nvSpPr>
        <p:spPr>
          <a:xfrm>
            <a:off x="7948613" y="3316337"/>
            <a:ext cx="2409825" cy="285750"/>
          </a:xfrm>
          <a:prstGeom prst="rect">
            <a:avLst/>
          </a:prstGeom>
          <a:noFill/>
          <a:ln/>
        </p:spPr>
        <p:txBody>
          <a:bodyPr wrap="none" lIns="25400" tIns="25400" rIns="25400" bIns="25400" rtlCol="0" anchor="t">
            <a:normAutofit lnSpcReduction="10000"/>
          </a:bodyPr>
          <a:lstStyle/>
          <a:p>
            <a:pPr marL="0" indent="0" algn="ctr">
              <a:lnSpc>
                <a:spcPct val="83871"/>
              </a:lnSpc>
              <a:buNone/>
            </a:pPr>
            <a:r>
              <a:rPr lang="en-US" sz="1950" b="1" kern="0" spc="-19" dirty="0">
                <a:solidFill>
                  <a:srgbClr val="FE5000"/>
                </a:solidFill>
                <a:latin typeface="Barlow" pitchFamily="34" charset="0"/>
                <a:ea typeface="Barlow" pitchFamily="34" charset="-122"/>
                <a:cs typeface="Barlow" pitchFamily="34" charset="-120"/>
              </a:rPr>
              <a:t>03 </a:t>
            </a:r>
            <a:r>
              <a:rPr lang="en-US" sz="1950" b="1" kern="0" spc="-19" dirty="0">
                <a:solidFill>
                  <a:srgbClr val="FFFFFF"/>
                </a:solidFill>
                <a:latin typeface="Barlow" pitchFamily="34" charset="0"/>
                <a:ea typeface="Barlow" pitchFamily="34" charset="-122"/>
                <a:cs typeface="Barlow" pitchFamily="34" charset="-120"/>
              </a:rPr>
              <a:t>Implantar</a:t>
            </a:r>
            <a:endParaRPr lang="en-US" sz="1950" dirty="0"/>
          </a:p>
        </p:txBody>
      </p:sp>
      <p:sp>
        <p:nvSpPr>
          <p:cNvPr id="19" name="Text 14"/>
          <p:cNvSpPr/>
          <p:nvPr/>
        </p:nvSpPr>
        <p:spPr>
          <a:xfrm>
            <a:off x="7948613" y="3649712"/>
            <a:ext cx="2409825" cy="247650"/>
          </a:xfrm>
          <a:prstGeom prst="rect">
            <a:avLst/>
          </a:prstGeom>
          <a:noFill/>
          <a:ln/>
        </p:spPr>
        <p:txBody>
          <a:bodyPr wrap="none" lIns="25400" tIns="25400" rIns="25400" bIns="25400" rtlCol="0" anchor="t">
            <a:normAutofit lnSpcReduction="10000"/>
          </a:bodyPr>
          <a:lstStyle/>
          <a:p>
            <a:pPr marL="0" indent="0" algn="ctr">
              <a:buNone/>
            </a:pPr>
            <a:r>
              <a:rPr lang="en-US" sz="1350" dirty="0">
                <a:solidFill>
                  <a:srgbClr val="FFFFFF">
                    <a:alpha val="55000"/>
                  </a:srgbClr>
                </a:solidFill>
                <a:latin typeface="Roboto" pitchFamily="34" charset="0"/>
                <a:ea typeface="Roboto" pitchFamily="34" charset="-122"/>
                <a:cs typeface="Roboto" pitchFamily="34" charset="-120"/>
              </a:rPr>
              <a:t>Solución integrada</a:t>
            </a:r>
            <a:endParaRPr lang="en-US" sz="1350" dirty="0"/>
          </a:p>
        </p:txBody>
      </p:sp>
      <p:sp>
        <p:nvSpPr>
          <p:cNvPr id="20" name="Text 15"/>
          <p:cNvSpPr/>
          <p:nvPr/>
        </p:nvSpPr>
        <p:spPr>
          <a:xfrm>
            <a:off x="11339513" y="3316337"/>
            <a:ext cx="2409825" cy="285750"/>
          </a:xfrm>
          <a:prstGeom prst="rect">
            <a:avLst/>
          </a:prstGeom>
          <a:noFill/>
          <a:ln/>
        </p:spPr>
        <p:txBody>
          <a:bodyPr wrap="none" lIns="25400" tIns="25400" rIns="25400" bIns="25400" rtlCol="0" anchor="t">
            <a:normAutofit lnSpcReduction="10000"/>
          </a:bodyPr>
          <a:lstStyle/>
          <a:p>
            <a:pPr marL="0" indent="0" algn="ctr">
              <a:lnSpc>
                <a:spcPct val="83871"/>
              </a:lnSpc>
              <a:buNone/>
            </a:pPr>
            <a:r>
              <a:rPr lang="en-US" sz="1950" b="1" kern="0" spc="-19" dirty="0">
                <a:solidFill>
                  <a:srgbClr val="FE5000"/>
                </a:solidFill>
                <a:latin typeface="Barlow" pitchFamily="34" charset="0"/>
                <a:ea typeface="Barlow" pitchFamily="34" charset="-122"/>
                <a:cs typeface="Barlow" pitchFamily="34" charset="-120"/>
              </a:rPr>
              <a:t>04 </a:t>
            </a:r>
            <a:r>
              <a:rPr lang="en-US" sz="1950" b="1" kern="0" spc="-19" dirty="0">
                <a:solidFill>
                  <a:srgbClr val="FFFFFF"/>
                </a:solidFill>
                <a:latin typeface="Barlow" pitchFamily="34" charset="0"/>
                <a:ea typeface="Barlow" pitchFamily="34" charset="-122"/>
                <a:cs typeface="Barlow" pitchFamily="34" charset="-120"/>
              </a:rPr>
              <a:t>Adoptar</a:t>
            </a:r>
            <a:endParaRPr lang="en-US" sz="1950" dirty="0"/>
          </a:p>
        </p:txBody>
      </p:sp>
      <p:sp>
        <p:nvSpPr>
          <p:cNvPr id="21" name="Text 16"/>
          <p:cNvSpPr/>
          <p:nvPr/>
        </p:nvSpPr>
        <p:spPr>
          <a:xfrm>
            <a:off x="11339513" y="3649712"/>
            <a:ext cx="2409825" cy="247650"/>
          </a:xfrm>
          <a:prstGeom prst="rect">
            <a:avLst/>
          </a:prstGeom>
          <a:noFill/>
          <a:ln/>
        </p:spPr>
        <p:txBody>
          <a:bodyPr wrap="none" lIns="25400" tIns="25400" rIns="25400" bIns="25400" rtlCol="0" anchor="t">
            <a:normAutofit lnSpcReduction="10000"/>
          </a:bodyPr>
          <a:lstStyle/>
          <a:p>
            <a:pPr marL="0" indent="0" algn="ctr">
              <a:buNone/>
            </a:pPr>
            <a:r>
              <a:rPr lang="en-US" sz="1350" dirty="0">
                <a:solidFill>
                  <a:srgbClr val="FFFFFF">
                    <a:alpha val="55000"/>
                  </a:srgbClr>
                </a:solidFill>
                <a:latin typeface="Roboto" pitchFamily="34" charset="0"/>
                <a:ea typeface="Roboto" pitchFamily="34" charset="-122"/>
                <a:cs typeface="Roboto" pitchFamily="34" charset="-120"/>
              </a:rPr>
              <a:t>Personas preparadas</a:t>
            </a:r>
            <a:endParaRPr lang="en-US" sz="1350" dirty="0"/>
          </a:p>
        </p:txBody>
      </p:sp>
      <p:sp>
        <p:nvSpPr>
          <p:cNvPr id="22" name="Text 17"/>
          <p:cNvSpPr/>
          <p:nvPr/>
        </p:nvSpPr>
        <p:spPr>
          <a:xfrm>
            <a:off x="14730413" y="3316337"/>
            <a:ext cx="2409825" cy="285750"/>
          </a:xfrm>
          <a:prstGeom prst="rect">
            <a:avLst/>
          </a:prstGeom>
          <a:noFill/>
          <a:ln/>
        </p:spPr>
        <p:txBody>
          <a:bodyPr wrap="none" lIns="25400" tIns="25400" rIns="25400" bIns="25400" rtlCol="0" anchor="t">
            <a:normAutofit lnSpcReduction="10000"/>
          </a:bodyPr>
          <a:lstStyle/>
          <a:p>
            <a:pPr marL="0" indent="0" algn="ctr">
              <a:lnSpc>
                <a:spcPct val="83871"/>
              </a:lnSpc>
              <a:buNone/>
            </a:pPr>
            <a:r>
              <a:rPr lang="en-US" sz="1950" b="1" kern="0" spc="-19" dirty="0">
                <a:solidFill>
                  <a:srgbClr val="FE5000"/>
                </a:solidFill>
                <a:latin typeface="Barlow" pitchFamily="34" charset="0"/>
                <a:ea typeface="Barlow" pitchFamily="34" charset="-122"/>
                <a:cs typeface="Barlow" pitchFamily="34" charset="-120"/>
              </a:rPr>
              <a:t>05 </a:t>
            </a:r>
            <a:r>
              <a:rPr lang="en-US" sz="1950" b="1" kern="0" spc="-19" dirty="0">
                <a:solidFill>
                  <a:srgbClr val="FFFFFF"/>
                </a:solidFill>
                <a:latin typeface="Barlow" pitchFamily="34" charset="0"/>
                <a:ea typeface="Barlow" pitchFamily="34" charset="-122"/>
                <a:cs typeface="Barlow" pitchFamily="34" charset="-120"/>
              </a:rPr>
              <a:t>Medir</a:t>
            </a:r>
            <a:endParaRPr lang="en-US" sz="1950" dirty="0"/>
          </a:p>
        </p:txBody>
      </p:sp>
      <p:sp>
        <p:nvSpPr>
          <p:cNvPr id="23" name="Text 18"/>
          <p:cNvSpPr/>
          <p:nvPr/>
        </p:nvSpPr>
        <p:spPr>
          <a:xfrm>
            <a:off x="14730413" y="3649712"/>
            <a:ext cx="2409825" cy="247650"/>
          </a:xfrm>
          <a:prstGeom prst="rect">
            <a:avLst/>
          </a:prstGeom>
          <a:noFill/>
          <a:ln/>
        </p:spPr>
        <p:txBody>
          <a:bodyPr wrap="none" lIns="25400" tIns="25400" rIns="25400" bIns="25400" rtlCol="0" anchor="t">
            <a:normAutofit lnSpcReduction="10000"/>
          </a:bodyPr>
          <a:lstStyle/>
          <a:p>
            <a:pPr marL="0" indent="0" algn="ctr">
              <a:buNone/>
            </a:pPr>
            <a:r>
              <a:rPr lang="en-US" sz="1350" dirty="0">
                <a:solidFill>
                  <a:srgbClr val="FFFFFF">
                    <a:alpha val="55000"/>
                  </a:srgbClr>
                </a:solidFill>
                <a:latin typeface="Roboto" pitchFamily="34" charset="0"/>
                <a:ea typeface="Roboto" pitchFamily="34" charset="-122"/>
                <a:cs typeface="Roboto" pitchFamily="34" charset="-120"/>
              </a:rPr>
              <a:t>Impacto sostenido</a:t>
            </a:r>
            <a:endParaRPr lang="en-US" sz="1350"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83748" y="4516487"/>
            <a:ext cx="171450" cy="171450"/>
          </a:xfrm>
          <a:prstGeom prst="rect">
            <a:avLst/>
          </a:prstGeom>
        </p:spPr>
      </p:pic>
      <p:sp>
        <p:nvSpPr>
          <p:cNvPr id="25" name="Text 19"/>
          <p:cNvSpPr/>
          <p:nvPr/>
        </p:nvSpPr>
        <p:spPr>
          <a:xfrm>
            <a:off x="8388548" y="4535537"/>
            <a:ext cx="2039183" cy="247650"/>
          </a:xfrm>
          <a:prstGeom prst="rect">
            <a:avLst/>
          </a:prstGeom>
          <a:noFill/>
          <a:ln/>
        </p:spPr>
        <p:txBody>
          <a:bodyPr wrap="square" lIns="25400" tIns="25400" rIns="25400" bIns="25400" rtlCol="0" anchor="t">
            <a:normAutofit lnSpcReduction="10000"/>
          </a:bodyPr>
          <a:lstStyle/>
          <a:p>
            <a:pPr marL="0" indent="0" algn="l">
              <a:buNone/>
            </a:pPr>
            <a:r>
              <a:rPr lang="en-US" sz="1350" b="1" kern="0" spc="189" dirty="0">
                <a:solidFill>
                  <a:srgbClr val="FE5000"/>
                </a:solidFill>
                <a:latin typeface="Barlow" pitchFamily="34" charset="0"/>
                <a:ea typeface="Barlow" pitchFamily="34" charset="-122"/>
                <a:cs typeface="Barlow" pitchFamily="34" charset="-120"/>
              </a:rPr>
              <a:t>MEJORA CONTINUA</a:t>
            </a:r>
            <a:endParaRPr lang="en-US" sz="1350" dirty="0"/>
          </a:p>
        </p:txBody>
      </p:sp>
      <p:sp>
        <p:nvSpPr>
          <p:cNvPr id="26" name="Text 20"/>
          <p:cNvSpPr/>
          <p:nvPr/>
        </p:nvSpPr>
        <p:spPr>
          <a:xfrm>
            <a:off x="1066800" y="5630912"/>
            <a:ext cx="2822377" cy="224730"/>
          </a:xfrm>
          <a:prstGeom prst="rect">
            <a:avLst/>
          </a:prstGeom>
          <a:noFill/>
          <a:ln/>
        </p:spPr>
        <p:txBody>
          <a:bodyPr wrap="square" lIns="25400" tIns="25400" rIns="25400" bIns="25400" rtlCol="0" anchor="t">
            <a:normAutofit/>
          </a:bodyPr>
          <a:lstStyle/>
          <a:p>
            <a:pPr marL="0" indent="0" algn="l">
              <a:lnSpc>
                <a:spcPct val="108889"/>
              </a:lnSpc>
              <a:buNone/>
            </a:pPr>
            <a:r>
              <a:rPr lang="en-US" sz="1050" b="1" kern="0" spc="147" dirty="0">
                <a:solidFill>
                  <a:srgbClr val="6C4AA6"/>
                </a:solidFill>
                <a:latin typeface="JetBrains Mono" pitchFamily="34" charset="0"/>
                <a:ea typeface="JetBrains Mono" pitchFamily="34" charset="-122"/>
                <a:cs typeface="JetBrains Mono" pitchFamily="34" charset="-120"/>
              </a:rPr>
              <a:t>Y CUANDO EL PROYECTO ACABA</a:t>
            </a:r>
            <a:endParaRPr lang="en-US" sz="1050" dirty="0"/>
          </a:p>
        </p:txBody>
      </p:sp>
      <p:sp>
        <p:nvSpPr>
          <p:cNvPr id="27" name="Text 21"/>
          <p:cNvSpPr/>
          <p:nvPr/>
        </p:nvSpPr>
        <p:spPr>
          <a:xfrm>
            <a:off x="3784997" y="5573762"/>
            <a:ext cx="12978854" cy="551855"/>
          </a:xfrm>
          <a:prstGeom prst="rect">
            <a:avLst/>
          </a:prstGeom>
          <a:noFill/>
          <a:ln/>
        </p:spPr>
        <p:txBody>
          <a:bodyPr wrap="square" lIns="25400" tIns="25400" rIns="25400" bIns="25400" rtlCol="0" anchor="t">
            <a:normAutofit/>
          </a:bodyPr>
          <a:lstStyle/>
          <a:p>
            <a:pPr marL="0" indent="0" algn="l">
              <a:lnSpc>
                <a:spcPct val="117304"/>
              </a:lnSpc>
              <a:buNone/>
            </a:pPr>
            <a:r>
              <a:rPr lang="en-US" sz="1425" dirty="0">
                <a:solidFill>
                  <a:srgbClr val="354A5A"/>
                </a:solidFill>
                <a:latin typeface="Barlow" pitchFamily="34" charset="0"/>
                <a:ea typeface="Barlow" pitchFamily="34" charset="-122"/>
                <a:cs typeface="Barlow" pitchFamily="34" charset="-120"/>
              </a:rPr>
              <a:t>El método se queda operando: </a:t>
            </a:r>
            <a:r>
              <a:rPr lang="en-US" sz="1425" b="1" dirty="0">
                <a:solidFill>
                  <a:srgbClr val="041C2C"/>
                </a:solidFill>
                <a:latin typeface="Barlow" pitchFamily="34" charset="0"/>
                <a:ea typeface="Barlow" pitchFamily="34" charset="-122"/>
                <a:cs typeface="Barlow" pitchFamily="34" charset="-120"/>
              </a:rPr>
              <a:t>Oficinas de Transformación y Gobernanza </a:t>
            </a:r>
            <a:r>
              <a:rPr lang="en-US" sz="1425" dirty="0">
                <a:solidFill>
                  <a:srgbClr val="354A5A"/>
                </a:solidFill>
                <a:latin typeface="Barlow" pitchFamily="34" charset="0"/>
                <a:ea typeface="Barlow" pitchFamily="34" charset="-122"/>
                <a:cs typeface="Barlow" pitchFamily="34" charset="-120"/>
              </a:rPr>
              <a:t>— PMO, cumplimiento, calidad, agilidad, productividad, FinOps — dentro de tu organización.</a:t>
            </a:r>
            <a:endParaRPr lang="en-US" sz="1425" dirty="0"/>
          </a:p>
        </p:txBody>
      </p:sp>
      <p:sp>
        <p:nvSpPr>
          <p:cNvPr id="28" name="Text 22"/>
          <p:cNvSpPr/>
          <p:nvPr/>
        </p:nvSpPr>
        <p:spPr>
          <a:xfrm>
            <a:off x="16163776" y="6077992"/>
            <a:ext cx="876300" cy="228600"/>
          </a:xfrm>
          <a:prstGeom prst="rect">
            <a:avLst/>
          </a:prstGeom>
          <a:noFill/>
          <a:ln/>
        </p:spPr>
        <p:txBody>
          <a:bodyPr wrap="none" lIns="0" tIns="0" rIns="0" bIns="0" rtlCol="0" anchor="t">
            <a:normAutofit/>
          </a:bodyPr>
          <a:lstStyle/>
          <a:p>
            <a:pPr marL="0" indent="0" algn="l">
              <a:buNone/>
            </a:pPr>
            <a:r>
              <a:rPr lang="en-US" sz="1125" b="1" kern="0" spc="113" dirty="0">
                <a:solidFill>
                  <a:srgbClr val="6C4AA6"/>
                </a:solidFill>
                <a:latin typeface="JetBrains Mono" pitchFamily="34" charset="0"/>
                <a:ea typeface="JetBrains Mono" pitchFamily="34" charset="-122"/>
                <a:cs typeface="JetBrains Mono" pitchFamily="34" charset="-120"/>
                <a:hlinkClick r:id="rId8" action="ppaction://hlinksldjump"/>
              </a:rPr>
              <a:t>VER CÓMO</a:t>
            </a:r>
            <a:endParaRPr lang="en-US" sz="1125" dirty="0"/>
          </a:p>
        </p:txBody>
      </p:sp>
      <p:pic>
        <p:nvPicPr>
          <p:cNvPr id="29" name="Image 4"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836532" y="6103500"/>
            <a:ext cx="161925" cy="161925"/>
          </a:xfrm>
          <a:prstGeom prst="rect">
            <a:avLst/>
          </a:prstGeom>
        </p:spPr>
      </p:pic>
      <p:sp>
        <p:nvSpPr>
          <p:cNvPr id="30" name="Text 23"/>
          <p:cNvSpPr/>
          <p:nvPr/>
        </p:nvSpPr>
        <p:spPr>
          <a:xfrm>
            <a:off x="1066800" y="6297067"/>
            <a:ext cx="17769840" cy="390079"/>
          </a:xfrm>
          <a:prstGeom prst="rect">
            <a:avLst/>
          </a:prstGeom>
          <a:noFill/>
          <a:ln/>
        </p:spPr>
        <p:txBody>
          <a:bodyPr wrap="square" lIns="25400" tIns="25400" rIns="25400" bIns="25400" rtlCol="0" anchor="t">
            <a:normAutofit lnSpcReduction="10000"/>
          </a:bodyPr>
          <a:lstStyle/>
          <a:p>
            <a:pPr marL="0" indent="0" algn="l">
              <a:lnSpc>
                <a:spcPct val="92400"/>
              </a:lnSpc>
              <a:buNone/>
            </a:pPr>
            <a:r>
              <a:rPr lang="en-US" sz="2475" b="1" kern="0" spc="-25" dirty="0">
                <a:solidFill>
                  <a:srgbClr val="041C2C"/>
                </a:solidFill>
                <a:latin typeface="Barlow" pitchFamily="34" charset="0"/>
                <a:ea typeface="Barlow" pitchFamily="34" charset="-122"/>
                <a:cs typeface="Barlow" pitchFamily="34" charset="-120"/>
              </a:rPr>
              <a:t>¿Por dónde empezamos?</a:t>
            </a:r>
            <a:endParaRPr lang="en-US" sz="2475" dirty="0"/>
          </a:p>
        </p:txBody>
      </p:sp>
      <p:sp>
        <p:nvSpPr>
          <p:cNvPr id="31" name="Shape 24"/>
          <p:cNvSpPr/>
          <p:nvPr/>
        </p:nvSpPr>
        <p:spPr>
          <a:xfrm>
            <a:off x="1066800" y="6782395"/>
            <a:ext cx="3108871" cy="2609850"/>
          </a:xfrm>
          <a:prstGeom prst="roundRect">
            <a:avLst>
              <a:gd name="adj" fmla="val 510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9001" name="Chip"/>
          <p:cNvSpPr/>
          <p:nvPr/>
        </p:nvSpPr>
        <p:spPr>
          <a:xfrm>
            <a:off x="1247775" y="6963370"/>
            <a:ext cx="342900" cy="342900"/>
          </a:xfrm>
          <a:prstGeom prst="roundRect">
            <a:avLst>
              <a:gd name="adj" fmla="val 26000"/>
            </a:avLst>
          </a:prstGeom>
          <a:solidFill>
            <a:srgbClr val="EDE3F7"/>
          </a:solidFill>
          <a:ln/>
        </p:spPr>
        <p:txBody>
          <a:bodyPr/>
          <a:lstStyle/>
          <a:p>
            <a:endParaRPr lang="es-ES"/>
          </a:p>
        </p:txBody>
      </p:sp>
      <p:pic>
        <p:nvPicPr>
          <p:cNvPr id="35" name="Image 6" descr="preencoded.png"/>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314450" y="7030045"/>
            <a:ext cx="209550" cy="209550"/>
          </a:xfrm>
          <a:prstGeom prst="rect">
            <a:avLst/>
          </a:prstGeom>
        </p:spPr>
      </p:pic>
      <p:sp>
        <p:nvSpPr>
          <p:cNvPr id="36" name="Text 27"/>
          <p:cNvSpPr/>
          <p:nvPr/>
        </p:nvSpPr>
        <p:spPr>
          <a:xfrm>
            <a:off x="1247775" y="7496770"/>
            <a:ext cx="3021613" cy="262086"/>
          </a:xfrm>
          <a:prstGeom prst="rect">
            <a:avLst/>
          </a:prstGeom>
          <a:noFill/>
          <a:ln/>
        </p:spPr>
        <p:txBody>
          <a:bodyPr wrap="square" lIns="25400" tIns="25400" rIns="25400" bIns="25400" rtlCol="0" anchor="t">
            <a:normAutofit lnSpcReduction="10000"/>
          </a:bodyPr>
          <a:lstStyle/>
          <a:p>
            <a:pPr marL="0" indent="0" algn="l">
              <a:lnSpc>
                <a:spcPct val="94080"/>
              </a:lnSpc>
              <a:buNone/>
            </a:pPr>
            <a:r>
              <a:rPr lang="en-US" sz="1575" b="1" dirty="0">
                <a:solidFill>
                  <a:srgbClr val="041C2C"/>
                </a:solidFill>
                <a:latin typeface="Barlow" pitchFamily="34" charset="0"/>
                <a:ea typeface="Barlow" pitchFamily="34" charset="-122"/>
                <a:cs typeface="Barlow" pitchFamily="34" charset="-120"/>
              </a:rPr>
              <a:t>Inteligencia de Procesos</a:t>
            </a:r>
            <a:endParaRPr lang="en-US" sz="1575" dirty="0"/>
          </a:p>
        </p:txBody>
      </p:sp>
      <p:sp>
        <p:nvSpPr>
          <p:cNvPr id="37" name="Text 28"/>
          <p:cNvSpPr/>
          <p:nvPr/>
        </p:nvSpPr>
        <p:spPr>
          <a:xfrm>
            <a:off x="1247775" y="7796957"/>
            <a:ext cx="2829328" cy="420886"/>
          </a:xfrm>
          <a:prstGeom prst="rect">
            <a:avLst/>
          </a:prstGeom>
          <a:noFill/>
          <a:ln/>
        </p:spPr>
        <p:txBody>
          <a:bodyPr wrap="square" lIns="25400" tIns="25400" rIns="25400" bIns="25400" rtlCol="0" anchor="t">
            <a:normAutofit lnSpcReduction="10000"/>
          </a:bodyPr>
          <a:lstStyle/>
          <a:p>
            <a:pPr marL="0" indent="0" algn="l">
              <a:lnSpc>
                <a:spcPct val="118235"/>
              </a:lnSpc>
              <a:buNone/>
            </a:pPr>
            <a:r>
              <a:rPr lang="en-US" sz="1125" dirty="0">
                <a:solidFill>
                  <a:srgbClr val="6E8493"/>
                </a:solidFill>
                <a:latin typeface="Arial" pitchFamily="34" charset="0"/>
                <a:ea typeface="Arial" pitchFamily="34" charset="-122"/>
                <a:cs typeface="Arial" pitchFamily="34" charset="-120"/>
              </a:rPr>
              <a:t>Process Mining y automatización de procesos.</a:t>
            </a:r>
            <a:endParaRPr lang="en-US" sz="1125" dirty="0"/>
          </a:p>
        </p:txBody>
      </p:sp>
      <p:sp>
        <p:nvSpPr>
          <p:cNvPr id="38" name="Shape 29"/>
          <p:cNvSpPr/>
          <p:nvPr/>
        </p:nvSpPr>
        <p:spPr>
          <a:xfrm>
            <a:off x="1247775" y="8417868"/>
            <a:ext cx="2746921" cy="9525"/>
          </a:xfrm>
          <a:prstGeom prst="rect">
            <a:avLst/>
          </a:prstGeom>
          <a:solidFill>
            <a:srgbClr val="E5EAEF"/>
          </a:solidFill>
          <a:ln/>
        </p:spPr>
        <p:txBody>
          <a:bodyPr/>
          <a:lstStyle/>
          <a:p>
            <a:endParaRPr lang="es-ES"/>
          </a:p>
        </p:txBody>
      </p:sp>
      <p:sp>
        <p:nvSpPr>
          <p:cNvPr id="39" name="Text 30"/>
          <p:cNvSpPr/>
          <p:nvPr/>
        </p:nvSpPr>
        <p:spPr>
          <a:xfrm>
            <a:off x="1247775" y="8560743"/>
            <a:ext cx="2829328" cy="688628"/>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041C2C"/>
                </a:solidFill>
                <a:latin typeface="Barlow" pitchFamily="34" charset="0"/>
                <a:ea typeface="Barlow" pitchFamily="34" charset="-122"/>
                <a:cs typeface="Barlow" pitchFamily="34" charset="-120"/>
              </a:rPr>
              <a:t>¿Sabéis con datos cómo funciona hoy vuestro proceso, antes de automatizarlo?</a:t>
            </a:r>
            <a:endParaRPr lang="en-US" sz="1275" dirty="0"/>
          </a:p>
        </p:txBody>
      </p:sp>
      <p:sp>
        <p:nvSpPr>
          <p:cNvPr id="40" name="Shape 31"/>
          <p:cNvSpPr/>
          <p:nvPr/>
        </p:nvSpPr>
        <p:spPr>
          <a:xfrm>
            <a:off x="4328071" y="6782395"/>
            <a:ext cx="3109020" cy="2609850"/>
          </a:xfrm>
          <a:prstGeom prst="roundRect">
            <a:avLst>
              <a:gd name="adj" fmla="val 510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9002" name="Chip"/>
          <p:cNvSpPr/>
          <p:nvPr/>
        </p:nvSpPr>
        <p:spPr>
          <a:xfrm>
            <a:off x="4509046" y="6963370"/>
            <a:ext cx="342900" cy="342900"/>
          </a:xfrm>
          <a:prstGeom prst="roundRect">
            <a:avLst>
              <a:gd name="adj" fmla="val 26000"/>
            </a:avLst>
          </a:prstGeom>
          <a:solidFill>
            <a:srgbClr val="DCEAF6"/>
          </a:solidFill>
          <a:ln/>
        </p:spPr>
        <p:txBody>
          <a:bodyPr/>
          <a:lstStyle/>
          <a:p>
            <a:endParaRPr lang="es-ES"/>
          </a:p>
        </p:txBody>
      </p:sp>
      <p:pic>
        <p:nvPicPr>
          <p:cNvPr id="44" name="Image 8" descr="preencoded.png"/>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4575721" y="7030045"/>
            <a:ext cx="209550" cy="209550"/>
          </a:xfrm>
          <a:prstGeom prst="rect">
            <a:avLst/>
          </a:prstGeom>
        </p:spPr>
      </p:pic>
      <p:sp>
        <p:nvSpPr>
          <p:cNvPr id="45" name="Text 34"/>
          <p:cNvSpPr/>
          <p:nvPr/>
        </p:nvSpPr>
        <p:spPr>
          <a:xfrm>
            <a:off x="4509046" y="7496770"/>
            <a:ext cx="3021776" cy="262086"/>
          </a:xfrm>
          <a:prstGeom prst="rect">
            <a:avLst/>
          </a:prstGeom>
          <a:noFill/>
          <a:ln/>
        </p:spPr>
        <p:txBody>
          <a:bodyPr wrap="square" lIns="25400" tIns="25400" rIns="25400" bIns="25400" rtlCol="0" anchor="t">
            <a:normAutofit lnSpcReduction="10000"/>
          </a:bodyPr>
          <a:lstStyle/>
          <a:p>
            <a:pPr marL="0" indent="0" algn="l">
              <a:lnSpc>
                <a:spcPct val="94080"/>
              </a:lnSpc>
              <a:buNone/>
            </a:pPr>
            <a:r>
              <a:rPr lang="en-US" sz="1575" b="1" dirty="0">
                <a:solidFill>
                  <a:srgbClr val="041C2C"/>
                </a:solidFill>
                <a:latin typeface="Barlow" pitchFamily="34" charset="0"/>
                <a:ea typeface="Barlow" pitchFamily="34" charset="-122"/>
                <a:cs typeface="Barlow" pitchFamily="34" charset="-120"/>
              </a:rPr>
              <a:t>Ciclo de Software</a:t>
            </a:r>
            <a:endParaRPr lang="en-US" sz="1575" dirty="0"/>
          </a:p>
        </p:txBody>
      </p:sp>
      <p:sp>
        <p:nvSpPr>
          <p:cNvPr id="46" name="Text 35"/>
          <p:cNvSpPr/>
          <p:nvPr/>
        </p:nvSpPr>
        <p:spPr>
          <a:xfrm>
            <a:off x="4509046" y="7796957"/>
            <a:ext cx="2829482" cy="612279"/>
          </a:xfrm>
          <a:prstGeom prst="rect">
            <a:avLst/>
          </a:prstGeom>
          <a:noFill/>
          <a:ln/>
        </p:spPr>
        <p:txBody>
          <a:bodyPr wrap="square" lIns="25400" tIns="25400" rIns="25400" bIns="25400" rtlCol="0" anchor="t">
            <a:normAutofit/>
          </a:bodyPr>
          <a:lstStyle/>
          <a:p>
            <a:pPr marL="0" indent="0" algn="l">
              <a:lnSpc>
                <a:spcPct val="118235"/>
              </a:lnSpc>
              <a:buNone/>
            </a:pPr>
            <a:r>
              <a:rPr lang="en-US" sz="1125" dirty="0">
                <a:solidFill>
                  <a:srgbClr val="6E8493"/>
                </a:solidFill>
                <a:latin typeface="Arial" pitchFamily="34" charset="0"/>
                <a:ea typeface="Arial" pitchFamily="34" charset="-122"/>
                <a:cs typeface="Arial" pitchFamily="34" charset="-120"/>
              </a:rPr>
              <a:t>Del legacy al portfolio activo: mantenimiento, modernización y desarrollo.</a:t>
            </a:r>
            <a:endParaRPr lang="en-US" sz="1125" dirty="0"/>
          </a:p>
        </p:txBody>
      </p:sp>
      <p:sp>
        <p:nvSpPr>
          <p:cNvPr id="47" name="Shape 36"/>
          <p:cNvSpPr/>
          <p:nvPr/>
        </p:nvSpPr>
        <p:spPr>
          <a:xfrm>
            <a:off x="4509046" y="8634710"/>
            <a:ext cx="2747070" cy="9525"/>
          </a:xfrm>
          <a:prstGeom prst="rect">
            <a:avLst/>
          </a:prstGeom>
          <a:solidFill>
            <a:srgbClr val="E5EAEF"/>
          </a:solidFill>
          <a:ln/>
        </p:spPr>
        <p:txBody>
          <a:bodyPr/>
          <a:lstStyle/>
          <a:p>
            <a:endParaRPr lang="es-ES"/>
          </a:p>
        </p:txBody>
      </p:sp>
      <p:sp>
        <p:nvSpPr>
          <p:cNvPr id="48" name="Text 37"/>
          <p:cNvSpPr/>
          <p:nvPr/>
        </p:nvSpPr>
        <p:spPr>
          <a:xfrm>
            <a:off x="4509046" y="8777585"/>
            <a:ext cx="2829482"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041C2C"/>
                </a:solidFill>
                <a:latin typeface="Barlow" pitchFamily="34" charset="0"/>
                <a:ea typeface="Barlow" pitchFamily="34" charset="-122"/>
                <a:cs typeface="Barlow" pitchFamily="34" charset="-120"/>
              </a:rPr>
              <a:t>¿El legacy os frena más de lo que os gustaría admitir?</a:t>
            </a:r>
            <a:endParaRPr lang="en-US" sz="1275" dirty="0"/>
          </a:p>
        </p:txBody>
      </p:sp>
      <p:sp>
        <p:nvSpPr>
          <p:cNvPr id="49" name="Shape 38"/>
          <p:cNvSpPr/>
          <p:nvPr/>
        </p:nvSpPr>
        <p:spPr>
          <a:xfrm>
            <a:off x="7589490" y="6782395"/>
            <a:ext cx="3108871" cy="2609850"/>
          </a:xfrm>
          <a:prstGeom prst="roundRect">
            <a:avLst>
              <a:gd name="adj" fmla="val 510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9003" name="Chip"/>
          <p:cNvSpPr/>
          <p:nvPr/>
        </p:nvSpPr>
        <p:spPr>
          <a:xfrm>
            <a:off x="7770465" y="6963370"/>
            <a:ext cx="342900" cy="342900"/>
          </a:xfrm>
          <a:prstGeom prst="roundRect">
            <a:avLst>
              <a:gd name="adj" fmla="val 26000"/>
            </a:avLst>
          </a:prstGeom>
          <a:solidFill>
            <a:srgbClr val="D6F1E2"/>
          </a:solidFill>
          <a:ln/>
        </p:spPr>
        <p:txBody>
          <a:bodyPr/>
          <a:lstStyle/>
          <a:p>
            <a:endParaRPr lang="es-ES"/>
          </a:p>
        </p:txBody>
      </p:sp>
      <p:pic>
        <p:nvPicPr>
          <p:cNvPr id="53" name="Image 10" descr="preencoded.png"/>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7837140" y="7030045"/>
            <a:ext cx="209550" cy="209550"/>
          </a:xfrm>
          <a:prstGeom prst="rect">
            <a:avLst/>
          </a:prstGeom>
        </p:spPr>
      </p:pic>
      <p:sp>
        <p:nvSpPr>
          <p:cNvPr id="54" name="Text 41"/>
          <p:cNvSpPr/>
          <p:nvPr/>
        </p:nvSpPr>
        <p:spPr>
          <a:xfrm>
            <a:off x="7770465" y="7496770"/>
            <a:ext cx="3021613" cy="262086"/>
          </a:xfrm>
          <a:prstGeom prst="rect">
            <a:avLst/>
          </a:prstGeom>
          <a:noFill/>
          <a:ln/>
        </p:spPr>
        <p:txBody>
          <a:bodyPr wrap="square" lIns="25400" tIns="25400" rIns="25400" bIns="25400" rtlCol="0" anchor="t">
            <a:normAutofit lnSpcReduction="10000"/>
          </a:bodyPr>
          <a:lstStyle/>
          <a:p>
            <a:pPr marL="0" indent="0" algn="l">
              <a:lnSpc>
                <a:spcPct val="94080"/>
              </a:lnSpc>
              <a:buNone/>
            </a:pPr>
            <a:r>
              <a:rPr lang="en-US" sz="1575" b="1" dirty="0">
                <a:solidFill>
                  <a:srgbClr val="041C2C"/>
                </a:solidFill>
                <a:latin typeface="Barlow" pitchFamily="34" charset="0"/>
                <a:ea typeface="Barlow" pitchFamily="34" charset="-122"/>
                <a:cs typeface="Barlow" pitchFamily="34" charset="-120"/>
              </a:rPr>
              <a:t>Data e IA</a:t>
            </a:r>
            <a:endParaRPr lang="en-US" sz="1575" dirty="0"/>
          </a:p>
        </p:txBody>
      </p:sp>
      <p:sp>
        <p:nvSpPr>
          <p:cNvPr id="55" name="Text 42"/>
          <p:cNvSpPr/>
          <p:nvPr/>
        </p:nvSpPr>
        <p:spPr>
          <a:xfrm>
            <a:off x="7770465" y="7796957"/>
            <a:ext cx="3021613" cy="229493"/>
          </a:xfrm>
          <a:prstGeom prst="rect">
            <a:avLst/>
          </a:prstGeom>
          <a:noFill/>
          <a:ln/>
        </p:spPr>
        <p:txBody>
          <a:bodyPr wrap="square" lIns="25400" tIns="25400" rIns="25400" bIns="25400" rtlCol="0" anchor="t">
            <a:normAutofit lnSpcReduction="10000"/>
          </a:bodyPr>
          <a:lstStyle/>
          <a:p>
            <a:pPr marL="0" indent="0" algn="l">
              <a:lnSpc>
                <a:spcPct val="118235"/>
              </a:lnSpc>
              <a:buNone/>
            </a:pPr>
            <a:r>
              <a:rPr lang="en-US" sz="1125" dirty="0">
                <a:solidFill>
                  <a:srgbClr val="6E8493"/>
                </a:solidFill>
                <a:latin typeface="Arial" pitchFamily="34" charset="0"/>
                <a:ea typeface="Arial" pitchFamily="34" charset="-122"/>
                <a:cs typeface="Arial" pitchFamily="34" charset="-120"/>
              </a:rPr>
              <a:t>Modelos y agentes de IA en producción.</a:t>
            </a:r>
            <a:endParaRPr lang="en-US" sz="1125" dirty="0"/>
          </a:p>
        </p:txBody>
      </p:sp>
      <p:sp>
        <p:nvSpPr>
          <p:cNvPr id="56" name="Shape 43"/>
          <p:cNvSpPr/>
          <p:nvPr/>
        </p:nvSpPr>
        <p:spPr>
          <a:xfrm>
            <a:off x="7770465" y="8634710"/>
            <a:ext cx="2746921" cy="9525"/>
          </a:xfrm>
          <a:prstGeom prst="rect">
            <a:avLst/>
          </a:prstGeom>
          <a:solidFill>
            <a:srgbClr val="E5EAEF"/>
          </a:solidFill>
          <a:ln/>
        </p:spPr>
        <p:txBody>
          <a:bodyPr/>
          <a:lstStyle/>
          <a:p>
            <a:endParaRPr lang="es-ES"/>
          </a:p>
        </p:txBody>
      </p:sp>
      <p:sp>
        <p:nvSpPr>
          <p:cNvPr id="57" name="Text 44"/>
          <p:cNvSpPr/>
          <p:nvPr/>
        </p:nvSpPr>
        <p:spPr>
          <a:xfrm>
            <a:off x="7770465" y="8777585"/>
            <a:ext cx="2829328"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041C2C"/>
                </a:solidFill>
                <a:latin typeface="Barlow" pitchFamily="34" charset="0"/>
                <a:ea typeface="Barlow" pitchFamily="34" charset="-122"/>
                <a:cs typeface="Barlow" pitchFamily="34" charset="-120"/>
              </a:rPr>
              <a:t>¿Vuestra IA ya mueve el EBIT, o todavía no?</a:t>
            </a:r>
            <a:endParaRPr lang="en-US" sz="1275" dirty="0"/>
          </a:p>
        </p:txBody>
      </p:sp>
      <p:sp>
        <p:nvSpPr>
          <p:cNvPr id="58" name="Shape 45"/>
          <p:cNvSpPr/>
          <p:nvPr/>
        </p:nvSpPr>
        <p:spPr>
          <a:xfrm>
            <a:off x="10850761" y="6782395"/>
            <a:ext cx="3109020" cy="2609850"/>
          </a:xfrm>
          <a:prstGeom prst="roundRect">
            <a:avLst>
              <a:gd name="adj" fmla="val 510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9004" name="Chip"/>
          <p:cNvSpPr/>
          <p:nvPr/>
        </p:nvSpPr>
        <p:spPr>
          <a:xfrm>
            <a:off x="11031736" y="6963370"/>
            <a:ext cx="342900" cy="342900"/>
          </a:xfrm>
          <a:prstGeom prst="roundRect">
            <a:avLst>
              <a:gd name="adj" fmla="val 26000"/>
            </a:avLst>
          </a:prstGeom>
          <a:solidFill>
            <a:srgbClr val="F7DCE7"/>
          </a:solidFill>
          <a:ln/>
        </p:spPr>
        <p:txBody>
          <a:bodyPr/>
          <a:lstStyle/>
          <a:p>
            <a:endParaRPr lang="es-ES"/>
          </a:p>
        </p:txBody>
      </p:sp>
      <p:pic>
        <p:nvPicPr>
          <p:cNvPr id="62" name="Image 12" descr="preencoded.png"/>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11098411" y="7030045"/>
            <a:ext cx="209550" cy="209550"/>
          </a:xfrm>
          <a:prstGeom prst="rect">
            <a:avLst/>
          </a:prstGeom>
        </p:spPr>
      </p:pic>
      <p:sp>
        <p:nvSpPr>
          <p:cNvPr id="63" name="Text 48"/>
          <p:cNvSpPr/>
          <p:nvPr/>
        </p:nvSpPr>
        <p:spPr>
          <a:xfrm>
            <a:off x="11031736" y="7496770"/>
            <a:ext cx="3021776" cy="262086"/>
          </a:xfrm>
          <a:prstGeom prst="rect">
            <a:avLst/>
          </a:prstGeom>
          <a:noFill/>
          <a:ln/>
        </p:spPr>
        <p:txBody>
          <a:bodyPr wrap="square" lIns="25400" tIns="25400" rIns="25400" bIns="25400" rtlCol="0" anchor="t">
            <a:normAutofit lnSpcReduction="10000"/>
          </a:bodyPr>
          <a:lstStyle/>
          <a:p>
            <a:pPr marL="0" indent="0" algn="l">
              <a:lnSpc>
                <a:spcPct val="94080"/>
              </a:lnSpc>
              <a:buNone/>
            </a:pPr>
            <a:r>
              <a:rPr lang="en-US" sz="1575" b="1" dirty="0">
                <a:solidFill>
                  <a:srgbClr val="041C2C"/>
                </a:solidFill>
                <a:latin typeface="Barlow" pitchFamily="34" charset="0"/>
                <a:ea typeface="Barlow" pitchFamily="34" charset="-122"/>
                <a:cs typeface="Barlow" pitchFamily="34" charset="-120"/>
              </a:rPr>
              <a:t>Smart Operations</a:t>
            </a:r>
            <a:endParaRPr lang="en-US" sz="1575" dirty="0"/>
          </a:p>
        </p:txBody>
      </p:sp>
      <p:sp>
        <p:nvSpPr>
          <p:cNvPr id="64" name="Text 49"/>
          <p:cNvSpPr/>
          <p:nvPr/>
        </p:nvSpPr>
        <p:spPr>
          <a:xfrm>
            <a:off x="11031736" y="7796957"/>
            <a:ext cx="2829482" cy="420886"/>
          </a:xfrm>
          <a:prstGeom prst="rect">
            <a:avLst/>
          </a:prstGeom>
          <a:noFill/>
          <a:ln/>
        </p:spPr>
        <p:txBody>
          <a:bodyPr wrap="square" lIns="25400" tIns="25400" rIns="25400" bIns="25400" rtlCol="0" anchor="t">
            <a:normAutofit lnSpcReduction="10000"/>
          </a:bodyPr>
          <a:lstStyle/>
          <a:p>
            <a:pPr marL="0" indent="0" algn="l">
              <a:lnSpc>
                <a:spcPct val="118235"/>
              </a:lnSpc>
              <a:buNone/>
            </a:pPr>
            <a:r>
              <a:rPr lang="en-US" sz="1125" dirty="0">
                <a:solidFill>
                  <a:srgbClr val="6E8493"/>
                </a:solidFill>
                <a:latin typeface="Arial" pitchFamily="34" charset="0"/>
                <a:ea typeface="Arial" pitchFamily="34" charset="-122"/>
                <a:cs typeface="Arial" pitchFamily="34" charset="-120"/>
              </a:rPr>
              <a:t>Puesto de trabajo, cloud e infraestructura gestionada.</a:t>
            </a:r>
            <a:endParaRPr lang="en-US" sz="1125" dirty="0"/>
          </a:p>
        </p:txBody>
      </p:sp>
      <p:sp>
        <p:nvSpPr>
          <p:cNvPr id="65" name="Shape 50"/>
          <p:cNvSpPr/>
          <p:nvPr/>
        </p:nvSpPr>
        <p:spPr>
          <a:xfrm>
            <a:off x="11031736" y="8634710"/>
            <a:ext cx="2747070" cy="9525"/>
          </a:xfrm>
          <a:prstGeom prst="rect">
            <a:avLst/>
          </a:prstGeom>
          <a:solidFill>
            <a:srgbClr val="E5EAEF"/>
          </a:solidFill>
          <a:ln/>
        </p:spPr>
        <p:txBody>
          <a:bodyPr/>
          <a:lstStyle/>
          <a:p>
            <a:endParaRPr lang="es-ES"/>
          </a:p>
        </p:txBody>
      </p:sp>
      <p:sp>
        <p:nvSpPr>
          <p:cNvPr id="66" name="Text 51"/>
          <p:cNvSpPr/>
          <p:nvPr/>
        </p:nvSpPr>
        <p:spPr>
          <a:xfrm>
            <a:off x="11031736" y="8777585"/>
            <a:ext cx="2829482"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041C2C"/>
                </a:solidFill>
                <a:latin typeface="Barlow" pitchFamily="34" charset="0"/>
                <a:ea typeface="Barlow" pitchFamily="34" charset="-122"/>
                <a:cs typeface="Barlow" pitchFamily="34" charset="-120"/>
              </a:rPr>
              <a:t>¿Vuestra operación cuesta más y rinde menos de lo que debería?</a:t>
            </a:r>
            <a:endParaRPr lang="en-US" sz="1275" dirty="0"/>
          </a:p>
        </p:txBody>
      </p:sp>
      <p:sp>
        <p:nvSpPr>
          <p:cNvPr id="67" name="Shape 52"/>
          <p:cNvSpPr/>
          <p:nvPr/>
        </p:nvSpPr>
        <p:spPr>
          <a:xfrm>
            <a:off x="14112180" y="6782395"/>
            <a:ext cx="3108871" cy="2609850"/>
          </a:xfrm>
          <a:prstGeom prst="roundRect">
            <a:avLst>
              <a:gd name="adj" fmla="val 5109"/>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9005" name="Chip"/>
          <p:cNvSpPr/>
          <p:nvPr/>
        </p:nvSpPr>
        <p:spPr>
          <a:xfrm>
            <a:off x="14293155" y="6963370"/>
            <a:ext cx="342900" cy="342900"/>
          </a:xfrm>
          <a:prstGeom prst="roundRect">
            <a:avLst>
              <a:gd name="adj" fmla="val 26000"/>
            </a:avLst>
          </a:prstGeom>
          <a:solidFill>
            <a:srgbClr val="FFE0CC"/>
          </a:solidFill>
          <a:ln/>
        </p:spPr>
        <p:txBody>
          <a:bodyPr/>
          <a:lstStyle/>
          <a:p>
            <a:endParaRPr lang="es-ES"/>
          </a:p>
        </p:txBody>
      </p:sp>
      <p:pic>
        <p:nvPicPr>
          <p:cNvPr id="71" name="Image 14" descr="preencoded.png"/>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4359830" y="7030045"/>
            <a:ext cx="209550" cy="209550"/>
          </a:xfrm>
          <a:prstGeom prst="rect">
            <a:avLst/>
          </a:prstGeom>
        </p:spPr>
      </p:pic>
      <p:sp>
        <p:nvSpPr>
          <p:cNvPr id="72" name="Text 55"/>
          <p:cNvSpPr/>
          <p:nvPr/>
        </p:nvSpPr>
        <p:spPr>
          <a:xfrm>
            <a:off x="14293155" y="7496770"/>
            <a:ext cx="3021613" cy="262086"/>
          </a:xfrm>
          <a:prstGeom prst="rect">
            <a:avLst/>
          </a:prstGeom>
          <a:noFill/>
          <a:ln/>
        </p:spPr>
        <p:txBody>
          <a:bodyPr wrap="square" lIns="25400" tIns="25400" rIns="25400" bIns="25400" rtlCol="0" anchor="t">
            <a:normAutofit lnSpcReduction="10000"/>
          </a:bodyPr>
          <a:lstStyle/>
          <a:p>
            <a:pPr marL="0" indent="0" algn="l">
              <a:lnSpc>
                <a:spcPct val="94080"/>
              </a:lnSpc>
              <a:buNone/>
            </a:pPr>
            <a:r>
              <a:rPr lang="en-US" sz="1575" b="1" dirty="0">
                <a:solidFill>
                  <a:srgbClr val="041C2C"/>
                </a:solidFill>
                <a:latin typeface="Barlow" pitchFamily="34" charset="0"/>
                <a:ea typeface="Barlow" pitchFamily="34" charset="-122"/>
                <a:cs typeface="Barlow" pitchFamily="34" charset="-120"/>
              </a:rPr>
              <a:t>Digital Change</a:t>
            </a:r>
            <a:endParaRPr lang="en-US" sz="1575" dirty="0"/>
          </a:p>
        </p:txBody>
      </p:sp>
      <p:sp>
        <p:nvSpPr>
          <p:cNvPr id="73" name="Text 56"/>
          <p:cNvSpPr/>
          <p:nvPr/>
        </p:nvSpPr>
        <p:spPr>
          <a:xfrm>
            <a:off x="14293155" y="7796957"/>
            <a:ext cx="3021613" cy="229493"/>
          </a:xfrm>
          <a:prstGeom prst="rect">
            <a:avLst/>
          </a:prstGeom>
          <a:noFill/>
          <a:ln/>
        </p:spPr>
        <p:txBody>
          <a:bodyPr wrap="square" lIns="25400" tIns="25400" rIns="25400" bIns="25400" rtlCol="0" anchor="t">
            <a:normAutofit lnSpcReduction="10000"/>
          </a:bodyPr>
          <a:lstStyle/>
          <a:p>
            <a:pPr marL="0" indent="0" algn="l">
              <a:lnSpc>
                <a:spcPct val="118235"/>
              </a:lnSpc>
              <a:buNone/>
            </a:pPr>
            <a:r>
              <a:rPr lang="en-US" sz="1125" dirty="0">
                <a:solidFill>
                  <a:srgbClr val="6E8493"/>
                </a:solidFill>
                <a:latin typeface="Arial" pitchFamily="34" charset="0"/>
                <a:ea typeface="Arial" pitchFamily="34" charset="-122"/>
                <a:cs typeface="Arial" pitchFamily="34" charset="-120"/>
              </a:rPr>
              <a:t>Gestión del cambio y adopción digital.</a:t>
            </a:r>
            <a:endParaRPr lang="en-US" sz="1125" dirty="0"/>
          </a:p>
        </p:txBody>
      </p:sp>
      <p:sp>
        <p:nvSpPr>
          <p:cNvPr id="74" name="Shape 57"/>
          <p:cNvSpPr/>
          <p:nvPr/>
        </p:nvSpPr>
        <p:spPr>
          <a:xfrm>
            <a:off x="14293155" y="8634710"/>
            <a:ext cx="2746921" cy="9525"/>
          </a:xfrm>
          <a:prstGeom prst="rect">
            <a:avLst/>
          </a:prstGeom>
          <a:solidFill>
            <a:srgbClr val="E5EAEF"/>
          </a:solidFill>
          <a:ln/>
        </p:spPr>
        <p:txBody>
          <a:bodyPr/>
          <a:lstStyle/>
          <a:p>
            <a:endParaRPr lang="es-ES"/>
          </a:p>
        </p:txBody>
      </p:sp>
      <p:sp>
        <p:nvSpPr>
          <p:cNvPr id="75" name="Text 58"/>
          <p:cNvSpPr/>
          <p:nvPr/>
        </p:nvSpPr>
        <p:spPr>
          <a:xfrm>
            <a:off x="14293155" y="8777585"/>
            <a:ext cx="2829328" cy="471785"/>
          </a:xfrm>
          <a:prstGeom prst="rect">
            <a:avLst/>
          </a:prstGeom>
          <a:noFill/>
          <a:ln/>
        </p:spPr>
        <p:txBody>
          <a:bodyPr wrap="square" lIns="25400" tIns="25400" rIns="25400" bIns="25400" rtlCol="0" anchor="t">
            <a:normAutofit lnSpcReduction="10000"/>
          </a:bodyPr>
          <a:lstStyle/>
          <a:p>
            <a:pPr marL="0" indent="0" algn="l">
              <a:lnSpc>
                <a:spcPct val="113900"/>
              </a:lnSpc>
              <a:buNone/>
            </a:pPr>
            <a:r>
              <a:rPr lang="en-US" sz="1275" dirty="0">
                <a:solidFill>
                  <a:srgbClr val="041C2C"/>
                </a:solidFill>
                <a:latin typeface="Barlow" pitchFamily="34" charset="0"/>
                <a:ea typeface="Barlow" pitchFamily="34" charset="-122"/>
                <a:cs typeface="Barlow" pitchFamily="34" charset="-120"/>
              </a:rPr>
              <a:t>Lo que desplegasteis, ¿la gente lo ha hecho suyo?</a:t>
            </a:r>
            <a:endParaRPr lang="en-US" sz="1275" dirty="0"/>
          </a:p>
        </p:txBody>
      </p:sp>
      <p:sp>
        <p:nvSpPr>
          <p:cNvPr id="76" name="Text 59"/>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77" name="Text 60"/>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10 / 24</a:t>
            </a:r>
            <a:endParaRPr lang="en-US" sz="1125" dirty="0"/>
          </a:p>
        </p:txBody>
      </p:sp>
      <p:sp>
        <p:nvSpPr>
          <p:cNvPr id="78" name="Rectangle 77">
            <a:hlinkClick r:id="rId10" action="ppaction://hlinksldjump"/>
            <a:extLst>
              <a:ext uri="{FF2B5EF4-FFF2-40B4-BE49-F238E27FC236}">
                <a16:creationId xmlns:a16="http://schemas.microsoft.com/office/drawing/2014/main" id="{7DFA86A7-97EA-5905-4591-4CB0A62A035B}"/>
              </a:ext>
            </a:extLst>
          </p:cNvPr>
          <p:cNvSpPr/>
          <p:nvPr/>
        </p:nvSpPr>
        <p:spPr>
          <a:xfrm>
            <a:off x="1166812" y="6906221"/>
            <a:ext cx="2910291" cy="2438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0" name="Rectangle 79">
            <a:hlinkClick r:id="rId13" action="ppaction://hlinksldjump"/>
            <a:extLst>
              <a:ext uri="{FF2B5EF4-FFF2-40B4-BE49-F238E27FC236}">
                <a16:creationId xmlns:a16="http://schemas.microsoft.com/office/drawing/2014/main" id="{A43F6514-FF8F-C153-8B3C-BBCA2703B29D}"/>
              </a:ext>
            </a:extLst>
          </p:cNvPr>
          <p:cNvSpPr/>
          <p:nvPr/>
        </p:nvSpPr>
        <p:spPr>
          <a:xfrm>
            <a:off x="4397687" y="6843316"/>
            <a:ext cx="2910291" cy="2438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2" name="Rectangle 81">
            <a:hlinkClick r:id="rId16" action="ppaction://hlinksldjump"/>
            <a:extLst>
              <a:ext uri="{FF2B5EF4-FFF2-40B4-BE49-F238E27FC236}">
                <a16:creationId xmlns:a16="http://schemas.microsoft.com/office/drawing/2014/main" id="{2E08846B-628B-83DC-E08C-579465807640}"/>
              </a:ext>
            </a:extLst>
          </p:cNvPr>
          <p:cNvSpPr/>
          <p:nvPr/>
        </p:nvSpPr>
        <p:spPr>
          <a:xfrm>
            <a:off x="7711782" y="6883971"/>
            <a:ext cx="2910291" cy="2438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4" name="Rectangle 83">
            <a:hlinkClick r:id="rId19" action="ppaction://hlinksldjump"/>
            <a:extLst>
              <a:ext uri="{FF2B5EF4-FFF2-40B4-BE49-F238E27FC236}">
                <a16:creationId xmlns:a16="http://schemas.microsoft.com/office/drawing/2014/main" id="{6EFDD2A3-FF1B-05B1-04AC-1D235325F070}"/>
              </a:ext>
            </a:extLst>
          </p:cNvPr>
          <p:cNvSpPr/>
          <p:nvPr/>
        </p:nvSpPr>
        <p:spPr>
          <a:xfrm>
            <a:off x="10982440" y="6877309"/>
            <a:ext cx="2910291" cy="2438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6" name="Rectangle 85">
            <a:hlinkClick r:id="rId22" action="ppaction://hlinksldjump"/>
            <a:extLst>
              <a:ext uri="{FF2B5EF4-FFF2-40B4-BE49-F238E27FC236}">
                <a16:creationId xmlns:a16="http://schemas.microsoft.com/office/drawing/2014/main" id="{251C0FDD-79B0-DFB7-2E6E-B7CC5A478DC1}"/>
              </a:ext>
            </a:extLst>
          </p:cNvPr>
          <p:cNvSpPr/>
          <p:nvPr/>
        </p:nvSpPr>
        <p:spPr>
          <a:xfrm>
            <a:off x="14212192" y="6868195"/>
            <a:ext cx="2910291" cy="24382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855AC6"/>
          </a:solidFill>
          <a:ln/>
        </p:spPr>
        <p:txBody>
          <a:bodyPr/>
          <a:lstStyle/>
          <a:p>
            <a:endParaRPr lang="es-ES"/>
          </a:p>
        </p:txBody>
      </p:sp>
      <p:sp>
        <p:nvSpPr>
          <p:cNvPr id="5" name="Text 2"/>
          <p:cNvSpPr/>
          <p:nvPr/>
        </p:nvSpPr>
        <p:spPr>
          <a:xfrm>
            <a:off x="2076450" y="628650"/>
            <a:ext cx="2791271"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CÓMO LO EJECUTAMOS</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1200150"/>
            <a:ext cx="17769840" cy="561975"/>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750" b="1" kern="0" spc="-75" dirty="0">
                <a:solidFill>
                  <a:srgbClr val="041C2C"/>
                </a:solidFill>
                <a:latin typeface="Barlow" pitchFamily="34" charset="0"/>
                <a:ea typeface="Barlow" pitchFamily="34" charset="-122"/>
                <a:cs typeface="Barlow" pitchFamily="34" charset="-120"/>
              </a:rPr>
              <a:t>Un método de extremo a extremo.</a:t>
            </a:r>
            <a:endParaRPr lang="en-US" sz="3750" dirty="0"/>
          </a:p>
        </p:txBody>
      </p:sp>
      <p:sp>
        <p:nvSpPr>
          <p:cNvPr id="8" name="Text 4"/>
          <p:cNvSpPr/>
          <p:nvPr/>
        </p:nvSpPr>
        <p:spPr>
          <a:xfrm>
            <a:off x="1066800" y="1819275"/>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El mismo ciclo — del As-Is real al impacto medido — que no termina: cada vuelta deja la organización mejor.</a:t>
            </a:r>
            <a:endParaRPr lang="en-US" sz="1875" dirty="0"/>
          </a:p>
        </p:txBody>
      </p:sp>
      <p:sp>
        <p:nvSpPr>
          <p:cNvPr id="9" name="Shape 5"/>
          <p:cNvSpPr/>
          <p:nvPr/>
        </p:nvSpPr>
        <p:spPr>
          <a:xfrm>
            <a:off x="1066800" y="2795588"/>
            <a:ext cx="3124200" cy="2028825"/>
          </a:xfrm>
          <a:prstGeom prst="roundRect">
            <a:avLst>
              <a:gd name="adj" fmla="val 5634"/>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10" name="Shape 6"/>
          <p:cNvSpPr/>
          <p:nvPr/>
        </p:nvSpPr>
        <p:spPr>
          <a:xfrm>
            <a:off x="1219200" y="2957513"/>
            <a:ext cx="457200" cy="457200"/>
          </a:xfrm>
          <a:prstGeom prst="ellipse">
            <a:avLst/>
          </a:prstGeom>
          <a:solidFill>
            <a:srgbClr val="FFFFFF"/>
          </a:solidFill>
          <a:ln w="19050">
            <a:solidFill>
              <a:srgbClr val="041C2C">
                <a:alpha val="15000"/>
              </a:srgbClr>
            </a:solidFill>
            <a:prstDash val="solid"/>
          </a:ln>
          <a:effectLst>
            <a:outerShdw blurRad="95250" dist="28575" dir="5400000" algn="bl" rotWithShape="0">
              <a:srgbClr val="041C2C">
                <a:alpha val="8000"/>
              </a:srgbClr>
            </a:outerShdw>
          </a:effectLst>
        </p:spPr>
        <p:txBody>
          <a:bodyPr/>
          <a:lstStyle/>
          <a:p>
            <a:endParaRPr lang="es-ES"/>
          </a:p>
        </p:txBody>
      </p:sp>
      <p:sp>
        <p:nvSpPr>
          <p:cNvPr id="11" name="Text 7"/>
          <p:cNvSpPr/>
          <p:nvPr/>
        </p:nvSpPr>
        <p:spPr>
          <a:xfrm>
            <a:off x="1200150" y="2976563"/>
            <a:ext cx="495300" cy="457200"/>
          </a:xfrm>
          <a:prstGeom prst="rect">
            <a:avLst/>
          </a:prstGeom>
          <a:noFill/>
          <a:ln/>
        </p:spPr>
        <p:txBody>
          <a:bodyPr wrap="square" lIns="25400" tIns="25400" rIns="25400" bIns="25400" rtlCol="0" anchor="ctr">
            <a:normAutofit/>
          </a:bodyPr>
          <a:lstStyle/>
          <a:p>
            <a:pPr marL="0" indent="0" algn="ctr">
              <a:buNone/>
            </a:pPr>
            <a:r>
              <a:rPr lang="en-US" sz="1575" b="1" dirty="0">
                <a:solidFill>
                  <a:srgbClr val="041C2C"/>
                </a:solidFill>
                <a:latin typeface="Barlow" pitchFamily="34" charset="0"/>
                <a:ea typeface="Barlow" pitchFamily="34" charset="-122"/>
                <a:cs typeface="Barlow" pitchFamily="34" charset="-120"/>
              </a:rPr>
              <a:t>01</a:t>
            </a:r>
            <a:endParaRPr lang="en-US" sz="1575" dirty="0"/>
          </a:p>
        </p:txBody>
      </p:sp>
      <p:sp>
        <p:nvSpPr>
          <p:cNvPr id="12" name="Text 8"/>
          <p:cNvSpPr/>
          <p:nvPr/>
        </p:nvSpPr>
        <p:spPr>
          <a:xfrm>
            <a:off x="1219200" y="3519488"/>
            <a:ext cx="310134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47" dirty="0">
                <a:solidFill>
                  <a:srgbClr val="4A6273"/>
                </a:solidFill>
                <a:latin typeface="Barlow" pitchFamily="34" charset="0"/>
                <a:ea typeface="Barlow" pitchFamily="34" charset="-122"/>
                <a:cs typeface="Barlow" pitchFamily="34" charset="-120"/>
              </a:rPr>
              <a:t>ENTENDER</a:t>
            </a:r>
            <a:endParaRPr lang="en-US" sz="1050" dirty="0"/>
          </a:p>
        </p:txBody>
      </p:sp>
      <p:sp>
        <p:nvSpPr>
          <p:cNvPr id="13" name="Text 9"/>
          <p:cNvSpPr/>
          <p:nvPr/>
        </p:nvSpPr>
        <p:spPr>
          <a:xfrm>
            <a:off x="1219200" y="3709988"/>
            <a:ext cx="3101340" cy="2476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1500" b="1" dirty="0">
                <a:solidFill>
                  <a:srgbClr val="041C2C"/>
                </a:solidFill>
                <a:latin typeface="Barlow" pitchFamily="34" charset="0"/>
                <a:ea typeface="Barlow" pitchFamily="34" charset="-122"/>
                <a:cs typeface="Barlow" pitchFamily="34" charset="-120"/>
              </a:rPr>
              <a:t>As-Is real</a:t>
            </a:r>
            <a:endParaRPr lang="en-US" sz="1500" dirty="0"/>
          </a:p>
        </p:txBody>
      </p:sp>
      <p:sp>
        <p:nvSpPr>
          <p:cNvPr id="14" name="Text 10"/>
          <p:cNvSpPr/>
          <p:nvPr/>
        </p:nvSpPr>
        <p:spPr>
          <a:xfrm>
            <a:off x="1219200" y="3995738"/>
            <a:ext cx="2903982" cy="409575"/>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1125" dirty="0">
                <a:solidFill>
                  <a:srgbClr val="041C2C">
                    <a:alpha val="70000"/>
                  </a:srgbClr>
                </a:solidFill>
                <a:latin typeface="Arial" pitchFamily="34" charset="0"/>
                <a:ea typeface="Arial" pitchFamily="34" charset="-122"/>
                <a:cs typeface="Arial" pitchFamily="34" charset="-120"/>
              </a:rPr>
              <a:t>Proceso levantado con datos, sistemas, dependencias y riesgos.</a:t>
            </a:r>
            <a:endParaRPr lang="en-US" sz="1125" dirty="0"/>
          </a:p>
        </p:txBody>
      </p:sp>
      <p:sp>
        <p:nvSpPr>
          <p:cNvPr id="15" name="Shape 11"/>
          <p:cNvSpPr/>
          <p:nvPr/>
        </p:nvSpPr>
        <p:spPr>
          <a:xfrm>
            <a:off x="1219200" y="4471988"/>
            <a:ext cx="710208" cy="209550"/>
          </a:xfrm>
          <a:prstGeom prst="roundRect">
            <a:avLst>
              <a:gd name="adj" fmla="val 50000"/>
            </a:avLst>
          </a:prstGeom>
          <a:solidFill>
            <a:srgbClr val="2F6FB0">
              <a:alpha val="12000"/>
            </a:srgbClr>
          </a:solidFill>
          <a:ln/>
        </p:spPr>
        <p:txBody>
          <a:bodyPr/>
          <a:lstStyle/>
          <a:p>
            <a:endParaRPr lang="es-ES"/>
          </a:p>
        </p:txBody>
      </p:sp>
      <p:sp>
        <p:nvSpPr>
          <p:cNvPr id="16" name="Text 12"/>
          <p:cNvSpPr/>
          <p:nvPr/>
        </p:nvSpPr>
        <p:spPr>
          <a:xfrm>
            <a:off x="1295400"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F6FB0"/>
                </a:solidFill>
                <a:latin typeface="JetBrains Mono" pitchFamily="34" charset="0"/>
                <a:ea typeface="JetBrains Mono" pitchFamily="34" charset="-122"/>
                <a:cs typeface="JetBrains Mono" pitchFamily="34" charset="-120"/>
              </a:rPr>
              <a:t>Procesos</a:t>
            </a:r>
            <a:endParaRPr lang="en-US" sz="900" dirty="0"/>
          </a:p>
        </p:txBody>
      </p:sp>
      <p:sp>
        <p:nvSpPr>
          <p:cNvPr id="17" name="Shape 13"/>
          <p:cNvSpPr/>
          <p:nvPr/>
        </p:nvSpPr>
        <p:spPr>
          <a:xfrm>
            <a:off x="1977033" y="4471988"/>
            <a:ext cx="849660" cy="209550"/>
          </a:xfrm>
          <a:prstGeom prst="roundRect">
            <a:avLst>
              <a:gd name="adj" fmla="val 50000"/>
            </a:avLst>
          </a:prstGeom>
          <a:solidFill>
            <a:srgbClr val="855AC6">
              <a:alpha val="12000"/>
            </a:srgbClr>
          </a:solidFill>
          <a:ln/>
        </p:spPr>
        <p:txBody>
          <a:bodyPr/>
          <a:lstStyle/>
          <a:p>
            <a:endParaRPr lang="es-ES"/>
          </a:p>
        </p:txBody>
      </p:sp>
      <p:sp>
        <p:nvSpPr>
          <p:cNvPr id="18" name="Text 14"/>
          <p:cNvSpPr/>
          <p:nvPr/>
        </p:nvSpPr>
        <p:spPr>
          <a:xfrm>
            <a:off x="2053233" y="4500563"/>
            <a:ext cx="773460"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855AC6"/>
                </a:solidFill>
                <a:latin typeface="JetBrains Mono" pitchFamily="34" charset="0"/>
                <a:ea typeface="JetBrains Mono" pitchFamily="34" charset="-122"/>
                <a:cs typeface="JetBrains Mono" pitchFamily="34" charset="-120"/>
              </a:rPr>
              <a:t>Tecnología</a:t>
            </a:r>
            <a:endParaRPr lang="en-US" sz="900" dirty="0"/>
          </a:p>
        </p:txBody>
      </p:sp>
      <p:sp>
        <p:nvSpPr>
          <p:cNvPr id="19" name="Shape 15"/>
          <p:cNvSpPr/>
          <p:nvPr/>
        </p:nvSpPr>
        <p:spPr>
          <a:xfrm>
            <a:off x="2874318" y="4471988"/>
            <a:ext cx="710208" cy="209550"/>
          </a:xfrm>
          <a:prstGeom prst="roundRect">
            <a:avLst>
              <a:gd name="adj" fmla="val 50000"/>
            </a:avLst>
          </a:prstGeom>
          <a:solidFill>
            <a:srgbClr val="2EA66A">
              <a:alpha val="14000"/>
            </a:srgbClr>
          </a:solidFill>
          <a:ln/>
        </p:spPr>
        <p:txBody>
          <a:bodyPr/>
          <a:lstStyle/>
          <a:p>
            <a:endParaRPr lang="es-ES"/>
          </a:p>
        </p:txBody>
      </p:sp>
      <p:sp>
        <p:nvSpPr>
          <p:cNvPr id="20" name="Text 16"/>
          <p:cNvSpPr/>
          <p:nvPr/>
        </p:nvSpPr>
        <p:spPr>
          <a:xfrm>
            <a:off x="2950518"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EA66A"/>
                </a:solidFill>
                <a:latin typeface="JetBrains Mono" pitchFamily="34" charset="0"/>
                <a:ea typeface="JetBrains Mono" pitchFamily="34" charset="-122"/>
                <a:cs typeface="JetBrains Mono" pitchFamily="34" charset="-120"/>
              </a:rPr>
              <a:t>Personas</a:t>
            </a:r>
            <a:endParaRPr lang="en-US" sz="900" dirty="0"/>
          </a:p>
        </p:txBody>
      </p:sp>
      <p:sp>
        <p:nvSpPr>
          <p:cNvPr id="21" name="Shape 17"/>
          <p:cNvSpPr/>
          <p:nvPr/>
        </p:nvSpPr>
        <p:spPr>
          <a:xfrm>
            <a:off x="4324350" y="2795588"/>
            <a:ext cx="3124200" cy="2028825"/>
          </a:xfrm>
          <a:prstGeom prst="roundRect">
            <a:avLst>
              <a:gd name="adj" fmla="val 5634"/>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22" name="Shape 18"/>
          <p:cNvSpPr/>
          <p:nvPr/>
        </p:nvSpPr>
        <p:spPr>
          <a:xfrm>
            <a:off x="4476750" y="2957513"/>
            <a:ext cx="457200" cy="457200"/>
          </a:xfrm>
          <a:prstGeom prst="ellipse">
            <a:avLst/>
          </a:prstGeom>
          <a:solidFill>
            <a:srgbClr val="FFFFFF"/>
          </a:solidFill>
          <a:ln w="19050">
            <a:solidFill>
              <a:srgbClr val="041C2C">
                <a:alpha val="15000"/>
              </a:srgbClr>
            </a:solidFill>
            <a:prstDash val="solid"/>
          </a:ln>
          <a:effectLst>
            <a:outerShdw blurRad="95250" dist="28575" dir="5400000" algn="bl" rotWithShape="0">
              <a:srgbClr val="041C2C">
                <a:alpha val="8000"/>
              </a:srgbClr>
            </a:outerShdw>
          </a:effectLst>
        </p:spPr>
        <p:txBody>
          <a:bodyPr/>
          <a:lstStyle/>
          <a:p>
            <a:endParaRPr lang="es-ES"/>
          </a:p>
        </p:txBody>
      </p:sp>
      <p:sp>
        <p:nvSpPr>
          <p:cNvPr id="23" name="Text 19"/>
          <p:cNvSpPr/>
          <p:nvPr/>
        </p:nvSpPr>
        <p:spPr>
          <a:xfrm>
            <a:off x="4457700" y="2976563"/>
            <a:ext cx="495300" cy="457200"/>
          </a:xfrm>
          <a:prstGeom prst="rect">
            <a:avLst/>
          </a:prstGeom>
          <a:noFill/>
          <a:ln/>
        </p:spPr>
        <p:txBody>
          <a:bodyPr wrap="square" lIns="25400" tIns="25400" rIns="25400" bIns="25400" rtlCol="0" anchor="ctr">
            <a:normAutofit/>
          </a:bodyPr>
          <a:lstStyle/>
          <a:p>
            <a:pPr marL="0" indent="0" algn="ctr">
              <a:buNone/>
            </a:pPr>
            <a:r>
              <a:rPr lang="en-US" sz="1575" b="1" dirty="0">
                <a:solidFill>
                  <a:srgbClr val="041C2C"/>
                </a:solidFill>
                <a:latin typeface="Barlow" pitchFamily="34" charset="0"/>
                <a:ea typeface="Barlow" pitchFamily="34" charset="-122"/>
                <a:cs typeface="Barlow" pitchFamily="34" charset="-120"/>
              </a:rPr>
              <a:t>02</a:t>
            </a:r>
            <a:endParaRPr lang="en-US" sz="1575" dirty="0"/>
          </a:p>
        </p:txBody>
      </p:sp>
      <p:sp>
        <p:nvSpPr>
          <p:cNvPr id="24" name="Text 20"/>
          <p:cNvSpPr/>
          <p:nvPr/>
        </p:nvSpPr>
        <p:spPr>
          <a:xfrm>
            <a:off x="4476750" y="3519488"/>
            <a:ext cx="310134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47" dirty="0">
                <a:solidFill>
                  <a:srgbClr val="4A6273"/>
                </a:solidFill>
                <a:latin typeface="Barlow" pitchFamily="34" charset="0"/>
                <a:ea typeface="Barlow" pitchFamily="34" charset="-122"/>
                <a:cs typeface="Barlow" pitchFamily="34" charset="-120"/>
              </a:rPr>
              <a:t>DISEÑAR</a:t>
            </a:r>
            <a:endParaRPr lang="en-US" sz="1050" dirty="0"/>
          </a:p>
        </p:txBody>
      </p:sp>
      <p:sp>
        <p:nvSpPr>
          <p:cNvPr id="25" name="Text 21"/>
          <p:cNvSpPr/>
          <p:nvPr/>
        </p:nvSpPr>
        <p:spPr>
          <a:xfrm>
            <a:off x="4476750" y="3709988"/>
            <a:ext cx="3101340" cy="2476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1500" b="1" dirty="0">
                <a:solidFill>
                  <a:srgbClr val="041C2C"/>
                </a:solidFill>
                <a:latin typeface="Barlow" pitchFamily="34" charset="0"/>
                <a:ea typeface="Barlow" pitchFamily="34" charset="-122"/>
                <a:cs typeface="Barlow" pitchFamily="34" charset="-120"/>
              </a:rPr>
              <a:t>To-Be gobernado</a:t>
            </a:r>
            <a:endParaRPr lang="en-US" sz="1500" dirty="0"/>
          </a:p>
        </p:txBody>
      </p:sp>
      <p:sp>
        <p:nvSpPr>
          <p:cNvPr id="26" name="Text 22"/>
          <p:cNvSpPr/>
          <p:nvPr/>
        </p:nvSpPr>
        <p:spPr>
          <a:xfrm>
            <a:off x="4476750" y="3995738"/>
            <a:ext cx="2903982" cy="409575"/>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1125" dirty="0">
                <a:solidFill>
                  <a:srgbClr val="041C2C">
                    <a:alpha val="70000"/>
                  </a:srgbClr>
                </a:solidFill>
                <a:latin typeface="Arial" pitchFamily="34" charset="0"/>
                <a:ea typeface="Arial" pitchFamily="34" charset="-122"/>
                <a:cs typeface="Arial" pitchFamily="34" charset="-120"/>
              </a:rPr>
              <a:t>Arquitectura, business case, backlog y modelo operativo.</a:t>
            </a:r>
            <a:endParaRPr lang="en-US" sz="1125" dirty="0"/>
          </a:p>
        </p:txBody>
      </p:sp>
      <p:sp>
        <p:nvSpPr>
          <p:cNvPr id="27" name="Shape 23"/>
          <p:cNvSpPr/>
          <p:nvPr/>
        </p:nvSpPr>
        <p:spPr>
          <a:xfrm>
            <a:off x="4476750" y="4471988"/>
            <a:ext cx="710208" cy="209550"/>
          </a:xfrm>
          <a:prstGeom prst="roundRect">
            <a:avLst>
              <a:gd name="adj" fmla="val 50000"/>
            </a:avLst>
          </a:prstGeom>
          <a:solidFill>
            <a:srgbClr val="2F6FB0">
              <a:alpha val="12000"/>
            </a:srgbClr>
          </a:solidFill>
          <a:ln/>
        </p:spPr>
        <p:txBody>
          <a:bodyPr/>
          <a:lstStyle/>
          <a:p>
            <a:endParaRPr lang="es-ES"/>
          </a:p>
        </p:txBody>
      </p:sp>
      <p:sp>
        <p:nvSpPr>
          <p:cNvPr id="28" name="Text 24"/>
          <p:cNvSpPr/>
          <p:nvPr/>
        </p:nvSpPr>
        <p:spPr>
          <a:xfrm>
            <a:off x="4552950"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F6FB0"/>
                </a:solidFill>
                <a:latin typeface="JetBrains Mono" pitchFamily="34" charset="0"/>
                <a:ea typeface="JetBrains Mono" pitchFamily="34" charset="-122"/>
                <a:cs typeface="JetBrains Mono" pitchFamily="34" charset="-120"/>
              </a:rPr>
              <a:t>Procesos</a:t>
            </a:r>
            <a:endParaRPr lang="en-US" sz="900" dirty="0"/>
          </a:p>
        </p:txBody>
      </p:sp>
      <p:sp>
        <p:nvSpPr>
          <p:cNvPr id="29" name="Shape 25"/>
          <p:cNvSpPr/>
          <p:nvPr/>
        </p:nvSpPr>
        <p:spPr>
          <a:xfrm>
            <a:off x="5234583" y="4471988"/>
            <a:ext cx="849660" cy="209550"/>
          </a:xfrm>
          <a:prstGeom prst="roundRect">
            <a:avLst>
              <a:gd name="adj" fmla="val 50000"/>
            </a:avLst>
          </a:prstGeom>
          <a:solidFill>
            <a:srgbClr val="855AC6">
              <a:alpha val="12000"/>
            </a:srgbClr>
          </a:solidFill>
          <a:ln/>
        </p:spPr>
        <p:txBody>
          <a:bodyPr/>
          <a:lstStyle/>
          <a:p>
            <a:endParaRPr lang="es-ES"/>
          </a:p>
        </p:txBody>
      </p:sp>
      <p:sp>
        <p:nvSpPr>
          <p:cNvPr id="30" name="Text 26"/>
          <p:cNvSpPr/>
          <p:nvPr/>
        </p:nvSpPr>
        <p:spPr>
          <a:xfrm>
            <a:off x="5310783" y="4500563"/>
            <a:ext cx="773460"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855AC6"/>
                </a:solidFill>
                <a:latin typeface="JetBrains Mono" pitchFamily="34" charset="0"/>
                <a:ea typeface="JetBrains Mono" pitchFamily="34" charset="-122"/>
                <a:cs typeface="JetBrains Mono" pitchFamily="34" charset="-120"/>
              </a:rPr>
              <a:t>Tecnología</a:t>
            </a:r>
            <a:endParaRPr lang="en-US" sz="900" dirty="0"/>
          </a:p>
        </p:txBody>
      </p:sp>
      <p:sp>
        <p:nvSpPr>
          <p:cNvPr id="31" name="Shape 27"/>
          <p:cNvSpPr/>
          <p:nvPr/>
        </p:nvSpPr>
        <p:spPr>
          <a:xfrm>
            <a:off x="6131868" y="4471988"/>
            <a:ext cx="640556" cy="209550"/>
          </a:xfrm>
          <a:prstGeom prst="roundRect">
            <a:avLst>
              <a:gd name="adj" fmla="val 50000"/>
            </a:avLst>
          </a:prstGeom>
          <a:solidFill>
            <a:srgbClr val="D04C81">
              <a:alpha val="12000"/>
            </a:srgbClr>
          </a:solidFill>
          <a:ln/>
        </p:spPr>
        <p:txBody>
          <a:bodyPr/>
          <a:lstStyle/>
          <a:p>
            <a:endParaRPr lang="es-ES"/>
          </a:p>
        </p:txBody>
      </p:sp>
      <p:sp>
        <p:nvSpPr>
          <p:cNvPr id="32" name="Text 28"/>
          <p:cNvSpPr/>
          <p:nvPr/>
        </p:nvSpPr>
        <p:spPr>
          <a:xfrm>
            <a:off x="6208068" y="4500563"/>
            <a:ext cx="564356"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D04C81"/>
                </a:solidFill>
                <a:latin typeface="JetBrains Mono" pitchFamily="34" charset="0"/>
                <a:ea typeface="JetBrains Mono" pitchFamily="34" charset="-122"/>
                <a:cs typeface="JetBrains Mono" pitchFamily="34" charset="-120"/>
              </a:rPr>
              <a:t>Cultura</a:t>
            </a:r>
            <a:endParaRPr lang="en-US" sz="900" dirty="0"/>
          </a:p>
        </p:txBody>
      </p:sp>
      <p:sp>
        <p:nvSpPr>
          <p:cNvPr id="33" name="Shape 29"/>
          <p:cNvSpPr/>
          <p:nvPr/>
        </p:nvSpPr>
        <p:spPr>
          <a:xfrm>
            <a:off x="7581900" y="2795588"/>
            <a:ext cx="3124200" cy="2028825"/>
          </a:xfrm>
          <a:prstGeom prst="roundRect">
            <a:avLst>
              <a:gd name="adj" fmla="val 5634"/>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34" name="Shape 30"/>
          <p:cNvSpPr/>
          <p:nvPr/>
        </p:nvSpPr>
        <p:spPr>
          <a:xfrm>
            <a:off x="7734300" y="2957513"/>
            <a:ext cx="457200" cy="457200"/>
          </a:xfrm>
          <a:prstGeom prst="ellipse">
            <a:avLst/>
          </a:prstGeom>
          <a:solidFill>
            <a:srgbClr val="FFFFFF"/>
          </a:solidFill>
          <a:ln w="19050">
            <a:solidFill>
              <a:srgbClr val="041C2C">
                <a:alpha val="15000"/>
              </a:srgbClr>
            </a:solidFill>
            <a:prstDash val="solid"/>
          </a:ln>
          <a:effectLst>
            <a:outerShdw blurRad="95250" dist="28575" dir="5400000" algn="bl" rotWithShape="0">
              <a:srgbClr val="041C2C">
                <a:alpha val="8000"/>
              </a:srgbClr>
            </a:outerShdw>
          </a:effectLst>
        </p:spPr>
        <p:txBody>
          <a:bodyPr/>
          <a:lstStyle/>
          <a:p>
            <a:endParaRPr lang="es-ES"/>
          </a:p>
        </p:txBody>
      </p:sp>
      <p:sp>
        <p:nvSpPr>
          <p:cNvPr id="35" name="Text 31"/>
          <p:cNvSpPr/>
          <p:nvPr/>
        </p:nvSpPr>
        <p:spPr>
          <a:xfrm>
            <a:off x="7715250" y="2976563"/>
            <a:ext cx="495300" cy="457200"/>
          </a:xfrm>
          <a:prstGeom prst="rect">
            <a:avLst/>
          </a:prstGeom>
          <a:noFill/>
          <a:ln/>
        </p:spPr>
        <p:txBody>
          <a:bodyPr wrap="square" lIns="25400" tIns="25400" rIns="25400" bIns="25400" rtlCol="0" anchor="ctr">
            <a:normAutofit/>
          </a:bodyPr>
          <a:lstStyle/>
          <a:p>
            <a:pPr marL="0" indent="0" algn="ctr">
              <a:buNone/>
            </a:pPr>
            <a:r>
              <a:rPr lang="en-US" sz="1575" b="1" dirty="0">
                <a:solidFill>
                  <a:srgbClr val="041C2C"/>
                </a:solidFill>
                <a:latin typeface="Barlow" pitchFamily="34" charset="0"/>
                <a:ea typeface="Barlow" pitchFamily="34" charset="-122"/>
                <a:cs typeface="Barlow" pitchFamily="34" charset="-120"/>
              </a:rPr>
              <a:t>03</a:t>
            </a:r>
            <a:endParaRPr lang="en-US" sz="1575" dirty="0"/>
          </a:p>
        </p:txBody>
      </p:sp>
      <p:sp>
        <p:nvSpPr>
          <p:cNvPr id="36" name="Text 32"/>
          <p:cNvSpPr/>
          <p:nvPr/>
        </p:nvSpPr>
        <p:spPr>
          <a:xfrm>
            <a:off x="7734300" y="3519488"/>
            <a:ext cx="310134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47" dirty="0">
                <a:solidFill>
                  <a:srgbClr val="4A6273"/>
                </a:solidFill>
                <a:latin typeface="Barlow" pitchFamily="34" charset="0"/>
                <a:ea typeface="Barlow" pitchFamily="34" charset="-122"/>
                <a:cs typeface="Barlow" pitchFamily="34" charset="-120"/>
              </a:rPr>
              <a:t>IMPLANTAR</a:t>
            </a:r>
            <a:endParaRPr lang="en-US" sz="1050" dirty="0"/>
          </a:p>
        </p:txBody>
      </p:sp>
      <p:sp>
        <p:nvSpPr>
          <p:cNvPr id="37" name="Text 33"/>
          <p:cNvSpPr/>
          <p:nvPr/>
        </p:nvSpPr>
        <p:spPr>
          <a:xfrm>
            <a:off x="7734300" y="3709988"/>
            <a:ext cx="3101340" cy="2476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1500" b="1" dirty="0">
                <a:solidFill>
                  <a:srgbClr val="041C2C"/>
                </a:solidFill>
                <a:latin typeface="Barlow" pitchFamily="34" charset="0"/>
                <a:ea typeface="Barlow" pitchFamily="34" charset="-122"/>
                <a:cs typeface="Barlow" pitchFamily="34" charset="-120"/>
              </a:rPr>
              <a:t>Solución integrada</a:t>
            </a:r>
            <a:endParaRPr lang="en-US" sz="1500" dirty="0"/>
          </a:p>
        </p:txBody>
      </p:sp>
      <p:sp>
        <p:nvSpPr>
          <p:cNvPr id="38" name="Text 34"/>
          <p:cNvSpPr/>
          <p:nvPr/>
        </p:nvSpPr>
        <p:spPr>
          <a:xfrm>
            <a:off x="7734300" y="3995738"/>
            <a:ext cx="2903982" cy="409575"/>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1125" dirty="0">
                <a:solidFill>
                  <a:srgbClr val="041C2C">
                    <a:alpha val="70000"/>
                  </a:srgbClr>
                </a:solidFill>
                <a:latin typeface="Arial" pitchFamily="34" charset="0"/>
                <a:ea typeface="Arial" pitchFamily="34" charset="-122"/>
                <a:cs typeface="Arial" pitchFamily="34" charset="-120"/>
              </a:rPr>
              <a:t>Desarrollo, APIs, datos, seguridad e integración con legacy.</a:t>
            </a:r>
            <a:endParaRPr lang="en-US" sz="1125" dirty="0"/>
          </a:p>
        </p:txBody>
      </p:sp>
      <p:sp>
        <p:nvSpPr>
          <p:cNvPr id="39" name="Shape 35"/>
          <p:cNvSpPr/>
          <p:nvPr/>
        </p:nvSpPr>
        <p:spPr>
          <a:xfrm>
            <a:off x="7734300" y="4471988"/>
            <a:ext cx="710208" cy="209550"/>
          </a:xfrm>
          <a:prstGeom prst="roundRect">
            <a:avLst>
              <a:gd name="adj" fmla="val 50000"/>
            </a:avLst>
          </a:prstGeom>
          <a:solidFill>
            <a:srgbClr val="2F6FB0">
              <a:alpha val="12000"/>
            </a:srgbClr>
          </a:solidFill>
          <a:ln/>
        </p:spPr>
        <p:txBody>
          <a:bodyPr/>
          <a:lstStyle/>
          <a:p>
            <a:endParaRPr lang="es-ES"/>
          </a:p>
        </p:txBody>
      </p:sp>
      <p:sp>
        <p:nvSpPr>
          <p:cNvPr id="40" name="Text 36"/>
          <p:cNvSpPr/>
          <p:nvPr/>
        </p:nvSpPr>
        <p:spPr>
          <a:xfrm>
            <a:off x="7810500"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F6FB0"/>
                </a:solidFill>
                <a:latin typeface="JetBrains Mono" pitchFamily="34" charset="0"/>
                <a:ea typeface="JetBrains Mono" pitchFamily="34" charset="-122"/>
                <a:cs typeface="JetBrains Mono" pitchFamily="34" charset="-120"/>
              </a:rPr>
              <a:t>Procesos</a:t>
            </a:r>
            <a:endParaRPr lang="en-US" sz="900" dirty="0"/>
          </a:p>
        </p:txBody>
      </p:sp>
      <p:sp>
        <p:nvSpPr>
          <p:cNvPr id="41" name="Shape 37"/>
          <p:cNvSpPr/>
          <p:nvPr/>
        </p:nvSpPr>
        <p:spPr>
          <a:xfrm>
            <a:off x="8492133" y="4471988"/>
            <a:ext cx="849660" cy="209550"/>
          </a:xfrm>
          <a:prstGeom prst="roundRect">
            <a:avLst>
              <a:gd name="adj" fmla="val 50000"/>
            </a:avLst>
          </a:prstGeom>
          <a:solidFill>
            <a:srgbClr val="855AC6">
              <a:alpha val="12000"/>
            </a:srgbClr>
          </a:solidFill>
          <a:ln/>
        </p:spPr>
        <p:txBody>
          <a:bodyPr/>
          <a:lstStyle/>
          <a:p>
            <a:endParaRPr lang="es-ES"/>
          </a:p>
        </p:txBody>
      </p:sp>
      <p:sp>
        <p:nvSpPr>
          <p:cNvPr id="42" name="Text 38"/>
          <p:cNvSpPr/>
          <p:nvPr/>
        </p:nvSpPr>
        <p:spPr>
          <a:xfrm>
            <a:off x="8568333" y="4500563"/>
            <a:ext cx="773460"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855AC6"/>
                </a:solidFill>
                <a:latin typeface="JetBrains Mono" pitchFamily="34" charset="0"/>
                <a:ea typeface="JetBrains Mono" pitchFamily="34" charset="-122"/>
                <a:cs typeface="JetBrains Mono" pitchFamily="34" charset="-120"/>
              </a:rPr>
              <a:t>Tecnología</a:t>
            </a:r>
            <a:endParaRPr lang="en-US" sz="900" dirty="0"/>
          </a:p>
        </p:txBody>
      </p:sp>
      <p:sp>
        <p:nvSpPr>
          <p:cNvPr id="43" name="Shape 39"/>
          <p:cNvSpPr/>
          <p:nvPr/>
        </p:nvSpPr>
        <p:spPr>
          <a:xfrm>
            <a:off x="10839450" y="2795588"/>
            <a:ext cx="3124200" cy="2028825"/>
          </a:xfrm>
          <a:prstGeom prst="roundRect">
            <a:avLst>
              <a:gd name="adj" fmla="val 5634"/>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44" name="Shape 40"/>
          <p:cNvSpPr/>
          <p:nvPr/>
        </p:nvSpPr>
        <p:spPr>
          <a:xfrm>
            <a:off x="10991850" y="2957513"/>
            <a:ext cx="457200" cy="457200"/>
          </a:xfrm>
          <a:prstGeom prst="ellipse">
            <a:avLst/>
          </a:prstGeom>
          <a:solidFill>
            <a:srgbClr val="FFFFFF"/>
          </a:solidFill>
          <a:ln w="19050">
            <a:solidFill>
              <a:srgbClr val="041C2C">
                <a:alpha val="15000"/>
              </a:srgbClr>
            </a:solidFill>
            <a:prstDash val="solid"/>
          </a:ln>
          <a:effectLst>
            <a:outerShdw blurRad="95250" dist="28575" dir="5400000" algn="bl" rotWithShape="0">
              <a:srgbClr val="041C2C">
                <a:alpha val="8000"/>
              </a:srgbClr>
            </a:outerShdw>
          </a:effectLst>
        </p:spPr>
        <p:txBody>
          <a:bodyPr/>
          <a:lstStyle/>
          <a:p>
            <a:endParaRPr lang="es-ES"/>
          </a:p>
        </p:txBody>
      </p:sp>
      <p:sp>
        <p:nvSpPr>
          <p:cNvPr id="45" name="Text 41"/>
          <p:cNvSpPr/>
          <p:nvPr/>
        </p:nvSpPr>
        <p:spPr>
          <a:xfrm>
            <a:off x="10972800" y="2976563"/>
            <a:ext cx="495300" cy="457200"/>
          </a:xfrm>
          <a:prstGeom prst="rect">
            <a:avLst/>
          </a:prstGeom>
          <a:noFill/>
          <a:ln/>
        </p:spPr>
        <p:txBody>
          <a:bodyPr wrap="square" lIns="25400" tIns="25400" rIns="25400" bIns="25400" rtlCol="0" anchor="ctr">
            <a:normAutofit/>
          </a:bodyPr>
          <a:lstStyle/>
          <a:p>
            <a:pPr marL="0" indent="0" algn="ctr">
              <a:buNone/>
            </a:pPr>
            <a:r>
              <a:rPr lang="en-US" sz="1575" b="1" dirty="0">
                <a:solidFill>
                  <a:srgbClr val="041C2C"/>
                </a:solidFill>
                <a:latin typeface="Barlow" pitchFamily="34" charset="0"/>
                <a:ea typeface="Barlow" pitchFamily="34" charset="-122"/>
                <a:cs typeface="Barlow" pitchFamily="34" charset="-120"/>
              </a:rPr>
              <a:t>04</a:t>
            </a:r>
            <a:endParaRPr lang="en-US" sz="1575" dirty="0"/>
          </a:p>
        </p:txBody>
      </p:sp>
      <p:sp>
        <p:nvSpPr>
          <p:cNvPr id="46" name="Text 42"/>
          <p:cNvSpPr/>
          <p:nvPr/>
        </p:nvSpPr>
        <p:spPr>
          <a:xfrm>
            <a:off x="10991850" y="3519488"/>
            <a:ext cx="310134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47" dirty="0">
                <a:solidFill>
                  <a:srgbClr val="4A6273"/>
                </a:solidFill>
                <a:latin typeface="Barlow" pitchFamily="34" charset="0"/>
                <a:ea typeface="Barlow" pitchFamily="34" charset="-122"/>
                <a:cs typeface="Barlow" pitchFamily="34" charset="-120"/>
              </a:rPr>
              <a:t>ADOPTAR</a:t>
            </a:r>
            <a:endParaRPr lang="en-US" sz="1050" dirty="0"/>
          </a:p>
        </p:txBody>
      </p:sp>
      <p:sp>
        <p:nvSpPr>
          <p:cNvPr id="47" name="Text 43"/>
          <p:cNvSpPr/>
          <p:nvPr/>
        </p:nvSpPr>
        <p:spPr>
          <a:xfrm>
            <a:off x="10991850" y="3709988"/>
            <a:ext cx="3101340" cy="2476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1500" b="1" dirty="0">
                <a:solidFill>
                  <a:srgbClr val="041C2C"/>
                </a:solidFill>
                <a:latin typeface="Barlow" pitchFamily="34" charset="0"/>
                <a:ea typeface="Barlow" pitchFamily="34" charset="-122"/>
                <a:cs typeface="Barlow" pitchFamily="34" charset="-120"/>
              </a:rPr>
              <a:t>Personas preparadas</a:t>
            </a:r>
            <a:endParaRPr lang="en-US" sz="1500" dirty="0"/>
          </a:p>
        </p:txBody>
      </p:sp>
      <p:sp>
        <p:nvSpPr>
          <p:cNvPr id="48" name="Text 44"/>
          <p:cNvSpPr/>
          <p:nvPr/>
        </p:nvSpPr>
        <p:spPr>
          <a:xfrm>
            <a:off x="10991850" y="3995738"/>
            <a:ext cx="2903982" cy="409575"/>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1125" dirty="0">
                <a:solidFill>
                  <a:srgbClr val="041C2C">
                    <a:alpha val="70000"/>
                  </a:srgbClr>
                </a:solidFill>
                <a:latin typeface="Arial" pitchFamily="34" charset="0"/>
                <a:ea typeface="Arial" pitchFamily="34" charset="-122"/>
                <a:cs typeface="Arial" pitchFamily="34" charset="-120"/>
              </a:rPr>
              <a:t>Formación, reskilling y gestión activa de la resistencia.</a:t>
            </a:r>
            <a:endParaRPr lang="en-US" sz="1125" dirty="0"/>
          </a:p>
        </p:txBody>
      </p:sp>
      <p:sp>
        <p:nvSpPr>
          <p:cNvPr id="49" name="Shape 45"/>
          <p:cNvSpPr/>
          <p:nvPr/>
        </p:nvSpPr>
        <p:spPr>
          <a:xfrm>
            <a:off x="10991850" y="4471988"/>
            <a:ext cx="710208" cy="209550"/>
          </a:xfrm>
          <a:prstGeom prst="roundRect">
            <a:avLst>
              <a:gd name="adj" fmla="val 50000"/>
            </a:avLst>
          </a:prstGeom>
          <a:solidFill>
            <a:srgbClr val="2EA66A">
              <a:alpha val="14000"/>
            </a:srgbClr>
          </a:solidFill>
          <a:ln/>
        </p:spPr>
        <p:txBody>
          <a:bodyPr/>
          <a:lstStyle/>
          <a:p>
            <a:endParaRPr lang="es-ES"/>
          </a:p>
        </p:txBody>
      </p:sp>
      <p:sp>
        <p:nvSpPr>
          <p:cNvPr id="50" name="Text 46"/>
          <p:cNvSpPr/>
          <p:nvPr/>
        </p:nvSpPr>
        <p:spPr>
          <a:xfrm>
            <a:off x="11068050"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EA66A"/>
                </a:solidFill>
                <a:latin typeface="JetBrains Mono" pitchFamily="34" charset="0"/>
                <a:ea typeface="JetBrains Mono" pitchFamily="34" charset="-122"/>
                <a:cs typeface="JetBrains Mono" pitchFamily="34" charset="-120"/>
              </a:rPr>
              <a:t>Personas</a:t>
            </a:r>
            <a:endParaRPr lang="en-US" sz="900" dirty="0"/>
          </a:p>
        </p:txBody>
      </p:sp>
      <p:sp>
        <p:nvSpPr>
          <p:cNvPr id="51" name="Shape 47"/>
          <p:cNvSpPr/>
          <p:nvPr/>
        </p:nvSpPr>
        <p:spPr>
          <a:xfrm>
            <a:off x="11749683" y="4471988"/>
            <a:ext cx="640556" cy="209550"/>
          </a:xfrm>
          <a:prstGeom prst="roundRect">
            <a:avLst>
              <a:gd name="adj" fmla="val 50000"/>
            </a:avLst>
          </a:prstGeom>
          <a:solidFill>
            <a:srgbClr val="D04C81">
              <a:alpha val="12000"/>
            </a:srgbClr>
          </a:solidFill>
          <a:ln/>
        </p:spPr>
        <p:txBody>
          <a:bodyPr/>
          <a:lstStyle/>
          <a:p>
            <a:endParaRPr lang="es-ES"/>
          </a:p>
        </p:txBody>
      </p:sp>
      <p:sp>
        <p:nvSpPr>
          <p:cNvPr id="52" name="Text 48"/>
          <p:cNvSpPr/>
          <p:nvPr/>
        </p:nvSpPr>
        <p:spPr>
          <a:xfrm>
            <a:off x="11825883" y="4500563"/>
            <a:ext cx="564356"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D04C81"/>
                </a:solidFill>
                <a:latin typeface="JetBrains Mono" pitchFamily="34" charset="0"/>
                <a:ea typeface="JetBrains Mono" pitchFamily="34" charset="-122"/>
                <a:cs typeface="JetBrains Mono" pitchFamily="34" charset="-120"/>
              </a:rPr>
              <a:t>Cultura</a:t>
            </a:r>
            <a:endParaRPr lang="en-US" sz="900" dirty="0"/>
          </a:p>
        </p:txBody>
      </p:sp>
      <p:sp>
        <p:nvSpPr>
          <p:cNvPr id="53" name="Shape 49"/>
          <p:cNvSpPr/>
          <p:nvPr/>
        </p:nvSpPr>
        <p:spPr>
          <a:xfrm>
            <a:off x="14097000" y="2795588"/>
            <a:ext cx="3124200" cy="2028825"/>
          </a:xfrm>
          <a:prstGeom prst="roundRect">
            <a:avLst>
              <a:gd name="adj" fmla="val 5634"/>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54" name="Shape 50"/>
          <p:cNvSpPr/>
          <p:nvPr/>
        </p:nvSpPr>
        <p:spPr>
          <a:xfrm>
            <a:off x="14249400" y="2957513"/>
            <a:ext cx="457200" cy="457200"/>
          </a:xfrm>
          <a:prstGeom prst="ellipse">
            <a:avLst/>
          </a:prstGeom>
          <a:solidFill>
            <a:srgbClr val="FFFFFF"/>
          </a:solidFill>
          <a:ln w="19050">
            <a:solidFill>
              <a:srgbClr val="041C2C">
                <a:alpha val="15000"/>
              </a:srgbClr>
            </a:solidFill>
            <a:prstDash val="solid"/>
          </a:ln>
          <a:effectLst>
            <a:outerShdw blurRad="95250" dist="28575" dir="5400000" algn="bl" rotWithShape="0">
              <a:srgbClr val="041C2C">
                <a:alpha val="8000"/>
              </a:srgbClr>
            </a:outerShdw>
          </a:effectLst>
        </p:spPr>
        <p:txBody>
          <a:bodyPr/>
          <a:lstStyle/>
          <a:p>
            <a:endParaRPr lang="es-ES"/>
          </a:p>
        </p:txBody>
      </p:sp>
      <p:sp>
        <p:nvSpPr>
          <p:cNvPr id="55" name="Text 51"/>
          <p:cNvSpPr/>
          <p:nvPr/>
        </p:nvSpPr>
        <p:spPr>
          <a:xfrm>
            <a:off x="14230350" y="2976563"/>
            <a:ext cx="495300" cy="457200"/>
          </a:xfrm>
          <a:prstGeom prst="rect">
            <a:avLst/>
          </a:prstGeom>
          <a:noFill/>
          <a:ln/>
        </p:spPr>
        <p:txBody>
          <a:bodyPr wrap="square" lIns="25400" tIns="25400" rIns="25400" bIns="25400" rtlCol="0" anchor="ctr">
            <a:normAutofit/>
          </a:bodyPr>
          <a:lstStyle/>
          <a:p>
            <a:pPr marL="0" indent="0" algn="ctr">
              <a:buNone/>
            </a:pPr>
            <a:r>
              <a:rPr lang="en-US" sz="1575" b="1" dirty="0">
                <a:solidFill>
                  <a:srgbClr val="041C2C"/>
                </a:solidFill>
                <a:latin typeface="Barlow" pitchFamily="34" charset="0"/>
                <a:ea typeface="Barlow" pitchFamily="34" charset="-122"/>
                <a:cs typeface="Barlow" pitchFamily="34" charset="-120"/>
              </a:rPr>
              <a:t>05</a:t>
            </a:r>
            <a:endParaRPr lang="en-US" sz="1575" dirty="0"/>
          </a:p>
        </p:txBody>
      </p:sp>
      <p:sp>
        <p:nvSpPr>
          <p:cNvPr id="56" name="Text 52"/>
          <p:cNvSpPr/>
          <p:nvPr/>
        </p:nvSpPr>
        <p:spPr>
          <a:xfrm>
            <a:off x="14249400" y="3519488"/>
            <a:ext cx="310134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47" dirty="0">
                <a:solidFill>
                  <a:srgbClr val="4A6273"/>
                </a:solidFill>
                <a:latin typeface="Barlow" pitchFamily="34" charset="0"/>
                <a:ea typeface="Barlow" pitchFamily="34" charset="-122"/>
                <a:cs typeface="Barlow" pitchFamily="34" charset="-120"/>
              </a:rPr>
              <a:t>MEDIR</a:t>
            </a:r>
            <a:endParaRPr lang="en-US" sz="1050" dirty="0"/>
          </a:p>
        </p:txBody>
      </p:sp>
      <p:sp>
        <p:nvSpPr>
          <p:cNvPr id="57" name="Text 53"/>
          <p:cNvSpPr/>
          <p:nvPr/>
        </p:nvSpPr>
        <p:spPr>
          <a:xfrm>
            <a:off x="14249400" y="3709988"/>
            <a:ext cx="3101340" cy="24765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1500" b="1" dirty="0">
                <a:solidFill>
                  <a:srgbClr val="041C2C"/>
                </a:solidFill>
                <a:latin typeface="Barlow" pitchFamily="34" charset="0"/>
                <a:ea typeface="Barlow" pitchFamily="34" charset="-122"/>
                <a:cs typeface="Barlow" pitchFamily="34" charset="-120"/>
              </a:rPr>
              <a:t>Impacto sostenido</a:t>
            </a:r>
            <a:endParaRPr lang="en-US" sz="1500" dirty="0"/>
          </a:p>
        </p:txBody>
      </p:sp>
      <p:sp>
        <p:nvSpPr>
          <p:cNvPr id="58" name="Text 54"/>
          <p:cNvSpPr/>
          <p:nvPr/>
        </p:nvSpPr>
        <p:spPr>
          <a:xfrm>
            <a:off x="14249400" y="3995738"/>
            <a:ext cx="2903982" cy="409575"/>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1125" dirty="0">
                <a:solidFill>
                  <a:srgbClr val="041C2C">
                    <a:alpha val="70000"/>
                  </a:srgbClr>
                </a:solidFill>
                <a:latin typeface="Arial" pitchFamily="34" charset="0"/>
                <a:ea typeface="Arial" pitchFamily="34" charset="-122"/>
                <a:cs typeface="Arial" pitchFamily="34" charset="-120"/>
              </a:rPr>
              <a:t>KPIs conectados al proceso. Cada ciclo justifica al siguiente.</a:t>
            </a:r>
            <a:endParaRPr lang="en-US" sz="1125" dirty="0"/>
          </a:p>
        </p:txBody>
      </p:sp>
      <p:sp>
        <p:nvSpPr>
          <p:cNvPr id="59" name="Shape 55"/>
          <p:cNvSpPr/>
          <p:nvPr/>
        </p:nvSpPr>
        <p:spPr>
          <a:xfrm>
            <a:off x="14249400" y="4471988"/>
            <a:ext cx="710208" cy="209550"/>
          </a:xfrm>
          <a:prstGeom prst="roundRect">
            <a:avLst>
              <a:gd name="adj" fmla="val 50000"/>
            </a:avLst>
          </a:prstGeom>
          <a:solidFill>
            <a:srgbClr val="2F6FB0">
              <a:alpha val="12000"/>
            </a:srgbClr>
          </a:solidFill>
          <a:ln/>
        </p:spPr>
        <p:txBody>
          <a:bodyPr/>
          <a:lstStyle/>
          <a:p>
            <a:endParaRPr lang="es-ES"/>
          </a:p>
        </p:txBody>
      </p:sp>
      <p:sp>
        <p:nvSpPr>
          <p:cNvPr id="60" name="Text 56"/>
          <p:cNvSpPr/>
          <p:nvPr/>
        </p:nvSpPr>
        <p:spPr>
          <a:xfrm>
            <a:off x="14325600"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F6FB0"/>
                </a:solidFill>
                <a:latin typeface="JetBrains Mono" pitchFamily="34" charset="0"/>
                <a:ea typeface="JetBrains Mono" pitchFamily="34" charset="-122"/>
                <a:cs typeface="JetBrains Mono" pitchFamily="34" charset="-120"/>
              </a:rPr>
              <a:t>Procesos</a:t>
            </a:r>
            <a:endParaRPr lang="en-US" sz="900" dirty="0"/>
          </a:p>
        </p:txBody>
      </p:sp>
      <p:sp>
        <p:nvSpPr>
          <p:cNvPr id="61" name="Shape 57"/>
          <p:cNvSpPr/>
          <p:nvPr/>
        </p:nvSpPr>
        <p:spPr>
          <a:xfrm>
            <a:off x="15007233" y="4471988"/>
            <a:ext cx="710208" cy="209550"/>
          </a:xfrm>
          <a:prstGeom prst="roundRect">
            <a:avLst>
              <a:gd name="adj" fmla="val 50000"/>
            </a:avLst>
          </a:prstGeom>
          <a:solidFill>
            <a:srgbClr val="2EA66A">
              <a:alpha val="14000"/>
            </a:srgbClr>
          </a:solidFill>
          <a:ln/>
        </p:spPr>
        <p:txBody>
          <a:bodyPr/>
          <a:lstStyle/>
          <a:p>
            <a:endParaRPr lang="es-ES"/>
          </a:p>
        </p:txBody>
      </p:sp>
      <p:sp>
        <p:nvSpPr>
          <p:cNvPr id="62" name="Text 58"/>
          <p:cNvSpPr/>
          <p:nvPr/>
        </p:nvSpPr>
        <p:spPr>
          <a:xfrm>
            <a:off x="15083433" y="4500563"/>
            <a:ext cx="634008" cy="190500"/>
          </a:xfrm>
          <a:prstGeom prst="rect">
            <a:avLst/>
          </a:prstGeom>
          <a:noFill/>
          <a:ln/>
        </p:spPr>
        <p:txBody>
          <a:bodyPr wrap="square" lIns="25400" tIns="25400" rIns="25400" bIns="25400" rtlCol="0" anchor="t">
            <a:normAutofit/>
          </a:bodyPr>
          <a:lstStyle/>
          <a:p>
            <a:pPr marL="0" indent="0" algn="l">
              <a:buNone/>
            </a:pPr>
            <a:r>
              <a:rPr lang="en-US" sz="900" b="1" kern="0" spc="9" dirty="0">
                <a:solidFill>
                  <a:srgbClr val="2EA66A"/>
                </a:solidFill>
                <a:latin typeface="JetBrains Mono" pitchFamily="34" charset="0"/>
                <a:ea typeface="JetBrains Mono" pitchFamily="34" charset="-122"/>
                <a:cs typeface="JetBrains Mono" pitchFamily="34" charset="-120"/>
              </a:rPr>
              <a:t>Personas</a:t>
            </a:r>
            <a:endParaRPr lang="en-US" sz="900" dirty="0"/>
          </a:p>
        </p:txBody>
      </p:sp>
      <p:pic>
        <p:nvPicPr>
          <p:cNvPr id="63"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6800" y="5033963"/>
            <a:ext cx="16154400" cy="609600"/>
          </a:xfrm>
          <a:prstGeom prst="rect">
            <a:avLst/>
          </a:prstGeom>
        </p:spPr>
      </p:pic>
      <p:sp>
        <p:nvSpPr>
          <p:cNvPr id="64" name="Shape 59"/>
          <p:cNvSpPr/>
          <p:nvPr/>
        </p:nvSpPr>
        <p:spPr>
          <a:xfrm>
            <a:off x="7266310" y="5053013"/>
            <a:ext cx="3755380" cy="247650"/>
          </a:xfrm>
          <a:prstGeom prst="roundRect">
            <a:avLst>
              <a:gd name="adj" fmla="val 50000"/>
            </a:avLst>
          </a:prstGeom>
          <a:solidFill>
            <a:srgbClr val="FFFFFF"/>
          </a:solidFill>
          <a:ln/>
        </p:spPr>
        <p:txBody>
          <a:bodyPr/>
          <a:lstStyle/>
          <a:p>
            <a:endParaRPr lang="es-ES"/>
          </a:p>
        </p:txBody>
      </p:sp>
      <p:sp>
        <p:nvSpPr>
          <p:cNvPr id="65" name="Text 60"/>
          <p:cNvSpPr/>
          <p:nvPr/>
        </p:nvSpPr>
        <p:spPr>
          <a:xfrm>
            <a:off x="7409185" y="5081588"/>
            <a:ext cx="3582291" cy="228600"/>
          </a:xfrm>
          <a:prstGeom prst="rect">
            <a:avLst/>
          </a:prstGeom>
          <a:noFill/>
          <a:ln/>
        </p:spPr>
        <p:txBody>
          <a:bodyPr wrap="none" lIns="25400" tIns="25400" rIns="25400" bIns="25400" rtlCol="0" anchor="t">
            <a:normAutofit/>
          </a:bodyPr>
          <a:lstStyle/>
          <a:p>
            <a:pPr marL="0" indent="0" algn="l">
              <a:buNone/>
            </a:pPr>
            <a:r>
              <a:rPr lang="en-US" sz="1125" b="1" kern="0" spc="45" dirty="0">
                <a:solidFill>
                  <a:srgbClr val="FE5000"/>
                </a:solidFill>
                <a:highlight>
                  <a:srgbClr val="FFFFFF"/>
                </a:highlight>
                <a:latin typeface="Barlow" pitchFamily="34" charset="0"/>
                <a:ea typeface="Barlow" pitchFamily="34" charset="-122"/>
                <a:cs typeface="Barlow" pitchFamily="34" charset="-120"/>
              </a:rPr>
              <a:t>↻ MEJORA CONTINUA </a:t>
            </a:r>
            <a:r>
              <a:rPr lang="en-US" sz="1125" kern="0" spc="45" dirty="0">
                <a:solidFill>
                  <a:srgbClr val="4A6273"/>
                </a:solidFill>
                <a:latin typeface="Barlow" pitchFamily="34" charset="0"/>
                <a:ea typeface="Barlow" pitchFamily="34" charset="-122"/>
                <a:cs typeface="Barlow" pitchFamily="34" charset="-120"/>
              </a:rPr>
              <a:t>· del As-Is al impacto medido</a:t>
            </a:r>
            <a:endParaRPr lang="en-US" sz="1125" dirty="0"/>
          </a:p>
        </p:txBody>
      </p:sp>
      <p:sp>
        <p:nvSpPr>
          <p:cNvPr id="66" name="Shape 61"/>
          <p:cNvSpPr/>
          <p:nvPr/>
        </p:nvSpPr>
        <p:spPr>
          <a:xfrm>
            <a:off x="1066800" y="5910263"/>
            <a:ext cx="16154400" cy="2106811"/>
          </a:xfrm>
          <a:prstGeom prst="roundRect">
            <a:avLst>
              <a:gd name="adj" fmla="val 7234"/>
            </a:avLst>
          </a:prstGeom>
          <a:solidFill>
            <a:srgbClr val="FFFFFF">
              <a:alpha val="70000"/>
            </a:srgbClr>
          </a:solidFill>
          <a:ln w="9525">
            <a:solidFill>
              <a:srgbClr val="C8D2DA"/>
            </a:solidFill>
            <a:prstDash val="solid"/>
          </a:ln>
        </p:spPr>
        <p:txBody>
          <a:bodyPr/>
          <a:lstStyle/>
          <a:p>
            <a:endParaRPr lang="es-ES"/>
          </a:p>
        </p:txBody>
      </p:sp>
      <p:sp>
        <p:nvSpPr>
          <p:cNvPr id="67" name="Text 62"/>
          <p:cNvSpPr/>
          <p:nvPr/>
        </p:nvSpPr>
        <p:spPr>
          <a:xfrm>
            <a:off x="1323975" y="6091238"/>
            <a:ext cx="17204055" cy="300930"/>
          </a:xfrm>
          <a:prstGeom prst="rect">
            <a:avLst/>
          </a:prstGeom>
          <a:noFill/>
          <a:ln/>
        </p:spPr>
        <p:txBody>
          <a:bodyPr wrap="square" lIns="25400" tIns="25400" rIns="25400" bIns="25400" rtlCol="0" anchor="t">
            <a:normAutofit lnSpcReduction="10000"/>
          </a:bodyPr>
          <a:lstStyle/>
          <a:p>
            <a:pPr marL="0" indent="0" algn="l">
              <a:lnSpc>
                <a:spcPct val="98571"/>
              </a:lnSpc>
              <a:buNone/>
            </a:pPr>
            <a:r>
              <a:rPr lang="en-US" sz="1725" b="1" dirty="0">
                <a:solidFill>
                  <a:srgbClr val="041C2C"/>
                </a:solidFill>
                <a:latin typeface="Barlow" pitchFamily="34" charset="0"/>
                <a:ea typeface="Barlow" pitchFamily="34" charset="-122"/>
                <a:cs typeface="Barlow" pitchFamily="34" charset="-120"/>
              </a:rPr>
              <a:t>El método no te frena. </a:t>
            </a:r>
            <a:r>
              <a:rPr lang="en-US" sz="1725" b="1" dirty="0">
                <a:solidFill>
                  <a:srgbClr val="FE5000"/>
                </a:solidFill>
                <a:latin typeface="Barlow" pitchFamily="34" charset="0"/>
                <a:ea typeface="Barlow" pitchFamily="34" charset="-122"/>
                <a:cs typeface="Barlow" pitchFamily="34" charset="-120"/>
              </a:rPr>
              <a:t>Te pone railes para ir más rápido sin romper nada.</a:t>
            </a:r>
            <a:endParaRPr lang="en-US" sz="1725" dirty="0"/>
          </a:p>
        </p:txBody>
      </p:sp>
      <p:sp>
        <p:nvSpPr>
          <p:cNvPr id="68" name="Text 63"/>
          <p:cNvSpPr/>
          <p:nvPr/>
        </p:nvSpPr>
        <p:spPr>
          <a:xfrm>
            <a:off x="1323975" y="6420743"/>
            <a:ext cx="17204055" cy="243780"/>
          </a:xfrm>
          <a:prstGeom prst="rect">
            <a:avLst/>
          </a:prstGeom>
          <a:noFill/>
          <a:ln/>
        </p:spPr>
        <p:txBody>
          <a:bodyPr wrap="square" lIns="25400" tIns="25400" rIns="25400" bIns="25400" rtlCol="0" anchor="t">
            <a:normAutofit lnSpcReduction="10000"/>
          </a:bodyPr>
          <a:lstStyle/>
          <a:p>
            <a:pPr marL="0" indent="0" algn="l">
              <a:lnSpc>
                <a:spcPct val="113684"/>
              </a:lnSpc>
              <a:buNone/>
            </a:pPr>
            <a:r>
              <a:rPr lang="en-US" sz="1200" dirty="0">
                <a:solidFill>
                  <a:srgbClr val="4A6273"/>
                </a:solidFill>
                <a:latin typeface="Roboto" pitchFamily="34" charset="0"/>
                <a:ea typeface="Roboto" pitchFamily="34" charset="-122"/>
                <a:cs typeface="Roboto" pitchFamily="34" charset="-120"/>
              </a:rPr>
              <a:t>Y cada raíl lo opera una </a:t>
            </a:r>
            <a:r>
              <a:rPr lang="en-US" sz="1200" b="1" dirty="0">
                <a:solidFill>
                  <a:srgbClr val="041C2C"/>
                </a:solidFill>
                <a:latin typeface="Roboto" pitchFamily="34" charset="0"/>
                <a:ea typeface="Roboto" pitchFamily="34" charset="-122"/>
                <a:cs typeface="Roboto" pitchFamily="34" charset="-120"/>
              </a:rPr>
              <a:t>oficina con nombre </a:t>
            </a:r>
            <a:r>
              <a:rPr lang="en-US" sz="1200" dirty="0">
                <a:solidFill>
                  <a:srgbClr val="4A6273"/>
                </a:solidFill>
                <a:latin typeface="Roboto" pitchFamily="34" charset="0"/>
                <a:ea typeface="Roboto" pitchFamily="34" charset="-122"/>
                <a:cs typeface="Roboto" pitchFamily="34" charset="-120"/>
              </a:rPr>
              <a:t>dentro de tu organización — capacidad instalada, no una promesa.</a:t>
            </a:r>
            <a:endParaRPr lang="en-US" sz="1200" dirty="0"/>
          </a:p>
        </p:txBody>
      </p:sp>
      <p:sp>
        <p:nvSpPr>
          <p:cNvPr id="69" name="Shape 64"/>
          <p:cNvSpPr/>
          <p:nvPr/>
        </p:nvSpPr>
        <p:spPr>
          <a:xfrm>
            <a:off x="1323975" y="6855023"/>
            <a:ext cx="104775" cy="104775"/>
          </a:xfrm>
          <a:prstGeom prst="ellipse">
            <a:avLst/>
          </a:prstGeom>
          <a:solidFill>
            <a:srgbClr val="FE5000"/>
          </a:solidFill>
          <a:ln/>
        </p:spPr>
        <p:txBody>
          <a:bodyPr/>
          <a:lstStyle/>
          <a:p>
            <a:endParaRPr lang="es-ES"/>
          </a:p>
        </p:txBody>
      </p:sp>
      <p:sp>
        <p:nvSpPr>
          <p:cNvPr id="70" name="Text 65"/>
          <p:cNvSpPr/>
          <p:nvPr/>
        </p:nvSpPr>
        <p:spPr>
          <a:xfrm>
            <a:off x="1562100" y="6788348"/>
            <a:ext cx="1571625" cy="276225"/>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041C2C"/>
                </a:solidFill>
                <a:latin typeface="Barlow" pitchFamily="34" charset="0"/>
                <a:ea typeface="Barlow" pitchFamily="34" charset="-122"/>
                <a:cs typeface="Barlow" pitchFamily="34" charset="-120"/>
              </a:rPr>
              <a:t>Gobierno</a:t>
            </a:r>
            <a:endParaRPr lang="en-US" sz="1575" dirty="0"/>
          </a:p>
        </p:txBody>
      </p:sp>
      <p:sp>
        <p:nvSpPr>
          <p:cNvPr id="71" name="Shape 66"/>
          <p:cNvSpPr/>
          <p:nvPr/>
        </p:nvSpPr>
        <p:spPr>
          <a:xfrm>
            <a:off x="3124200" y="6759773"/>
            <a:ext cx="1951137" cy="295275"/>
          </a:xfrm>
          <a:prstGeom prst="roundRect">
            <a:avLst>
              <a:gd name="adj" fmla="val 19355"/>
            </a:avLst>
          </a:prstGeom>
          <a:solidFill>
            <a:srgbClr val="FE5000">
              <a:alpha val="12000"/>
            </a:srgbClr>
          </a:solidFill>
          <a:ln/>
        </p:spPr>
        <p:txBody>
          <a:bodyPr/>
          <a:lstStyle/>
          <a:p>
            <a:endParaRPr lang="es-ES"/>
          </a:p>
        </p:txBody>
      </p:sp>
      <p:sp>
        <p:nvSpPr>
          <p:cNvPr id="72" name="Text 67"/>
          <p:cNvSpPr/>
          <p:nvPr/>
        </p:nvSpPr>
        <p:spPr>
          <a:xfrm>
            <a:off x="3257550" y="6816923"/>
            <a:ext cx="1760637" cy="219075"/>
          </a:xfrm>
          <a:prstGeom prst="rect">
            <a:avLst/>
          </a:prstGeom>
          <a:noFill/>
          <a:ln/>
        </p:spPr>
        <p:txBody>
          <a:bodyPr wrap="square" lIns="25400" tIns="25400" rIns="25400" bIns="25400" rtlCol="0" anchor="t">
            <a:normAutofit lnSpcReduction="10000"/>
          </a:bodyPr>
          <a:lstStyle/>
          <a:p>
            <a:pPr marL="0" indent="0" algn="l">
              <a:buNone/>
            </a:pPr>
            <a:r>
              <a:rPr lang="en-US" sz="1200" b="1" kern="0" spc="84" dirty="0">
                <a:solidFill>
                  <a:srgbClr val="FE5000"/>
                </a:solidFill>
                <a:latin typeface="Barlow" pitchFamily="34" charset="0"/>
                <a:ea typeface="Barlow" pitchFamily="34" charset="-122"/>
                <a:cs typeface="Barlow" pitchFamily="34" charset="-120"/>
              </a:rPr>
              <a:t>DECISION LOG ACTIVO</a:t>
            </a:r>
            <a:endParaRPr lang="en-US" sz="1200" dirty="0"/>
          </a:p>
        </p:txBody>
      </p:sp>
      <p:sp>
        <p:nvSpPr>
          <p:cNvPr id="73" name="Shape 68"/>
          <p:cNvSpPr/>
          <p:nvPr/>
        </p:nvSpPr>
        <p:spPr>
          <a:xfrm>
            <a:off x="5208687" y="6774061"/>
            <a:ext cx="953691" cy="266700"/>
          </a:xfrm>
          <a:prstGeom prst="roundRect">
            <a:avLst>
              <a:gd name="adj" fmla="val 50000"/>
            </a:avLst>
          </a:prstGeom>
          <a:ln w="9525">
            <a:solidFill>
              <a:srgbClr val="FE5000">
                <a:alpha val="45000"/>
              </a:srgbClr>
            </a:solidFill>
            <a:prstDash val="solid"/>
          </a:ln>
        </p:spPr>
        <p:txBody>
          <a:bodyPr/>
          <a:lstStyle/>
          <a:p>
            <a:endParaRPr lang="es-ES"/>
          </a:p>
        </p:txBody>
      </p:sp>
      <p:sp>
        <p:nvSpPr>
          <p:cNvPr id="74" name="Text 69"/>
          <p:cNvSpPr/>
          <p:nvPr/>
        </p:nvSpPr>
        <p:spPr>
          <a:xfrm>
            <a:off x="5332512" y="6821686"/>
            <a:ext cx="782241"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FE5000"/>
                </a:solidFill>
                <a:latin typeface="JetBrains Mono" pitchFamily="34" charset="0"/>
                <a:ea typeface="JetBrains Mono" pitchFamily="34" charset="-122"/>
                <a:cs typeface="JetBrains Mono" pitchFamily="34" charset="-120"/>
              </a:rPr>
              <a:t>PMO / SMO</a:t>
            </a:r>
            <a:endParaRPr lang="en-US" sz="1013" dirty="0"/>
          </a:p>
        </p:txBody>
      </p:sp>
      <p:sp>
        <p:nvSpPr>
          <p:cNvPr id="75" name="Shape 70"/>
          <p:cNvSpPr/>
          <p:nvPr/>
        </p:nvSpPr>
        <p:spPr>
          <a:xfrm>
            <a:off x="6238577" y="6774061"/>
            <a:ext cx="1581150" cy="266700"/>
          </a:xfrm>
          <a:prstGeom prst="roundRect">
            <a:avLst>
              <a:gd name="adj" fmla="val 50000"/>
            </a:avLst>
          </a:prstGeom>
          <a:ln w="9525">
            <a:solidFill>
              <a:srgbClr val="FE5000">
                <a:alpha val="45000"/>
              </a:srgbClr>
            </a:solidFill>
            <a:prstDash val="solid"/>
          </a:ln>
        </p:spPr>
        <p:txBody>
          <a:bodyPr/>
          <a:lstStyle/>
          <a:p>
            <a:endParaRPr lang="es-ES"/>
          </a:p>
        </p:txBody>
      </p:sp>
      <p:sp>
        <p:nvSpPr>
          <p:cNvPr id="76" name="Text 71"/>
          <p:cNvSpPr/>
          <p:nvPr/>
        </p:nvSpPr>
        <p:spPr>
          <a:xfrm>
            <a:off x="6362402" y="6821686"/>
            <a:ext cx="1409700"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FE5000"/>
                </a:solidFill>
                <a:latin typeface="JetBrains Mono" pitchFamily="34" charset="0"/>
                <a:ea typeface="JetBrains Mono" pitchFamily="34" charset="-122"/>
                <a:cs typeface="JetBrains Mono" pitchFamily="34" charset="-120"/>
              </a:rPr>
              <a:t>Auditoría interna</a:t>
            </a:r>
            <a:endParaRPr lang="en-US" sz="1013" dirty="0"/>
          </a:p>
        </p:txBody>
      </p:sp>
      <p:sp>
        <p:nvSpPr>
          <p:cNvPr id="77" name="Shape 72"/>
          <p:cNvSpPr/>
          <p:nvPr/>
        </p:nvSpPr>
        <p:spPr>
          <a:xfrm>
            <a:off x="7895927" y="6774061"/>
            <a:ext cx="1188988" cy="266700"/>
          </a:xfrm>
          <a:prstGeom prst="roundRect">
            <a:avLst>
              <a:gd name="adj" fmla="val 50000"/>
            </a:avLst>
          </a:prstGeom>
          <a:ln w="9525">
            <a:solidFill>
              <a:srgbClr val="FE5000">
                <a:alpha val="45000"/>
              </a:srgbClr>
            </a:solidFill>
            <a:prstDash val="solid"/>
          </a:ln>
        </p:spPr>
        <p:txBody>
          <a:bodyPr/>
          <a:lstStyle/>
          <a:p>
            <a:endParaRPr lang="es-ES"/>
          </a:p>
        </p:txBody>
      </p:sp>
      <p:sp>
        <p:nvSpPr>
          <p:cNvPr id="78" name="Text 73"/>
          <p:cNvSpPr/>
          <p:nvPr/>
        </p:nvSpPr>
        <p:spPr>
          <a:xfrm>
            <a:off x="8019752" y="6821686"/>
            <a:ext cx="1017538"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FE5000"/>
                </a:solidFill>
                <a:latin typeface="JetBrains Mono" pitchFamily="34" charset="0"/>
                <a:ea typeface="JetBrains Mono" pitchFamily="34" charset="-122"/>
                <a:cs typeface="JetBrains Mono" pitchFamily="34" charset="-120"/>
              </a:rPr>
              <a:t>Arquitectura</a:t>
            </a:r>
            <a:endParaRPr lang="en-US" sz="1013" dirty="0"/>
          </a:p>
        </p:txBody>
      </p:sp>
      <p:sp>
        <p:nvSpPr>
          <p:cNvPr id="79" name="Shape 74"/>
          <p:cNvSpPr/>
          <p:nvPr/>
        </p:nvSpPr>
        <p:spPr>
          <a:xfrm>
            <a:off x="9218265" y="6893123"/>
            <a:ext cx="7745760" cy="28575"/>
          </a:xfrm>
          <a:prstGeom prst="roundRect">
            <a:avLst>
              <a:gd name="adj" fmla="val 50000"/>
            </a:avLst>
          </a:prstGeom>
          <a:solidFill>
            <a:srgbClr val="FE5000">
              <a:alpha val="45000"/>
            </a:srgbClr>
          </a:solidFill>
          <a:ln/>
        </p:spPr>
        <p:txBody>
          <a:bodyPr/>
          <a:lstStyle/>
          <a:p>
            <a:endParaRPr lang="es-ES"/>
          </a:p>
        </p:txBody>
      </p:sp>
      <p:sp>
        <p:nvSpPr>
          <p:cNvPr id="80" name="Shape 75"/>
          <p:cNvSpPr/>
          <p:nvPr/>
        </p:nvSpPr>
        <p:spPr>
          <a:xfrm>
            <a:off x="1323975" y="7245548"/>
            <a:ext cx="104775" cy="104775"/>
          </a:xfrm>
          <a:prstGeom prst="ellipse">
            <a:avLst/>
          </a:prstGeom>
          <a:solidFill>
            <a:srgbClr val="855AC6"/>
          </a:solidFill>
          <a:ln/>
        </p:spPr>
        <p:txBody>
          <a:bodyPr/>
          <a:lstStyle/>
          <a:p>
            <a:endParaRPr lang="es-ES"/>
          </a:p>
        </p:txBody>
      </p:sp>
      <p:sp>
        <p:nvSpPr>
          <p:cNvPr id="81" name="Text 76"/>
          <p:cNvSpPr/>
          <p:nvPr/>
        </p:nvSpPr>
        <p:spPr>
          <a:xfrm>
            <a:off x="1562100" y="7178873"/>
            <a:ext cx="1571625" cy="276225"/>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041C2C"/>
                </a:solidFill>
                <a:latin typeface="Barlow" pitchFamily="34" charset="0"/>
                <a:ea typeface="Barlow" pitchFamily="34" charset="-122"/>
                <a:cs typeface="Barlow" pitchFamily="34" charset="-120"/>
              </a:rPr>
              <a:t>Seguridad</a:t>
            </a:r>
            <a:endParaRPr lang="en-US" sz="1575" dirty="0"/>
          </a:p>
        </p:txBody>
      </p:sp>
      <p:sp>
        <p:nvSpPr>
          <p:cNvPr id="82" name="Shape 77"/>
          <p:cNvSpPr/>
          <p:nvPr/>
        </p:nvSpPr>
        <p:spPr>
          <a:xfrm>
            <a:off x="3124200" y="7150298"/>
            <a:ext cx="2348210" cy="295275"/>
          </a:xfrm>
          <a:prstGeom prst="roundRect">
            <a:avLst>
              <a:gd name="adj" fmla="val 19355"/>
            </a:avLst>
          </a:prstGeom>
          <a:solidFill>
            <a:srgbClr val="855AC6">
              <a:alpha val="12000"/>
            </a:srgbClr>
          </a:solidFill>
          <a:ln/>
        </p:spPr>
        <p:txBody>
          <a:bodyPr/>
          <a:lstStyle/>
          <a:p>
            <a:endParaRPr lang="es-ES"/>
          </a:p>
        </p:txBody>
      </p:sp>
      <p:sp>
        <p:nvSpPr>
          <p:cNvPr id="83" name="Text 78"/>
          <p:cNvSpPr/>
          <p:nvPr/>
        </p:nvSpPr>
        <p:spPr>
          <a:xfrm>
            <a:off x="3257550" y="7207448"/>
            <a:ext cx="2157710" cy="219075"/>
          </a:xfrm>
          <a:prstGeom prst="rect">
            <a:avLst/>
          </a:prstGeom>
          <a:noFill/>
          <a:ln/>
        </p:spPr>
        <p:txBody>
          <a:bodyPr wrap="square" lIns="25400" tIns="25400" rIns="25400" bIns="25400" rtlCol="0" anchor="t">
            <a:normAutofit lnSpcReduction="10000"/>
          </a:bodyPr>
          <a:lstStyle/>
          <a:p>
            <a:pPr marL="0" indent="0" algn="l">
              <a:buNone/>
            </a:pPr>
            <a:r>
              <a:rPr lang="en-US" sz="1200" b="1" kern="0" spc="84" dirty="0">
                <a:solidFill>
                  <a:srgbClr val="855AC6"/>
                </a:solidFill>
                <a:latin typeface="Barlow" pitchFamily="34" charset="0"/>
                <a:ea typeface="Barlow" pitchFamily="34" charset="-122"/>
                <a:cs typeface="Barlow" pitchFamily="34" charset="-120"/>
              </a:rPr>
              <a:t>ZERO-TRUST POR DEFECTO</a:t>
            </a:r>
            <a:endParaRPr lang="en-US" sz="1200" dirty="0"/>
          </a:p>
        </p:txBody>
      </p:sp>
      <p:sp>
        <p:nvSpPr>
          <p:cNvPr id="84" name="Shape 79"/>
          <p:cNvSpPr/>
          <p:nvPr/>
        </p:nvSpPr>
        <p:spPr>
          <a:xfrm>
            <a:off x="5605760" y="7164586"/>
            <a:ext cx="1267420" cy="266700"/>
          </a:xfrm>
          <a:prstGeom prst="roundRect">
            <a:avLst>
              <a:gd name="adj" fmla="val 50000"/>
            </a:avLst>
          </a:prstGeom>
          <a:ln w="9525">
            <a:solidFill>
              <a:srgbClr val="855AC6">
                <a:alpha val="50000"/>
              </a:srgbClr>
            </a:solidFill>
            <a:prstDash val="solid"/>
          </a:ln>
        </p:spPr>
        <p:txBody>
          <a:bodyPr/>
          <a:lstStyle/>
          <a:p>
            <a:endParaRPr lang="es-ES"/>
          </a:p>
        </p:txBody>
      </p:sp>
      <p:sp>
        <p:nvSpPr>
          <p:cNvPr id="85" name="Text 80"/>
          <p:cNvSpPr/>
          <p:nvPr/>
        </p:nvSpPr>
        <p:spPr>
          <a:xfrm>
            <a:off x="5729585" y="7212211"/>
            <a:ext cx="1095970"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855AC6"/>
                </a:solidFill>
                <a:latin typeface="JetBrains Mono" pitchFamily="34" charset="0"/>
                <a:ea typeface="JetBrains Mono" pitchFamily="34" charset="-122"/>
                <a:cs typeface="JetBrains Mono" pitchFamily="34" charset="-120"/>
              </a:rPr>
              <a:t>Apoyo al CISO</a:t>
            </a:r>
            <a:endParaRPr lang="en-US" sz="1013" dirty="0"/>
          </a:p>
        </p:txBody>
      </p:sp>
      <p:sp>
        <p:nvSpPr>
          <p:cNvPr id="86" name="Shape 81"/>
          <p:cNvSpPr/>
          <p:nvPr/>
        </p:nvSpPr>
        <p:spPr>
          <a:xfrm>
            <a:off x="6949380" y="7164586"/>
            <a:ext cx="1973312" cy="266700"/>
          </a:xfrm>
          <a:prstGeom prst="roundRect">
            <a:avLst>
              <a:gd name="adj" fmla="val 50000"/>
            </a:avLst>
          </a:prstGeom>
          <a:ln w="9525">
            <a:solidFill>
              <a:srgbClr val="855AC6">
                <a:alpha val="50000"/>
              </a:srgbClr>
            </a:solidFill>
            <a:prstDash val="solid"/>
          </a:ln>
        </p:spPr>
        <p:txBody>
          <a:bodyPr/>
          <a:lstStyle/>
          <a:p>
            <a:endParaRPr lang="es-ES"/>
          </a:p>
        </p:txBody>
      </p:sp>
      <p:sp>
        <p:nvSpPr>
          <p:cNvPr id="87" name="Text 82"/>
          <p:cNvSpPr/>
          <p:nvPr/>
        </p:nvSpPr>
        <p:spPr>
          <a:xfrm>
            <a:off x="7073205" y="7212211"/>
            <a:ext cx="1801862"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855AC6"/>
                </a:solidFill>
                <a:latin typeface="JetBrains Mono" pitchFamily="34" charset="0"/>
                <a:ea typeface="JetBrains Mono" pitchFamily="34" charset="-122"/>
                <a:cs typeface="JetBrains Mono" pitchFamily="34" charset="-120"/>
              </a:rPr>
              <a:t>Cumplimiento normativo</a:t>
            </a:r>
            <a:endParaRPr lang="en-US" sz="1013" dirty="0"/>
          </a:p>
        </p:txBody>
      </p:sp>
      <p:sp>
        <p:nvSpPr>
          <p:cNvPr id="88" name="Shape 83"/>
          <p:cNvSpPr/>
          <p:nvPr/>
        </p:nvSpPr>
        <p:spPr>
          <a:xfrm>
            <a:off x="9056043" y="7283648"/>
            <a:ext cx="7907982" cy="28575"/>
          </a:xfrm>
          <a:prstGeom prst="roundRect">
            <a:avLst>
              <a:gd name="adj" fmla="val 50000"/>
            </a:avLst>
          </a:prstGeom>
          <a:solidFill>
            <a:srgbClr val="855AC6">
              <a:alpha val="45000"/>
            </a:srgbClr>
          </a:solidFill>
          <a:ln/>
        </p:spPr>
        <p:txBody>
          <a:bodyPr/>
          <a:lstStyle/>
          <a:p>
            <a:endParaRPr lang="es-ES"/>
          </a:p>
        </p:txBody>
      </p:sp>
      <p:sp>
        <p:nvSpPr>
          <p:cNvPr id="89" name="Shape 84"/>
          <p:cNvSpPr/>
          <p:nvPr/>
        </p:nvSpPr>
        <p:spPr>
          <a:xfrm>
            <a:off x="1323975" y="7636073"/>
            <a:ext cx="104775" cy="104775"/>
          </a:xfrm>
          <a:prstGeom prst="ellipse">
            <a:avLst/>
          </a:prstGeom>
          <a:solidFill>
            <a:srgbClr val="041C2C"/>
          </a:solidFill>
          <a:ln/>
        </p:spPr>
        <p:txBody>
          <a:bodyPr/>
          <a:lstStyle/>
          <a:p>
            <a:endParaRPr lang="es-ES"/>
          </a:p>
        </p:txBody>
      </p:sp>
      <p:sp>
        <p:nvSpPr>
          <p:cNvPr id="90" name="Text 85"/>
          <p:cNvSpPr/>
          <p:nvPr/>
        </p:nvSpPr>
        <p:spPr>
          <a:xfrm>
            <a:off x="1562100" y="7569398"/>
            <a:ext cx="1571625" cy="276225"/>
          </a:xfrm>
          <a:prstGeom prst="rect">
            <a:avLst/>
          </a:prstGeom>
          <a:noFill/>
          <a:ln/>
        </p:spPr>
        <p:txBody>
          <a:bodyPr wrap="square" lIns="25400" tIns="25400" rIns="25400" bIns="25400" rtlCol="0" anchor="t">
            <a:normAutofit lnSpcReduction="10000"/>
          </a:bodyPr>
          <a:lstStyle/>
          <a:p>
            <a:pPr marL="0" indent="0" algn="l">
              <a:buNone/>
            </a:pPr>
            <a:r>
              <a:rPr lang="en-US" sz="1575" b="1" dirty="0">
                <a:solidFill>
                  <a:srgbClr val="041C2C"/>
                </a:solidFill>
                <a:latin typeface="Barlow" pitchFamily="34" charset="0"/>
                <a:ea typeface="Barlow" pitchFamily="34" charset="-122"/>
                <a:cs typeface="Barlow" pitchFamily="34" charset="-120"/>
              </a:rPr>
              <a:t>Operación</a:t>
            </a:r>
            <a:endParaRPr lang="en-US" sz="1575" dirty="0"/>
          </a:p>
        </p:txBody>
      </p:sp>
      <p:sp>
        <p:nvSpPr>
          <p:cNvPr id="91" name="Shape 86"/>
          <p:cNvSpPr/>
          <p:nvPr/>
        </p:nvSpPr>
        <p:spPr>
          <a:xfrm>
            <a:off x="3124200" y="7540823"/>
            <a:ext cx="1897559" cy="295275"/>
          </a:xfrm>
          <a:prstGeom prst="roundRect">
            <a:avLst>
              <a:gd name="adj" fmla="val 19355"/>
            </a:avLst>
          </a:prstGeom>
          <a:solidFill>
            <a:srgbClr val="041C2C">
              <a:alpha val="10000"/>
            </a:srgbClr>
          </a:solidFill>
          <a:ln/>
        </p:spPr>
        <p:txBody>
          <a:bodyPr/>
          <a:lstStyle/>
          <a:p>
            <a:endParaRPr lang="es-ES"/>
          </a:p>
        </p:txBody>
      </p:sp>
      <p:sp>
        <p:nvSpPr>
          <p:cNvPr id="92" name="Text 87"/>
          <p:cNvSpPr/>
          <p:nvPr/>
        </p:nvSpPr>
        <p:spPr>
          <a:xfrm>
            <a:off x="3257550" y="7597973"/>
            <a:ext cx="1707059" cy="219075"/>
          </a:xfrm>
          <a:prstGeom prst="rect">
            <a:avLst/>
          </a:prstGeom>
          <a:noFill/>
          <a:ln/>
        </p:spPr>
        <p:txBody>
          <a:bodyPr wrap="square" lIns="25400" tIns="25400" rIns="25400" bIns="25400" rtlCol="0" anchor="t">
            <a:normAutofit lnSpcReduction="10000"/>
          </a:bodyPr>
          <a:lstStyle/>
          <a:p>
            <a:pPr marL="0" indent="0" algn="l">
              <a:buNone/>
            </a:pPr>
            <a:r>
              <a:rPr lang="en-US" sz="1200" b="1" kern="0" spc="84" dirty="0">
                <a:solidFill>
                  <a:srgbClr val="041C2C"/>
                </a:solidFill>
                <a:latin typeface="Barlow" pitchFamily="34" charset="0"/>
                <a:ea typeface="Barlow" pitchFamily="34" charset="-122"/>
                <a:cs typeface="Barlow" pitchFamily="34" charset="-120"/>
              </a:rPr>
              <a:t>HANDOVER GRADUAL</a:t>
            </a:r>
            <a:endParaRPr lang="en-US" sz="1200" dirty="0"/>
          </a:p>
        </p:txBody>
      </p:sp>
      <p:sp>
        <p:nvSpPr>
          <p:cNvPr id="93" name="Shape 88"/>
          <p:cNvSpPr/>
          <p:nvPr/>
        </p:nvSpPr>
        <p:spPr>
          <a:xfrm>
            <a:off x="5155109" y="7555111"/>
            <a:ext cx="639961" cy="266700"/>
          </a:xfrm>
          <a:prstGeom prst="roundRect">
            <a:avLst>
              <a:gd name="adj" fmla="val 50000"/>
            </a:avLst>
          </a:prstGeom>
          <a:ln w="9525">
            <a:solidFill>
              <a:srgbClr val="041C2C">
                <a:alpha val="28000"/>
              </a:srgbClr>
            </a:solidFill>
            <a:prstDash val="solid"/>
          </a:ln>
        </p:spPr>
        <p:txBody>
          <a:bodyPr/>
          <a:lstStyle/>
          <a:p>
            <a:endParaRPr lang="es-ES"/>
          </a:p>
        </p:txBody>
      </p:sp>
      <p:sp>
        <p:nvSpPr>
          <p:cNvPr id="94" name="Text 89"/>
          <p:cNvSpPr/>
          <p:nvPr/>
        </p:nvSpPr>
        <p:spPr>
          <a:xfrm>
            <a:off x="5278934" y="7602736"/>
            <a:ext cx="468511"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041C2C"/>
                </a:solidFill>
                <a:latin typeface="JetBrains Mono" pitchFamily="34" charset="0"/>
                <a:ea typeface="JetBrains Mono" pitchFamily="34" charset="-122"/>
                <a:cs typeface="JetBrains Mono" pitchFamily="34" charset="-120"/>
              </a:rPr>
              <a:t>Agile</a:t>
            </a:r>
            <a:endParaRPr lang="en-US" sz="1013" dirty="0"/>
          </a:p>
        </p:txBody>
      </p:sp>
      <p:sp>
        <p:nvSpPr>
          <p:cNvPr id="95" name="Shape 90"/>
          <p:cNvSpPr/>
          <p:nvPr/>
        </p:nvSpPr>
        <p:spPr>
          <a:xfrm>
            <a:off x="5871270" y="7555111"/>
            <a:ext cx="1267420" cy="266700"/>
          </a:xfrm>
          <a:prstGeom prst="roundRect">
            <a:avLst>
              <a:gd name="adj" fmla="val 50000"/>
            </a:avLst>
          </a:prstGeom>
          <a:ln w="9525">
            <a:solidFill>
              <a:srgbClr val="041C2C">
                <a:alpha val="28000"/>
              </a:srgbClr>
            </a:solidFill>
            <a:prstDash val="solid"/>
          </a:ln>
        </p:spPr>
        <p:txBody>
          <a:bodyPr/>
          <a:lstStyle/>
          <a:p>
            <a:endParaRPr lang="es-ES"/>
          </a:p>
        </p:txBody>
      </p:sp>
      <p:sp>
        <p:nvSpPr>
          <p:cNvPr id="96" name="Text 91"/>
          <p:cNvSpPr/>
          <p:nvPr/>
        </p:nvSpPr>
        <p:spPr>
          <a:xfrm>
            <a:off x="5995095" y="7602736"/>
            <a:ext cx="1095970"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041C2C"/>
                </a:solidFill>
                <a:latin typeface="JetBrains Mono" pitchFamily="34" charset="0"/>
                <a:ea typeface="JetBrains Mono" pitchFamily="34" charset="-122"/>
                <a:cs typeface="JetBrains Mono" pitchFamily="34" charset="-120"/>
              </a:rPr>
              <a:t>Calidad · QMO</a:t>
            </a:r>
            <a:endParaRPr lang="en-US" sz="1013" dirty="0"/>
          </a:p>
        </p:txBody>
      </p:sp>
      <p:sp>
        <p:nvSpPr>
          <p:cNvPr id="97" name="Shape 92"/>
          <p:cNvSpPr/>
          <p:nvPr/>
        </p:nvSpPr>
        <p:spPr>
          <a:xfrm>
            <a:off x="7214890" y="7555111"/>
            <a:ext cx="1267420" cy="266700"/>
          </a:xfrm>
          <a:prstGeom prst="roundRect">
            <a:avLst>
              <a:gd name="adj" fmla="val 50000"/>
            </a:avLst>
          </a:prstGeom>
          <a:ln w="9525">
            <a:solidFill>
              <a:srgbClr val="041C2C">
                <a:alpha val="28000"/>
              </a:srgbClr>
            </a:solidFill>
            <a:prstDash val="solid"/>
          </a:ln>
        </p:spPr>
        <p:txBody>
          <a:bodyPr/>
          <a:lstStyle/>
          <a:p>
            <a:endParaRPr lang="es-ES"/>
          </a:p>
        </p:txBody>
      </p:sp>
      <p:sp>
        <p:nvSpPr>
          <p:cNvPr id="98" name="Text 93"/>
          <p:cNvSpPr/>
          <p:nvPr/>
        </p:nvSpPr>
        <p:spPr>
          <a:xfrm>
            <a:off x="7338715" y="7602736"/>
            <a:ext cx="1095970"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041C2C"/>
                </a:solidFill>
                <a:latin typeface="JetBrains Mono" pitchFamily="34" charset="0"/>
                <a:ea typeface="JetBrains Mono" pitchFamily="34" charset="-122"/>
                <a:cs typeface="JetBrains Mono" pitchFamily="34" charset="-120"/>
              </a:rPr>
              <a:t>Productividad</a:t>
            </a:r>
            <a:endParaRPr lang="en-US" sz="1013" dirty="0"/>
          </a:p>
        </p:txBody>
      </p:sp>
      <p:sp>
        <p:nvSpPr>
          <p:cNvPr id="99" name="Shape 94"/>
          <p:cNvSpPr/>
          <p:nvPr/>
        </p:nvSpPr>
        <p:spPr>
          <a:xfrm>
            <a:off x="8558510" y="7555111"/>
            <a:ext cx="718393" cy="266700"/>
          </a:xfrm>
          <a:prstGeom prst="roundRect">
            <a:avLst>
              <a:gd name="adj" fmla="val 50000"/>
            </a:avLst>
          </a:prstGeom>
          <a:ln w="9525">
            <a:solidFill>
              <a:srgbClr val="041C2C">
                <a:alpha val="28000"/>
              </a:srgbClr>
            </a:solidFill>
            <a:prstDash val="solid"/>
          </a:ln>
        </p:spPr>
        <p:txBody>
          <a:bodyPr/>
          <a:lstStyle/>
          <a:p>
            <a:endParaRPr lang="es-ES"/>
          </a:p>
        </p:txBody>
      </p:sp>
      <p:sp>
        <p:nvSpPr>
          <p:cNvPr id="100" name="Text 95"/>
          <p:cNvSpPr/>
          <p:nvPr/>
        </p:nvSpPr>
        <p:spPr>
          <a:xfrm>
            <a:off x="8682335" y="7602736"/>
            <a:ext cx="546943" cy="209550"/>
          </a:xfrm>
          <a:prstGeom prst="rect">
            <a:avLst/>
          </a:prstGeom>
          <a:noFill/>
          <a:ln/>
        </p:spPr>
        <p:txBody>
          <a:bodyPr wrap="none" lIns="25400" tIns="25400" rIns="25400" bIns="25400" rtlCol="0" anchor="t">
            <a:normAutofit/>
          </a:bodyPr>
          <a:lstStyle/>
          <a:p>
            <a:pPr marL="0" indent="0" algn="l">
              <a:buNone/>
            </a:pPr>
            <a:r>
              <a:rPr lang="en-US" sz="1013" b="1" kern="0" spc="10" dirty="0">
                <a:solidFill>
                  <a:srgbClr val="041C2C"/>
                </a:solidFill>
                <a:latin typeface="JetBrains Mono" pitchFamily="34" charset="0"/>
                <a:ea typeface="JetBrains Mono" pitchFamily="34" charset="-122"/>
                <a:cs typeface="JetBrains Mono" pitchFamily="34" charset="-120"/>
              </a:rPr>
              <a:t>FinOps</a:t>
            </a:r>
            <a:endParaRPr lang="en-US" sz="1013" dirty="0"/>
          </a:p>
        </p:txBody>
      </p:sp>
      <p:sp>
        <p:nvSpPr>
          <p:cNvPr id="101" name="Shape 96"/>
          <p:cNvSpPr/>
          <p:nvPr/>
        </p:nvSpPr>
        <p:spPr>
          <a:xfrm>
            <a:off x="9410254" y="7674173"/>
            <a:ext cx="7553771" cy="28575"/>
          </a:xfrm>
          <a:prstGeom prst="roundRect">
            <a:avLst>
              <a:gd name="adj" fmla="val 50000"/>
            </a:avLst>
          </a:prstGeom>
          <a:solidFill>
            <a:srgbClr val="041C2C">
              <a:alpha val="45000"/>
            </a:srgbClr>
          </a:solidFill>
          <a:ln/>
        </p:spPr>
        <p:txBody>
          <a:bodyPr/>
          <a:lstStyle/>
          <a:p>
            <a:endParaRPr lang="es-ES"/>
          </a:p>
        </p:txBody>
      </p:sp>
      <p:sp>
        <p:nvSpPr>
          <p:cNvPr id="102" name="Shape 97"/>
          <p:cNvSpPr/>
          <p:nvPr/>
        </p:nvSpPr>
        <p:spPr>
          <a:xfrm>
            <a:off x="1066800" y="8340923"/>
            <a:ext cx="16154400" cy="9525"/>
          </a:xfrm>
          <a:prstGeom prst="rect">
            <a:avLst/>
          </a:prstGeom>
          <a:solidFill>
            <a:srgbClr val="E5EAEF"/>
          </a:solidFill>
          <a:ln/>
        </p:spPr>
        <p:txBody>
          <a:bodyPr/>
          <a:lstStyle/>
          <a:p>
            <a:endParaRPr lang="es-ES"/>
          </a:p>
        </p:txBody>
      </p:sp>
      <p:sp>
        <p:nvSpPr>
          <p:cNvPr id="103" name="Shape 98"/>
          <p:cNvSpPr/>
          <p:nvPr/>
        </p:nvSpPr>
        <p:spPr>
          <a:xfrm>
            <a:off x="1066800" y="8540948"/>
            <a:ext cx="28575" cy="599182"/>
          </a:xfrm>
          <a:prstGeom prst="rect">
            <a:avLst/>
          </a:prstGeom>
          <a:solidFill>
            <a:srgbClr val="855AC6">
              <a:alpha val="50000"/>
            </a:srgbClr>
          </a:solidFill>
          <a:ln/>
        </p:spPr>
        <p:txBody>
          <a:bodyPr/>
          <a:lstStyle/>
          <a:p>
            <a:endParaRPr lang="es-ES"/>
          </a:p>
        </p:txBody>
      </p:sp>
      <p:sp>
        <p:nvSpPr>
          <p:cNvPr id="104" name="Text 99"/>
          <p:cNvSpPr/>
          <p:nvPr/>
        </p:nvSpPr>
        <p:spPr>
          <a:xfrm>
            <a:off x="1228725" y="8540948"/>
            <a:ext cx="7590949" cy="200025"/>
          </a:xfrm>
          <a:prstGeom prst="rect">
            <a:avLst/>
          </a:prstGeom>
          <a:noFill/>
          <a:ln/>
        </p:spPr>
        <p:txBody>
          <a:bodyPr wrap="square" lIns="25400" tIns="25400" rIns="25400" bIns="25400" rtlCol="0" anchor="t">
            <a:normAutofit/>
          </a:bodyPr>
          <a:lstStyle/>
          <a:p>
            <a:pPr marL="0" indent="0" algn="l">
              <a:buNone/>
            </a:pPr>
            <a:r>
              <a:rPr lang="en-US" sz="975" b="1" kern="0" spc="117" dirty="0">
                <a:solidFill>
                  <a:srgbClr val="855AC6"/>
                </a:solidFill>
                <a:latin typeface="JetBrains Mono" pitchFamily="34" charset="0"/>
                <a:ea typeface="JetBrains Mono" pitchFamily="34" charset="-122"/>
                <a:cs typeface="JetBrains Mono" pitchFamily="34" charset="-120"/>
              </a:rPr>
              <a:t>MOTOR · CENTROS DE EXCELENCIA</a:t>
            </a:r>
            <a:endParaRPr lang="en-US" sz="975" dirty="0"/>
          </a:p>
        </p:txBody>
      </p:sp>
      <p:sp>
        <p:nvSpPr>
          <p:cNvPr id="105" name="Text 100"/>
          <p:cNvSpPr/>
          <p:nvPr/>
        </p:nvSpPr>
        <p:spPr>
          <a:xfrm>
            <a:off x="1228725" y="8750498"/>
            <a:ext cx="7590949" cy="232916"/>
          </a:xfrm>
          <a:prstGeom prst="rect">
            <a:avLst/>
          </a:prstGeom>
          <a:noFill/>
          <a:ln/>
        </p:spPr>
        <p:txBody>
          <a:bodyPr wrap="square" lIns="25400" tIns="25400" rIns="25400" bIns="25400" rtlCol="0" anchor="t">
            <a:normAutofit/>
          </a:bodyPr>
          <a:lstStyle/>
          <a:p>
            <a:pPr marL="0" indent="0" algn="l">
              <a:lnSpc>
                <a:spcPct val="107684"/>
              </a:lnSpc>
              <a:buNone/>
            </a:pPr>
            <a:r>
              <a:rPr lang="en-US" sz="1163" dirty="0">
                <a:solidFill>
                  <a:srgbClr val="354A5A"/>
                </a:solidFill>
                <a:latin typeface="Barlow" pitchFamily="34" charset="0"/>
                <a:ea typeface="Barlow" pitchFamily="34" charset="-122"/>
                <a:cs typeface="Barlow" pitchFamily="34" charset="-120"/>
              </a:rPr>
              <a:t>Los COE acumulan y reparten el aprendizaje </a:t>
            </a:r>
            <a:r>
              <a:rPr lang="en-US" sz="1163" b="1" dirty="0">
                <a:solidFill>
                  <a:srgbClr val="041C2C"/>
                </a:solidFill>
                <a:latin typeface="Barlow" pitchFamily="34" charset="0"/>
                <a:ea typeface="Barlow" pitchFamily="34" charset="-122"/>
                <a:cs typeface="Barlow" pitchFamily="34" charset="-120"/>
              </a:rPr>
              <a:t>entre cuentas</a:t>
            </a:r>
            <a:r>
              <a:rPr lang="en-US" sz="1163" dirty="0">
                <a:solidFill>
                  <a:srgbClr val="354A5A"/>
                </a:solidFill>
                <a:latin typeface="Barlow" pitchFamily="34" charset="0"/>
                <a:ea typeface="Barlow" pitchFamily="34" charset="-122"/>
                <a:cs typeface="Barlow" pitchFamily="34" charset="-120"/>
              </a:rPr>
              <a:t>: cada proyecto entrena al siguiente.</a:t>
            </a:r>
            <a:endParaRPr lang="en-US" sz="1163" dirty="0"/>
          </a:p>
        </p:txBody>
      </p:sp>
      <p:sp>
        <p:nvSpPr>
          <p:cNvPr id="106" name="Shape 101"/>
          <p:cNvSpPr/>
          <p:nvPr/>
        </p:nvSpPr>
        <p:spPr>
          <a:xfrm>
            <a:off x="8396288" y="8540948"/>
            <a:ext cx="28575" cy="599182"/>
          </a:xfrm>
          <a:prstGeom prst="rect">
            <a:avLst/>
          </a:prstGeom>
          <a:solidFill>
            <a:srgbClr val="855AC6">
              <a:alpha val="50000"/>
            </a:srgbClr>
          </a:solidFill>
          <a:ln/>
        </p:spPr>
        <p:txBody>
          <a:bodyPr/>
          <a:lstStyle/>
          <a:p>
            <a:endParaRPr lang="es-ES"/>
          </a:p>
        </p:txBody>
      </p:sp>
      <p:sp>
        <p:nvSpPr>
          <p:cNvPr id="107" name="Text 102"/>
          <p:cNvSpPr/>
          <p:nvPr/>
        </p:nvSpPr>
        <p:spPr>
          <a:xfrm>
            <a:off x="8558213" y="8540948"/>
            <a:ext cx="7590949" cy="200025"/>
          </a:xfrm>
          <a:prstGeom prst="rect">
            <a:avLst/>
          </a:prstGeom>
          <a:noFill/>
          <a:ln/>
        </p:spPr>
        <p:txBody>
          <a:bodyPr wrap="square" lIns="25400" tIns="25400" rIns="25400" bIns="25400" rtlCol="0" anchor="t">
            <a:normAutofit/>
          </a:bodyPr>
          <a:lstStyle/>
          <a:p>
            <a:pPr marL="0" indent="0" algn="l">
              <a:buNone/>
            </a:pPr>
            <a:r>
              <a:rPr lang="en-US" sz="975" b="1" kern="0" spc="117" dirty="0">
                <a:solidFill>
                  <a:srgbClr val="6C4AA6"/>
                </a:solidFill>
                <a:latin typeface="JetBrains Mono" pitchFamily="34" charset="0"/>
                <a:ea typeface="JetBrains Mono" pitchFamily="34" charset="-122"/>
                <a:cs typeface="JetBrains Mono" pitchFamily="34" charset="-120"/>
              </a:rPr>
              <a:t>VEHÍCULO · OFICINAS DE TRANSFORMACIÓN Y GOBERNANZA</a:t>
            </a:r>
            <a:endParaRPr lang="en-US" sz="975" dirty="0"/>
          </a:p>
        </p:txBody>
      </p:sp>
      <p:sp>
        <p:nvSpPr>
          <p:cNvPr id="108" name="Text 103"/>
          <p:cNvSpPr/>
          <p:nvPr/>
        </p:nvSpPr>
        <p:spPr>
          <a:xfrm>
            <a:off x="8558213" y="8750498"/>
            <a:ext cx="7107888" cy="427732"/>
          </a:xfrm>
          <a:prstGeom prst="rect">
            <a:avLst/>
          </a:prstGeom>
          <a:noFill/>
          <a:ln/>
        </p:spPr>
        <p:txBody>
          <a:bodyPr wrap="square" lIns="25400" tIns="25400" rIns="25400" bIns="25400" rtlCol="0" anchor="t">
            <a:normAutofit/>
          </a:bodyPr>
          <a:lstStyle/>
          <a:p>
            <a:pPr marL="0" indent="0" algn="l">
              <a:lnSpc>
                <a:spcPct val="107684"/>
              </a:lnSpc>
              <a:buNone/>
            </a:pPr>
            <a:r>
              <a:rPr lang="en-US" sz="1163" dirty="0">
                <a:solidFill>
                  <a:srgbClr val="354A5A"/>
                </a:solidFill>
                <a:latin typeface="Barlow" pitchFamily="34" charset="0"/>
                <a:ea typeface="Barlow" pitchFamily="34" charset="-122"/>
                <a:cs typeface="Barlow" pitchFamily="34" charset="-120"/>
              </a:rPr>
              <a:t>El método se queda operando en el cliente como oficina — </a:t>
            </a:r>
            <a:r>
              <a:rPr lang="en-US" sz="1163" b="1" dirty="0">
                <a:solidFill>
                  <a:srgbClr val="041C2C"/>
                </a:solidFill>
                <a:latin typeface="Barlow" pitchFamily="34" charset="0"/>
                <a:ea typeface="Barlow" pitchFamily="34" charset="-122"/>
                <a:cs typeface="Barlow" pitchFamily="34" charset="-120"/>
              </a:rPr>
              <a:t>calidad, cumplimiento, PMO, agilidad, productividad </a:t>
            </a:r>
            <a:r>
              <a:rPr lang="en-US" sz="1163" dirty="0">
                <a:solidFill>
                  <a:srgbClr val="354A5A"/>
                </a:solidFill>
                <a:latin typeface="Barlow" pitchFamily="34" charset="0"/>
                <a:ea typeface="Barlow" pitchFamily="34" charset="-122"/>
                <a:cs typeface="Barlow" pitchFamily="34" charset="-120"/>
              </a:rPr>
              <a:t>. </a:t>
            </a:r>
            <a:r>
              <a:rPr lang="en-US" sz="1163" b="1" dirty="0">
                <a:solidFill>
                  <a:srgbClr val="6C4AA6"/>
                </a:solidFill>
                <a:latin typeface="Barlow" pitchFamily="34" charset="0"/>
                <a:ea typeface="Barlow" pitchFamily="34" charset="-122"/>
                <a:cs typeface="Barlow" pitchFamily="34" charset="-120"/>
              </a:rPr>
              <a:t>Ver detalle →</a:t>
            </a:r>
            <a:endParaRPr lang="en-US" sz="1163" dirty="0"/>
          </a:p>
        </p:txBody>
      </p:sp>
      <p:sp>
        <p:nvSpPr>
          <p:cNvPr id="109" name="Shape 104"/>
          <p:cNvSpPr/>
          <p:nvPr/>
        </p:nvSpPr>
        <p:spPr>
          <a:xfrm>
            <a:off x="14103408" y="9191625"/>
            <a:ext cx="1960811" cy="514350"/>
          </a:xfrm>
          <a:prstGeom prst="roundRect">
            <a:avLst>
              <a:gd name="adj" fmla="val 50000"/>
            </a:avLst>
          </a:prstGeom>
          <a:solidFill>
            <a:srgbClr val="FFFFFF"/>
          </a:solidFill>
          <a:ln w="9525">
            <a:solidFill>
              <a:srgbClr val="C8D2DA"/>
            </a:solidFill>
            <a:prstDash val="solid"/>
          </a:ln>
        </p:spPr>
        <p:txBody>
          <a:bodyPr/>
          <a:lstStyle/>
          <a:p>
            <a:endParaRPr lang="es-ES"/>
          </a:p>
        </p:txBody>
      </p:sp>
      <p:sp>
        <p:nvSpPr>
          <p:cNvPr id="110" name="Text 105"/>
          <p:cNvSpPr/>
          <p:nvPr/>
        </p:nvSpPr>
        <p:spPr>
          <a:xfrm>
            <a:off x="14379633" y="9324975"/>
            <a:ext cx="1160711" cy="285750"/>
          </a:xfrm>
          <a:prstGeom prst="rect">
            <a:avLst/>
          </a:prstGeom>
          <a:noFill/>
          <a:ln/>
        </p:spPr>
        <p:txBody>
          <a:bodyPr wrap="square" lIns="0" tIns="0" rIns="0" bIns="0" rtlCol="0" anchor="t">
            <a:normAutofit/>
          </a:bodyPr>
          <a:lstStyle/>
          <a:p>
            <a:pPr marL="0" indent="0" algn="l">
              <a:buNone/>
            </a:pPr>
            <a:r>
              <a:rPr lang="en-US" sz="1650" b="1" kern="0" spc="-16" dirty="0">
                <a:solidFill>
                  <a:srgbClr val="041C2C"/>
                </a:solidFill>
                <a:latin typeface="Barlow" pitchFamily="34" charset="0"/>
                <a:ea typeface="Barlow" pitchFamily="34" charset="-122"/>
                <a:cs typeface="Barlow" pitchFamily="34" charset="-120"/>
              </a:rPr>
              <a:t>Ver oficinas</a:t>
            </a:r>
            <a:endParaRPr lang="en-US" sz="1650" dirty="0"/>
          </a:p>
        </p:txBody>
      </p:sp>
      <p:pic>
        <p:nvPicPr>
          <p:cNvPr id="111"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559394" y="9334500"/>
            <a:ext cx="228600" cy="228600"/>
          </a:xfrm>
          <a:prstGeom prst="rect">
            <a:avLst/>
          </a:prstGeom>
        </p:spPr>
      </p:pic>
      <p:sp>
        <p:nvSpPr>
          <p:cNvPr id="112" name="Shape 106">
            <a:hlinkClick r:id="rId3" action="ppaction://hlinksldjump"/>
          </p:cNvPr>
          <p:cNvSpPr/>
          <p:nvPr/>
        </p:nvSpPr>
        <p:spPr>
          <a:xfrm>
            <a:off x="16226594" y="9182100"/>
            <a:ext cx="1286917"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pic>
        <p:nvPicPr>
          <p:cNvPr id="113"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386249" y="9334500"/>
            <a:ext cx="228600" cy="228600"/>
          </a:xfrm>
          <a:prstGeom prst="rect">
            <a:avLst/>
          </a:prstGeom>
        </p:spPr>
      </p:pic>
      <p:sp>
        <p:nvSpPr>
          <p:cNvPr id="114" name="Text 107"/>
          <p:cNvSpPr/>
          <p:nvPr/>
        </p:nvSpPr>
        <p:spPr>
          <a:xfrm>
            <a:off x="16614849" y="9324975"/>
            <a:ext cx="929555" cy="38100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Volver </a:t>
            </a:r>
            <a:endParaRPr lang="en-US" sz="1650" dirty="0"/>
          </a:p>
        </p:txBody>
      </p:sp>
      <p:sp>
        <p:nvSpPr>
          <p:cNvPr id="115" name="Text 108"/>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116" name="Text 109"/>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11 / 24</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3810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476250"/>
            <a:ext cx="190500" cy="190500"/>
          </a:xfrm>
          <a:prstGeom prst="rect">
            <a:avLst/>
          </a:prstGeom>
        </p:spPr>
      </p:pic>
      <p:sp>
        <p:nvSpPr>
          <p:cNvPr id="4" name="Shape 1"/>
          <p:cNvSpPr/>
          <p:nvPr/>
        </p:nvSpPr>
        <p:spPr>
          <a:xfrm>
            <a:off x="1600200" y="557213"/>
            <a:ext cx="342900" cy="28575"/>
          </a:xfrm>
          <a:prstGeom prst="rect">
            <a:avLst/>
          </a:prstGeom>
          <a:solidFill>
            <a:srgbClr val="855AC6"/>
          </a:solidFill>
          <a:ln/>
        </p:spPr>
        <p:txBody>
          <a:bodyPr/>
          <a:lstStyle/>
          <a:p>
            <a:endParaRPr lang="es-ES"/>
          </a:p>
        </p:txBody>
      </p:sp>
      <p:sp>
        <p:nvSpPr>
          <p:cNvPr id="5" name="Text 2"/>
          <p:cNvSpPr/>
          <p:nvPr/>
        </p:nvSpPr>
        <p:spPr>
          <a:xfrm>
            <a:off x="2076450" y="476250"/>
            <a:ext cx="5117276"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855AC6"/>
                </a:solidFill>
                <a:latin typeface="JetBrains Mono" pitchFamily="34" charset="0"/>
                <a:ea typeface="JetBrains Mono" pitchFamily="34" charset="-122"/>
                <a:cs typeface="JetBrains Mono" pitchFamily="34" charset="-120"/>
              </a:rPr>
              <a:t>OFICINAS · EL VEHÍCULO DEL MÉTODO</a:t>
            </a:r>
            <a:endParaRPr lang="en-US" sz="1500" dirty="0"/>
          </a:p>
        </p:txBody>
      </p:sp>
      <p:pic>
        <p:nvPicPr>
          <p:cNvPr id="6" name="Image 1" descr="preencoded.png"/>
          <p:cNvPicPr>
            <a:picLocks noChangeAspect="1"/>
          </p:cNvPicPr>
          <p:nvPr/>
        </p:nvPicPr>
        <p:blipFill>
          <a:blip r:embed="rId5"/>
          <a:stretch>
            <a:fillRect/>
          </a:stretch>
        </p:blipFill>
        <p:spPr>
          <a:xfrm>
            <a:off x="16200686" y="428625"/>
            <a:ext cx="1020514" cy="285750"/>
          </a:xfrm>
          <a:prstGeom prst="rect">
            <a:avLst/>
          </a:prstGeom>
        </p:spPr>
      </p:pic>
      <p:pic>
        <p:nvPicPr>
          <p:cNvPr id="7" name="Image 2" descr="preencoded.png"/>
          <p:cNvPicPr>
            <a:picLocks noChangeAspect="1"/>
          </p:cNvPicPr>
          <p:nvPr/>
        </p:nvPicPr>
        <p:blipFill>
          <a:blip r:embed="rId6"/>
          <a:stretch>
            <a:fillRect/>
          </a:stretch>
        </p:blipFill>
        <p:spPr>
          <a:xfrm>
            <a:off x="0" y="5524500"/>
            <a:ext cx="18288000" cy="4191000"/>
          </a:xfrm>
          <a:prstGeom prst="rect">
            <a:avLst/>
          </a:prstGeom>
        </p:spPr>
      </p:pic>
      <p:sp>
        <p:nvSpPr>
          <p:cNvPr id="8" name="Text 3"/>
          <p:cNvSpPr/>
          <p:nvPr/>
        </p:nvSpPr>
        <p:spPr>
          <a:xfrm>
            <a:off x="1066800" y="1476375"/>
            <a:ext cx="8183852" cy="969169"/>
          </a:xfrm>
          <a:prstGeom prst="rect">
            <a:avLst/>
          </a:prstGeom>
          <a:noFill/>
          <a:ln/>
        </p:spPr>
        <p:txBody>
          <a:bodyPr wrap="square" lIns="25400" tIns="25400" rIns="25400" bIns="25400" rtlCol="0" anchor="t">
            <a:normAutofit lnSpcReduction="10000"/>
          </a:bodyPr>
          <a:lstStyle/>
          <a:p>
            <a:pPr marL="0" indent="0" algn="l">
              <a:lnSpc>
                <a:spcPct val="87286"/>
              </a:lnSpc>
              <a:buNone/>
            </a:pPr>
            <a:r>
              <a:rPr lang="en-US" sz="3525" b="1" kern="0" spc="-70" dirty="0">
                <a:solidFill>
                  <a:srgbClr val="041C2C"/>
                </a:solidFill>
                <a:latin typeface="Barlow" pitchFamily="34" charset="0"/>
                <a:ea typeface="Barlow" pitchFamily="34" charset="-122"/>
                <a:cs typeface="Barlow" pitchFamily="34" charset="-120"/>
              </a:rPr>
              <a:t>No es una práctica más. </a:t>
            </a:r>
            <a:r>
              <a:rPr lang="en-US" sz="3525" b="1" kern="0" spc="-70" dirty="0">
                <a:solidFill>
                  <a:srgbClr val="6C4AA6"/>
                </a:solidFill>
                <a:latin typeface="Barlow" pitchFamily="34" charset="0"/>
                <a:ea typeface="Barlow" pitchFamily="34" charset="-122"/>
                <a:cs typeface="Barlow" pitchFamily="34" charset="-120"/>
              </a:rPr>
              <a:t>Es el método operando en tu casa.</a:t>
            </a:r>
            <a:endParaRPr lang="en-US" sz="3525" dirty="0"/>
          </a:p>
        </p:txBody>
      </p:sp>
      <p:sp>
        <p:nvSpPr>
          <p:cNvPr id="9" name="Text 4"/>
          <p:cNvSpPr/>
          <p:nvPr/>
        </p:nvSpPr>
        <p:spPr>
          <a:xfrm>
            <a:off x="1066800" y="2778919"/>
            <a:ext cx="5256876" cy="865882"/>
          </a:xfrm>
          <a:prstGeom prst="rect">
            <a:avLst/>
          </a:prstGeom>
          <a:noFill/>
          <a:ln/>
        </p:spPr>
        <p:txBody>
          <a:bodyPr wrap="square" lIns="25400" tIns="25400" rIns="25400" bIns="25400" rtlCol="0" anchor="t">
            <a:normAutofit lnSpcReduction="10000"/>
          </a:bodyPr>
          <a:lstStyle/>
          <a:p>
            <a:pPr marL="0" indent="0" algn="l">
              <a:lnSpc>
                <a:spcPct val="115920"/>
              </a:lnSpc>
              <a:buNone/>
            </a:pPr>
            <a:r>
              <a:rPr lang="en-US" sz="1575" dirty="0">
                <a:solidFill>
                  <a:srgbClr val="354A5A"/>
                </a:solidFill>
                <a:latin typeface="Roboto" pitchFamily="34" charset="0"/>
                <a:ea typeface="Roboto" pitchFamily="34" charset="-122"/>
                <a:cs typeface="Roboto" pitchFamily="34" charset="-120"/>
              </a:rPr>
              <a:t>Una </a:t>
            </a:r>
            <a:r>
              <a:rPr lang="en-US" sz="1575" b="1" dirty="0">
                <a:solidFill>
                  <a:srgbClr val="041C2C"/>
                </a:solidFill>
                <a:latin typeface="Roboto" pitchFamily="34" charset="0"/>
                <a:ea typeface="Roboto" pitchFamily="34" charset="-122"/>
                <a:cs typeface="Roboto" pitchFamily="34" charset="-120"/>
              </a:rPr>
              <a:t>Oficina de Transformación y Gobernanza </a:t>
            </a:r>
            <a:r>
              <a:rPr lang="en-US" sz="1575" dirty="0">
                <a:solidFill>
                  <a:srgbClr val="354A5A"/>
                </a:solidFill>
                <a:latin typeface="Roboto" pitchFamily="34" charset="0"/>
                <a:ea typeface="Roboto" pitchFamily="34" charset="-122"/>
                <a:cs typeface="Roboto" pitchFamily="34" charset="-120"/>
              </a:rPr>
              <a:t>es un equipo estable dentro de tu organización que opera una función de gobierno de forma continua.</a:t>
            </a:r>
            <a:endParaRPr lang="en-US" sz="1575" dirty="0"/>
          </a:p>
        </p:txBody>
      </p:sp>
      <p:sp>
        <p:nvSpPr>
          <p:cNvPr id="10" name="Shape 5"/>
          <p:cNvSpPr/>
          <p:nvPr/>
        </p:nvSpPr>
        <p:spPr>
          <a:xfrm>
            <a:off x="1066800" y="3806726"/>
            <a:ext cx="419100" cy="419100"/>
          </a:xfrm>
          <a:prstGeom prst="ellipse">
            <a:avLst/>
          </a:prstGeom>
          <a:solidFill>
            <a:srgbClr val="FFFFFF"/>
          </a:solidFill>
          <a:ln w="19050">
            <a:solidFill>
              <a:srgbClr val="B79BE0"/>
            </a:solidFill>
            <a:prstDash val="solid"/>
          </a:ln>
        </p:spPr>
        <p:txBody>
          <a:bodyPr/>
          <a:lstStyle/>
          <a:p>
            <a:endParaRPr lang="es-ES"/>
          </a:p>
        </p:txBody>
      </p:sp>
      <p:sp>
        <p:nvSpPr>
          <p:cNvPr id="11" name="Text 6"/>
          <p:cNvSpPr/>
          <p:nvPr/>
        </p:nvSpPr>
        <p:spPr>
          <a:xfrm>
            <a:off x="1047750" y="3825776"/>
            <a:ext cx="457200" cy="419100"/>
          </a:xfrm>
          <a:prstGeom prst="rect">
            <a:avLst/>
          </a:prstGeom>
          <a:noFill/>
          <a:ln/>
        </p:spPr>
        <p:txBody>
          <a:bodyPr wrap="square" lIns="25400" tIns="25400" rIns="25400" bIns="25400" rtlCol="0" anchor="ctr">
            <a:normAutofit/>
          </a:bodyPr>
          <a:lstStyle/>
          <a:p>
            <a:pPr marL="0" indent="0" algn="ctr">
              <a:buNone/>
            </a:pPr>
            <a:r>
              <a:rPr lang="en-US" sz="1200" b="1" dirty="0">
                <a:solidFill>
                  <a:srgbClr val="6C4AA6"/>
                </a:solidFill>
                <a:latin typeface="JetBrains Mono" pitchFamily="34" charset="0"/>
                <a:ea typeface="JetBrains Mono" pitchFamily="34" charset="-122"/>
                <a:cs typeface="JetBrains Mono" pitchFamily="34" charset="-120"/>
              </a:rPr>
              <a:t>01</a:t>
            </a:r>
            <a:endParaRPr lang="en-US" sz="1200" dirty="0"/>
          </a:p>
        </p:txBody>
      </p:sp>
      <p:sp>
        <p:nvSpPr>
          <p:cNvPr id="12" name="Text 7"/>
          <p:cNvSpPr/>
          <p:nvPr/>
        </p:nvSpPr>
        <p:spPr>
          <a:xfrm>
            <a:off x="1657350" y="3806726"/>
            <a:ext cx="8090431" cy="279053"/>
          </a:xfrm>
          <a:prstGeom prst="rect">
            <a:avLst/>
          </a:prstGeom>
          <a:noFill/>
          <a:ln/>
        </p:spPr>
        <p:txBody>
          <a:bodyPr wrap="square" lIns="25400" tIns="25400" rIns="25400" bIns="25400" rtlCol="0" anchor="t">
            <a:normAutofit lnSpcReduction="10000"/>
          </a:bodyPr>
          <a:lstStyle/>
          <a:p>
            <a:pPr marL="0" indent="0" algn="l">
              <a:lnSpc>
                <a:spcPct val="90357"/>
              </a:lnSpc>
              <a:buNone/>
            </a:pPr>
            <a:r>
              <a:rPr lang="en-US" sz="1725" b="1" kern="0" spc="-17" dirty="0">
                <a:solidFill>
                  <a:srgbClr val="041C2C"/>
                </a:solidFill>
                <a:latin typeface="Barlow" pitchFamily="34" charset="0"/>
                <a:ea typeface="Barlow" pitchFamily="34" charset="-122"/>
                <a:cs typeface="Barlow" pitchFamily="34" charset="-120"/>
              </a:rPr>
              <a:t>Diagnóstico</a:t>
            </a:r>
            <a:endParaRPr lang="en-US" sz="1725" dirty="0"/>
          </a:p>
        </p:txBody>
      </p:sp>
      <p:sp>
        <p:nvSpPr>
          <p:cNvPr id="13" name="Text 8"/>
          <p:cNvSpPr/>
          <p:nvPr/>
        </p:nvSpPr>
        <p:spPr>
          <a:xfrm>
            <a:off x="1657350" y="4085779"/>
            <a:ext cx="5358423"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Foto rápida de la función: madurez, riesgos y puntos de dolor.</a:t>
            </a:r>
            <a:endParaRPr lang="en-US" sz="1313" dirty="0"/>
          </a:p>
        </p:txBody>
      </p:sp>
      <p:sp>
        <p:nvSpPr>
          <p:cNvPr id="14" name="Shape 9"/>
          <p:cNvSpPr/>
          <p:nvPr/>
        </p:nvSpPr>
        <p:spPr>
          <a:xfrm>
            <a:off x="1066800" y="4445794"/>
            <a:ext cx="419100" cy="419100"/>
          </a:xfrm>
          <a:prstGeom prst="ellipse">
            <a:avLst/>
          </a:prstGeom>
          <a:solidFill>
            <a:srgbClr val="FFFFFF"/>
          </a:solidFill>
          <a:ln w="19050">
            <a:solidFill>
              <a:srgbClr val="B79BE0"/>
            </a:solidFill>
            <a:prstDash val="solid"/>
          </a:ln>
        </p:spPr>
        <p:txBody>
          <a:bodyPr/>
          <a:lstStyle/>
          <a:p>
            <a:endParaRPr lang="es-ES"/>
          </a:p>
        </p:txBody>
      </p:sp>
      <p:sp>
        <p:nvSpPr>
          <p:cNvPr id="15" name="Text 10"/>
          <p:cNvSpPr/>
          <p:nvPr/>
        </p:nvSpPr>
        <p:spPr>
          <a:xfrm>
            <a:off x="1047750" y="4464844"/>
            <a:ext cx="457200" cy="419100"/>
          </a:xfrm>
          <a:prstGeom prst="rect">
            <a:avLst/>
          </a:prstGeom>
          <a:noFill/>
          <a:ln/>
        </p:spPr>
        <p:txBody>
          <a:bodyPr wrap="square" lIns="25400" tIns="25400" rIns="25400" bIns="25400" rtlCol="0" anchor="ctr">
            <a:normAutofit/>
          </a:bodyPr>
          <a:lstStyle/>
          <a:p>
            <a:pPr marL="0" indent="0" algn="ctr">
              <a:buNone/>
            </a:pPr>
            <a:r>
              <a:rPr lang="en-US" sz="1200" b="1" dirty="0">
                <a:solidFill>
                  <a:srgbClr val="6C4AA6"/>
                </a:solidFill>
                <a:latin typeface="JetBrains Mono" pitchFamily="34" charset="0"/>
                <a:ea typeface="JetBrains Mono" pitchFamily="34" charset="-122"/>
                <a:cs typeface="JetBrains Mono" pitchFamily="34" charset="-120"/>
              </a:rPr>
              <a:t>02</a:t>
            </a:r>
            <a:endParaRPr lang="en-US" sz="1200" dirty="0"/>
          </a:p>
        </p:txBody>
      </p:sp>
      <p:sp>
        <p:nvSpPr>
          <p:cNvPr id="16" name="Text 11"/>
          <p:cNvSpPr/>
          <p:nvPr/>
        </p:nvSpPr>
        <p:spPr>
          <a:xfrm>
            <a:off x="1657350" y="4445794"/>
            <a:ext cx="8090431" cy="279053"/>
          </a:xfrm>
          <a:prstGeom prst="rect">
            <a:avLst/>
          </a:prstGeom>
          <a:noFill/>
          <a:ln/>
        </p:spPr>
        <p:txBody>
          <a:bodyPr wrap="square" lIns="25400" tIns="25400" rIns="25400" bIns="25400" rtlCol="0" anchor="t">
            <a:normAutofit lnSpcReduction="10000"/>
          </a:bodyPr>
          <a:lstStyle/>
          <a:p>
            <a:pPr marL="0" indent="0" algn="l">
              <a:lnSpc>
                <a:spcPct val="90357"/>
              </a:lnSpc>
              <a:buNone/>
            </a:pPr>
            <a:r>
              <a:rPr lang="en-US" sz="1725" b="1" kern="0" spc="-17" dirty="0">
                <a:solidFill>
                  <a:srgbClr val="041C2C"/>
                </a:solidFill>
                <a:latin typeface="Barlow" pitchFamily="34" charset="0"/>
                <a:ea typeface="Barlow" pitchFamily="34" charset="-122"/>
                <a:cs typeface="Barlow" pitchFamily="34" charset="-120"/>
              </a:rPr>
              <a:t>Toma de funciones</a:t>
            </a:r>
            <a:endParaRPr lang="en-US" sz="1725" dirty="0"/>
          </a:p>
        </p:txBody>
      </p:sp>
      <p:sp>
        <p:nvSpPr>
          <p:cNvPr id="17" name="Text 12"/>
          <p:cNvSpPr/>
          <p:nvPr/>
        </p:nvSpPr>
        <p:spPr>
          <a:xfrm>
            <a:off x="1657350" y="4724846"/>
            <a:ext cx="5017432" cy="491430"/>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La oficina asume la operación, con roles, herramientas y backlog definidos — y responde de ella.</a:t>
            </a:r>
            <a:endParaRPr lang="en-US" sz="1313" dirty="0"/>
          </a:p>
        </p:txBody>
      </p:sp>
      <p:sp>
        <p:nvSpPr>
          <p:cNvPr id="18" name="Shape 13"/>
          <p:cNvSpPr/>
          <p:nvPr/>
        </p:nvSpPr>
        <p:spPr>
          <a:xfrm>
            <a:off x="1066800" y="5311527"/>
            <a:ext cx="419100" cy="419100"/>
          </a:xfrm>
          <a:prstGeom prst="ellipse">
            <a:avLst/>
          </a:prstGeom>
          <a:solidFill>
            <a:srgbClr val="FFFFFF"/>
          </a:solidFill>
          <a:ln w="19050">
            <a:solidFill>
              <a:srgbClr val="B79BE0"/>
            </a:solidFill>
            <a:prstDash val="solid"/>
          </a:ln>
        </p:spPr>
        <p:txBody>
          <a:bodyPr/>
          <a:lstStyle/>
          <a:p>
            <a:endParaRPr lang="es-ES"/>
          </a:p>
        </p:txBody>
      </p:sp>
      <p:sp>
        <p:nvSpPr>
          <p:cNvPr id="19" name="Text 14"/>
          <p:cNvSpPr/>
          <p:nvPr/>
        </p:nvSpPr>
        <p:spPr>
          <a:xfrm>
            <a:off x="1047750" y="5330577"/>
            <a:ext cx="457200" cy="419100"/>
          </a:xfrm>
          <a:prstGeom prst="rect">
            <a:avLst/>
          </a:prstGeom>
          <a:noFill/>
          <a:ln/>
        </p:spPr>
        <p:txBody>
          <a:bodyPr wrap="square" lIns="25400" tIns="25400" rIns="25400" bIns="25400" rtlCol="0" anchor="ctr">
            <a:normAutofit/>
          </a:bodyPr>
          <a:lstStyle/>
          <a:p>
            <a:pPr marL="0" indent="0" algn="ctr">
              <a:buNone/>
            </a:pPr>
            <a:r>
              <a:rPr lang="en-US" sz="1200" b="1" dirty="0">
                <a:solidFill>
                  <a:srgbClr val="6C4AA6"/>
                </a:solidFill>
                <a:latin typeface="JetBrains Mono" pitchFamily="34" charset="0"/>
                <a:ea typeface="JetBrains Mono" pitchFamily="34" charset="-122"/>
                <a:cs typeface="JetBrains Mono" pitchFamily="34" charset="-120"/>
              </a:rPr>
              <a:t>03</a:t>
            </a:r>
            <a:endParaRPr lang="en-US" sz="1200" dirty="0"/>
          </a:p>
        </p:txBody>
      </p:sp>
      <p:sp>
        <p:nvSpPr>
          <p:cNvPr id="20" name="Text 15"/>
          <p:cNvSpPr/>
          <p:nvPr/>
        </p:nvSpPr>
        <p:spPr>
          <a:xfrm>
            <a:off x="1657350" y="5311527"/>
            <a:ext cx="8090431" cy="279053"/>
          </a:xfrm>
          <a:prstGeom prst="rect">
            <a:avLst/>
          </a:prstGeom>
          <a:noFill/>
          <a:ln/>
        </p:spPr>
        <p:txBody>
          <a:bodyPr wrap="square" lIns="25400" tIns="25400" rIns="25400" bIns="25400" rtlCol="0" anchor="t">
            <a:normAutofit lnSpcReduction="10000"/>
          </a:bodyPr>
          <a:lstStyle/>
          <a:p>
            <a:pPr marL="0" indent="0" algn="l">
              <a:lnSpc>
                <a:spcPct val="90357"/>
              </a:lnSpc>
              <a:buNone/>
            </a:pPr>
            <a:r>
              <a:rPr lang="en-US" sz="1725" b="1" kern="0" spc="-17" dirty="0">
                <a:solidFill>
                  <a:srgbClr val="041C2C"/>
                </a:solidFill>
                <a:latin typeface="Barlow" pitchFamily="34" charset="0"/>
                <a:ea typeface="Barlow" pitchFamily="34" charset="-122"/>
                <a:cs typeface="Barlow" pitchFamily="34" charset="-120"/>
              </a:rPr>
              <a:t>Delegación progresiva</a:t>
            </a:r>
            <a:endParaRPr lang="en-US" sz="1725" dirty="0"/>
          </a:p>
        </p:txBody>
      </p:sp>
      <p:sp>
        <p:nvSpPr>
          <p:cNvPr id="22" name="Shape 17"/>
          <p:cNvSpPr/>
          <p:nvPr/>
        </p:nvSpPr>
        <p:spPr>
          <a:xfrm>
            <a:off x="1066800" y="6177260"/>
            <a:ext cx="7945487" cy="784622"/>
          </a:xfrm>
          <a:prstGeom prst="rect">
            <a:avLst/>
          </a:prstGeom>
          <a:solidFill>
            <a:srgbClr val="F5F7F9"/>
          </a:solidFill>
          <a:ln/>
        </p:spPr>
        <p:txBody>
          <a:bodyPr/>
          <a:lstStyle/>
          <a:p>
            <a:endParaRPr lang="es-ES"/>
          </a:p>
        </p:txBody>
      </p:sp>
      <p:sp>
        <p:nvSpPr>
          <p:cNvPr id="23" name="Shape 18"/>
          <p:cNvSpPr/>
          <p:nvPr/>
        </p:nvSpPr>
        <p:spPr>
          <a:xfrm>
            <a:off x="1066800" y="6177260"/>
            <a:ext cx="47625" cy="784622"/>
          </a:xfrm>
          <a:prstGeom prst="rect">
            <a:avLst/>
          </a:prstGeom>
          <a:solidFill>
            <a:srgbClr val="855AC6"/>
          </a:solidFill>
          <a:ln/>
        </p:spPr>
        <p:txBody>
          <a:bodyPr/>
          <a:lstStyle/>
          <a:p>
            <a:endParaRPr lang="es-ES"/>
          </a:p>
        </p:txBody>
      </p:sp>
      <p:sp>
        <p:nvSpPr>
          <p:cNvPr id="24" name="Text 19"/>
          <p:cNvSpPr/>
          <p:nvPr/>
        </p:nvSpPr>
        <p:spPr>
          <a:xfrm>
            <a:off x="1343025" y="6310610"/>
            <a:ext cx="7679027" cy="556022"/>
          </a:xfrm>
          <a:prstGeom prst="rect">
            <a:avLst/>
          </a:prstGeom>
          <a:noFill/>
          <a:ln/>
        </p:spPr>
        <p:txBody>
          <a:bodyPr wrap="square" lIns="25400" tIns="25400" rIns="25400" bIns="25400" rtlCol="0" anchor="t">
            <a:normAutofit/>
          </a:bodyPr>
          <a:lstStyle/>
          <a:p>
            <a:pPr marL="0" indent="0" algn="l">
              <a:lnSpc>
                <a:spcPct val="113333"/>
              </a:lnSpc>
              <a:buNone/>
            </a:pPr>
            <a:r>
              <a:rPr lang="en-US" sz="1500" i="1" kern="0" spc="-15" dirty="0">
                <a:solidFill>
                  <a:srgbClr val="4A6273"/>
                </a:solidFill>
                <a:latin typeface="Barlow" pitchFamily="34" charset="0"/>
                <a:ea typeface="Barlow" pitchFamily="34" charset="-122"/>
                <a:cs typeface="Barlow" pitchFamily="34" charset="-120"/>
              </a:rPr>
              <a:t>Una consultora entrega el informe y se va. </a:t>
            </a:r>
            <a:r>
              <a:rPr lang="en-US" sz="1500" b="1" kern="0" spc="-15" dirty="0">
                <a:solidFill>
                  <a:srgbClr val="041C2C"/>
                </a:solidFill>
                <a:latin typeface="Barlow" pitchFamily="34" charset="0"/>
                <a:ea typeface="Barlow" pitchFamily="34" charset="-122"/>
                <a:cs typeface="Barlow" pitchFamily="34" charset="-120"/>
              </a:rPr>
              <a:t>La oficina se queda, operando y respondiendo de la función.</a:t>
            </a:r>
            <a:endParaRPr lang="en-US" sz="1500" dirty="0"/>
          </a:p>
        </p:txBody>
      </p:sp>
      <p:sp>
        <p:nvSpPr>
          <p:cNvPr id="25" name="Shape 20"/>
          <p:cNvSpPr/>
          <p:nvPr/>
        </p:nvSpPr>
        <p:spPr>
          <a:xfrm>
            <a:off x="9431387" y="1257300"/>
            <a:ext cx="7789813" cy="6625233"/>
          </a:xfrm>
          <a:prstGeom prst="roundRect">
            <a:avLst>
              <a:gd name="adj" fmla="val 2588"/>
            </a:avLst>
          </a:prstGeom>
          <a:solidFill>
            <a:srgbClr val="F7F4FC"/>
          </a:solidFill>
          <a:ln w="9525">
            <a:solidFill>
              <a:srgbClr val="E6DCF4"/>
            </a:solidFill>
            <a:prstDash val="solid"/>
          </a:ln>
        </p:spPr>
        <p:txBody>
          <a:bodyPr/>
          <a:lstStyle/>
          <a:p>
            <a:endParaRPr lang="es-ES"/>
          </a:p>
        </p:txBody>
      </p:sp>
      <p:sp>
        <p:nvSpPr>
          <p:cNvPr id="26" name="Text 21"/>
          <p:cNvSpPr/>
          <p:nvPr/>
        </p:nvSpPr>
        <p:spPr>
          <a:xfrm>
            <a:off x="9783812" y="1533525"/>
            <a:ext cx="7297512" cy="228600"/>
          </a:xfrm>
          <a:prstGeom prst="rect">
            <a:avLst/>
          </a:prstGeom>
          <a:noFill/>
          <a:ln/>
        </p:spPr>
        <p:txBody>
          <a:bodyPr wrap="square" lIns="25400" tIns="25400" rIns="25400" bIns="25400" rtlCol="0" anchor="t">
            <a:normAutofit/>
          </a:bodyPr>
          <a:lstStyle/>
          <a:p>
            <a:pPr marL="0" indent="0" algn="l">
              <a:buNone/>
            </a:pPr>
            <a:r>
              <a:rPr lang="en-US" sz="1125" b="1" kern="0" spc="158" dirty="0">
                <a:solidFill>
                  <a:srgbClr val="6C4AA6"/>
                </a:solidFill>
                <a:latin typeface="JetBrains Mono" pitchFamily="34" charset="0"/>
                <a:ea typeface="JetBrains Mono" pitchFamily="34" charset="-122"/>
                <a:cs typeface="JetBrains Mono" pitchFamily="34" charset="-120"/>
              </a:rPr>
              <a:t>EL CATÁLOGO · UNA OFICINA POR RAÍL DEL MÉTODO</a:t>
            </a:r>
            <a:endParaRPr lang="en-US" sz="1125" dirty="0"/>
          </a:p>
        </p:txBody>
      </p:sp>
      <p:sp>
        <p:nvSpPr>
          <p:cNvPr id="27" name="Shape 22"/>
          <p:cNvSpPr/>
          <p:nvPr/>
        </p:nvSpPr>
        <p:spPr>
          <a:xfrm>
            <a:off x="9783812" y="2062163"/>
            <a:ext cx="85725" cy="85725"/>
          </a:xfrm>
          <a:prstGeom prst="ellipse">
            <a:avLst/>
          </a:prstGeom>
          <a:solidFill>
            <a:srgbClr val="041C2C"/>
          </a:solidFill>
          <a:ln/>
        </p:spPr>
        <p:txBody>
          <a:bodyPr/>
          <a:lstStyle/>
          <a:p>
            <a:endParaRPr lang="es-ES"/>
          </a:p>
        </p:txBody>
      </p:sp>
      <p:sp>
        <p:nvSpPr>
          <p:cNvPr id="28" name="Text 23"/>
          <p:cNvSpPr/>
          <p:nvPr/>
        </p:nvSpPr>
        <p:spPr>
          <a:xfrm>
            <a:off x="9983837" y="2009775"/>
            <a:ext cx="899220" cy="228600"/>
          </a:xfrm>
          <a:prstGeom prst="rect">
            <a:avLst/>
          </a:prstGeom>
          <a:noFill/>
          <a:ln/>
        </p:spPr>
        <p:txBody>
          <a:bodyPr wrap="square" lIns="25400" tIns="25400" rIns="25400" bIns="25400" rtlCol="0" anchor="t">
            <a:normAutofit/>
          </a:bodyPr>
          <a:lstStyle/>
          <a:p>
            <a:pPr marL="0" indent="0" algn="l">
              <a:buNone/>
            </a:pPr>
            <a:r>
              <a:rPr lang="en-US" sz="1125" b="1" kern="0" spc="135" dirty="0">
                <a:solidFill>
                  <a:srgbClr val="041C2C"/>
                </a:solidFill>
                <a:latin typeface="JetBrains Mono" pitchFamily="34" charset="0"/>
                <a:ea typeface="JetBrains Mono" pitchFamily="34" charset="-122"/>
                <a:cs typeface="JetBrains Mono" pitchFamily="34" charset="-120"/>
              </a:rPr>
              <a:t>GOBIERNO</a:t>
            </a:r>
            <a:endParaRPr lang="en-US" sz="1125" dirty="0"/>
          </a:p>
        </p:txBody>
      </p:sp>
      <p:sp>
        <p:nvSpPr>
          <p:cNvPr id="29" name="Shape 24"/>
          <p:cNvSpPr/>
          <p:nvPr/>
        </p:nvSpPr>
        <p:spPr>
          <a:xfrm>
            <a:off x="10921157" y="2100263"/>
            <a:ext cx="5947618" cy="9525"/>
          </a:xfrm>
          <a:prstGeom prst="rect">
            <a:avLst/>
          </a:prstGeom>
          <a:solidFill>
            <a:srgbClr val="041C2C">
              <a:alpha val="16000"/>
            </a:srgbClr>
          </a:solidFill>
          <a:ln/>
        </p:spPr>
        <p:txBody>
          <a:bodyPr/>
          <a:lstStyle/>
          <a:p>
            <a:endParaRPr lang="es-ES"/>
          </a:p>
        </p:txBody>
      </p:sp>
      <p:sp>
        <p:nvSpPr>
          <p:cNvPr id="30" name="Text 25"/>
          <p:cNvSpPr/>
          <p:nvPr/>
        </p:nvSpPr>
        <p:spPr>
          <a:xfrm>
            <a:off x="9983837" y="2381250"/>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PMO / SMO</a:t>
            </a:r>
            <a:endParaRPr lang="en-US" sz="1425" dirty="0"/>
          </a:p>
        </p:txBody>
      </p:sp>
      <p:sp>
        <p:nvSpPr>
          <p:cNvPr id="31" name="Text 26"/>
          <p:cNvSpPr/>
          <p:nvPr/>
        </p:nvSpPr>
        <p:spPr>
          <a:xfrm>
            <a:off x="12041237" y="2390775"/>
            <a:ext cx="4972364" cy="491430"/>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Proyectos, proveedores y ANS bajo control · cuadros de mando para dirección.</a:t>
            </a:r>
            <a:endParaRPr lang="en-US" sz="1313" dirty="0"/>
          </a:p>
        </p:txBody>
      </p:sp>
      <p:sp>
        <p:nvSpPr>
          <p:cNvPr id="32" name="Text 27"/>
          <p:cNvSpPr/>
          <p:nvPr/>
        </p:nvSpPr>
        <p:spPr>
          <a:xfrm>
            <a:off x="9983837" y="2996505"/>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Auditoría interna</a:t>
            </a:r>
            <a:endParaRPr lang="en-US" sz="1425" dirty="0"/>
          </a:p>
        </p:txBody>
      </p:sp>
      <p:sp>
        <p:nvSpPr>
          <p:cNvPr id="33" name="Text 28"/>
          <p:cNvSpPr/>
          <p:nvPr/>
        </p:nvSpPr>
        <p:spPr>
          <a:xfrm>
            <a:off x="12041237" y="3006030"/>
            <a:ext cx="5310292"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Madurez de aplicaciones y operaciones, en 1-3 meses.</a:t>
            </a:r>
            <a:endParaRPr lang="en-US" sz="1313" dirty="0"/>
          </a:p>
        </p:txBody>
      </p:sp>
      <p:sp>
        <p:nvSpPr>
          <p:cNvPr id="34" name="Text 29"/>
          <p:cNvSpPr/>
          <p:nvPr/>
        </p:nvSpPr>
        <p:spPr>
          <a:xfrm>
            <a:off x="9983837" y="3385096"/>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Arquitectura</a:t>
            </a:r>
            <a:endParaRPr lang="en-US" sz="1425" dirty="0"/>
          </a:p>
        </p:txBody>
      </p:sp>
      <p:sp>
        <p:nvSpPr>
          <p:cNvPr id="35" name="Text 30"/>
          <p:cNvSpPr/>
          <p:nvPr/>
        </p:nvSpPr>
        <p:spPr>
          <a:xfrm>
            <a:off x="12041237" y="3394621"/>
            <a:ext cx="5310292"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Supervisión técnica transversal y automatización de la gestión.</a:t>
            </a:r>
            <a:endParaRPr lang="en-US" sz="1313" dirty="0"/>
          </a:p>
        </p:txBody>
      </p:sp>
      <p:sp>
        <p:nvSpPr>
          <p:cNvPr id="36" name="Shape 31"/>
          <p:cNvSpPr/>
          <p:nvPr/>
        </p:nvSpPr>
        <p:spPr>
          <a:xfrm>
            <a:off x="9783812" y="3997523"/>
            <a:ext cx="85725" cy="85725"/>
          </a:xfrm>
          <a:prstGeom prst="ellipse">
            <a:avLst/>
          </a:prstGeom>
          <a:solidFill>
            <a:srgbClr val="855AC6"/>
          </a:solidFill>
          <a:ln/>
        </p:spPr>
        <p:txBody>
          <a:bodyPr/>
          <a:lstStyle/>
          <a:p>
            <a:endParaRPr lang="es-ES"/>
          </a:p>
        </p:txBody>
      </p:sp>
      <p:sp>
        <p:nvSpPr>
          <p:cNvPr id="37" name="Text 32"/>
          <p:cNvSpPr/>
          <p:nvPr/>
        </p:nvSpPr>
        <p:spPr>
          <a:xfrm>
            <a:off x="9983837" y="3945136"/>
            <a:ext cx="1002060" cy="228600"/>
          </a:xfrm>
          <a:prstGeom prst="rect">
            <a:avLst/>
          </a:prstGeom>
          <a:noFill/>
          <a:ln/>
        </p:spPr>
        <p:txBody>
          <a:bodyPr wrap="square" lIns="25400" tIns="25400" rIns="25400" bIns="25400" rtlCol="0" anchor="t">
            <a:normAutofit fontScale="92500"/>
          </a:bodyPr>
          <a:lstStyle/>
          <a:p>
            <a:pPr marL="0" indent="0" algn="l">
              <a:buNone/>
            </a:pPr>
            <a:r>
              <a:rPr lang="en-US" sz="1125" b="1" kern="0" spc="135" dirty="0">
                <a:solidFill>
                  <a:srgbClr val="041C2C"/>
                </a:solidFill>
                <a:latin typeface="JetBrains Mono" pitchFamily="34" charset="0"/>
                <a:ea typeface="JetBrains Mono" pitchFamily="34" charset="-122"/>
                <a:cs typeface="JetBrains Mono" pitchFamily="34" charset="-120"/>
              </a:rPr>
              <a:t>SEGURIDAD</a:t>
            </a:r>
            <a:endParaRPr lang="en-US" sz="1125" dirty="0"/>
          </a:p>
        </p:txBody>
      </p:sp>
      <p:sp>
        <p:nvSpPr>
          <p:cNvPr id="38" name="Shape 33"/>
          <p:cNvSpPr/>
          <p:nvPr/>
        </p:nvSpPr>
        <p:spPr>
          <a:xfrm>
            <a:off x="11023997" y="4035623"/>
            <a:ext cx="5844778" cy="9525"/>
          </a:xfrm>
          <a:prstGeom prst="rect">
            <a:avLst/>
          </a:prstGeom>
          <a:solidFill>
            <a:srgbClr val="855AC6">
              <a:alpha val="24000"/>
            </a:srgbClr>
          </a:solidFill>
          <a:ln/>
        </p:spPr>
        <p:txBody>
          <a:bodyPr/>
          <a:lstStyle/>
          <a:p>
            <a:endParaRPr lang="es-ES"/>
          </a:p>
        </p:txBody>
      </p:sp>
      <p:sp>
        <p:nvSpPr>
          <p:cNvPr id="39" name="Text 34"/>
          <p:cNvSpPr/>
          <p:nvPr/>
        </p:nvSpPr>
        <p:spPr>
          <a:xfrm>
            <a:off x="9983837" y="4316611"/>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Apoyo al CISO</a:t>
            </a:r>
            <a:endParaRPr lang="en-US" sz="1425" dirty="0"/>
          </a:p>
        </p:txBody>
      </p:sp>
      <p:sp>
        <p:nvSpPr>
          <p:cNvPr id="40" name="Text 35"/>
          <p:cNvSpPr/>
          <p:nvPr/>
        </p:nvSpPr>
        <p:spPr>
          <a:xfrm>
            <a:off x="12041237" y="4326136"/>
            <a:ext cx="4972364" cy="491430"/>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Controles, calidad del software y normativa en su ámbito · puente con Ciberseguridad.</a:t>
            </a:r>
            <a:endParaRPr lang="en-US" sz="1313" dirty="0"/>
          </a:p>
        </p:txBody>
      </p:sp>
      <p:sp>
        <p:nvSpPr>
          <p:cNvPr id="41" name="Text 36"/>
          <p:cNvSpPr/>
          <p:nvPr/>
        </p:nvSpPr>
        <p:spPr>
          <a:xfrm>
            <a:off x="9983837" y="4931866"/>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Cumplimiento</a:t>
            </a:r>
            <a:endParaRPr lang="en-US" sz="1425" dirty="0"/>
          </a:p>
        </p:txBody>
      </p:sp>
      <p:sp>
        <p:nvSpPr>
          <p:cNvPr id="42" name="Text 37"/>
          <p:cNvSpPr/>
          <p:nvPr/>
        </p:nvSpPr>
        <p:spPr>
          <a:xfrm>
            <a:off x="12041237" y="4941391"/>
            <a:ext cx="4972364" cy="491430"/>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SOX · ISO 27001 · normativa local, con evidencias, terceros y auditorías.</a:t>
            </a:r>
            <a:endParaRPr lang="en-US" sz="1313" dirty="0"/>
          </a:p>
        </p:txBody>
      </p:sp>
      <p:sp>
        <p:nvSpPr>
          <p:cNvPr id="43" name="Shape 38"/>
          <p:cNvSpPr/>
          <p:nvPr/>
        </p:nvSpPr>
        <p:spPr>
          <a:xfrm>
            <a:off x="9783812" y="5770959"/>
            <a:ext cx="85725" cy="85725"/>
          </a:xfrm>
          <a:prstGeom prst="ellipse">
            <a:avLst/>
          </a:prstGeom>
          <a:solidFill>
            <a:srgbClr val="3A8E63"/>
          </a:solidFill>
          <a:ln/>
        </p:spPr>
        <p:txBody>
          <a:bodyPr/>
          <a:lstStyle/>
          <a:p>
            <a:endParaRPr lang="es-ES"/>
          </a:p>
        </p:txBody>
      </p:sp>
      <p:sp>
        <p:nvSpPr>
          <p:cNvPr id="44" name="Text 39"/>
          <p:cNvSpPr/>
          <p:nvPr/>
        </p:nvSpPr>
        <p:spPr>
          <a:xfrm>
            <a:off x="9983837" y="5718572"/>
            <a:ext cx="1002060" cy="228600"/>
          </a:xfrm>
          <a:prstGeom prst="rect">
            <a:avLst/>
          </a:prstGeom>
          <a:noFill/>
          <a:ln/>
        </p:spPr>
        <p:txBody>
          <a:bodyPr wrap="square" lIns="25400" tIns="25400" rIns="25400" bIns="25400" rtlCol="0" anchor="t">
            <a:normAutofit fontScale="92500"/>
          </a:bodyPr>
          <a:lstStyle/>
          <a:p>
            <a:pPr marL="0" indent="0" algn="l">
              <a:buNone/>
            </a:pPr>
            <a:r>
              <a:rPr lang="en-US" sz="1125" b="1" kern="0" spc="135" dirty="0">
                <a:solidFill>
                  <a:srgbClr val="041C2C"/>
                </a:solidFill>
                <a:latin typeface="JetBrains Mono" pitchFamily="34" charset="0"/>
                <a:ea typeface="JetBrains Mono" pitchFamily="34" charset="-122"/>
                <a:cs typeface="JetBrains Mono" pitchFamily="34" charset="-120"/>
              </a:rPr>
              <a:t>OPERACIÓN</a:t>
            </a:r>
            <a:endParaRPr lang="en-US" sz="1125" dirty="0"/>
          </a:p>
        </p:txBody>
      </p:sp>
      <p:sp>
        <p:nvSpPr>
          <p:cNvPr id="45" name="Shape 40"/>
          <p:cNvSpPr/>
          <p:nvPr/>
        </p:nvSpPr>
        <p:spPr>
          <a:xfrm>
            <a:off x="11023997" y="5809059"/>
            <a:ext cx="5844778" cy="9525"/>
          </a:xfrm>
          <a:prstGeom prst="rect">
            <a:avLst/>
          </a:prstGeom>
          <a:solidFill>
            <a:srgbClr val="3A8E63">
              <a:alpha val="24000"/>
            </a:srgbClr>
          </a:solidFill>
          <a:ln/>
        </p:spPr>
        <p:txBody>
          <a:bodyPr/>
          <a:lstStyle/>
          <a:p>
            <a:endParaRPr lang="es-ES"/>
          </a:p>
        </p:txBody>
      </p:sp>
      <p:sp>
        <p:nvSpPr>
          <p:cNvPr id="46" name="Text 41"/>
          <p:cNvSpPr/>
          <p:nvPr/>
        </p:nvSpPr>
        <p:spPr>
          <a:xfrm>
            <a:off x="9983837" y="6090047"/>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Transformación ágil</a:t>
            </a:r>
            <a:endParaRPr lang="en-US" sz="1425" dirty="0"/>
          </a:p>
        </p:txBody>
      </p:sp>
      <p:sp>
        <p:nvSpPr>
          <p:cNvPr id="47" name="Text 42"/>
          <p:cNvSpPr/>
          <p:nvPr/>
        </p:nvSpPr>
        <p:spPr>
          <a:xfrm>
            <a:off x="12041237" y="6099572"/>
            <a:ext cx="5310292"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Escalado Agile con formación, coaching y diseño organizacional.</a:t>
            </a:r>
            <a:endParaRPr lang="en-US" sz="1313" dirty="0"/>
          </a:p>
        </p:txBody>
      </p:sp>
      <p:sp>
        <p:nvSpPr>
          <p:cNvPr id="48" name="Text 43"/>
          <p:cNvSpPr/>
          <p:nvPr/>
        </p:nvSpPr>
        <p:spPr>
          <a:xfrm>
            <a:off x="9983837" y="6478637"/>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Calidad · QMO</a:t>
            </a:r>
            <a:endParaRPr lang="en-US" sz="1425" dirty="0"/>
          </a:p>
        </p:txBody>
      </p:sp>
      <p:sp>
        <p:nvSpPr>
          <p:cNvPr id="49" name="Text 44"/>
          <p:cNvSpPr/>
          <p:nvPr/>
        </p:nvSpPr>
        <p:spPr>
          <a:xfrm>
            <a:off x="12041237" y="6488162"/>
            <a:ext cx="5310292"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Calidad de procesos, software y datos, integrada en CI/CD.</a:t>
            </a:r>
            <a:endParaRPr lang="en-US" sz="1313" dirty="0"/>
          </a:p>
        </p:txBody>
      </p:sp>
      <p:sp>
        <p:nvSpPr>
          <p:cNvPr id="50" name="Text 45"/>
          <p:cNvSpPr/>
          <p:nvPr/>
        </p:nvSpPr>
        <p:spPr>
          <a:xfrm>
            <a:off x="9983837" y="6867227"/>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Productividad</a:t>
            </a:r>
            <a:endParaRPr lang="en-US" sz="1425" dirty="0"/>
          </a:p>
        </p:txBody>
      </p:sp>
      <p:sp>
        <p:nvSpPr>
          <p:cNvPr id="51" name="Text 46"/>
          <p:cNvSpPr/>
          <p:nvPr/>
        </p:nvSpPr>
        <p:spPr>
          <a:xfrm>
            <a:off x="12041237" y="6876752"/>
            <a:ext cx="5310292"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KPIs de desarrollo, benchmarking de proveedores, skill matrix.</a:t>
            </a:r>
            <a:endParaRPr lang="en-US" sz="1313" dirty="0"/>
          </a:p>
        </p:txBody>
      </p:sp>
      <p:sp>
        <p:nvSpPr>
          <p:cNvPr id="52" name="Text 47"/>
          <p:cNvSpPr/>
          <p:nvPr/>
        </p:nvSpPr>
        <p:spPr>
          <a:xfrm>
            <a:off x="9983837" y="7255818"/>
            <a:ext cx="1990725"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14" dirty="0">
                <a:solidFill>
                  <a:srgbClr val="041C2C"/>
                </a:solidFill>
                <a:latin typeface="Barlow" pitchFamily="34" charset="0"/>
                <a:ea typeface="Barlow" pitchFamily="34" charset="-122"/>
                <a:cs typeface="Barlow" pitchFamily="34" charset="-120"/>
              </a:rPr>
              <a:t>FinOps</a:t>
            </a:r>
            <a:endParaRPr lang="en-US" sz="1425" dirty="0"/>
          </a:p>
        </p:txBody>
      </p:sp>
      <p:sp>
        <p:nvSpPr>
          <p:cNvPr id="53" name="Text 48"/>
          <p:cNvSpPr/>
          <p:nvPr/>
        </p:nvSpPr>
        <p:spPr>
          <a:xfrm>
            <a:off x="12041237" y="7265343"/>
            <a:ext cx="5310292" cy="264765"/>
          </a:xfrm>
          <a:prstGeom prst="rect">
            <a:avLst/>
          </a:prstGeom>
          <a:noFill/>
          <a:ln/>
        </p:spPr>
        <p:txBody>
          <a:bodyPr wrap="square" lIns="25400" tIns="25400" rIns="25400" bIns="25400" rtlCol="0" anchor="t">
            <a:normAutofit/>
          </a:bodyPr>
          <a:lstStyle/>
          <a:p>
            <a:pPr marL="0" indent="0" algn="l">
              <a:lnSpc>
                <a:spcPct val="113333"/>
              </a:lnSpc>
              <a:buNone/>
            </a:pPr>
            <a:r>
              <a:rPr lang="en-US" sz="1313" dirty="0">
                <a:solidFill>
                  <a:srgbClr val="4A6273"/>
                </a:solidFill>
                <a:latin typeface="Roboto" pitchFamily="34" charset="0"/>
                <a:ea typeface="Roboto" pitchFamily="34" charset="-122"/>
                <a:cs typeface="Roboto" pitchFamily="34" charset="-120"/>
              </a:rPr>
              <a:t>El gasto cloud, visible y gobernado como disciplina.</a:t>
            </a:r>
            <a:endParaRPr lang="en-US" sz="1313" dirty="0"/>
          </a:p>
        </p:txBody>
      </p:sp>
      <p:sp>
        <p:nvSpPr>
          <p:cNvPr id="54" name="Shape 49"/>
          <p:cNvSpPr/>
          <p:nvPr/>
        </p:nvSpPr>
        <p:spPr>
          <a:xfrm>
            <a:off x="999522" y="8571662"/>
            <a:ext cx="16297878" cy="1152171"/>
          </a:xfrm>
          <a:prstGeom prst="roundRect">
            <a:avLst>
              <a:gd name="adj" fmla="val 12935"/>
            </a:avLst>
          </a:prstGeom>
          <a:solidFill>
            <a:srgbClr val="FFFFFF"/>
          </a:solidFill>
          <a:ln w="9525">
            <a:solidFill>
              <a:srgbClr val="C8D2DA"/>
            </a:solidFill>
            <a:prstDash val="solid"/>
          </a:ln>
          <a:effectLst>
            <a:outerShdw blurRad="38100" dist="19050" dir="5400000" algn="bl" rotWithShape="0">
              <a:srgbClr val="041C2C">
                <a:alpha val="7000"/>
              </a:srgbClr>
            </a:outerShdw>
          </a:effectLst>
        </p:spPr>
        <p:txBody>
          <a:bodyPr/>
          <a:lstStyle/>
          <a:p>
            <a:endParaRPr lang="es-ES"/>
          </a:p>
        </p:txBody>
      </p:sp>
      <p:sp>
        <p:nvSpPr>
          <p:cNvPr id="55" name="Text 50"/>
          <p:cNvSpPr/>
          <p:nvPr/>
        </p:nvSpPr>
        <p:spPr>
          <a:xfrm>
            <a:off x="1362075" y="8703618"/>
            <a:ext cx="613023" cy="390525"/>
          </a:xfrm>
          <a:prstGeom prst="rect">
            <a:avLst/>
          </a:prstGeom>
          <a:noFill/>
          <a:ln/>
        </p:spPr>
        <p:txBody>
          <a:bodyPr wrap="square" lIns="25400" tIns="25400" rIns="25400" bIns="25400" rtlCol="0" anchor="t">
            <a:normAutofit lnSpcReduction="10000"/>
          </a:bodyPr>
          <a:lstStyle/>
          <a:p>
            <a:pPr marL="0" indent="0" algn="l">
              <a:lnSpc>
                <a:spcPct val="84091"/>
              </a:lnSpc>
              <a:buNone/>
            </a:pPr>
            <a:r>
              <a:rPr lang="en-US" sz="2775" b="1" kern="0" spc="-55" dirty="0">
                <a:solidFill>
                  <a:srgbClr val="6C4AA6"/>
                </a:solidFill>
                <a:latin typeface="Barlow" pitchFamily="34" charset="0"/>
                <a:ea typeface="Barlow" pitchFamily="34" charset="-122"/>
                <a:cs typeface="Barlow" pitchFamily="34" charset="-120"/>
              </a:rPr>
              <a:t>+15</a:t>
            </a:r>
            <a:endParaRPr lang="en-US" sz="2775" dirty="0"/>
          </a:p>
        </p:txBody>
      </p:sp>
      <p:sp>
        <p:nvSpPr>
          <p:cNvPr id="56" name="Text 51"/>
          <p:cNvSpPr/>
          <p:nvPr/>
        </p:nvSpPr>
        <p:spPr>
          <a:xfrm>
            <a:off x="2003673" y="8865543"/>
            <a:ext cx="1532186" cy="439638"/>
          </a:xfrm>
          <a:prstGeom prst="rect">
            <a:avLst/>
          </a:prstGeom>
          <a:noFill/>
          <a:ln/>
        </p:spPr>
        <p:txBody>
          <a:bodyPr wrap="square" lIns="25400" tIns="25400" rIns="25400" bIns="25400" rtlCol="0" anchor="t">
            <a:normAutofit lnSpcReduction="10000"/>
          </a:bodyPr>
          <a:lstStyle/>
          <a:p>
            <a:pPr marL="0" indent="0" algn="l">
              <a:lnSpc>
                <a:spcPct val="105400"/>
              </a:lnSpc>
              <a:buNone/>
            </a:pPr>
            <a:r>
              <a:rPr lang="en-US" sz="1275" dirty="0">
                <a:solidFill>
                  <a:srgbClr val="4A6273"/>
                </a:solidFill>
                <a:latin typeface="Roboto" pitchFamily="34" charset="0"/>
                <a:ea typeface="Roboto" pitchFamily="34" charset="-122"/>
                <a:cs typeface="Roboto" pitchFamily="34" charset="-120"/>
              </a:rPr>
              <a:t>años operando oficinas y agilidad</a:t>
            </a:r>
            <a:endParaRPr lang="en-US" sz="1275" dirty="0"/>
          </a:p>
        </p:txBody>
      </p:sp>
      <p:sp>
        <p:nvSpPr>
          <p:cNvPr id="57" name="Text 52"/>
          <p:cNvSpPr/>
          <p:nvPr/>
        </p:nvSpPr>
        <p:spPr>
          <a:xfrm>
            <a:off x="3783509" y="8703618"/>
            <a:ext cx="613023" cy="390525"/>
          </a:xfrm>
          <a:prstGeom prst="rect">
            <a:avLst/>
          </a:prstGeom>
          <a:noFill/>
          <a:ln/>
        </p:spPr>
        <p:txBody>
          <a:bodyPr wrap="square" lIns="25400" tIns="25400" rIns="25400" bIns="25400" rtlCol="0" anchor="t">
            <a:normAutofit lnSpcReduction="10000"/>
          </a:bodyPr>
          <a:lstStyle/>
          <a:p>
            <a:pPr marL="0" indent="0" algn="l">
              <a:lnSpc>
                <a:spcPct val="84091"/>
              </a:lnSpc>
              <a:buNone/>
            </a:pPr>
            <a:r>
              <a:rPr lang="en-US" sz="2775" b="1" kern="0" spc="-55" dirty="0">
                <a:solidFill>
                  <a:srgbClr val="6C4AA6"/>
                </a:solidFill>
                <a:latin typeface="Barlow" pitchFamily="34" charset="0"/>
                <a:ea typeface="Barlow" pitchFamily="34" charset="-122"/>
                <a:cs typeface="Barlow" pitchFamily="34" charset="-120"/>
              </a:rPr>
              <a:t>+90</a:t>
            </a:r>
            <a:endParaRPr lang="en-US" sz="2775" dirty="0"/>
          </a:p>
        </p:txBody>
      </p:sp>
      <p:sp>
        <p:nvSpPr>
          <p:cNvPr id="58" name="Text 53"/>
          <p:cNvSpPr/>
          <p:nvPr/>
        </p:nvSpPr>
        <p:spPr>
          <a:xfrm>
            <a:off x="4425107" y="8865543"/>
            <a:ext cx="1532186" cy="640407"/>
          </a:xfrm>
          <a:prstGeom prst="rect">
            <a:avLst/>
          </a:prstGeom>
          <a:noFill/>
          <a:ln/>
        </p:spPr>
        <p:txBody>
          <a:bodyPr wrap="square" lIns="25400" tIns="25400" rIns="25400" bIns="25400" rtlCol="0" anchor="t">
            <a:normAutofit/>
          </a:bodyPr>
          <a:lstStyle/>
          <a:p>
            <a:pPr marL="0" indent="0" algn="l">
              <a:lnSpc>
                <a:spcPct val="105400"/>
              </a:lnSpc>
              <a:buNone/>
            </a:pPr>
            <a:r>
              <a:rPr lang="en-US" sz="1275" dirty="0">
                <a:solidFill>
                  <a:srgbClr val="4A6273"/>
                </a:solidFill>
                <a:latin typeface="Roboto" pitchFamily="34" charset="0"/>
                <a:ea typeface="Roboto" pitchFamily="34" charset="-122"/>
                <a:cs typeface="Roboto" pitchFamily="34" charset="-120"/>
              </a:rPr>
              <a:t>profesionales certificados en Agile</a:t>
            </a:r>
            <a:endParaRPr lang="en-US" sz="1275" dirty="0"/>
          </a:p>
        </p:txBody>
      </p:sp>
      <p:sp>
        <p:nvSpPr>
          <p:cNvPr id="59" name="Text 54"/>
          <p:cNvSpPr/>
          <p:nvPr/>
        </p:nvSpPr>
        <p:spPr>
          <a:xfrm>
            <a:off x="6204942" y="8703618"/>
            <a:ext cx="613023" cy="390525"/>
          </a:xfrm>
          <a:prstGeom prst="rect">
            <a:avLst/>
          </a:prstGeom>
          <a:noFill/>
          <a:ln/>
        </p:spPr>
        <p:txBody>
          <a:bodyPr wrap="square" lIns="25400" tIns="25400" rIns="25400" bIns="25400" rtlCol="0" anchor="t">
            <a:normAutofit fontScale="92500"/>
          </a:bodyPr>
          <a:lstStyle/>
          <a:p>
            <a:pPr marL="0" indent="0" algn="l">
              <a:lnSpc>
                <a:spcPct val="84091"/>
              </a:lnSpc>
              <a:buNone/>
            </a:pPr>
            <a:r>
              <a:rPr lang="en-US" sz="2775" b="1" kern="0" spc="-55" dirty="0">
                <a:solidFill>
                  <a:srgbClr val="6C4AA6"/>
                </a:solidFill>
                <a:latin typeface="Barlow" pitchFamily="34" charset="0"/>
                <a:ea typeface="Barlow" pitchFamily="34" charset="-122"/>
                <a:cs typeface="Barlow" pitchFamily="34" charset="-120"/>
              </a:rPr>
              <a:t>+40</a:t>
            </a:r>
            <a:endParaRPr lang="en-US" sz="2775" dirty="0"/>
          </a:p>
        </p:txBody>
      </p:sp>
      <p:sp>
        <p:nvSpPr>
          <p:cNvPr id="60" name="Text 55"/>
          <p:cNvSpPr/>
          <p:nvPr/>
        </p:nvSpPr>
        <p:spPr>
          <a:xfrm>
            <a:off x="6846540" y="8865543"/>
            <a:ext cx="1532186" cy="439638"/>
          </a:xfrm>
          <a:prstGeom prst="rect">
            <a:avLst/>
          </a:prstGeom>
          <a:noFill/>
          <a:ln/>
        </p:spPr>
        <p:txBody>
          <a:bodyPr wrap="square" lIns="25400" tIns="25400" rIns="25400" bIns="25400" rtlCol="0" anchor="t">
            <a:normAutofit lnSpcReduction="10000"/>
          </a:bodyPr>
          <a:lstStyle/>
          <a:p>
            <a:pPr marL="0" indent="0" algn="l">
              <a:lnSpc>
                <a:spcPct val="105400"/>
              </a:lnSpc>
              <a:buNone/>
            </a:pPr>
            <a:r>
              <a:rPr lang="en-US" sz="1275" dirty="0">
                <a:solidFill>
                  <a:srgbClr val="4A6273"/>
                </a:solidFill>
                <a:latin typeface="Roboto" pitchFamily="34" charset="0"/>
                <a:ea typeface="Roboto" pitchFamily="34" charset="-122"/>
                <a:cs typeface="Roboto" pitchFamily="34" charset="-120"/>
              </a:rPr>
              <a:t>referencias en todos los sectores</a:t>
            </a:r>
            <a:endParaRPr lang="en-US" sz="1275" dirty="0"/>
          </a:p>
        </p:txBody>
      </p:sp>
      <p:sp>
        <p:nvSpPr>
          <p:cNvPr id="61" name="Shape 56"/>
          <p:cNvSpPr/>
          <p:nvPr/>
        </p:nvSpPr>
        <p:spPr>
          <a:xfrm>
            <a:off x="8683526" y="8852297"/>
            <a:ext cx="9525" cy="466725"/>
          </a:xfrm>
          <a:prstGeom prst="rect">
            <a:avLst/>
          </a:prstGeom>
          <a:solidFill>
            <a:srgbClr val="C8D2DA"/>
          </a:solidFill>
          <a:ln/>
        </p:spPr>
        <p:txBody>
          <a:bodyPr/>
          <a:lstStyle/>
          <a:p>
            <a:endParaRPr lang="es-ES"/>
          </a:p>
        </p:txBody>
      </p:sp>
      <p:sp>
        <p:nvSpPr>
          <p:cNvPr id="62" name="Text 57"/>
          <p:cNvSpPr/>
          <p:nvPr/>
        </p:nvSpPr>
        <p:spPr>
          <a:xfrm>
            <a:off x="9016901" y="8852297"/>
            <a:ext cx="6390361" cy="504825"/>
          </a:xfrm>
          <a:prstGeom prst="rect">
            <a:avLst/>
          </a:prstGeom>
          <a:noFill/>
          <a:ln/>
        </p:spPr>
        <p:txBody>
          <a:bodyPr wrap="square" lIns="25400" tIns="25400" rIns="25400" bIns="25400" rtlCol="0" anchor="t">
            <a:normAutofit/>
          </a:bodyPr>
          <a:lstStyle/>
          <a:p>
            <a:pPr marL="0" indent="0" algn="l">
              <a:lnSpc>
                <a:spcPct val="116667"/>
              </a:lnSpc>
              <a:buNone/>
            </a:pPr>
            <a:r>
              <a:rPr lang="en-US" sz="1313" dirty="0">
                <a:solidFill>
                  <a:srgbClr val="4A6273"/>
                </a:solidFill>
                <a:latin typeface="Roboto" pitchFamily="34" charset="0"/>
                <a:ea typeface="Roboto" pitchFamily="34" charset="-122"/>
                <a:cs typeface="Roboto" pitchFamily="34" charset="-120"/>
              </a:rPr>
              <a:t>Oficinas operando hoy en </a:t>
            </a:r>
            <a:r>
              <a:rPr lang="en-US" sz="1313" dirty="0">
                <a:solidFill>
                  <a:srgbClr val="041C2C"/>
                </a:solidFill>
                <a:latin typeface="Roboto" pitchFamily="34" charset="0"/>
                <a:ea typeface="Roboto" pitchFamily="34" charset="-122"/>
                <a:cs typeface="Roboto" pitchFamily="34" charset="-120"/>
              </a:rPr>
              <a:t>ministerios, banca e industria </a:t>
            </a:r>
            <a:r>
              <a:rPr lang="en-US" sz="1313" dirty="0">
                <a:solidFill>
                  <a:srgbClr val="4A6273"/>
                </a:solidFill>
                <a:latin typeface="Roboto" pitchFamily="34" charset="0"/>
                <a:ea typeface="Roboto" pitchFamily="34" charset="-122"/>
                <a:cs typeface="Roboto" pitchFamily="34" charset="-120"/>
              </a:rPr>
              <a:t>— varias con función de apoyo al CISO.</a:t>
            </a:r>
            <a:endParaRPr lang="en-US" sz="1313" dirty="0"/>
          </a:p>
        </p:txBody>
      </p:sp>
      <p:pic>
        <p:nvPicPr>
          <p:cNvPr id="64"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54139" y="9334500"/>
            <a:ext cx="228600" cy="228600"/>
          </a:xfrm>
          <a:prstGeom prst="rect">
            <a:avLst/>
          </a:prstGeom>
        </p:spPr>
      </p:pic>
      <p:sp>
        <p:nvSpPr>
          <p:cNvPr id="66" name="Text 60"/>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67" name="Text 61"/>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12 / 24</a:t>
            </a:r>
            <a:endParaRPr lang="en-US" sz="1125" dirty="0"/>
          </a:p>
        </p:txBody>
      </p:sp>
      <p:sp>
        <p:nvSpPr>
          <p:cNvPr id="71" name="Shape 106">
            <a:hlinkClick r:id="rId3" action="ppaction://hlinksldjump"/>
            <a:extLst>
              <a:ext uri="{FF2B5EF4-FFF2-40B4-BE49-F238E27FC236}">
                <a16:creationId xmlns:a16="http://schemas.microsoft.com/office/drawing/2014/main" id="{72026B5F-7F8F-B75D-DA17-434086FB7693}"/>
              </a:ext>
            </a:extLst>
          </p:cNvPr>
          <p:cNvSpPr/>
          <p:nvPr/>
        </p:nvSpPr>
        <p:spPr>
          <a:xfrm>
            <a:off x="16226594" y="9182100"/>
            <a:ext cx="1286917"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pic>
        <p:nvPicPr>
          <p:cNvPr id="73" name="Image 4" descr="preencoded.png">
            <a:extLst>
              <a:ext uri="{FF2B5EF4-FFF2-40B4-BE49-F238E27FC236}">
                <a16:creationId xmlns:a16="http://schemas.microsoft.com/office/drawing/2014/main" id="{33536245-0547-63C5-FCD7-D62552324E9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6386249" y="9334500"/>
            <a:ext cx="228600" cy="228600"/>
          </a:xfrm>
          <a:prstGeom prst="rect">
            <a:avLst/>
          </a:prstGeom>
        </p:spPr>
      </p:pic>
      <p:sp>
        <p:nvSpPr>
          <p:cNvPr id="75" name="Text 107">
            <a:extLst>
              <a:ext uri="{FF2B5EF4-FFF2-40B4-BE49-F238E27FC236}">
                <a16:creationId xmlns:a16="http://schemas.microsoft.com/office/drawing/2014/main" id="{1A657397-B7DF-242A-331A-4F4AF9C1C37A}"/>
              </a:ext>
            </a:extLst>
          </p:cNvPr>
          <p:cNvSpPr/>
          <p:nvPr/>
        </p:nvSpPr>
        <p:spPr>
          <a:xfrm>
            <a:off x="16614849" y="9324975"/>
            <a:ext cx="929555" cy="38100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Volver </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6"/>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4F6"/>
          </a:solidFill>
          <a:ln/>
        </p:spPr>
        <p:txBody>
          <a:bodyPr/>
          <a:lstStyle/>
          <a:p>
            <a:endParaRPr lang="es-ES"/>
          </a:p>
        </p:txBody>
      </p:sp>
      <p:sp>
        <p:nvSpPr>
          <p:cNvPr id="3" name="Shape 1">
            <a:hlinkClick r:id="rId3" action="ppaction://hlinksldjump"/>
          </p:cNvPr>
          <p:cNvSpPr/>
          <p:nvPr/>
        </p:nvSpPr>
        <p:spPr>
          <a:xfrm>
            <a:off x="1067098" y="485775"/>
            <a:ext cx="571500" cy="571500"/>
          </a:xfrm>
          <a:prstGeom prst="ellipse">
            <a:avLst/>
          </a:prstGeom>
          <a:ln w="14288">
            <a:solidFill>
              <a:srgbClr val="C8D2DA"/>
            </a:solidFill>
            <a:prstDash val="solid"/>
          </a:ln>
        </p:spPr>
        <p:txBody>
          <a:bodyPr/>
          <a:lstStyle/>
          <a:p>
            <a:endParaRPr lang="es-ES"/>
          </a:p>
        </p:txBody>
      </p:sp>
      <p:pic>
        <p:nvPicPr>
          <p:cNvPr id="4"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9973" y="628650"/>
            <a:ext cx="285750" cy="285750"/>
          </a:xfrm>
          <a:prstGeom prst="rect">
            <a:avLst/>
          </a:prstGeom>
        </p:spPr>
      </p:pic>
      <p:sp>
        <p:nvSpPr>
          <p:cNvPr id="5" name="Text 2"/>
          <p:cNvSpPr/>
          <p:nvPr/>
        </p:nvSpPr>
        <p:spPr>
          <a:xfrm>
            <a:off x="1867198" y="650081"/>
            <a:ext cx="5536049" cy="280988"/>
          </a:xfrm>
          <a:prstGeom prst="rect">
            <a:avLst/>
          </a:prstGeom>
          <a:noFill/>
          <a:ln/>
        </p:spPr>
        <p:txBody>
          <a:bodyPr wrap="square" lIns="25400" tIns="25400" rIns="25400" bIns="25400" rtlCol="0" anchor="ctr">
            <a:normAutofit/>
          </a:bodyPr>
          <a:lstStyle/>
          <a:p>
            <a:pPr marL="0" indent="0" algn="l">
              <a:buNone/>
            </a:pPr>
            <a:r>
              <a:rPr lang="en-US" sz="1463" kern="0" spc="176" dirty="0">
                <a:solidFill>
                  <a:srgbClr val="6C4AA6"/>
                </a:solidFill>
                <a:latin typeface="JetBrains Mono" pitchFamily="34" charset="0"/>
                <a:ea typeface="JetBrains Mono" pitchFamily="34" charset="-122"/>
                <a:cs typeface="JetBrains Mono" pitchFamily="34" charset="-120"/>
              </a:rPr>
              <a:t>PRÁCTICA 01 · PROCESS INTELLIGENCE</a:t>
            </a:r>
            <a:endParaRPr lang="en-US" sz="1463" dirty="0"/>
          </a:p>
        </p:txBody>
      </p:sp>
      <p:pic>
        <p:nvPicPr>
          <p:cNvPr id="6" name="Image 1" descr="preencoded.png"/>
          <p:cNvPicPr>
            <a:picLocks noChangeAspect="1"/>
          </p:cNvPicPr>
          <p:nvPr/>
        </p:nvPicPr>
        <p:blipFill>
          <a:blip r:embed="rId5"/>
          <a:stretch>
            <a:fillRect/>
          </a:stretch>
        </p:blipFill>
        <p:spPr>
          <a:xfrm>
            <a:off x="16200462" y="628650"/>
            <a:ext cx="1020440" cy="285750"/>
          </a:xfrm>
          <a:prstGeom prst="rect">
            <a:avLst/>
          </a:prstGeom>
        </p:spPr>
      </p:pic>
      <p:sp>
        <p:nvSpPr>
          <p:cNvPr id="7" name="Text 3"/>
          <p:cNvSpPr/>
          <p:nvPr/>
        </p:nvSpPr>
        <p:spPr>
          <a:xfrm>
            <a:off x="1067098" y="1343025"/>
            <a:ext cx="9721840" cy="1210568"/>
          </a:xfrm>
          <a:prstGeom prst="rect">
            <a:avLst/>
          </a:prstGeom>
          <a:noFill/>
          <a:ln/>
        </p:spPr>
        <p:txBody>
          <a:bodyPr wrap="square" lIns="25400" tIns="25400" rIns="25400" bIns="25400" rtlCol="0" anchor="t">
            <a:normAutofit/>
          </a:bodyPr>
          <a:lstStyle/>
          <a:p>
            <a:pPr marL="0" indent="0" algn="l">
              <a:lnSpc>
                <a:spcPct val="89217"/>
              </a:lnSpc>
              <a:buNone/>
            </a:pPr>
            <a:r>
              <a:rPr lang="en-US" sz="4275" b="1" kern="0" spc="-86" dirty="0">
                <a:solidFill>
                  <a:srgbClr val="041C2C"/>
                </a:solidFill>
                <a:latin typeface="Barlow" pitchFamily="34" charset="0"/>
                <a:ea typeface="Barlow" pitchFamily="34" charset="-122"/>
                <a:cs typeface="Barlow" pitchFamily="34" charset="-120"/>
              </a:rPr>
              <a:t>La IA solo escala sobre procesos que </a:t>
            </a:r>
            <a:r>
              <a:rPr lang="en-US" sz="4275" b="1" kern="0" spc="-86" dirty="0">
                <a:solidFill>
                  <a:srgbClr val="D04C81"/>
                </a:solidFill>
                <a:latin typeface="Barlow" pitchFamily="34" charset="0"/>
                <a:ea typeface="Barlow" pitchFamily="34" charset="-122"/>
                <a:cs typeface="Barlow" pitchFamily="34" charset="-120"/>
              </a:rPr>
              <a:t>entiendes.</a:t>
            </a:r>
            <a:endParaRPr lang="en-US" sz="4275" dirty="0"/>
          </a:p>
        </p:txBody>
      </p:sp>
      <p:sp>
        <p:nvSpPr>
          <p:cNvPr id="8" name="Text 4"/>
          <p:cNvSpPr/>
          <p:nvPr/>
        </p:nvSpPr>
        <p:spPr>
          <a:xfrm>
            <a:off x="1067098" y="2658368"/>
            <a:ext cx="8535353" cy="724346"/>
          </a:xfrm>
          <a:prstGeom prst="rect">
            <a:avLst/>
          </a:prstGeom>
          <a:noFill/>
          <a:ln/>
        </p:spPr>
        <p:txBody>
          <a:bodyPr wrap="square" lIns="25400" tIns="25400" rIns="25400" bIns="25400" rtlCol="0" anchor="t">
            <a:normAutofit/>
          </a:bodyPr>
          <a:lstStyle/>
          <a:p>
            <a:pPr marL="0" indent="0" algn="l">
              <a:lnSpc>
                <a:spcPct val="126447"/>
              </a:lnSpc>
              <a:buNone/>
            </a:pPr>
            <a:r>
              <a:rPr lang="en-US" sz="1744" dirty="0">
                <a:solidFill>
                  <a:srgbClr val="5C6B73"/>
                </a:solidFill>
                <a:latin typeface="Roboto" pitchFamily="34" charset="0"/>
                <a:ea typeface="Roboto" pitchFamily="34" charset="-122"/>
                <a:cs typeface="Roboto" pitchFamily="34" charset="-120"/>
              </a:rPr>
              <a:t>El proceso real, medido y automatizado. Te mostramos qué conviene cambiar para que tu decidas, y lo dejamos funcionando.</a:t>
            </a:r>
            <a:endParaRPr lang="en-US" sz="1744" dirty="0"/>
          </a:p>
        </p:txBody>
      </p:sp>
      <p:sp>
        <p:nvSpPr>
          <p:cNvPr id="9" name="Shape 5"/>
          <p:cNvSpPr/>
          <p:nvPr/>
        </p:nvSpPr>
        <p:spPr>
          <a:xfrm>
            <a:off x="11077277" y="1343025"/>
            <a:ext cx="6143625" cy="2386013"/>
          </a:xfrm>
          <a:prstGeom prst="roundRect">
            <a:avLst>
              <a:gd name="adj" fmla="val 8383"/>
            </a:avLst>
          </a:prstGeom>
          <a:solidFill>
            <a:srgbClr val="041C2C"/>
          </a:solidFill>
          <a:ln/>
        </p:spPr>
        <p:txBody>
          <a:bodyPr/>
          <a:lstStyle/>
          <a:p>
            <a:endParaRPr lang="es-ES"/>
          </a:p>
        </p:txBody>
      </p:sp>
      <p:sp>
        <p:nvSpPr>
          <p:cNvPr id="10" name="Text 6"/>
          <p:cNvSpPr/>
          <p:nvPr/>
        </p:nvSpPr>
        <p:spPr>
          <a:xfrm>
            <a:off x="11448752" y="1685925"/>
            <a:ext cx="5940743" cy="341709"/>
          </a:xfrm>
          <a:prstGeom prst="rect">
            <a:avLst/>
          </a:prstGeom>
          <a:noFill/>
          <a:ln/>
        </p:spPr>
        <p:txBody>
          <a:bodyPr wrap="square" lIns="25400" tIns="25400" rIns="25400" bIns="25400" rtlCol="0" anchor="t">
            <a:normAutofit lnSpcReduction="10000"/>
          </a:bodyPr>
          <a:lstStyle/>
          <a:p>
            <a:pPr marL="0" indent="0" algn="l">
              <a:lnSpc>
                <a:spcPct val="106250"/>
              </a:lnSpc>
              <a:buNone/>
            </a:pPr>
            <a:r>
              <a:rPr lang="en-US" sz="1913" b="1" dirty="0">
                <a:solidFill>
                  <a:srgbClr val="FFFFFF"/>
                </a:solidFill>
                <a:latin typeface="Barlow" pitchFamily="34" charset="0"/>
                <a:ea typeface="Barlow" pitchFamily="34" charset="-122"/>
                <a:cs typeface="Barlow" pitchFamily="34" charset="-120"/>
              </a:rPr>
              <a:t>Una plataforma te enseña dónde está el problema.</a:t>
            </a:r>
            <a:endParaRPr lang="en-US" sz="1913" dirty="0"/>
          </a:p>
        </p:txBody>
      </p:sp>
      <p:sp>
        <p:nvSpPr>
          <p:cNvPr id="11" name="Text 7"/>
          <p:cNvSpPr/>
          <p:nvPr/>
        </p:nvSpPr>
        <p:spPr>
          <a:xfrm>
            <a:off x="11448752" y="2046684"/>
            <a:ext cx="5940743" cy="341709"/>
          </a:xfrm>
          <a:prstGeom prst="rect">
            <a:avLst/>
          </a:prstGeom>
          <a:noFill/>
          <a:ln/>
        </p:spPr>
        <p:txBody>
          <a:bodyPr wrap="square" lIns="25400" tIns="25400" rIns="25400" bIns="25400" rtlCol="0" anchor="t">
            <a:normAutofit lnSpcReduction="10000"/>
          </a:bodyPr>
          <a:lstStyle/>
          <a:p>
            <a:pPr marL="0" indent="0" algn="l">
              <a:lnSpc>
                <a:spcPct val="106250"/>
              </a:lnSpc>
              <a:buNone/>
            </a:pPr>
            <a:r>
              <a:rPr lang="en-US" sz="1913" b="1" dirty="0">
                <a:solidFill>
                  <a:srgbClr val="D04C81"/>
                </a:solidFill>
                <a:latin typeface="Barlow" pitchFamily="34" charset="0"/>
                <a:ea typeface="Barlow" pitchFamily="34" charset="-122"/>
                <a:cs typeface="Barlow" pitchFamily="34" charset="-120"/>
              </a:rPr>
              <a:t>Nosotros lo resolvemos.</a:t>
            </a:r>
            <a:endParaRPr lang="en-US" sz="1913" dirty="0"/>
          </a:p>
        </p:txBody>
      </p:sp>
      <p:sp>
        <p:nvSpPr>
          <p:cNvPr id="12" name="Text 8"/>
          <p:cNvSpPr/>
          <p:nvPr/>
        </p:nvSpPr>
        <p:spPr>
          <a:xfrm>
            <a:off x="11448752" y="2550319"/>
            <a:ext cx="5562695" cy="873919"/>
          </a:xfrm>
          <a:prstGeom prst="rect">
            <a:avLst/>
          </a:prstGeom>
          <a:noFill/>
          <a:ln/>
        </p:spPr>
        <p:txBody>
          <a:bodyPr wrap="square" lIns="25400" tIns="25400" rIns="25400" bIns="25400" rtlCol="0" anchor="t">
            <a:normAutofit lnSpcReduction="10000"/>
          </a:bodyPr>
          <a:lstStyle/>
          <a:p>
            <a:pPr marL="0" indent="0" algn="l">
              <a:lnSpc>
                <a:spcPct val="130000"/>
              </a:lnSpc>
              <a:buNone/>
            </a:pPr>
            <a:r>
              <a:rPr lang="en-US" sz="1463" dirty="0">
                <a:solidFill>
                  <a:srgbClr val="A9C0CD"/>
                </a:solidFill>
                <a:latin typeface="Roboto" pitchFamily="34" charset="0"/>
                <a:ea typeface="Roboto" pitchFamily="34" charset="-122"/>
                <a:cs typeface="Roboto" pitchFamily="34" charset="-120"/>
              </a:rPr>
              <a:t>Del diagnóstico al proceso optimizado en producción, en </a:t>
            </a:r>
            <a:r>
              <a:rPr lang="en-US" sz="1463" b="1" dirty="0">
                <a:solidFill>
                  <a:srgbClr val="FFFFFF"/>
                </a:solidFill>
                <a:latin typeface="Roboto" pitchFamily="34" charset="0"/>
                <a:ea typeface="Roboto" pitchFamily="34" charset="-122"/>
                <a:cs typeface="Roboto" pitchFamily="34" charset="-120"/>
              </a:rPr>
              <a:t>un solo enfoque </a:t>
            </a:r>
            <a:r>
              <a:rPr lang="en-US" sz="1463" dirty="0">
                <a:solidFill>
                  <a:srgbClr val="A9C0CD"/>
                </a:solidFill>
                <a:latin typeface="Roboto" pitchFamily="34" charset="0"/>
                <a:ea typeface="Roboto" pitchFamily="34" charset="-122"/>
                <a:cs typeface="Roboto" pitchFamily="34" charset="-120"/>
              </a:rPr>
              <a:t>— no la consultoría por un lado y la tecnología por otro. Y la adopción va dentro: el valor está en que tu equipo lo use.</a:t>
            </a:r>
            <a:endParaRPr lang="en-US" sz="1463" dirty="0"/>
          </a:p>
        </p:txBody>
      </p:sp>
      <p:sp>
        <p:nvSpPr>
          <p:cNvPr id="13" name="Text 9"/>
          <p:cNvSpPr/>
          <p:nvPr/>
        </p:nvSpPr>
        <p:spPr>
          <a:xfrm>
            <a:off x="1067098" y="3986213"/>
            <a:ext cx="17769185" cy="266700"/>
          </a:xfrm>
          <a:prstGeom prst="rect">
            <a:avLst/>
          </a:prstGeom>
          <a:noFill/>
          <a:ln/>
        </p:spPr>
        <p:txBody>
          <a:bodyPr wrap="square" lIns="25400" tIns="25400" rIns="25400" bIns="25400" rtlCol="0" anchor="t">
            <a:normAutofit/>
          </a:bodyPr>
          <a:lstStyle/>
          <a:p>
            <a:pPr marL="0" indent="0" algn="l">
              <a:buNone/>
            </a:pPr>
            <a:r>
              <a:rPr lang="en-US" sz="1350" kern="0" spc="189" dirty="0">
                <a:solidFill>
                  <a:srgbClr val="5C6B73"/>
                </a:solidFill>
                <a:latin typeface="JetBrains Mono" pitchFamily="34" charset="0"/>
                <a:ea typeface="JetBrains Mono" pitchFamily="34" charset="-122"/>
                <a:cs typeface="JetBrains Mono" pitchFamily="34" charset="-120"/>
              </a:rPr>
              <a:t>QUÉ INCLUYE · DEL DATO REAL AL PROCESO OPTIMIZADO Y GOBERNADO</a:t>
            </a:r>
            <a:endParaRPr lang="en-US" sz="1350" dirty="0"/>
          </a:p>
        </p:txBody>
      </p:sp>
      <p:sp>
        <p:nvSpPr>
          <p:cNvPr id="14" name="Shape 10"/>
          <p:cNvSpPr/>
          <p:nvPr/>
        </p:nvSpPr>
        <p:spPr>
          <a:xfrm>
            <a:off x="1067098" y="4386263"/>
            <a:ext cx="3867001" cy="2823790"/>
          </a:xfrm>
          <a:prstGeom prst="roundRect">
            <a:avLst>
              <a:gd name="adj" fmla="val 6072"/>
            </a:avLst>
          </a:prstGeom>
          <a:solidFill>
            <a:srgbClr val="FFFFFF"/>
          </a:solidFill>
          <a:ln w="14288">
            <a:solidFill>
              <a:srgbClr val="E2E2E6"/>
            </a:solidFill>
            <a:prstDash val="solid"/>
          </a:ln>
          <a:effectLst>
            <a:outerShdw blurRad="38100" dist="19050" dir="5400000" algn="bl" rotWithShape="0">
              <a:srgbClr val="041C2C">
                <a:alpha val="7000"/>
              </a:srgbClr>
            </a:outerShdw>
          </a:effectLst>
        </p:spPr>
        <p:txBody>
          <a:bodyPr/>
          <a:lstStyle/>
          <a:p>
            <a:endParaRPr lang="es-ES"/>
          </a:p>
        </p:txBody>
      </p:sp>
      <p:sp>
        <p:nvSpPr>
          <p:cNvPr id="15" name="Text 11"/>
          <p:cNvSpPr/>
          <p:nvPr/>
        </p:nvSpPr>
        <p:spPr>
          <a:xfrm>
            <a:off x="1324273" y="4614863"/>
            <a:ext cx="3687916" cy="252413"/>
          </a:xfrm>
          <a:prstGeom prst="rect">
            <a:avLst/>
          </a:prstGeom>
          <a:noFill/>
          <a:ln/>
        </p:spPr>
        <p:txBody>
          <a:bodyPr wrap="square" lIns="25400" tIns="25400" rIns="25400" bIns="25400" rtlCol="0" anchor="t">
            <a:normAutofit/>
          </a:bodyPr>
          <a:lstStyle/>
          <a:p>
            <a:pPr marL="0" indent="0" algn="l">
              <a:buNone/>
            </a:pPr>
            <a:r>
              <a:rPr lang="en-US" sz="1294" kern="0" spc="78" dirty="0">
                <a:solidFill>
                  <a:srgbClr val="5C6B73"/>
                </a:solidFill>
                <a:latin typeface="JetBrains Mono" pitchFamily="34" charset="0"/>
                <a:ea typeface="JetBrains Mono" pitchFamily="34" charset="-122"/>
                <a:cs typeface="JetBrains Mono" pitchFamily="34" charset="-120"/>
              </a:rPr>
              <a:t>01 · Descubrir</a:t>
            </a:r>
            <a:endParaRPr lang="en-US" sz="1294" dirty="0"/>
          </a:p>
        </p:txBody>
      </p:sp>
      <p:sp>
        <p:nvSpPr>
          <p:cNvPr id="16" name="Shape 12"/>
          <p:cNvSpPr/>
          <p:nvPr/>
        </p:nvSpPr>
        <p:spPr>
          <a:xfrm>
            <a:off x="1324273" y="4957763"/>
            <a:ext cx="371475" cy="371475"/>
          </a:xfrm>
          <a:prstGeom prst="roundRect">
            <a:avLst>
              <a:gd name="adj" fmla="val 26923"/>
            </a:avLst>
          </a:prstGeom>
          <a:solidFill>
            <a:srgbClr val="FBEEF3"/>
          </a:solidFill>
          <a:ln/>
        </p:spPr>
        <p:txBody>
          <a:bodyPr/>
          <a:lstStyle/>
          <a:p>
            <a:endParaRPr lang="es-ES"/>
          </a:p>
        </p:txBody>
      </p:sp>
      <p:pic>
        <p:nvPicPr>
          <p:cNvPr id="17"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2854" y="5036344"/>
            <a:ext cx="214313" cy="214313"/>
          </a:xfrm>
          <a:prstGeom prst="rect">
            <a:avLst/>
          </a:prstGeom>
        </p:spPr>
      </p:pic>
      <p:sp>
        <p:nvSpPr>
          <p:cNvPr id="18" name="Text 13"/>
          <p:cNvSpPr/>
          <p:nvPr/>
        </p:nvSpPr>
        <p:spPr>
          <a:xfrm>
            <a:off x="1824335" y="5007769"/>
            <a:ext cx="1641120" cy="309563"/>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041C2C"/>
                </a:solidFill>
                <a:latin typeface="Barlow" pitchFamily="34" charset="0"/>
                <a:ea typeface="Barlow" pitchFamily="34" charset="-122"/>
                <a:cs typeface="Barlow" pitchFamily="34" charset="-120"/>
              </a:rPr>
              <a:t>Process Mining</a:t>
            </a:r>
            <a:endParaRPr lang="en-US" sz="1800" dirty="0"/>
          </a:p>
        </p:txBody>
      </p:sp>
      <p:sp>
        <p:nvSpPr>
          <p:cNvPr id="19" name="Text 14"/>
          <p:cNvSpPr/>
          <p:nvPr/>
        </p:nvSpPr>
        <p:spPr>
          <a:xfrm>
            <a:off x="1324273" y="5457825"/>
            <a:ext cx="3453231" cy="833065"/>
          </a:xfrm>
          <a:prstGeom prst="rect">
            <a:avLst/>
          </a:prstGeom>
          <a:noFill/>
          <a:ln/>
        </p:spPr>
        <p:txBody>
          <a:bodyPr wrap="square" lIns="25400" tIns="25400" rIns="25400" bIns="25400" rtlCol="0" anchor="t">
            <a:normAutofit lnSpcReduction="10000"/>
          </a:bodyPr>
          <a:lstStyle/>
          <a:p>
            <a:pPr marL="0" indent="0" algn="l">
              <a:lnSpc>
                <a:spcPct val="123733"/>
              </a:lnSpc>
              <a:buNone/>
            </a:pPr>
            <a:r>
              <a:rPr lang="en-US" sz="1440" dirty="0">
                <a:solidFill>
                  <a:srgbClr val="5C6B73"/>
                </a:solidFill>
                <a:latin typeface="Roboto" pitchFamily="34" charset="0"/>
                <a:ea typeface="Roboto" pitchFamily="34" charset="-122"/>
                <a:cs typeface="Roboto" pitchFamily="34" charset="-120"/>
              </a:rPr>
              <a:t>Levantamiento de procesos (con datos y no entrevistas). Con herramientas o, si no es posible, por método tradicional.</a:t>
            </a:r>
            <a:endParaRPr lang="en-US" sz="1440" dirty="0"/>
          </a:p>
        </p:txBody>
      </p:sp>
      <p:sp>
        <p:nvSpPr>
          <p:cNvPr id="20" name="Shape 15"/>
          <p:cNvSpPr/>
          <p:nvPr/>
        </p:nvSpPr>
        <p:spPr>
          <a:xfrm>
            <a:off x="1324273" y="6424240"/>
            <a:ext cx="3352651" cy="14288"/>
          </a:xfrm>
          <a:prstGeom prst="rect">
            <a:avLst/>
          </a:prstGeom>
          <a:solidFill>
            <a:srgbClr val="E2E2E6"/>
          </a:solidFill>
          <a:ln/>
        </p:spPr>
        <p:txBody>
          <a:bodyPr/>
          <a:lstStyle/>
          <a:p>
            <a:endParaRPr lang="es-ES"/>
          </a:p>
        </p:txBody>
      </p:sp>
      <p:sp>
        <p:nvSpPr>
          <p:cNvPr id="21" name="Text 16"/>
          <p:cNvSpPr/>
          <p:nvPr/>
        </p:nvSpPr>
        <p:spPr>
          <a:xfrm>
            <a:off x="1324273" y="6595690"/>
            <a:ext cx="3453231" cy="4381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D04C81"/>
                </a:solidFill>
                <a:latin typeface="JetBrains Mono" pitchFamily="34" charset="0"/>
                <a:ea typeface="JetBrains Mono" pitchFamily="34" charset="-122"/>
                <a:cs typeface="JetBrains Mono" pitchFamily="34" charset="-120"/>
              </a:rPr>
              <a:t>Celonis · SAP Signavio · Inverbis · o método tradicional</a:t>
            </a:r>
            <a:endParaRPr lang="en-US" sz="1238" dirty="0"/>
          </a:p>
        </p:txBody>
      </p:sp>
      <p:sp>
        <p:nvSpPr>
          <p:cNvPr id="22" name="Shape 17"/>
          <p:cNvSpPr/>
          <p:nvPr/>
        </p:nvSpPr>
        <p:spPr>
          <a:xfrm>
            <a:off x="5162699" y="4386263"/>
            <a:ext cx="3867001" cy="2823790"/>
          </a:xfrm>
          <a:prstGeom prst="roundRect">
            <a:avLst>
              <a:gd name="adj" fmla="val 6072"/>
            </a:avLst>
          </a:prstGeom>
          <a:solidFill>
            <a:srgbClr val="FFFFFF"/>
          </a:solidFill>
          <a:ln w="14288">
            <a:solidFill>
              <a:srgbClr val="E2E2E6"/>
            </a:solidFill>
            <a:prstDash val="solid"/>
          </a:ln>
          <a:effectLst>
            <a:outerShdw blurRad="38100" dist="19050" dir="5400000" algn="bl" rotWithShape="0">
              <a:srgbClr val="041C2C">
                <a:alpha val="7000"/>
              </a:srgbClr>
            </a:outerShdw>
          </a:effectLst>
        </p:spPr>
        <p:txBody>
          <a:bodyPr/>
          <a:lstStyle/>
          <a:p>
            <a:endParaRPr lang="es-ES"/>
          </a:p>
        </p:txBody>
      </p:sp>
      <p:sp>
        <p:nvSpPr>
          <p:cNvPr id="23" name="Text 18"/>
          <p:cNvSpPr/>
          <p:nvPr/>
        </p:nvSpPr>
        <p:spPr>
          <a:xfrm>
            <a:off x="5419874" y="4614863"/>
            <a:ext cx="3687916" cy="252413"/>
          </a:xfrm>
          <a:prstGeom prst="rect">
            <a:avLst/>
          </a:prstGeom>
          <a:noFill/>
          <a:ln/>
        </p:spPr>
        <p:txBody>
          <a:bodyPr wrap="square" lIns="25400" tIns="25400" rIns="25400" bIns="25400" rtlCol="0" anchor="t">
            <a:normAutofit/>
          </a:bodyPr>
          <a:lstStyle/>
          <a:p>
            <a:pPr marL="0" indent="0" algn="l">
              <a:buNone/>
            </a:pPr>
            <a:r>
              <a:rPr lang="en-US" sz="1294" kern="0" spc="78" dirty="0">
                <a:solidFill>
                  <a:srgbClr val="5C6B73"/>
                </a:solidFill>
                <a:latin typeface="JetBrains Mono" pitchFamily="34" charset="0"/>
                <a:ea typeface="JetBrains Mono" pitchFamily="34" charset="-122"/>
                <a:cs typeface="JetBrains Mono" pitchFamily="34" charset="-120"/>
              </a:rPr>
              <a:t>02 · Priorizar</a:t>
            </a:r>
            <a:endParaRPr lang="en-US" sz="1294" dirty="0"/>
          </a:p>
        </p:txBody>
      </p:sp>
      <p:sp>
        <p:nvSpPr>
          <p:cNvPr id="24" name="Shape 19"/>
          <p:cNvSpPr/>
          <p:nvPr/>
        </p:nvSpPr>
        <p:spPr>
          <a:xfrm>
            <a:off x="5419874" y="4957763"/>
            <a:ext cx="371475" cy="371475"/>
          </a:xfrm>
          <a:prstGeom prst="roundRect">
            <a:avLst>
              <a:gd name="adj" fmla="val 26923"/>
            </a:avLst>
          </a:prstGeom>
          <a:solidFill>
            <a:srgbClr val="FBEEF3"/>
          </a:solidFill>
          <a:ln/>
        </p:spPr>
        <p:txBody>
          <a:bodyPr/>
          <a:lstStyle/>
          <a:p>
            <a:endParaRPr lang="es-ES"/>
          </a:p>
        </p:txBody>
      </p:sp>
      <p:pic>
        <p:nvPicPr>
          <p:cNvPr id="25"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98455" y="5036344"/>
            <a:ext cx="214313" cy="214313"/>
          </a:xfrm>
          <a:prstGeom prst="rect">
            <a:avLst/>
          </a:prstGeom>
        </p:spPr>
      </p:pic>
      <p:sp>
        <p:nvSpPr>
          <p:cNvPr id="26" name="Text 20"/>
          <p:cNvSpPr/>
          <p:nvPr/>
        </p:nvSpPr>
        <p:spPr>
          <a:xfrm>
            <a:off x="5919936" y="5007769"/>
            <a:ext cx="1786987" cy="309563"/>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041C2C"/>
                </a:solidFill>
                <a:latin typeface="Barlow" pitchFamily="34" charset="0"/>
                <a:ea typeface="Barlow" pitchFamily="34" charset="-122"/>
                <a:cs typeface="Barlow" pitchFamily="34" charset="-120"/>
              </a:rPr>
              <a:t>Caso de negocio</a:t>
            </a:r>
            <a:endParaRPr lang="en-US" sz="1800" dirty="0"/>
          </a:p>
        </p:txBody>
      </p:sp>
      <p:sp>
        <p:nvSpPr>
          <p:cNvPr id="27" name="Text 21"/>
          <p:cNvSpPr/>
          <p:nvPr/>
        </p:nvSpPr>
        <p:spPr>
          <a:xfrm>
            <a:off x="5419874" y="5457825"/>
            <a:ext cx="3453231" cy="1033090"/>
          </a:xfrm>
          <a:prstGeom prst="rect">
            <a:avLst/>
          </a:prstGeom>
          <a:noFill/>
          <a:ln/>
        </p:spPr>
        <p:txBody>
          <a:bodyPr wrap="square" lIns="25400" tIns="25400" rIns="25400" bIns="25400" rtlCol="0" anchor="t">
            <a:normAutofit/>
          </a:bodyPr>
          <a:lstStyle/>
          <a:p>
            <a:pPr marL="0" indent="0" algn="l">
              <a:lnSpc>
                <a:spcPct val="123733"/>
              </a:lnSpc>
              <a:buNone/>
            </a:pPr>
            <a:r>
              <a:rPr lang="en-US" sz="1440" dirty="0">
                <a:solidFill>
                  <a:srgbClr val="5C6B73"/>
                </a:solidFill>
                <a:latin typeface="Roboto" pitchFamily="34" charset="0"/>
                <a:ea typeface="Roboto" pitchFamily="34" charset="-122"/>
                <a:cs typeface="Roboto" pitchFamily="34" charset="-120"/>
              </a:rPr>
              <a:t>Decidimos qué procesos merecen inversión por coste, riesgo y volumen. No automatizamos por automatizar.</a:t>
            </a:r>
            <a:endParaRPr lang="en-US" sz="1440" dirty="0"/>
          </a:p>
        </p:txBody>
      </p:sp>
      <p:sp>
        <p:nvSpPr>
          <p:cNvPr id="28" name="Shape 22"/>
          <p:cNvSpPr/>
          <p:nvPr/>
        </p:nvSpPr>
        <p:spPr>
          <a:xfrm>
            <a:off x="5419874" y="6624265"/>
            <a:ext cx="3352651" cy="14288"/>
          </a:xfrm>
          <a:prstGeom prst="rect">
            <a:avLst/>
          </a:prstGeom>
          <a:solidFill>
            <a:srgbClr val="E2E2E6"/>
          </a:solidFill>
          <a:ln/>
        </p:spPr>
        <p:txBody>
          <a:bodyPr/>
          <a:lstStyle/>
          <a:p>
            <a:endParaRPr lang="es-ES"/>
          </a:p>
        </p:txBody>
      </p:sp>
      <p:sp>
        <p:nvSpPr>
          <p:cNvPr id="29" name="Text 23"/>
          <p:cNvSpPr/>
          <p:nvPr/>
        </p:nvSpPr>
        <p:spPr>
          <a:xfrm>
            <a:off x="5419874" y="6795715"/>
            <a:ext cx="3453231" cy="238125"/>
          </a:xfrm>
          <a:prstGeom prst="rect">
            <a:avLst/>
          </a:prstGeom>
          <a:noFill/>
          <a:ln/>
        </p:spPr>
        <p:txBody>
          <a:bodyPr wrap="square" lIns="25400" tIns="25400" rIns="25400" bIns="25400" rtlCol="0" anchor="t">
            <a:normAutofit lnSpcReduction="10000"/>
          </a:bodyPr>
          <a:lstStyle/>
          <a:p>
            <a:pPr marL="0" indent="0" algn="l">
              <a:buNone/>
            </a:pPr>
            <a:r>
              <a:rPr lang="en-US" sz="1238" kern="0" spc="25" dirty="0">
                <a:solidFill>
                  <a:srgbClr val="D04C81"/>
                </a:solidFill>
                <a:latin typeface="JetBrains Mono" pitchFamily="34" charset="0"/>
                <a:ea typeface="JetBrains Mono" pitchFamily="34" charset="-122"/>
                <a:cs typeface="JetBrains Mono" pitchFamily="34" charset="-120"/>
              </a:rPr>
              <a:t>Diagnóstico · priorización y coste</a:t>
            </a:r>
            <a:endParaRPr lang="en-US" sz="1238" dirty="0"/>
          </a:p>
        </p:txBody>
      </p:sp>
      <p:sp>
        <p:nvSpPr>
          <p:cNvPr id="30" name="Shape 24"/>
          <p:cNvSpPr/>
          <p:nvPr/>
        </p:nvSpPr>
        <p:spPr>
          <a:xfrm>
            <a:off x="9258300" y="4386263"/>
            <a:ext cx="3867001" cy="2823790"/>
          </a:xfrm>
          <a:prstGeom prst="roundRect">
            <a:avLst>
              <a:gd name="adj" fmla="val 6072"/>
            </a:avLst>
          </a:prstGeom>
          <a:solidFill>
            <a:srgbClr val="FFFFFF"/>
          </a:solidFill>
          <a:ln w="14288">
            <a:solidFill>
              <a:srgbClr val="E2E2E6"/>
            </a:solidFill>
            <a:prstDash val="solid"/>
          </a:ln>
          <a:effectLst>
            <a:outerShdw blurRad="38100" dist="19050" dir="5400000" algn="bl" rotWithShape="0">
              <a:srgbClr val="041C2C">
                <a:alpha val="7000"/>
              </a:srgbClr>
            </a:outerShdw>
          </a:effectLst>
        </p:spPr>
        <p:txBody>
          <a:bodyPr/>
          <a:lstStyle/>
          <a:p>
            <a:endParaRPr lang="es-ES"/>
          </a:p>
        </p:txBody>
      </p:sp>
      <p:sp>
        <p:nvSpPr>
          <p:cNvPr id="31" name="Text 25"/>
          <p:cNvSpPr/>
          <p:nvPr/>
        </p:nvSpPr>
        <p:spPr>
          <a:xfrm>
            <a:off x="9515475" y="4614863"/>
            <a:ext cx="3687916" cy="252413"/>
          </a:xfrm>
          <a:prstGeom prst="rect">
            <a:avLst/>
          </a:prstGeom>
          <a:noFill/>
          <a:ln/>
        </p:spPr>
        <p:txBody>
          <a:bodyPr wrap="square" lIns="25400" tIns="25400" rIns="25400" bIns="25400" rtlCol="0" anchor="t">
            <a:normAutofit/>
          </a:bodyPr>
          <a:lstStyle/>
          <a:p>
            <a:pPr marL="0" indent="0" algn="l">
              <a:buNone/>
            </a:pPr>
            <a:r>
              <a:rPr lang="en-US" sz="1294" kern="0" spc="78" dirty="0">
                <a:solidFill>
                  <a:srgbClr val="5C6B73"/>
                </a:solidFill>
                <a:latin typeface="JetBrains Mono" pitchFamily="34" charset="0"/>
                <a:ea typeface="JetBrains Mono" pitchFamily="34" charset="-122"/>
                <a:cs typeface="JetBrains Mono" pitchFamily="34" charset="-120"/>
              </a:rPr>
              <a:t>03 · Implantar</a:t>
            </a:r>
            <a:endParaRPr lang="en-US" sz="1294" dirty="0"/>
          </a:p>
        </p:txBody>
      </p:sp>
      <p:sp>
        <p:nvSpPr>
          <p:cNvPr id="32" name="Shape 26"/>
          <p:cNvSpPr/>
          <p:nvPr/>
        </p:nvSpPr>
        <p:spPr>
          <a:xfrm>
            <a:off x="9515475" y="4957763"/>
            <a:ext cx="371475" cy="371475"/>
          </a:xfrm>
          <a:prstGeom prst="roundRect">
            <a:avLst>
              <a:gd name="adj" fmla="val 26923"/>
            </a:avLst>
          </a:prstGeom>
          <a:solidFill>
            <a:srgbClr val="FBEEF3"/>
          </a:solidFill>
          <a:ln/>
        </p:spPr>
        <p:txBody>
          <a:bodyPr/>
          <a:lstStyle/>
          <a:p>
            <a:endParaRPr lang="es-ES"/>
          </a:p>
        </p:txBody>
      </p:sp>
      <p:pic>
        <p:nvPicPr>
          <p:cNvPr id="33"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94056" y="5036344"/>
            <a:ext cx="214313" cy="214313"/>
          </a:xfrm>
          <a:prstGeom prst="rect">
            <a:avLst/>
          </a:prstGeom>
        </p:spPr>
      </p:pic>
      <p:sp>
        <p:nvSpPr>
          <p:cNvPr id="34" name="Text 27"/>
          <p:cNvSpPr/>
          <p:nvPr/>
        </p:nvSpPr>
        <p:spPr>
          <a:xfrm>
            <a:off x="10015538" y="5007769"/>
            <a:ext cx="2461067" cy="309563"/>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041C2C"/>
                </a:solidFill>
                <a:latin typeface="Barlow" pitchFamily="34" charset="0"/>
                <a:ea typeface="Barlow" pitchFamily="34" charset="-122"/>
                <a:cs typeface="Barlow" pitchFamily="34" charset="-120"/>
              </a:rPr>
              <a:t>Mejoras en producción</a:t>
            </a:r>
            <a:endParaRPr lang="en-US" sz="1800" dirty="0"/>
          </a:p>
        </p:txBody>
      </p:sp>
      <p:sp>
        <p:nvSpPr>
          <p:cNvPr id="35" name="Text 28"/>
          <p:cNvSpPr/>
          <p:nvPr/>
        </p:nvSpPr>
        <p:spPr>
          <a:xfrm>
            <a:off x="9515475" y="5457825"/>
            <a:ext cx="3453231" cy="1033090"/>
          </a:xfrm>
          <a:prstGeom prst="rect">
            <a:avLst/>
          </a:prstGeom>
          <a:noFill/>
          <a:ln/>
        </p:spPr>
        <p:txBody>
          <a:bodyPr wrap="square" lIns="25400" tIns="25400" rIns="25400" bIns="25400" rtlCol="0" anchor="t">
            <a:normAutofit/>
          </a:bodyPr>
          <a:lstStyle/>
          <a:p>
            <a:pPr marL="0" indent="0" algn="l">
              <a:lnSpc>
                <a:spcPct val="123733"/>
              </a:lnSpc>
              <a:buNone/>
            </a:pPr>
            <a:r>
              <a:rPr lang="en-US" sz="1440" dirty="0">
                <a:solidFill>
                  <a:srgbClr val="5C6B73"/>
                </a:solidFill>
                <a:latin typeface="Roboto" pitchFamily="34" charset="0"/>
                <a:ea typeface="Roboto" pitchFamily="34" charset="-122"/>
                <a:cs typeface="Roboto" pitchFamily="34" charset="-120"/>
              </a:rPr>
              <a:t>Rediseño, módulos de sistema, RPA, IA y formación para que el equipo lo adopte.</a:t>
            </a:r>
            <a:endParaRPr lang="en-US" sz="1440" dirty="0"/>
          </a:p>
        </p:txBody>
      </p:sp>
      <p:sp>
        <p:nvSpPr>
          <p:cNvPr id="36" name="Shape 29"/>
          <p:cNvSpPr/>
          <p:nvPr/>
        </p:nvSpPr>
        <p:spPr>
          <a:xfrm>
            <a:off x="9515475" y="6624265"/>
            <a:ext cx="3352651" cy="14288"/>
          </a:xfrm>
          <a:prstGeom prst="rect">
            <a:avLst/>
          </a:prstGeom>
          <a:solidFill>
            <a:srgbClr val="E2E2E6"/>
          </a:solidFill>
          <a:ln/>
        </p:spPr>
        <p:txBody>
          <a:bodyPr/>
          <a:lstStyle/>
          <a:p>
            <a:endParaRPr lang="es-ES"/>
          </a:p>
        </p:txBody>
      </p:sp>
      <p:sp>
        <p:nvSpPr>
          <p:cNvPr id="37" name="Text 30"/>
          <p:cNvSpPr/>
          <p:nvPr/>
        </p:nvSpPr>
        <p:spPr>
          <a:xfrm>
            <a:off x="9515475" y="6795715"/>
            <a:ext cx="3453231" cy="238125"/>
          </a:xfrm>
          <a:prstGeom prst="rect">
            <a:avLst/>
          </a:prstGeom>
          <a:noFill/>
          <a:ln/>
        </p:spPr>
        <p:txBody>
          <a:bodyPr wrap="square" lIns="25400" tIns="25400" rIns="25400" bIns="25400" rtlCol="0" anchor="t">
            <a:normAutofit lnSpcReduction="10000"/>
          </a:bodyPr>
          <a:lstStyle/>
          <a:p>
            <a:pPr marL="0" indent="0" algn="l">
              <a:buNone/>
            </a:pPr>
            <a:r>
              <a:rPr lang="en-US" sz="1238" kern="0" spc="25" dirty="0">
                <a:solidFill>
                  <a:srgbClr val="D04C81"/>
                </a:solidFill>
                <a:latin typeface="JetBrains Mono" pitchFamily="34" charset="0"/>
                <a:ea typeface="JetBrains Mono" pitchFamily="34" charset="-122"/>
                <a:cs typeface="JetBrains Mono" pitchFamily="34" charset="-120"/>
              </a:rPr>
              <a:t>RPA · RPA+IA · Agentes · Formación</a:t>
            </a:r>
            <a:endParaRPr lang="en-US" sz="1238" dirty="0"/>
          </a:p>
        </p:txBody>
      </p:sp>
      <p:sp>
        <p:nvSpPr>
          <p:cNvPr id="38" name="Shape 31"/>
          <p:cNvSpPr/>
          <p:nvPr/>
        </p:nvSpPr>
        <p:spPr>
          <a:xfrm>
            <a:off x="13353901" y="4386263"/>
            <a:ext cx="3867001" cy="2823790"/>
          </a:xfrm>
          <a:prstGeom prst="roundRect">
            <a:avLst>
              <a:gd name="adj" fmla="val 6072"/>
            </a:avLst>
          </a:prstGeom>
          <a:solidFill>
            <a:srgbClr val="FFFFFF"/>
          </a:solidFill>
          <a:ln w="14288">
            <a:solidFill>
              <a:srgbClr val="E2E2E6"/>
            </a:solidFill>
            <a:prstDash val="solid"/>
          </a:ln>
          <a:effectLst>
            <a:outerShdw blurRad="38100" dist="19050" dir="5400000" algn="bl" rotWithShape="0">
              <a:srgbClr val="041C2C">
                <a:alpha val="7000"/>
              </a:srgbClr>
            </a:outerShdw>
          </a:effectLst>
        </p:spPr>
        <p:txBody>
          <a:bodyPr/>
          <a:lstStyle/>
          <a:p>
            <a:endParaRPr lang="es-ES"/>
          </a:p>
        </p:txBody>
      </p:sp>
      <p:sp>
        <p:nvSpPr>
          <p:cNvPr id="39" name="Text 32"/>
          <p:cNvSpPr/>
          <p:nvPr/>
        </p:nvSpPr>
        <p:spPr>
          <a:xfrm>
            <a:off x="13611076" y="4614863"/>
            <a:ext cx="3687916" cy="252413"/>
          </a:xfrm>
          <a:prstGeom prst="rect">
            <a:avLst/>
          </a:prstGeom>
          <a:noFill/>
          <a:ln/>
        </p:spPr>
        <p:txBody>
          <a:bodyPr wrap="square" lIns="25400" tIns="25400" rIns="25400" bIns="25400" rtlCol="0" anchor="t">
            <a:normAutofit/>
          </a:bodyPr>
          <a:lstStyle/>
          <a:p>
            <a:pPr marL="0" indent="0" algn="l">
              <a:buNone/>
            </a:pPr>
            <a:r>
              <a:rPr lang="en-US" sz="1294" kern="0" spc="78" dirty="0">
                <a:solidFill>
                  <a:srgbClr val="5C6B73"/>
                </a:solidFill>
                <a:latin typeface="JetBrains Mono" pitchFamily="34" charset="0"/>
                <a:ea typeface="JetBrains Mono" pitchFamily="34" charset="-122"/>
                <a:cs typeface="JetBrains Mono" pitchFamily="34" charset="-120"/>
              </a:rPr>
              <a:t>04 · Gobernar</a:t>
            </a:r>
            <a:endParaRPr lang="en-US" sz="1294" dirty="0"/>
          </a:p>
        </p:txBody>
      </p:sp>
      <p:sp>
        <p:nvSpPr>
          <p:cNvPr id="40" name="Shape 33"/>
          <p:cNvSpPr/>
          <p:nvPr/>
        </p:nvSpPr>
        <p:spPr>
          <a:xfrm>
            <a:off x="13611076" y="4957763"/>
            <a:ext cx="371475" cy="371475"/>
          </a:xfrm>
          <a:prstGeom prst="roundRect">
            <a:avLst>
              <a:gd name="adj" fmla="val 26923"/>
            </a:avLst>
          </a:prstGeom>
          <a:solidFill>
            <a:srgbClr val="FBEEF3"/>
          </a:solidFill>
          <a:ln/>
        </p:spPr>
        <p:txBody>
          <a:bodyPr/>
          <a:lstStyle/>
          <a:p>
            <a:endParaRPr lang="es-ES"/>
          </a:p>
        </p:txBody>
      </p:sp>
      <p:pic>
        <p:nvPicPr>
          <p:cNvPr id="41"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689657" y="5036344"/>
            <a:ext cx="214313" cy="214313"/>
          </a:xfrm>
          <a:prstGeom prst="rect">
            <a:avLst/>
          </a:prstGeom>
        </p:spPr>
      </p:pic>
      <p:sp>
        <p:nvSpPr>
          <p:cNvPr id="42" name="Text 34"/>
          <p:cNvSpPr/>
          <p:nvPr/>
        </p:nvSpPr>
        <p:spPr>
          <a:xfrm>
            <a:off x="14111139" y="5007769"/>
            <a:ext cx="1371734" cy="309563"/>
          </a:xfrm>
          <a:prstGeom prst="rect">
            <a:avLst/>
          </a:prstGeom>
          <a:noFill/>
          <a:ln/>
        </p:spPr>
        <p:txBody>
          <a:bodyPr wrap="square" lIns="25400" tIns="25400" rIns="25400" bIns="25400" rtlCol="0" anchor="t">
            <a:normAutofit lnSpcReduction="10000"/>
          </a:bodyPr>
          <a:lstStyle/>
          <a:p>
            <a:pPr marL="0" indent="0" algn="l">
              <a:buNone/>
            </a:pPr>
            <a:r>
              <a:rPr lang="en-US" sz="1800" b="1" kern="0" spc="-18" dirty="0">
                <a:solidFill>
                  <a:srgbClr val="041C2C"/>
                </a:solidFill>
                <a:latin typeface="Barlow" pitchFamily="34" charset="0"/>
                <a:ea typeface="Barlow" pitchFamily="34" charset="-122"/>
                <a:cs typeface="Barlow" pitchFamily="34" charset="-120"/>
              </a:rPr>
              <a:t>Audit-Ready</a:t>
            </a:r>
            <a:endParaRPr lang="en-US" sz="1800" dirty="0"/>
          </a:p>
        </p:txBody>
      </p:sp>
      <p:sp>
        <p:nvSpPr>
          <p:cNvPr id="43" name="Text 35"/>
          <p:cNvSpPr/>
          <p:nvPr/>
        </p:nvSpPr>
        <p:spPr>
          <a:xfrm>
            <a:off x="13611076" y="5457825"/>
            <a:ext cx="3453231" cy="833065"/>
          </a:xfrm>
          <a:prstGeom prst="rect">
            <a:avLst/>
          </a:prstGeom>
          <a:noFill/>
          <a:ln/>
        </p:spPr>
        <p:txBody>
          <a:bodyPr wrap="square" lIns="25400" tIns="25400" rIns="25400" bIns="25400" rtlCol="0" anchor="t">
            <a:normAutofit lnSpcReduction="10000"/>
          </a:bodyPr>
          <a:lstStyle/>
          <a:p>
            <a:pPr marL="0" indent="0" algn="l">
              <a:lnSpc>
                <a:spcPct val="123733"/>
              </a:lnSpc>
              <a:buNone/>
            </a:pPr>
            <a:r>
              <a:rPr lang="en-US" sz="1440" dirty="0">
                <a:solidFill>
                  <a:srgbClr val="5C6B73"/>
                </a:solidFill>
                <a:latin typeface="Roboto" pitchFamily="34" charset="0"/>
                <a:ea typeface="Roboto" pitchFamily="34" charset="-122"/>
                <a:cs typeface="Roboto" pitchFamily="34" charset="-120"/>
              </a:rPr>
              <a:t>Dejamos el proceso medido, orquestado y auditable, con seguimiento continuo de eficiencia, ROI y gobernanza.</a:t>
            </a:r>
            <a:endParaRPr lang="en-US" sz="1440" dirty="0"/>
          </a:p>
        </p:txBody>
      </p:sp>
      <p:sp>
        <p:nvSpPr>
          <p:cNvPr id="44" name="Shape 36"/>
          <p:cNvSpPr/>
          <p:nvPr/>
        </p:nvSpPr>
        <p:spPr>
          <a:xfrm>
            <a:off x="13611076" y="6424240"/>
            <a:ext cx="3352651" cy="14288"/>
          </a:xfrm>
          <a:prstGeom prst="rect">
            <a:avLst/>
          </a:prstGeom>
          <a:solidFill>
            <a:srgbClr val="E2E2E6"/>
          </a:solidFill>
          <a:ln/>
        </p:spPr>
        <p:txBody>
          <a:bodyPr/>
          <a:lstStyle/>
          <a:p>
            <a:endParaRPr lang="es-ES"/>
          </a:p>
        </p:txBody>
      </p:sp>
      <p:sp>
        <p:nvSpPr>
          <p:cNvPr id="45" name="Text 37"/>
          <p:cNvSpPr/>
          <p:nvPr/>
        </p:nvSpPr>
        <p:spPr>
          <a:xfrm>
            <a:off x="13611076" y="6595690"/>
            <a:ext cx="3453231" cy="4381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D04C81"/>
                </a:solidFill>
                <a:latin typeface="JetBrains Mono" pitchFamily="34" charset="0"/>
                <a:ea typeface="JetBrains Mono" pitchFamily="34" charset="-122"/>
                <a:cs typeface="JetBrains Mono" pitchFamily="34" charset="-120"/>
              </a:rPr>
              <a:t>Orquestación · trazabilidad · ROI · evidencia regulatoria</a:t>
            </a:r>
            <a:endParaRPr lang="en-US" sz="1238" dirty="0"/>
          </a:p>
        </p:txBody>
      </p:sp>
      <p:sp>
        <p:nvSpPr>
          <p:cNvPr id="46" name="Shape 38"/>
          <p:cNvSpPr/>
          <p:nvPr/>
        </p:nvSpPr>
        <p:spPr>
          <a:xfrm>
            <a:off x="1067098" y="7410078"/>
            <a:ext cx="16153805" cy="1781473"/>
          </a:xfrm>
          <a:prstGeom prst="roundRect">
            <a:avLst>
              <a:gd name="adj" fmla="val 11228"/>
            </a:avLst>
          </a:prstGeom>
          <a:solidFill>
            <a:srgbClr val="041C2C"/>
          </a:solidFill>
          <a:ln/>
        </p:spPr>
        <p:txBody>
          <a:bodyPr/>
          <a:lstStyle/>
          <a:p>
            <a:endParaRPr lang="es-ES"/>
          </a:p>
        </p:txBody>
      </p:sp>
      <p:sp>
        <p:nvSpPr>
          <p:cNvPr id="47" name="Text 39"/>
          <p:cNvSpPr/>
          <p:nvPr/>
        </p:nvSpPr>
        <p:spPr>
          <a:xfrm>
            <a:off x="1467148" y="7581528"/>
            <a:ext cx="7704155" cy="252413"/>
          </a:xfrm>
          <a:prstGeom prst="rect">
            <a:avLst/>
          </a:prstGeom>
          <a:noFill/>
          <a:ln/>
        </p:spPr>
        <p:txBody>
          <a:bodyPr wrap="square" lIns="25400" tIns="25400" rIns="25400" bIns="25400" rtlCol="0" anchor="t">
            <a:normAutofit/>
          </a:bodyPr>
          <a:lstStyle/>
          <a:p>
            <a:pPr marL="0" indent="0" algn="l">
              <a:buNone/>
            </a:pPr>
            <a:r>
              <a:rPr lang="en-US" sz="1294" kern="0" spc="155" dirty="0">
                <a:solidFill>
                  <a:srgbClr val="D04C81"/>
                </a:solidFill>
                <a:latin typeface="JetBrains Mono" pitchFamily="34" charset="0"/>
                <a:ea typeface="JetBrains Mono" pitchFamily="34" charset="-122"/>
                <a:cs typeface="JetBrains Mono" pitchFamily="34" charset="-120"/>
              </a:rPr>
              <a:t>EN PRODUCCIÓN · CREDENCIALES</a:t>
            </a:r>
            <a:endParaRPr lang="en-US" sz="1294" dirty="0"/>
          </a:p>
        </p:txBody>
      </p:sp>
      <p:sp>
        <p:nvSpPr>
          <p:cNvPr id="48" name="Text 40"/>
          <p:cNvSpPr/>
          <p:nvPr/>
        </p:nvSpPr>
        <p:spPr>
          <a:xfrm>
            <a:off x="1467148" y="7924428"/>
            <a:ext cx="7213890" cy="616744"/>
          </a:xfrm>
          <a:prstGeom prst="rect">
            <a:avLst/>
          </a:prstGeom>
          <a:noFill/>
          <a:ln/>
        </p:spPr>
        <p:txBody>
          <a:bodyPr wrap="square" lIns="25400" tIns="25400" rIns="25400" bIns="25400" rtlCol="0" anchor="t">
            <a:normAutofit/>
          </a:bodyPr>
          <a:lstStyle/>
          <a:p>
            <a:pPr marL="0" indent="0" algn="l">
              <a:lnSpc>
                <a:spcPct val="126563"/>
              </a:lnSpc>
              <a:buNone/>
            </a:pPr>
            <a:r>
              <a:rPr lang="en-US" sz="1519" dirty="0">
                <a:solidFill>
                  <a:srgbClr val="C2D4DD"/>
                </a:solidFill>
                <a:latin typeface="Roboto" pitchFamily="34" charset="0"/>
                <a:ea typeface="Roboto" pitchFamily="34" charset="-122"/>
                <a:cs typeface="Roboto" pitchFamily="34" charset="-120"/>
              </a:rPr>
              <a:t>Partner Celonis que más clientes nuevos cerró en 2024. Lanbide (Gobierno Vasco, +4 años), EJIE, UNED (+40 robots en producción).</a:t>
            </a:r>
            <a:endParaRPr lang="en-US" sz="1519" dirty="0"/>
          </a:p>
        </p:txBody>
      </p:sp>
      <p:sp>
        <p:nvSpPr>
          <p:cNvPr id="49" name="Shape 41"/>
          <p:cNvSpPr/>
          <p:nvPr/>
        </p:nvSpPr>
        <p:spPr>
          <a:xfrm>
            <a:off x="8956700" y="7581528"/>
            <a:ext cx="14288" cy="1438573"/>
          </a:xfrm>
          <a:prstGeom prst="rect">
            <a:avLst/>
          </a:prstGeom>
          <a:solidFill>
            <a:srgbClr val="1E4256"/>
          </a:solidFill>
          <a:ln/>
        </p:spPr>
        <p:txBody>
          <a:bodyPr/>
          <a:lstStyle/>
          <a:p>
            <a:endParaRPr lang="es-ES"/>
          </a:p>
        </p:txBody>
      </p:sp>
      <p:sp>
        <p:nvSpPr>
          <p:cNvPr id="50" name="Text 42"/>
          <p:cNvSpPr/>
          <p:nvPr/>
        </p:nvSpPr>
        <p:spPr>
          <a:xfrm>
            <a:off x="9456762" y="7581528"/>
            <a:ext cx="5632802" cy="252413"/>
          </a:xfrm>
          <a:prstGeom prst="rect">
            <a:avLst/>
          </a:prstGeom>
          <a:noFill/>
          <a:ln/>
        </p:spPr>
        <p:txBody>
          <a:bodyPr wrap="square" lIns="25400" tIns="25400" rIns="25400" bIns="25400" rtlCol="0" anchor="t">
            <a:normAutofit/>
          </a:bodyPr>
          <a:lstStyle/>
          <a:p>
            <a:pPr marL="0" indent="0" algn="l">
              <a:buNone/>
            </a:pPr>
            <a:r>
              <a:rPr lang="en-US" sz="1294" kern="0" spc="155" dirty="0">
                <a:solidFill>
                  <a:srgbClr val="D04C81"/>
                </a:solidFill>
                <a:latin typeface="JetBrains Mono" pitchFamily="34" charset="0"/>
                <a:ea typeface="JetBrains Mono" pitchFamily="34" charset="-122"/>
                <a:cs typeface="JetBrains Mono" pitchFamily="34" charset="-120"/>
              </a:rPr>
              <a:t>POR QUÉ AHORA</a:t>
            </a:r>
            <a:endParaRPr lang="en-US" sz="1294" dirty="0"/>
          </a:p>
        </p:txBody>
      </p:sp>
      <p:sp>
        <p:nvSpPr>
          <p:cNvPr id="51" name="Shape 43"/>
          <p:cNvSpPr/>
          <p:nvPr/>
        </p:nvSpPr>
        <p:spPr>
          <a:xfrm>
            <a:off x="9456762" y="7924428"/>
            <a:ext cx="2503215" cy="385763"/>
          </a:xfrm>
          <a:prstGeom prst="roundRect">
            <a:avLst>
              <a:gd name="adj" fmla="val 50000"/>
            </a:avLst>
          </a:prstGeom>
          <a:ln w="14288">
            <a:solidFill>
              <a:srgbClr val="1E4256"/>
            </a:solidFill>
            <a:prstDash val="solid"/>
          </a:ln>
        </p:spPr>
        <p:txBody>
          <a:bodyPr/>
          <a:lstStyle/>
          <a:p>
            <a:endParaRPr lang="es-ES"/>
          </a:p>
        </p:txBody>
      </p:sp>
      <p:sp>
        <p:nvSpPr>
          <p:cNvPr id="52" name="Text 44"/>
          <p:cNvSpPr/>
          <p:nvPr/>
        </p:nvSpPr>
        <p:spPr>
          <a:xfrm>
            <a:off x="9656787" y="8010153"/>
            <a:ext cx="2179365" cy="252413"/>
          </a:xfrm>
          <a:prstGeom prst="rect">
            <a:avLst/>
          </a:prstGeom>
          <a:noFill/>
          <a:ln/>
        </p:spPr>
        <p:txBody>
          <a:bodyPr wrap="none" lIns="25400" tIns="25400" rIns="25400" bIns="25400" rtlCol="0" anchor="t">
            <a:normAutofit/>
          </a:bodyPr>
          <a:lstStyle/>
          <a:p>
            <a:pPr marL="0" indent="0" algn="l">
              <a:buNone/>
            </a:pPr>
            <a:r>
              <a:rPr lang="en-US" sz="1294" kern="0" spc="52" dirty="0">
                <a:solidFill>
                  <a:srgbClr val="EAF1F4"/>
                </a:solidFill>
                <a:latin typeface="JetBrains Mono" pitchFamily="34" charset="0"/>
                <a:ea typeface="JetBrains Mono" pitchFamily="34" charset="-122"/>
                <a:cs typeface="JetBrains Mono" pitchFamily="34" charset="-120"/>
              </a:rPr>
              <a:t>EU AI ACT · DIC 2027</a:t>
            </a:r>
            <a:endParaRPr lang="en-US" sz="1294" dirty="0"/>
          </a:p>
        </p:txBody>
      </p:sp>
      <p:sp>
        <p:nvSpPr>
          <p:cNvPr id="53" name="Shape 45"/>
          <p:cNvSpPr/>
          <p:nvPr/>
        </p:nvSpPr>
        <p:spPr>
          <a:xfrm>
            <a:off x="12074277" y="7924428"/>
            <a:ext cx="2503215" cy="385763"/>
          </a:xfrm>
          <a:prstGeom prst="roundRect">
            <a:avLst>
              <a:gd name="adj" fmla="val 50000"/>
            </a:avLst>
          </a:prstGeom>
          <a:ln w="14288">
            <a:solidFill>
              <a:srgbClr val="1E4256"/>
            </a:solidFill>
            <a:prstDash val="solid"/>
          </a:ln>
        </p:spPr>
        <p:txBody>
          <a:bodyPr/>
          <a:lstStyle/>
          <a:p>
            <a:endParaRPr lang="es-ES"/>
          </a:p>
        </p:txBody>
      </p:sp>
      <p:sp>
        <p:nvSpPr>
          <p:cNvPr id="54" name="Text 46"/>
          <p:cNvSpPr/>
          <p:nvPr/>
        </p:nvSpPr>
        <p:spPr>
          <a:xfrm>
            <a:off x="12274302" y="8010153"/>
            <a:ext cx="2179365" cy="252413"/>
          </a:xfrm>
          <a:prstGeom prst="rect">
            <a:avLst/>
          </a:prstGeom>
          <a:noFill/>
          <a:ln/>
        </p:spPr>
        <p:txBody>
          <a:bodyPr wrap="none" lIns="25400" tIns="25400" rIns="25400" bIns="25400" rtlCol="0" anchor="t">
            <a:normAutofit/>
          </a:bodyPr>
          <a:lstStyle/>
          <a:p>
            <a:pPr marL="0" indent="0" algn="l">
              <a:buNone/>
            </a:pPr>
            <a:r>
              <a:rPr lang="en-US" sz="1294" kern="0" spc="52" dirty="0">
                <a:solidFill>
                  <a:srgbClr val="EAF1F4"/>
                </a:solidFill>
                <a:latin typeface="JetBrains Mono" pitchFamily="34" charset="0"/>
                <a:ea typeface="JetBrains Mono" pitchFamily="34" charset="-122"/>
                <a:cs typeface="JetBrains Mono" pitchFamily="34" charset="-120"/>
              </a:rPr>
              <a:t>GARTNER MQ · LÍDERES</a:t>
            </a:r>
            <a:endParaRPr lang="en-US" sz="1294" dirty="0"/>
          </a:p>
        </p:txBody>
      </p:sp>
      <p:sp>
        <p:nvSpPr>
          <p:cNvPr id="55" name="Text 47"/>
          <p:cNvSpPr/>
          <p:nvPr/>
        </p:nvSpPr>
        <p:spPr>
          <a:xfrm>
            <a:off x="9456762" y="8481640"/>
            <a:ext cx="5274351" cy="576560"/>
          </a:xfrm>
          <a:prstGeom prst="rect">
            <a:avLst/>
          </a:prstGeom>
          <a:noFill/>
          <a:ln/>
        </p:spPr>
        <p:txBody>
          <a:bodyPr wrap="square" lIns="25400" tIns="25400" rIns="25400" bIns="25400" rtlCol="0" anchor="t">
            <a:normAutofit lnSpcReduction="10000"/>
          </a:bodyPr>
          <a:lstStyle/>
          <a:p>
            <a:pPr marL="0" indent="0" algn="l">
              <a:lnSpc>
                <a:spcPct val="125667"/>
              </a:lnSpc>
              <a:buNone/>
            </a:pPr>
            <a:r>
              <a:rPr lang="en-US" sz="1463" dirty="0">
                <a:solidFill>
                  <a:srgbClr val="A9C0CD"/>
                </a:solidFill>
                <a:latin typeface="Roboto" pitchFamily="34" charset="0"/>
                <a:ea typeface="Roboto" pitchFamily="34" charset="-122"/>
                <a:cs typeface="Roboto" pitchFamily="34" charset="-120"/>
              </a:rPr>
              <a:t>Empieza por un Diagnóstico Data Driven · ~6 semanas, fixed price.</a:t>
            </a:r>
            <a:endParaRPr lang="en-US" sz="1463" dirty="0"/>
          </a:p>
        </p:txBody>
      </p:sp>
      <p:sp>
        <p:nvSpPr>
          <p:cNvPr id="56" name="Shape 48"/>
          <p:cNvSpPr/>
          <p:nvPr/>
        </p:nvSpPr>
        <p:spPr>
          <a:xfrm>
            <a:off x="1067098" y="9558338"/>
            <a:ext cx="16153805" cy="14288"/>
          </a:xfrm>
          <a:prstGeom prst="rect">
            <a:avLst/>
          </a:prstGeom>
          <a:solidFill>
            <a:srgbClr val="041C2C">
              <a:alpha val="12000"/>
            </a:srgbClr>
          </a:solidFill>
          <a:ln/>
        </p:spPr>
        <p:txBody>
          <a:bodyPr/>
          <a:lstStyle/>
          <a:p>
            <a:endParaRPr lang="es-ES"/>
          </a:p>
        </p:txBody>
      </p:sp>
      <p:sp>
        <p:nvSpPr>
          <p:cNvPr id="57" name="Text 49"/>
          <p:cNvSpPr/>
          <p:nvPr/>
        </p:nvSpPr>
        <p:spPr>
          <a:xfrm>
            <a:off x="1067098" y="9744075"/>
            <a:ext cx="4719786" cy="238125"/>
          </a:xfrm>
          <a:prstGeom prst="rect">
            <a:avLst/>
          </a:prstGeom>
          <a:noFill/>
          <a:ln/>
        </p:spPr>
        <p:txBody>
          <a:bodyPr wrap="square" lIns="25400" tIns="25400" rIns="25400" bIns="25400" rtlCol="0" anchor="t">
            <a:normAutofit lnSpcReduction="10000"/>
          </a:bodyPr>
          <a:lstStyle/>
          <a:p>
            <a:pPr marL="0" indent="0" algn="l">
              <a:buNone/>
            </a:pPr>
            <a:r>
              <a:rPr lang="en-US" sz="1238" kern="0" spc="124" dirty="0">
                <a:solidFill>
                  <a:srgbClr val="9AA4AA"/>
                </a:solidFill>
                <a:latin typeface="JetBrains Mono" pitchFamily="34" charset="0"/>
                <a:ea typeface="JetBrains Mono" pitchFamily="34" charset="-122"/>
                <a:cs typeface="JetBrains Mono" pitchFamily="34" charset="-120"/>
              </a:rPr>
              <a:t>ENTELGY · PRESENTACIÓN CORPORATIVA 2026</a:t>
            </a:r>
            <a:endParaRPr lang="en-US" sz="1238" dirty="0"/>
          </a:p>
        </p:txBody>
      </p:sp>
      <p:sp>
        <p:nvSpPr>
          <p:cNvPr id="58" name="Text 50"/>
          <p:cNvSpPr/>
          <p:nvPr/>
        </p:nvSpPr>
        <p:spPr>
          <a:xfrm>
            <a:off x="16450717" y="9744075"/>
            <a:ext cx="846386" cy="238125"/>
          </a:xfrm>
          <a:prstGeom prst="rect">
            <a:avLst/>
          </a:prstGeom>
          <a:noFill/>
          <a:ln/>
        </p:spPr>
        <p:txBody>
          <a:bodyPr wrap="square" lIns="25400" tIns="25400" rIns="25400" bIns="25400" rtlCol="0" anchor="t">
            <a:normAutofit lnSpcReduction="10000"/>
          </a:bodyPr>
          <a:lstStyle/>
          <a:p>
            <a:pPr marL="0" indent="0" algn="l">
              <a:buNone/>
            </a:pPr>
            <a:r>
              <a:rPr lang="en-US" sz="1238" kern="0" spc="124" dirty="0">
                <a:solidFill>
                  <a:srgbClr val="9AA4AA"/>
                </a:solidFill>
                <a:latin typeface="JetBrains Mono" pitchFamily="34" charset="0"/>
                <a:ea typeface="JetBrains Mono" pitchFamily="34" charset="-122"/>
                <a:cs typeface="JetBrains Mono" pitchFamily="34" charset="-120"/>
              </a:rPr>
              <a:t>13 / 24</a:t>
            </a:r>
            <a:endParaRPr lang="en-US" sz="1238" dirty="0"/>
          </a:p>
        </p:txBody>
      </p:sp>
      <p:sp>
        <p:nvSpPr>
          <p:cNvPr id="59" name="Shape 51">
            <a:hlinkClick r:id="rId10" action="ppaction://hlinksldjump"/>
          </p:cNvPr>
          <p:cNvSpPr/>
          <p:nvPr/>
        </p:nvSpPr>
        <p:spPr>
          <a:xfrm>
            <a:off x="15379452" y="8949876"/>
            <a:ext cx="1841748"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60" name="Text 52"/>
          <p:cNvSpPr/>
          <p:nvPr/>
        </p:nvSpPr>
        <p:spPr>
          <a:xfrm>
            <a:off x="15684252" y="9092751"/>
            <a:ext cx="974973"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Continuar</a:t>
            </a:r>
            <a:endParaRPr lang="en-US" sz="1650" dirty="0"/>
          </a:p>
        </p:txBody>
      </p:sp>
      <p:pic>
        <p:nvPicPr>
          <p:cNvPr id="61" name="Image 6"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687800" y="9116787"/>
            <a:ext cx="228600" cy="228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5E3D9B"/>
          </a:solidFill>
          <a:ln/>
        </p:spPr>
        <p:txBody>
          <a:bodyPr/>
          <a:lstStyle/>
          <a:p>
            <a:endParaRPr lang="es-ES"/>
          </a:p>
        </p:txBody>
      </p:sp>
      <p:sp>
        <p:nvSpPr>
          <p:cNvPr id="5" name="Text 2"/>
          <p:cNvSpPr/>
          <p:nvPr/>
        </p:nvSpPr>
        <p:spPr>
          <a:xfrm>
            <a:off x="2076450" y="628650"/>
            <a:ext cx="5582543"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5E3D9B"/>
                </a:solidFill>
                <a:latin typeface="JetBrains Mono" pitchFamily="34" charset="0"/>
                <a:ea typeface="JetBrains Mono" pitchFamily="34" charset="-122"/>
                <a:cs typeface="JetBrains Mono" pitchFamily="34" charset="-120"/>
              </a:rPr>
              <a:t>DISCOVERY · INTELIGENCIA DE PROCESOS</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3720554"/>
            <a:ext cx="17769840" cy="563017"/>
          </a:xfrm>
          <a:prstGeom prst="rect">
            <a:avLst/>
          </a:prstGeom>
          <a:noFill/>
          <a:ln/>
        </p:spPr>
        <p:txBody>
          <a:bodyPr wrap="square" lIns="25400" tIns="25400" rIns="25400" bIns="25400" rtlCol="0" anchor="t">
            <a:normAutofit lnSpcReduction="10000"/>
          </a:bodyPr>
          <a:lstStyle/>
          <a:p>
            <a:pPr marL="0" indent="0" algn="l">
              <a:lnSpc>
                <a:spcPct val="88903"/>
              </a:lnSpc>
              <a:buNone/>
            </a:pPr>
            <a:r>
              <a:rPr lang="en-US" sz="3900" b="1" kern="0" spc="-78" dirty="0">
                <a:solidFill>
                  <a:srgbClr val="041C2C"/>
                </a:solidFill>
                <a:latin typeface="Barlow" pitchFamily="34" charset="0"/>
                <a:ea typeface="Barlow" pitchFamily="34" charset="-122"/>
                <a:cs typeface="Barlow" pitchFamily="34" charset="-120"/>
              </a:rPr>
              <a:t>¿Dónde se escapa el margen sin que lo veáis?</a:t>
            </a:r>
            <a:endParaRPr lang="en-US" sz="3900" dirty="0"/>
          </a:p>
        </p:txBody>
      </p:sp>
      <p:sp>
        <p:nvSpPr>
          <p:cNvPr id="8" name="Text 4"/>
          <p:cNvSpPr/>
          <p:nvPr/>
        </p:nvSpPr>
        <p:spPr>
          <a:xfrm>
            <a:off x="1066800" y="4388346"/>
            <a:ext cx="11319153" cy="741164"/>
          </a:xfrm>
          <a:prstGeom prst="rect">
            <a:avLst/>
          </a:prstGeom>
          <a:noFill/>
          <a:ln/>
        </p:spPr>
        <p:txBody>
          <a:bodyPr wrap="square" lIns="25400" tIns="25400" rIns="25400" bIns="25400" rtlCol="0" anchor="t">
            <a:normAutofit/>
          </a:bodyPr>
          <a:lstStyle/>
          <a:p>
            <a:pPr marL="0" indent="0" algn="l">
              <a:lnSpc>
                <a:spcPct val="115375"/>
              </a:lnSpc>
              <a:buNone/>
            </a:pPr>
            <a:r>
              <a:rPr lang="en-US" sz="1950" dirty="0">
                <a:solidFill>
                  <a:srgbClr val="041C2C">
                    <a:alpha val="80000"/>
                  </a:srgbClr>
                </a:solidFill>
                <a:latin typeface="Roboto" pitchFamily="34" charset="0"/>
                <a:ea typeface="Roboto" pitchFamily="34" charset="-122"/>
                <a:cs typeface="Roboto" pitchFamily="34" charset="-120"/>
              </a:rPr>
              <a:t>No hablamos de procesos sobre el papel, sino de dónde el proceso real genera coste, retraso o pérdida de control.</a:t>
            </a:r>
            <a:endParaRPr lang="en-US" sz="1950" dirty="0"/>
          </a:p>
        </p:txBody>
      </p:sp>
      <p:sp>
        <p:nvSpPr>
          <p:cNvPr id="9" name="Shape 5"/>
          <p:cNvSpPr/>
          <p:nvPr/>
        </p:nvSpPr>
        <p:spPr>
          <a:xfrm>
            <a:off x="1066800" y="5339060"/>
            <a:ext cx="16154400" cy="9525"/>
          </a:xfrm>
          <a:prstGeom prst="rect">
            <a:avLst/>
          </a:prstGeom>
          <a:solidFill>
            <a:srgbClr val="E5EAEF"/>
          </a:solidFill>
          <a:ln/>
        </p:spPr>
        <p:txBody>
          <a:bodyPr/>
          <a:lstStyle/>
          <a:p>
            <a:endParaRPr lang="es-ES"/>
          </a:p>
        </p:txBody>
      </p:sp>
      <p:sp>
        <p:nvSpPr>
          <p:cNvPr id="10" name="Text 6"/>
          <p:cNvSpPr/>
          <p:nvPr/>
        </p:nvSpPr>
        <p:spPr>
          <a:xfrm>
            <a:off x="1066800" y="5539085"/>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5E3D9B"/>
                </a:solidFill>
                <a:latin typeface="JetBrains Mono" pitchFamily="34" charset="0"/>
                <a:ea typeface="JetBrains Mono" pitchFamily="34" charset="-122"/>
                <a:cs typeface="JetBrains Mono" pitchFamily="34" charset="-120"/>
              </a:rPr>
              <a:t>01</a:t>
            </a:r>
            <a:endParaRPr lang="en-US" sz="1425" dirty="0"/>
          </a:p>
        </p:txBody>
      </p:sp>
      <p:sp>
        <p:nvSpPr>
          <p:cNvPr id="11" name="Text 7"/>
          <p:cNvSpPr/>
          <p:nvPr/>
        </p:nvSpPr>
        <p:spPr>
          <a:xfrm>
            <a:off x="1562100" y="5481935"/>
            <a:ext cx="8500199"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¿Qué proceso, si fallara mañana, os haría más daño en el negocio?</a:t>
            </a:r>
            <a:endParaRPr lang="en-US" sz="2175" dirty="0"/>
          </a:p>
        </p:txBody>
      </p:sp>
      <p:sp>
        <p:nvSpPr>
          <p:cNvPr id="12" name="Shape 8"/>
          <p:cNvSpPr/>
          <p:nvPr/>
        </p:nvSpPr>
        <p:spPr>
          <a:xfrm>
            <a:off x="1066800" y="5957739"/>
            <a:ext cx="16154400" cy="9525"/>
          </a:xfrm>
          <a:prstGeom prst="rect">
            <a:avLst/>
          </a:prstGeom>
          <a:solidFill>
            <a:srgbClr val="E5EAEF"/>
          </a:solidFill>
          <a:ln/>
        </p:spPr>
        <p:txBody>
          <a:bodyPr/>
          <a:lstStyle/>
          <a:p>
            <a:endParaRPr lang="es-ES"/>
          </a:p>
        </p:txBody>
      </p:sp>
      <p:sp>
        <p:nvSpPr>
          <p:cNvPr id="13" name="Text 9"/>
          <p:cNvSpPr/>
          <p:nvPr/>
        </p:nvSpPr>
        <p:spPr>
          <a:xfrm>
            <a:off x="1066800" y="6157764"/>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5E3D9B"/>
                </a:solidFill>
                <a:latin typeface="JetBrains Mono" pitchFamily="34" charset="0"/>
                <a:ea typeface="JetBrains Mono" pitchFamily="34" charset="-122"/>
                <a:cs typeface="JetBrains Mono" pitchFamily="34" charset="-120"/>
              </a:rPr>
              <a:t>02</a:t>
            </a:r>
            <a:endParaRPr lang="en-US" sz="1425" dirty="0"/>
          </a:p>
        </p:txBody>
      </p:sp>
      <p:sp>
        <p:nvSpPr>
          <p:cNvPr id="14" name="Text 10"/>
          <p:cNvSpPr/>
          <p:nvPr/>
        </p:nvSpPr>
        <p:spPr>
          <a:xfrm>
            <a:off x="1562100" y="6100614"/>
            <a:ext cx="10672971"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¿Cuánto se os escapa ahí —horas, reprocesos, margen— sin poder verlo con datos?</a:t>
            </a:r>
            <a:endParaRPr lang="en-US" sz="2175" dirty="0"/>
          </a:p>
        </p:txBody>
      </p:sp>
      <p:sp>
        <p:nvSpPr>
          <p:cNvPr id="15" name="Shape 11"/>
          <p:cNvSpPr/>
          <p:nvPr/>
        </p:nvSpPr>
        <p:spPr>
          <a:xfrm>
            <a:off x="1066800" y="6576417"/>
            <a:ext cx="16154400" cy="9525"/>
          </a:xfrm>
          <a:prstGeom prst="rect">
            <a:avLst/>
          </a:prstGeom>
          <a:solidFill>
            <a:srgbClr val="E5EAEF"/>
          </a:solidFill>
          <a:ln/>
        </p:spPr>
        <p:txBody>
          <a:bodyPr/>
          <a:lstStyle/>
          <a:p>
            <a:endParaRPr lang="es-ES"/>
          </a:p>
        </p:txBody>
      </p:sp>
      <p:sp>
        <p:nvSpPr>
          <p:cNvPr id="16" name="Text 12"/>
          <p:cNvSpPr/>
          <p:nvPr/>
        </p:nvSpPr>
        <p:spPr>
          <a:xfrm>
            <a:off x="1066800" y="6776442"/>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5E3D9B"/>
                </a:solidFill>
                <a:latin typeface="JetBrains Mono" pitchFamily="34" charset="0"/>
                <a:ea typeface="JetBrains Mono" pitchFamily="34" charset="-122"/>
                <a:cs typeface="JetBrains Mono" pitchFamily="34" charset="-120"/>
              </a:rPr>
              <a:t>03</a:t>
            </a:r>
            <a:endParaRPr lang="en-US" sz="1425" dirty="0"/>
          </a:p>
        </p:txBody>
      </p:sp>
      <p:sp>
        <p:nvSpPr>
          <p:cNvPr id="17" name="Text 13"/>
          <p:cNvSpPr/>
          <p:nvPr/>
        </p:nvSpPr>
        <p:spPr>
          <a:xfrm>
            <a:off x="1562100" y="6719292"/>
            <a:ext cx="7857961"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Si ese proceso sigue un año más como está, ¿qué os cuesta?</a:t>
            </a:r>
            <a:endParaRPr lang="en-US" sz="2175" dirty="0"/>
          </a:p>
        </p:txBody>
      </p:sp>
      <p:sp>
        <p:nvSpPr>
          <p:cNvPr id="18" name="Shape 14">
            <a:hlinkClick r:id="rId6" action="ppaction://hlinksldjump"/>
          </p:cNvPr>
          <p:cNvSpPr/>
          <p:nvPr/>
        </p:nvSpPr>
        <p:spPr>
          <a:xfrm>
            <a:off x="15692437" y="9182100"/>
            <a:ext cx="1528763"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19" name="Text 15"/>
          <p:cNvSpPr/>
          <p:nvPr/>
        </p:nvSpPr>
        <p:spPr>
          <a:xfrm>
            <a:off x="15997238" y="9324975"/>
            <a:ext cx="661988"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Cerrar</a:t>
            </a:r>
            <a:endParaRPr lang="en-US" sz="16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687800" y="9334500"/>
            <a:ext cx="228600" cy="228600"/>
          </a:xfrm>
          <a:prstGeom prst="rect">
            <a:avLst/>
          </a:prstGeom>
        </p:spPr>
      </p:pic>
      <p:sp>
        <p:nvSpPr>
          <p:cNvPr id="21" name="Text 16"/>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2" name="Text 17"/>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14 / 24</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3F6E97"/>
          </a:solidFill>
          <a:ln/>
        </p:spPr>
        <p:txBody>
          <a:bodyPr/>
          <a:lstStyle/>
          <a:p>
            <a:endParaRPr lang="es-ES"/>
          </a:p>
        </p:txBody>
      </p:sp>
      <p:sp>
        <p:nvSpPr>
          <p:cNvPr id="5" name="Text 2"/>
          <p:cNvSpPr/>
          <p:nvPr/>
        </p:nvSpPr>
        <p:spPr>
          <a:xfrm>
            <a:off x="2076450" y="628650"/>
            <a:ext cx="4807208"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3F6E97"/>
                </a:solidFill>
                <a:latin typeface="JetBrains Mono" pitchFamily="34" charset="0"/>
                <a:ea typeface="JetBrains Mono" pitchFamily="34" charset="-122"/>
                <a:cs typeface="JetBrains Mono" pitchFamily="34" charset="-120"/>
              </a:rPr>
              <a:t>PRÁCTICA 02 · CICLO DE SOFTWARE</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1860203"/>
            <a:ext cx="9154350" cy="1038225"/>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3750" b="1" kern="0" spc="-75" dirty="0">
                <a:solidFill>
                  <a:srgbClr val="041C2C"/>
                </a:solidFill>
                <a:latin typeface="Barlow" pitchFamily="34" charset="0"/>
                <a:ea typeface="Barlow" pitchFamily="34" charset="-122"/>
                <a:cs typeface="Barlow" pitchFamily="34" charset="-120"/>
              </a:rPr>
              <a:t>El ciclo de vida del software, </a:t>
            </a:r>
            <a:r>
              <a:rPr lang="en-US" sz="3750" b="1" kern="0" spc="-75" dirty="0">
                <a:solidFill>
                  <a:srgbClr val="3F6E97"/>
                </a:solidFill>
                <a:latin typeface="Barlow" pitchFamily="34" charset="0"/>
                <a:ea typeface="Barlow" pitchFamily="34" charset="-122"/>
                <a:cs typeface="Barlow" pitchFamily="34" charset="-120"/>
              </a:rPr>
              <a:t>acelerado con IA.</a:t>
            </a:r>
            <a:endParaRPr lang="en-US" sz="3750" dirty="0"/>
          </a:p>
        </p:txBody>
      </p:sp>
      <p:sp>
        <p:nvSpPr>
          <p:cNvPr id="8" name="Text 4"/>
          <p:cNvSpPr/>
          <p:nvPr/>
        </p:nvSpPr>
        <p:spPr>
          <a:xfrm>
            <a:off x="1066800" y="3069878"/>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Aceleramos cada fase del desarrollo, de los requisitos al despliegue y la monitorización, con IA y enfoque Spec-Driven.</a:t>
            </a:r>
            <a:endParaRPr lang="en-US" sz="1875" dirty="0"/>
          </a:p>
        </p:txBody>
      </p:sp>
      <p:sp>
        <p:nvSpPr>
          <p:cNvPr id="9" name="Shape 5"/>
          <p:cNvSpPr/>
          <p:nvPr/>
        </p:nvSpPr>
        <p:spPr>
          <a:xfrm>
            <a:off x="10487918" y="1860203"/>
            <a:ext cx="6733133" cy="2098328"/>
          </a:xfrm>
          <a:prstGeom prst="roundRect">
            <a:avLst>
              <a:gd name="adj" fmla="val 6355"/>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10" name="Shape 6"/>
          <p:cNvSpPr/>
          <p:nvPr/>
        </p:nvSpPr>
        <p:spPr>
          <a:xfrm>
            <a:off x="10487918" y="1860203"/>
            <a:ext cx="38100" cy="2098328"/>
          </a:xfrm>
          <a:prstGeom prst="rect">
            <a:avLst/>
          </a:prstGeom>
          <a:solidFill>
            <a:srgbClr val="3F6E97"/>
          </a:solidFill>
          <a:ln/>
        </p:spPr>
        <p:txBody>
          <a:bodyPr/>
          <a:lstStyle/>
          <a:p>
            <a:endParaRPr lang="es-ES"/>
          </a:p>
        </p:txBody>
      </p:sp>
      <p:sp>
        <p:nvSpPr>
          <p:cNvPr id="11" name="Text 7"/>
          <p:cNvSpPr/>
          <p:nvPr/>
        </p:nvSpPr>
        <p:spPr>
          <a:xfrm>
            <a:off x="10811768" y="2107853"/>
            <a:ext cx="6307239" cy="1010096"/>
          </a:xfrm>
          <a:prstGeom prst="rect">
            <a:avLst/>
          </a:prstGeom>
          <a:noFill/>
          <a:ln/>
        </p:spPr>
        <p:txBody>
          <a:bodyPr wrap="square" lIns="25400" tIns="25400" rIns="25400" bIns="25400" rtlCol="0" anchor="t">
            <a:normAutofit lnSpcReduction="10000"/>
          </a:bodyPr>
          <a:lstStyle/>
          <a:p>
            <a:pPr marL="0" indent="0" algn="l">
              <a:lnSpc>
                <a:spcPct val="106313"/>
              </a:lnSpc>
              <a:buNone/>
            </a:pPr>
            <a:r>
              <a:rPr lang="en-US" sz="2025" b="1" kern="0" spc="-20" dirty="0">
                <a:solidFill>
                  <a:srgbClr val="FFFFFF"/>
                </a:solidFill>
                <a:latin typeface="Barlow" pitchFamily="34" charset="0"/>
                <a:ea typeface="Barlow" pitchFamily="34" charset="-122"/>
                <a:cs typeface="Barlow" pitchFamily="34" charset="-120"/>
              </a:rPr>
              <a:t>El mercado vende IA que asiste al programador. </a:t>
            </a:r>
            <a:r>
              <a:rPr lang="en-US" sz="2025" b="1" kern="0" spc="-20" dirty="0">
                <a:solidFill>
                  <a:srgbClr val="9CC0DE"/>
                </a:solidFill>
                <a:latin typeface="Barlow" pitchFamily="34" charset="0"/>
                <a:ea typeface="Barlow" pitchFamily="34" charset="-122"/>
                <a:cs typeface="Barlow" pitchFamily="34" charset="-120"/>
              </a:rPr>
              <a:t>Nosotros la aplicamos a todo el ciclo de vida del software.</a:t>
            </a:r>
            <a:endParaRPr lang="en-US" sz="2025" dirty="0"/>
          </a:p>
        </p:txBody>
      </p:sp>
      <p:sp>
        <p:nvSpPr>
          <p:cNvPr id="12" name="Text 8"/>
          <p:cNvSpPr/>
          <p:nvPr/>
        </p:nvSpPr>
        <p:spPr>
          <a:xfrm>
            <a:off x="10811768" y="3203674"/>
            <a:ext cx="6307239" cy="545306"/>
          </a:xfrm>
          <a:prstGeom prst="rect">
            <a:avLst/>
          </a:prstGeom>
          <a:noFill/>
          <a:ln/>
        </p:spPr>
        <p:txBody>
          <a:bodyPr wrap="square" lIns="25400" tIns="25400" rIns="25400" bIns="25400" rtlCol="0" anchor="t">
            <a:normAutofit/>
          </a:bodyPr>
          <a:lstStyle/>
          <a:p>
            <a:pPr marL="0" indent="0" algn="l">
              <a:lnSpc>
                <a:spcPct val="121091"/>
              </a:lnSpc>
              <a:buNone/>
            </a:pPr>
            <a:r>
              <a:rPr lang="en-US" sz="1388" dirty="0">
                <a:solidFill>
                  <a:srgbClr val="FFFFFF">
                    <a:alpha val="72000"/>
                  </a:srgbClr>
                </a:solidFill>
                <a:latin typeface="Arial" pitchFamily="34" charset="0"/>
                <a:ea typeface="Arial" pitchFamily="34" charset="-122"/>
                <a:cs typeface="Arial" pitchFamily="34" charset="-120"/>
              </a:rPr>
              <a:t>MÉTODO propio sobre Spec-Driven. Más velocidad de entrega y menos coste de retrabajo. Medidos, no prometidos.</a:t>
            </a:r>
            <a:endParaRPr lang="en-US" sz="1388" dirty="0"/>
          </a:p>
        </p:txBody>
      </p:sp>
      <p:sp>
        <p:nvSpPr>
          <p:cNvPr id="13" name="Text 9"/>
          <p:cNvSpPr/>
          <p:nvPr/>
        </p:nvSpPr>
        <p:spPr>
          <a:xfrm>
            <a:off x="1066800" y="4244280"/>
            <a:ext cx="17769840"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QUÉ CONSTRUIMOS Y OPERAMOS</a:t>
            </a:r>
            <a:endParaRPr lang="en-US" sz="1350" dirty="0"/>
          </a:p>
        </p:txBody>
      </p:sp>
      <p:sp>
        <p:nvSpPr>
          <p:cNvPr id="14" name="Shape 10"/>
          <p:cNvSpPr/>
          <p:nvPr/>
        </p:nvSpPr>
        <p:spPr>
          <a:xfrm>
            <a:off x="1066800" y="4615755"/>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15" name="Shape 11"/>
          <p:cNvSpPr/>
          <p:nvPr/>
        </p:nvSpPr>
        <p:spPr>
          <a:xfrm>
            <a:off x="1066800" y="7425630"/>
            <a:ext cx="3910013" cy="9525"/>
          </a:xfrm>
          <a:prstGeom prst="rect">
            <a:avLst/>
          </a:prstGeom>
          <a:solidFill>
            <a:srgbClr val="C8D2DA"/>
          </a:solidFill>
          <a:ln/>
        </p:spPr>
        <p:txBody>
          <a:bodyPr/>
          <a:lstStyle/>
          <a:p>
            <a:endParaRPr lang="es-ES"/>
          </a:p>
        </p:txBody>
      </p:sp>
      <p:sp>
        <p:nvSpPr>
          <p:cNvPr id="16" name="Shape 12"/>
          <p:cNvSpPr/>
          <p:nvPr/>
        </p:nvSpPr>
        <p:spPr>
          <a:xfrm>
            <a:off x="1066800" y="4615755"/>
            <a:ext cx="3910013" cy="28575"/>
          </a:xfrm>
          <a:prstGeom prst="rect">
            <a:avLst/>
          </a:prstGeom>
          <a:solidFill>
            <a:srgbClr val="3F6E97"/>
          </a:solidFill>
          <a:ln/>
        </p:spPr>
        <p:txBody>
          <a:bodyPr/>
          <a:lstStyle/>
          <a:p>
            <a:endParaRPr lang="es-ES"/>
          </a:p>
        </p:txBody>
      </p:sp>
      <p:sp>
        <p:nvSpPr>
          <p:cNvPr id="17" name="Shape 13"/>
          <p:cNvSpPr/>
          <p:nvPr/>
        </p:nvSpPr>
        <p:spPr>
          <a:xfrm>
            <a:off x="1066800" y="4615755"/>
            <a:ext cx="9525" cy="2819400"/>
          </a:xfrm>
          <a:prstGeom prst="rect">
            <a:avLst/>
          </a:prstGeom>
          <a:solidFill>
            <a:srgbClr val="C8D2DA"/>
          </a:solidFill>
          <a:ln/>
        </p:spPr>
        <p:txBody>
          <a:bodyPr/>
          <a:lstStyle/>
          <a:p>
            <a:endParaRPr lang="es-ES"/>
          </a:p>
        </p:txBody>
      </p:sp>
      <p:sp>
        <p:nvSpPr>
          <p:cNvPr id="18" name="Shape 14"/>
          <p:cNvSpPr/>
          <p:nvPr/>
        </p:nvSpPr>
        <p:spPr>
          <a:xfrm>
            <a:off x="4967288" y="4615755"/>
            <a:ext cx="9525" cy="2819400"/>
          </a:xfrm>
          <a:prstGeom prst="rect">
            <a:avLst/>
          </a:prstGeom>
          <a:solidFill>
            <a:srgbClr val="C8D2DA"/>
          </a:solidFill>
          <a:ln/>
        </p:spPr>
        <p:txBody>
          <a:bodyPr/>
          <a:lstStyle/>
          <a:p>
            <a:endParaRPr lang="es-ES"/>
          </a:p>
        </p:txBody>
      </p:sp>
      <p:sp>
        <p:nvSpPr>
          <p:cNvPr id="19" name="Text 15"/>
          <p:cNvSpPr/>
          <p:nvPr/>
        </p:nvSpPr>
        <p:spPr>
          <a:xfrm>
            <a:off x="1285875" y="4834830"/>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01 · Modernizar</a:t>
            </a:r>
            <a:endParaRPr lang="en-US" sz="1200" dirty="0"/>
          </a:p>
        </p:txBody>
      </p:sp>
      <p:sp>
        <p:nvSpPr>
          <p:cNvPr id="20" name="Shape 16"/>
          <p:cNvSpPr/>
          <p:nvPr/>
        </p:nvSpPr>
        <p:spPr>
          <a:xfrm>
            <a:off x="1285875" y="5187255"/>
            <a:ext cx="419100" cy="419100"/>
          </a:xfrm>
          <a:prstGeom prst="roundRect">
            <a:avLst>
              <a:gd name="adj" fmla="val 25000"/>
            </a:avLst>
          </a:prstGeom>
          <a:solidFill>
            <a:srgbClr val="3F6E97">
              <a:alpha val="12000"/>
            </a:srgbClr>
          </a:solidFill>
          <a:ln/>
        </p:spPr>
        <p:txBody>
          <a:bodyPr/>
          <a:lstStyle/>
          <a:p>
            <a:endParaRPr lang="es-ES"/>
          </a:p>
        </p:txBody>
      </p:sp>
      <p:pic>
        <p:nvPicPr>
          <p:cNvPr id="21"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85888" y="5287268"/>
            <a:ext cx="219075" cy="219075"/>
          </a:xfrm>
          <a:prstGeom prst="rect">
            <a:avLst/>
          </a:prstGeom>
        </p:spPr>
      </p:pic>
      <p:sp>
        <p:nvSpPr>
          <p:cNvPr id="22" name="Text 17"/>
          <p:cNvSpPr/>
          <p:nvPr/>
        </p:nvSpPr>
        <p:spPr>
          <a:xfrm>
            <a:off x="1828800" y="5158680"/>
            <a:ext cx="3016806"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Modernización de aplicaciones</a:t>
            </a:r>
            <a:endParaRPr lang="en-US" sz="1763" dirty="0"/>
          </a:p>
        </p:txBody>
      </p:sp>
      <p:sp>
        <p:nvSpPr>
          <p:cNvPr id="23" name="Text 18"/>
          <p:cNvSpPr/>
          <p:nvPr/>
        </p:nvSpPr>
        <p:spPr>
          <a:xfrm>
            <a:off x="1285875" y="5758755"/>
            <a:ext cx="3576018"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Modernizamos el legacy: menos deuda y riesgo, pagado con el OPEX que ya tienes.</a:t>
            </a:r>
            <a:endParaRPr lang="en-US" sz="1500" dirty="0"/>
          </a:p>
        </p:txBody>
      </p:sp>
      <p:sp>
        <p:nvSpPr>
          <p:cNvPr id="24" name="Shape 19"/>
          <p:cNvSpPr/>
          <p:nvPr/>
        </p:nvSpPr>
        <p:spPr>
          <a:xfrm>
            <a:off x="1285875" y="6863655"/>
            <a:ext cx="3471863" cy="9525"/>
          </a:xfrm>
          <a:prstGeom prst="rect">
            <a:avLst/>
          </a:prstGeom>
          <a:solidFill>
            <a:srgbClr val="E5EAEF"/>
          </a:solidFill>
          <a:ln/>
        </p:spPr>
        <p:txBody>
          <a:bodyPr/>
          <a:lstStyle/>
          <a:p>
            <a:endParaRPr lang="es-ES"/>
          </a:p>
        </p:txBody>
      </p:sp>
      <p:sp>
        <p:nvSpPr>
          <p:cNvPr id="25" name="Text 20"/>
          <p:cNvSpPr/>
          <p:nvPr/>
        </p:nvSpPr>
        <p:spPr>
          <a:xfrm>
            <a:off x="1285875" y="7006530"/>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F6E97"/>
                </a:solidFill>
                <a:latin typeface="JetBrains Mono" pitchFamily="34" charset="0"/>
                <a:ea typeface="JetBrains Mono" pitchFamily="34" charset="-122"/>
                <a:cs typeface="JetBrains Mono" pitchFamily="34" charset="-120"/>
              </a:rPr>
              <a:t>Legacy → portfolio activo</a:t>
            </a:r>
            <a:endParaRPr lang="en-US" sz="1238" dirty="0"/>
          </a:p>
        </p:txBody>
      </p:sp>
      <p:sp>
        <p:nvSpPr>
          <p:cNvPr id="26" name="Shape 21"/>
          <p:cNvSpPr/>
          <p:nvPr/>
        </p:nvSpPr>
        <p:spPr>
          <a:xfrm>
            <a:off x="5148263" y="4615755"/>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27" name="Shape 22"/>
          <p:cNvSpPr/>
          <p:nvPr/>
        </p:nvSpPr>
        <p:spPr>
          <a:xfrm>
            <a:off x="5148263" y="7425630"/>
            <a:ext cx="3910013" cy="9525"/>
          </a:xfrm>
          <a:prstGeom prst="rect">
            <a:avLst/>
          </a:prstGeom>
          <a:solidFill>
            <a:srgbClr val="C8D2DA"/>
          </a:solidFill>
          <a:ln/>
        </p:spPr>
        <p:txBody>
          <a:bodyPr/>
          <a:lstStyle/>
          <a:p>
            <a:endParaRPr lang="es-ES"/>
          </a:p>
        </p:txBody>
      </p:sp>
      <p:sp>
        <p:nvSpPr>
          <p:cNvPr id="28" name="Shape 23"/>
          <p:cNvSpPr/>
          <p:nvPr/>
        </p:nvSpPr>
        <p:spPr>
          <a:xfrm>
            <a:off x="5148263" y="4615755"/>
            <a:ext cx="3910013" cy="28575"/>
          </a:xfrm>
          <a:prstGeom prst="rect">
            <a:avLst/>
          </a:prstGeom>
          <a:solidFill>
            <a:srgbClr val="3F6E97"/>
          </a:solidFill>
          <a:ln/>
        </p:spPr>
        <p:txBody>
          <a:bodyPr/>
          <a:lstStyle/>
          <a:p>
            <a:endParaRPr lang="es-ES"/>
          </a:p>
        </p:txBody>
      </p:sp>
      <p:sp>
        <p:nvSpPr>
          <p:cNvPr id="29" name="Shape 24"/>
          <p:cNvSpPr/>
          <p:nvPr/>
        </p:nvSpPr>
        <p:spPr>
          <a:xfrm>
            <a:off x="5148263" y="4615755"/>
            <a:ext cx="9525" cy="2819400"/>
          </a:xfrm>
          <a:prstGeom prst="rect">
            <a:avLst/>
          </a:prstGeom>
          <a:solidFill>
            <a:srgbClr val="C8D2DA"/>
          </a:solidFill>
          <a:ln/>
        </p:spPr>
        <p:txBody>
          <a:bodyPr/>
          <a:lstStyle/>
          <a:p>
            <a:endParaRPr lang="es-ES"/>
          </a:p>
        </p:txBody>
      </p:sp>
      <p:sp>
        <p:nvSpPr>
          <p:cNvPr id="30" name="Shape 25"/>
          <p:cNvSpPr/>
          <p:nvPr/>
        </p:nvSpPr>
        <p:spPr>
          <a:xfrm>
            <a:off x="9048750" y="4615755"/>
            <a:ext cx="9525" cy="2819400"/>
          </a:xfrm>
          <a:prstGeom prst="rect">
            <a:avLst/>
          </a:prstGeom>
          <a:solidFill>
            <a:srgbClr val="C8D2DA"/>
          </a:solidFill>
          <a:ln/>
        </p:spPr>
        <p:txBody>
          <a:bodyPr/>
          <a:lstStyle/>
          <a:p>
            <a:endParaRPr lang="es-ES"/>
          </a:p>
        </p:txBody>
      </p:sp>
      <p:sp>
        <p:nvSpPr>
          <p:cNvPr id="31" name="Text 26"/>
          <p:cNvSpPr/>
          <p:nvPr/>
        </p:nvSpPr>
        <p:spPr>
          <a:xfrm>
            <a:off x="5367338" y="4834830"/>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02 · Sostener</a:t>
            </a:r>
            <a:endParaRPr lang="en-US" sz="1200" dirty="0"/>
          </a:p>
        </p:txBody>
      </p:sp>
      <p:sp>
        <p:nvSpPr>
          <p:cNvPr id="32" name="Shape 27"/>
          <p:cNvSpPr/>
          <p:nvPr/>
        </p:nvSpPr>
        <p:spPr>
          <a:xfrm>
            <a:off x="5367338" y="5187255"/>
            <a:ext cx="419100" cy="419100"/>
          </a:xfrm>
          <a:prstGeom prst="roundRect">
            <a:avLst>
              <a:gd name="adj" fmla="val 25000"/>
            </a:avLst>
          </a:prstGeom>
          <a:solidFill>
            <a:srgbClr val="3F6E97">
              <a:alpha val="12000"/>
            </a:srgbClr>
          </a:solidFill>
          <a:ln/>
        </p:spPr>
        <p:txBody>
          <a:bodyPr/>
          <a:lstStyle/>
          <a:p>
            <a:endParaRPr lang="es-ES"/>
          </a:p>
        </p:txBody>
      </p:sp>
      <p:pic>
        <p:nvPicPr>
          <p:cNvPr id="33"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67350" y="5287268"/>
            <a:ext cx="219075" cy="219075"/>
          </a:xfrm>
          <a:prstGeom prst="rect">
            <a:avLst/>
          </a:prstGeom>
        </p:spPr>
      </p:pic>
      <p:sp>
        <p:nvSpPr>
          <p:cNvPr id="34" name="Text 28"/>
          <p:cNvSpPr/>
          <p:nvPr/>
        </p:nvSpPr>
        <p:spPr>
          <a:xfrm>
            <a:off x="5910263" y="5158680"/>
            <a:ext cx="2505819"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Mantenimiento evolutivo</a:t>
            </a:r>
            <a:endParaRPr lang="en-US" sz="1763" dirty="0"/>
          </a:p>
        </p:txBody>
      </p:sp>
      <p:sp>
        <p:nvSpPr>
          <p:cNvPr id="35" name="Text 29"/>
          <p:cNvSpPr/>
          <p:nvPr/>
        </p:nvSpPr>
        <p:spPr>
          <a:xfrm>
            <a:off x="5367338" y="5758755"/>
            <a:ext cx="3576018" cy="114300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Soporte deja de apagar fuegos: lo ahorrado en incidencias se reinvierte en mejorar el sistema. SLAs de productividad y calidad.</a:t>
            </a:r>
            <a:endParaRPr lang="en-US" sz="1500" dirty="0"/>
          </a:p>
        </p:txBody>
      </p:sp>
      <p:sp>
        <p:nvSpPr>
          <p:cNvPr id="36" name="Shape 30"/>
          <p:cNvSpPr/>
          <p:nvPr/>
        </p:nvSpPr>
        <p:spPr>
          <a:xfrm>
            <a:off x="5367338" y="6863655"/>
            <a:ext cx="3471863" cy="9525"/>
          </a:xfrm>
          <a:prstGeom prst="rect">
            <a:avLst/>
          </a:prstGeom>
          <a:solidFill>
            <a:srgbClr val="E5EAEF"/>
          </a:solidFill>
          <a:ln/>
        </p:spPr>
        <p:txBody>
          <a:bodyPr/>
          <a:lstStyle/>
          <a:p>
            <a:endParaRPr lang="es-ES"/>
          </a:p>
        </p:txBody>
      </p:sp>
      <p:sp>
        <p:nvSpPr>
          <p:cNvPr id="37" name="Text 31"/>
          <p:cNvSpPr/>
          <p:nvPr/>
        </p:nvSpPr>
        <p:spPr>
          <a:xfrm>
            <a:off x="5367338" y="7006530"/>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F6E97"/>
                </a:solidFill>
                <a:latin typeface="JetBrains Mono" pitchFamily="34" charset="0"/>
                <a:ea typeface="JetBrains Mono" pitchFamily="34" charset="-122"/>
                <a:cs typeface="JetBrains Mono" pitchFamily="34" charset="-120"/>
              </a:rPr>
              <a:t>Soporte que mejora el sistema</a:t>
            </a:r>
            <a:endParaRPr lang="en-US" sz="1238" dirty="0"/>
          </a:p>
        </p:txBody>
      </p:sp>
      <p:sp>
        <p:nvSpPr>
          <p:cNvPr id="38" name="Shape 32"/>
          <p:cNvSpPr/>
          <p:nvPr/>
        </p:nvSpPr>
        <p:spPr>
          <a:xfrm>
            <a:off x="9229725" y="4615755"/>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39" name="Shape 33"/>
          <p:cNvSpPr/>
          <p:nvPr/>
        </p:nvSpPr>
        <p:spPr>
          <a:xfrm>
            <a:off x="9229725" y="7425630"/>
            <a:ext cx="3910013" cy="9525"/>
          </a:xfrm>
          <a:prstGeom prst="rect">
            <a:avLst/>
          </a:prstGeom>
          <a:solidFill>
            <a:srgbClr val="C8D2DA"/>
          </a:solidFill>
          <a:ln/>
        </p:spPr>
        <p:txBody>
          <a:bodyPr/>
          <a:lstStyle/>
          <a:p>
            <a:endParaRPr lang="es-ES"/>
          </a:p>
        </p:txBody>
      </p:sp>
      <p:sp>
        <p:nvSpPr>
          <p:cNvPr id="40" name="Shape 34"/>
          <p:cNvSpPr/>
          <p:nvPr/>
        </p:nvSpPr>
        <p:spPr>
          <a:xfrm>
            <a:off x="9229725" y="4615755"/>
            <a:ext cx="3910013" cy="28575"/>
          </a:xfrm>
          <a:prstGeom prst="rect">
            <a:avLst/>
          </a:prstGeom>
          <a:solidFill>
            <a:srgbClr val="3F6E97"/>
          </a:solidFill>
          <a:ln/>
        </p:spPr>
        <p:txBody>
          <a:bodyPr/>
          <a:lstStyle/>
          <a:p>
            <a:endParaRPr lang="es-ES"/>
          </a:p>
        </p:txBody>
      </p:sp>
      <p:sp>
        <p:nvSpPr>
          <p:cNvPr id="41" name="Shape 35"/>
          <p:cNvSpPr/>
          <p:nvPr/>
        </p:nvSpPr>
        <p:spPr>
          <a:xfrm>
            <a:off x="9229725" y="4615755"/>
            <a:ext cx="9525" cy="2819400"/>
          </a:xfrm>
          <a:prstGeom prst="rect">
            <a:avLst/>
          </a:prstGeom>
          <a:solidFill>
            <a:srgbClr val="C8D2DA"/>
          </a:solidFill>
          <a:ln/>
        </p:spPr>
        <p:txBody>
          <a:bodyPr/>
          <a:lstStyle/>
          <a:p>
            <a:endParaRPr lang="es-ES"/>
          </a:p>
        </p:txBody>
      </p:sp>
      <p:sp>
        <p:nvSpPr>
          <p:cNvPr id="42" name="Shape 36"/>
          <p:cNvSpPr/>
          <p:nvPr/>
        </p:nvSpPr>
        <p:spPr>
          <a:xfrm>
            <a:off x="13130213" y="4615755"/>
            <a:ext cx="9525" cy="2819400"/>
          </a:xfrm>
          <a:prstGeom prst="rect">
            <a:avLst/>
          </a:prstGeom>
          <a:solidFill>
            <a:srgbClr val="C8D2DA"/>
          </a:solidFill>
          <a:ln/>
        </p:spPr>
        <p:txBody>
          <a:bodyPr/>
          <a:lstStyle/>
          <a:p>
            <a:endParaRPr lang="es-ES"/>
          </a:p>
        </p:txBody>
      </p:sp>
      <p:sp>
        <p:nvSpPr>
          <p:cNvPr id="43" name="Text 37"/>
          <p:cNvSpPr/>
          <p:nvPr/>
        </p:nvSpPr>
        <p:spPr>
          <a:xfrm>
            <a:off x="9448800" y="4834830"/>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03 · Especificar</a:t>
            </a:r>
            <a:endParaRPr lang="en-US" sz="1200" dirty="0"/>
          </a:p>
        </p:txBody>
      </p:sp>
      <p:sp>
        <p:nvSpPr>
          <p:cNvPr id="44" name="Shape 38"/>
          <p:cNvSpPr/>
          <p:nvPr/>
        </p:nvSpPr>
        <p:spPr>
          <a:xfrm>
            <a:off x="9448800" y="5187255"/>
            <a:ext cx="419100" cy="419100"/>
          </a:xfrm>
          <a:prstGeom prst="roundRect">
            <a:avLst>
              <a:gd name="adj" fmla="val 25000"/>
            </a:avLst>
          </a:prstGeom>
          <a:solidFill>
            <a:srgbClr val="3F6E97">
              <a:alpha val="12000"/>
            </a:srgbClr>
          </a:solidFill>
          <a:ln/>
        </p:spPr>
        <p:txBody>
          <a:bodyPr/>
          <a:lstStyle/>
          <a:p>
            <a:endParaRPr lang="es-ES"/>
          </a:p>
        </p:txBody>
      </p:sp>
      <p:pic>
        <p:nvPicPr>
          <p:cNvPr id="45"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48813" y="5287268"/>
            <a:ext cx="219075" cy="219075"/>
          </a:xfrm>
          <a:prstGeom prst="rect">
            <a:avLst/>
          </a:prstGeom>
        </p:spPr>
      </p:pic>
      <p:sp>
        <p:nvSpPr>
          <p:cNvPr id="46" name="Text 39"/>
          <p:cNvSpPr/>
          <p:nvPr/>
        </p:nvSpPr>
        <p:spPr>
          <a:xfrm>
            <a:off x="9991725" y="5158680"/>
            <a:ext cx="2657180"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Spec-Driven Development</a:t>
            </a:r>
            <a:endParaRPr lang="en-US" sz="1763" dirty="0"/>
          </a:p>
        </p:txBody>
      </p:sp>
      <p:sp>
        <p:nvSpPr>
          <p:cNvPr id="47" name="Text 40"/>
          <p:cNvSpPr/>
          <p:nvPr/>
        </p:nvSpPr>
        <p:spPr>
          <a:xfrm>
            <a:off x="9448800" y="5758755"/>
            <a:ext cx="3576018"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Firmamos la especificación antes del código. AI Act, NIS2 y RGPD cubiertos desde el diseño, no auditados después.</a:t>
            </a:r>
            <a:endParaRPr lang="en-US" sz="1500" dirty="0"/>
          </a:p>
        </p:txBody>
      </p:sp>
      <p:sp>
        <p:nvSpPr>
          <p:cNvPr id="48" name="Shape 41"/>
          <p:cNvSpPr/>
          <p:nvPr/>
        </p:nvSpPr>
        <p:spPr>
          <a:xfrm>
            <a:off x="9448800" y="6863655"/>
            <a:ext cx="3471863" cy="9525"/>
          </a:xfrm>
          <a:prstGeom prst="rect">
            <a:avLst/>
          </a:prstGeom>
          <a:solidFill>
            <a:srgbClr val="E5EAEF"/>
          </a:solidFill>
          <a:ln/>
        </p:spPr>
        <p:txBody>
          <a:bodyPr/>
          <a:lstStyle/>
          <a:p>
            <a:endParaRPr lang="es-ES"/>
          </a:p>
        </p:txBody>
      </p:sp>
      <p:sp>
        <p:nvSpPr>
          <p:cNvPr id="49" name="Text 42"/>
          <p:cNvSpPr/>
          <p:nvPr/>
        </p:nvSpPr>
        <p:spPr>
          <a:xfrm>
            <a:off x="9448800" y="7006530"/>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F6E97"/>
                </a:solidFill>
                <a:latin typeface="JetBrains Mono" pitchFamily="34" charset="0"/>
                <a:ea typeface="JetBrains Mono" pitchFamily="34" charset="-122"/>
                <a:cs typeface="JetBrains Mono" pitchFamily="34" charset="-120"/>
              </a:rPr>
              <a:t>Compliance by design</a:t>
            </a:r>
            <a:endParaRPr lang="en-US" sz="1238" dirty="0"/>
          </a:p>
        </p:txBody>
      </p:sp>
      <p:sp>
        <p:nvSpPr>
          <p:cNvPr id="50" name="Shape 43"/>
          <p:cNvSpPr/>
          <p:nvPr/>
        </p:nvSpPr>
        <p:spPr>
          <a:xfrm>
            <a:off x="13311188" y="4615755"/>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51" name="Shape 44"/>
          <p:cNvSpPr/>
          <p:nvPr/>
        </p:nvSpPr>
        <p:spPr>
          <a:xfrm>
            <a:off x="13311188" y="7425630"/>
            <a:ext cx="3910013" cy="9525"/>
          </a:xfrm>
          <a:prstGeom prst="rect">
            <a:avLst/>
          </a:prstGeom>
          <a:solidFill>
            <a:srgbClr val="C8D2DA"/>
          </a:solidFill>
          <a:ln/>
        </p:spPr>
        <p:txBody>
          <a:bodyPr/>
          <a:lstStyle/>
          <a:p>
            <a:endParaRPr lang="es-ES"/>
          </a:p>
        </p:txBody>
      </p:sp>
      <p:sp>
        <p:nvSpPr>
          <p:cNvPr id="52" name="Shape 45"/>
          <p:cNvSpPr/>
          <p:nvPr/>
        </p:nvSpPr>
        <p:spPr>
          <a:xfrm>
            <a:off x="13311188" y="4615755"/>
            <a:ext cx="3910013" cy="28575"/>
          </a:xfrm>
          <a:prstGeom prst="rect">
            <a:avLst/>
          </a:prstGeom>
          <a:solidFill>
            <a:srgbClr val="3F6E97"/>
          </a:solidFill>
          <a:ln/>
        </p:spPr>
        <p:txBody>
          <a:bodyPr/>
          <a:lstStyle/>
          <a:p>
            <a:endParaRPr lang="es-ES"/>
          </a:p>
        </p:txBody>
      </p:sp>
      <p:sp>
        <p:nvSpPr>
          <p:cNvPr id="53" name="Shape 46"/>
          <p:cNvSpPr/>
          <p:nvPr/>
        </p:nvSpPr>
        <p:spPr>
          <a:xfrm>
            <a:off x="13311188" y="4615755"/>
            <a:ext cx="9525" cy="2819400"/>
          </a:xfrm>
          <a:prstGeom prst="rect">
            <a:avLst/>
          </a:prstGeom>
          <a:solidFill>
            <a:srgbClr val="C8D2DA"/>
          </a:solidFill>
          <a:ln/>
        </p:spPr>
        <p:txBody>
          <a:bodyPr/>
          <a:lstStyle/>
          <a:p>
            <a:endParaRPr lang="es-ES"/>
          </a:p>
        </p:txBody>
      </p:sp>
      <p:sp>
        <p:nvSpPr>
          <p:cNvPr id="54" name="Shape 47"/>
          <p:cNvSpPr/>
          <p:nvPr/>
        </p:nvSpPr>
        <p:spPr>
          <a:xfrm>
            <a:off x="17211675" y="4615755"/>
            <a:ext cx="9525" cy="2819400"/>
          </a:xfrm>
          <a:prstGeom prst="rect">
            <a:avLst/>
          </a:prstGeom>
          <a:solidFill>
            <a:srgbClr val="C8D2DA"/>
          </a:solidFill>
          <a:ln/>
        </p:spPr>
        <p:txBody>
          <a:bodyPr/>
          <a:lstStyle/>
          <a:p>
            <a:endParaRPr lang="es-ES"/>
          </a:p>
        </p:txBody>
      </p:sp>
      <p:sp>
        <p:nvSpPr>
          <p:cNvPr id="55" name="Text 48"/>
          <p:cNvSpPr/>
          <p:nvPr/>
        </p:nvSpPr>
        <p:spPr>
          <a:xfrm>
            <a:off x="13530263" y="4834830"/>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04 · Aumentar</a:t>
            </a:r>
            <a:endParaRPr lang="en-US" sz="1200" dirty="0"/>
          </a:p>
        </p:txBody>
      </p:sp>
      <p:sp>
        <p:nvSpPr>
          <p:cNvPr id="56" name="Shape 49"/>
          <p:cNvSpPr/>
          <p:nvPr/>
        </p:nvSpPr>
        <p:spPr>
          <a:xfrm>
            <a:off x="13530263" y="5187255"/>
            <a:ext cx="419100" cy="419100"/>
          </a:xfrm>
          <a:prstGeom prst="roundRect">
            <a:avLst>
              <a:gd name="adj" fmla="val 25000"/>
            </a:avLst>
          </a:prstGeom>
          <a:solidFill>
            <a:srgbClr val="3F6E97">
              <a:alpha val="12000"/>
            </a:srgbClr>
          </a:solidFill>
          <a:ln/>
        </p:spPr>
        <p:txBody>
          <a:bodyPr/>
          <a:lstStyle/>
          <a:p>
            <a:endParaRPr lang="es-ES"/>
          </a:p>
        </p:txBody>
      </p:sp>
      <p:pic>
        <p:nvPicPr>
          <p:cNvPr id="57"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630275" y="5287268"/>
            <a:ext cx="219075" cy="219075"/>
          </a:xfrm>
          <a:prstGeom prst="rect">
            <a:avLst/>
          </a:prstGeom>
        </p:spPr>
      </p:pic>
      <p:sp>
        <p:nvSpPr>
          <p:cNvPr id="58" name="Text 50"/>
          <p:cNvSpPr/>
          <p:nvPr/>
        </p:nvSpPr>
        <p:spPr>
          <a:xfrm>
            <a:off x="14073188" y="5158680"/>
            <a:ext cx="3016806"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Asistencia técnica aumentada</a:t>
            </a:r>
            <a:endParaRPr lang="en-US" sz="1763" dirty="0"/>
          </a:p>
        </p:txBody>
      </p:sp>
      <p:sp>
        <p:nvSpPr>
          <p:cNvPr id="59" name="Text 51"/>
          <p:cNvSpPr/>
          <p:nvPr/>
        </p:nvSpPr>
        <p:spPr>
          <a:xfrm>
            <a:off x="13530263" y="5758755"/>
            <a:ext cx="3576018" cy="114300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Equipo en nuestros Centros de Excelencia. No vendemos horas: respondemos por el resultado, con entrega medida.</a:t>
            </a:r>
            <a:endParaRPr lang="en-US" sz="1500" dirty="0"/>
          </a:p>
        </p:txBody>
      </p:sp>
      <p:sp>
        <p:nvSpPr>
          <p:cNvPr id="60" name="Shape 52"/>
          <p:cNvSpPr/>
          <p:nvPr/>
        </p:nvSpPr>
        <p:spPr>
          <a:xfrm>
            <a:off x="13530263" y="6863655"/>
            <a:ext cx="3471863" cy="9525"/>
          </a:xfrm>
          <a:prstGeom prst="rect">
            <a:avLst/>
          </a:prstGeom>
          <a:solidFill>
            <a:srgbClr val="E5EAEF"/>
          </a:solidFill>
          <a:ln/>
        </p:spPr>
        <p:txBody>
          <a:bodyPr/>
          <a:lstStyle/>
          <a:p>
            <a:endParaRPr lang="es-ES"/>
          </a:p>
        </p:txBody>
      </p:sp>
      <p:sp>
        <p:nvSpPr>
          <p:cNvPr id="61" name="Text 53"/>
          <p:cNvSpPr/>
          <p:nvPr/>
        </p:nvSpPr>
        <p:spPr>
          <a:xfrm>
            <a:off x="13530263" y="7006530"/>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F6E97"/>
                </a:solidFill>
                <a:latin typeface="JetBrains Mono" pitchFamily="34" charset="0"/>
                <a:ea typeface="JetBrains Mono" pitchFamily="34" charset="-122"/>
                <a:cs typeface="JetBrains Mono" pitchFamily="34" charset="-120"/>
              </a:rPr>
              <a:t>4 CoE · España + LATAM</a:t>
            </a:r>
            <a:endParaRPr lang="en-US" sz="1238" dirty="0"/>
          </a:p>
        </p:txBody>
      </p:sp>
      <p:sp>
        <p:nvSpPr>
          <p:cNvPr id="62" name="Shape 54"/>
          <p:cNvSpPr/>
          <p:nvPr/>
        </p:nvSpPr>
        <p:spPr>
          <a:xfrm>
            <a:off x="1066800" y="7606605"/>
            <a:ext cx="16154400" cy="1448693"/>
          </a:xfrm>
          <a:prstGeom prst="roundRect">
            <a:avLst>
              <a:gd name="adj" fmla="val 9205"/>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63" name="Text 55"/>
          <p:cNvSpPr/>
          <p:nvPr/>
        </p:nvSpPr>
        <p:spPr>
          <a:xfrm>
            <a:off x="1390650" y="7885212"/>
            <a:ext cx="9126230"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9CC0DE"/>
                </a:solidFill>
                <a:latin typeface="JetBrains Mono" pitchFamily="34" charset="0"/>
                <a:ea typeface="JetBrains Mono" pitchFamily="34" charset="-122"/>
                <a:cs typeface="JetBrains Mono" pitchFamily="34" charset="-120"/>
              </a:rPr>
              <a:t>EN PRODUCCIÓN HOY</a:t>
            </a:r>
            <a:endParaRPr lang="en-US" sz="1125" dirty="0"/>
          </a:p>
        </p:txBody>
      </p:sp>
      <p:sp>
        <p:nvSpPr>
          <p:cNvPr id="64" name="Text 56"/>
          <p:cNvSpPr/>
          <p:nvPr/>
        </p:nvSpPr>
        <p:spPr>
          <a:xfrm>
            <a:off x="1390650" y="8209062"/>
            <a:ext cx="2613154"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+2.000</a:t>
            </a:r>
            <a:endParaRPr lang="en-US" sz="2700" dirty="0"/>
          </a:p>
        </p:txBody>
      </p:sp>
      <p:sp>
        <p:nvSpPr>
          <p:cNvPr id="65" name="Text 57"/>
          <p:cNvSpPr/>
          <p:nvPr/>
        </p:nvSpPr>
        <p:spPr>
          <a:xfrm>
            <a:off x="1390650" y="8599587"/>
            <a:ext cx="2613154"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DEVS MEDIDOS · SANTANDER</a:t>
            </a:r>
            <a:endParaRPr lang="en-US" sz="1163" dirty="0"/>
          </a:p>
        </p:txBody>
      </p:sp>
      <p:sp>
        <p:nvSpPr>
          <p:cNvPr id="66" name="Text 58"/>
          <p:cNvSpPr/>
          <p:nvPr/>
        </p:nvSpPr>
        <p:spPr>
          <a:xfrm>
            <a:off x="4090095" y="8209062"/>
            <a:ext cx="2793891"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+10,1</a:t>
            </a:r>
            <a:r>
              <a:rPr lang="en-US" sz="2700" b="1" dirty="0">
                <a:solidFill>
                  <a:srgbClr val="9CC0DE"/>
                </a:solidFill>
                <a:latin typeface="Barlow" pitchFamily="34" charset="0"/>
                <a:ea typeface="Barlow" pitchFamily="34" charset="-122"/>
                <a:cs typeface="Barlow" pitchFamily="34" charset="-120"/>
              </a:rPr>
              <a:t>%</a:t>
            </a:r>
            <a:endParaRPr lang="en-US" sz="2700" dirty="0"/>
          </a:p>
        </p:txBody>
      </p:sp>
      <p:sp>
        <p:nvSpPr>
          <p:cNvPr id="67" name="Text 59"/>
          <p:cNvSpPr/>
          <p:nvPr/>
        </p:nvSpPr>
        <p:spPr>
          <a:xfrm>
            <a:off x="4090095" y="8599587"/>
            <a:ext cx="2793891"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PRODUCTIVIDAD · FOREWORTH</a:t>
            </a:r>
            <a:endParaRPr lang="en-US" sz="1163" dirty="0"/>
          </a:p>
        </p:txBody>
      </p:sp>
      <p:sp>
        <p:nvSpPr>
          <p:cNvPr id="68" name="Text 60"/>
          <p:cNvSpPr/>
          <p:nvPr/>
        </p:nvSpPr>
        <p:spPr>
          <a:xfrm>
            <a:off x="6953845" y="8209062"/>
            <a:ext cx="2590562"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1 sem</a:t>
            </a:r>
            <a:endParaRPr lang="en-US" sz="2700" dirty="0"/>
          </a:p>
        </p:txBody>
      </p:sp>
      <p:sp>
        <p:nvSpPr>
          <p:cNvPr id="69" name="Text 61"/>
          <p:cNvSpPr/>
          <p:nvPr/>
        </p:nvSpPr>
        <p:spPr>
          <a:xfrm>
            <a:off x="6953845" y="8599587"/>
            <a:ext cx="2590562"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EN PROD. · ICO LÍNEAS DANA</a:t>
            </a:r>
            <a:endParaRPr lang="en-US" sz="1163" dirty="0"/>
          </a:p>
        </p:txBody>
      </p:sp>
      <p:sp>
        <p:nvSpPr>
          <p:cNvPr id="70" name="Shape 62"/>
          <p:cNvSpPr/>
          <p:nvPr/>
        </p:nvSpPr>
        <p:spPr>
          <a:xfrm>
            <a:off x="10106323" y="7835205"/>
            <a:ext cx="9525" cy="991493"/>
          </a:xfrm>
          <a:prstGeom prst="rect">
            <a:avLst/>
          </a:prstGeom>
          <a:solidFill>
            <a:srgbClr val="FFFFFF">
              <a:alpha val="16000"/>
            </a:srgbClr>
          </a:solidFill>
          <a:ln/>
        </p:spPr>
        <p:txBody>
          <a:bodyPr/>
          <a:lstStyle/>
          <a:p>
            <a:endParaRPr lang="es-ES"/>
          </a:p>
        </p:txBody>
      </p:sp>
      <p:sp>
        <p:nvSpPr>
          <p:cNvPr id="71" name="Text 63"/>
          <p:cNvSpPr/>
          <p:nvPr/>
        </p:nvSpPr>
        <p:spPr>
          <a:xfrm>
            <a:off x="10439698" y="7835205"/>
            <a:ext cx="5521315"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CUMPLIMIENTO CON FECHA</a:t>
            </a:r>
            <a:endParaRPr lang="en-US" sz="1125" dirty="0"/>
          </a:p>
        </p:txBody>
      </p:sp>
      <p:sp>
        <p:nvSpPr>
          <p:cNvPr id="72" name="Shape 64"/>
          <p:cNvSpPr/>
          <p:nvPr/>
        </p:nvSpPr>
        <p:spPr>
          <a:xfrm>
            <a:off x="10439698" y="8149530"/>
            <a:ext cx="174307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3" name="Text 65"/>
          <p:cNvSpPr/>
          <p:nvPr/>
        </p:nvSpPr>
        <p:spPr>
          <a:xfrm>
            <a:off x="10582573" y="8216205"/>
            <a:ext cx="15335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AI Act · dic 2027</a:t>
            </a:r>
            <a:endParaRPr lang="en-US" sz="1125" dirty="0"/>
          </a:p>
        </p:txBody>
      </p:sp>
      <p:sp>
        <p:nvSpPr>
          <p:cNvPr id="74" name="Shape 66"/>
          <p:cNvSpPr/>
          <p:nvPr/>
        </p:nvSpPr>
        <p:spPr>
          <a:xfrm>
            <a:off x="12268498" y="8149530"/>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5" name="Text 67"/>
          <p:cNvSpPr/>
          <p:nvPr/>
        </p:nvSpPr>
        <p:spPr>
          <a:xfrm>
            <a:off x="12411373" y="8216205"/>
            <a:ext cx="419100" cy="228600"/>
          </a:xfrm>
          <a:prstGeom prst="rect">
            <a:avLst/>
          </a:prstGeom>
          <a:noFill/>
          <a:ln/>
        </p:spPr>
        <p:txBody>
          <a:bodyPr wrap="square" lIns="25400" tIns="25400" rIns="25400" bIns="25400" rtlCol="0" anchor="t">
            <a:normAutofit lnSpcReduction="10000"/>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DORA</a:t>
            </a:r>
            <a:endParaRPr lang="en-US" sz="1125" dirty="0"/>
          </a:p>
        </p:txBody>
      </p:sp>
      <p:sp>
        <p:nvSpPr>
          <p:cNvPr id="76" name="Shape 68"/>
          <p:cNvSpPr/>
          <p:nvPr/>
        </p:nvSpPr>
        <p:spPr>
          <a:xfrm>
            <a:off x="12982873" y="8149530"/>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7" name="Text 69"/>
          <p:cNvSpPr/>
          <p:nvPr/>
        </p:nvSpPr>
        <p:spPr>
          <a:xfrm>
            <a:off x="13125748" y="821620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NIS2</a:t>
            </a:r>
            <a:endParaRPr lang="en-US" sz="1125" dirty="0"/>
          </a:p>
        </p:txBody>
      </p:sp>
      <p:sp>
        <p:nvSpPr>
          <p:cNvPr id="78" name="Shape 70"/>
          <p:cNvSpPr/>
          <p:nvPr/>
        </p:nvSpPr>
        <p:spPr>
          <a:xfrm>
            <a:off x="13697248" y="8149530"/>
            <a:ext cx="54292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9" name="Text 71"/>
          <p:cNvSpPr/>
          <p:nvPr/>
        </p:nvSpPr>
        <p:spPr>
          <a:xfrm>
            <a:off x="13840123" y="8216205"/>
            <a:ext cx="3333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ENS</a:t>
            </a:r>
            <a:endParaRPr lang="en-US" sz="1125" dirty="0"/>
          </a:p>
        </p:txBody>
      </p:sp>
      <p:sp>
        <p:nvSpPr>
          <p:cNvPr id="80" name="Text 72"/>
          <p:cNvSpPr/>
          <p:nvPr/>
        </p:nvSpPr>
        <p:spPr>
          <a:xfrm>
            <a:off x="10439698" y="8606730"/>
            <a:ext cx="5521315" cy="258068"/>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Empieza por un </a:t>
            </a:r>
            <a:r>
              <a:rPr lang="en-US" sz="1238" b="1" dirty="0">
                <a:solidFill>
                  <a:srgbClr val="9CC0DE"/>
                </a:solidFill>
                <a:latin typeface="Arial" pitchFamily="34" charset="0"/>
                <a:ea typeface="Arial" pitchFamily="34" charset="-122"/>
                <a:cs typeface="Arial" pitchFamily="34" charset="-120"/>
              </a:rPr>
              <a:t>Assessment de modernización </a:t>
            </a:r>
            <a:r>
              <a:rPr lang="en-US" sz="1238" dirty="0">
                <a:solidFill>
                  <a:srgbClr val="FFFFFF">
                    <a:alpha val="62000"/>
                  </a:srgbClr>
                </a:solidFill>
                <a:latin typeface="Arial" pitchFamily="34" charset="0"/>
                <a:ea typeface="Arial" pitchFamily="34" charset="-122"/>
                <a:cs typeface="Arial" pitchFamily="34" charset="-120"/>
              </a:rPr>
              <a:t>· 2 semanas.</a:t>
            </a:r>
            <a:endParaRPr lang="en-US" sz="1238" dirty="0"/>
          </a:p>
        </p:txBody>
      </p:sp>
      <p:sp>
        <p:nvSpPr>
          <p:cNvPr id="81" name="Shape 73">
            <a:hlinkClick r:id="rId10" action="ppaction://hlinksldjump"/>
          </p:cNvPr>
          <p:cNvSpPr/>
          <p:nvPr/>
        </p:nvSpPr>
        <p:spPr>
          <a:xfrm>
            <a:off x="15379452" y="9182100"/>
            <a:ext cx="1841748"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82" name="Text 74"/>
          <p:cNvSpPr/>
          <p:nvPr/>
        </p:nvSpPr>
        <p:spPr>
          <a:xfrm>
            <a:off x="15684252" y="9324975"/>
            <a:ext cx="974973"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Continuar</a:t>
            </a:r>
            <a:endParaRPr lang="en-US" sz="1650" dirty="0"/>
          </a:p>
        </p:txBody>
      </p:sp>
      <p:pic>
        <p:nvPicPr>
          <p:cNvPr id="83" name="Image 6"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687800" y="9334500"/>
            <a:ext cx="228600" cy="228600"/>
          </a:xfrm>
          <a:prstGeom prst="rect">
            <a:avLst/>
          </a:prstGeom>
        </p:spPr>
      </p:pic>
      <p:sp>
        <p:nvSpPr>
          <p:cNvPr id="84" name="Text 75"/>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85" name="Text 76"/>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15 / 24</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4D7CA8"/>
          </a:solidFill>
          <a:ln/>
        </p:spPr>
        <p:txBody>
          <a:bodyPr/>
          <a:lstStyle/>
          <a:p>
            <a:endParaRPr lang="es-ES"/>
          </a:p>
        </p:txBody>
      </p:sp>
      <p:sp>
        <p:nvSpPr>
          <p:cNvPr id="5" name="Text 2"/>
          <p:cNvSpPr/>
          <p:nvPr/>
        </p:nvSpPr>
        <p:spPr>
          <a:xfrm>
            <a:off x="2076450" y="628650"/>
            <a:ext cx="4496976"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4D7CA8"/>
                </a:solidFill>
                <a:latin typeface="JetBrains Mono" pitchFamily="34" charset="0"/>
                <a:ea typeface="JetBrains Mono" pitchFamily="34" charset="-122"/>
                <a:cs typeface="JetBrains Mono" pitchFamily="34" charset="-120"/>
              </a:rPr>
              <a:t>DISCOVERY · CICLO DE SOFTWARE</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3896320"/>
            <a:ext cx="17769840" cy="563017"/>
          </a:xfrm>
          <a:prstGeom prst="rect">
            <a:avLst/>
          </a:prstGeom>
          <a:noFill/>
          <a:ln/>
        </p:spPr>
        <p:txBody>
          <a:bodyPr wrap="square" lIns="25400" tIns="25400" rIns="25400" bIns="25400" rtlCol="0" anchor="t">
            <a:normAutofit lnSpcReduction="10000"/>
          </a:bodyPr>
          <a:lstStyle/>
          <a:p>
            <a:pPr marL="0" indent="0" algn="l">
              <a:lnSpc>
                <a:spcPct val="88903"/>
              </a:lnSpc>
              <a:buNone/>
            </a:pPr>
            <a:r>
              <a:rPr lang="en-US" sz="3900" b="1" kern="0" spc="-78" dirty="0">
                <a:solidFill>
                  <a:srgbClr val="041C2C"/>
                </a:solidFill>
                <a:latin typeface="Barlow" pitchFamily="34" charset="0"/>
                <a:ea typeface="Barlow" pitchFamily="34" charset="-122"/>
                <a:cs typeface="Barlow" pitchFamily="34" charset="-120"/>
              </a:rPr>
              <a:t>¿Cuánto te cuesta sostener lo que ya tienes?</a:t>
            </a:r>
            <a:endParaRPr lang="en-US" sz="3900" dirty="0"/>
          </a:p>
        </p:txBody>
      </p:sp>
      <p:sp>
        <p:nvSpPr>
          <p:cNvPr id="8" name="Text 4"/>
          <p:cNvSpPr/>
          <p:nvPr/>
        </p:nvSpPr>
        <p:spPr>
          <a:xfrm>
            <a:off x="1066800" y="4564112"/>
            <a:ext cx="12088416" cy="389632"/>
          </a:xfrm>
          <a:prstGeom prst="rect">
            <a:avLst/>
          </a:prstGeom>
          <a:noFill/>
          <a:ln/>
        </p:spPr>
        <p:txBody>
          <a:bodyPr wrap="square" lIns="25400" tIns="25400" rIns="25400" bIns="25400" rtlCol="0" anchor="t">
            <a:normAutofit/>
          </a:bodyPr>
          <a:lstStyle/>
          <a:p>
            <a:pPr marL="0" indent="0" algn="l">
              <a:lnSpc>
                <a:spcPct val="115375"/>
              </a:lnSpc>
              <a:buNone/>
            </a:pPr>
            <a:r>
              <a:rPr lang="en-US" sz="1950" dirty="0">
                <a:solidFill>
                  <a:srgbClr val="041C2C">
                    <a:alpha val="80000"/>
                  </a:srgbClr>
                </a:solidFill>
                <a:latin typeface="Roboto" pitchFamily="34" charset="0"/>
                <a:ea typeface="Roboto" pitchFamily="34" charset="-122"/>
                <a:cs typeface="Roboto" pitchFamily="34" charset="-120"/>
              </a:rPr>
              <a:t>Buscamos dónde el ciclo de vida del software se come presupuesto, quita velocidad o mete riesgo.</a:t>
            </a:r>
            <a:endParaRPr lang="en-US" sz="1950" dirty="0"/>
          </a:p>
        </p:txBody>
      </p:sp>
      <p:sp>
        <p:nvSpPr>
          <p:cNvPr id="9" name="Shape 5"/>
          <p:cNvSpPr/>
          <p:nvPr/>
        </p:nvSpPr>
        <p:spPr>
          <a:xfrm>
            <a:off x="1066800" y="5163294"/>
            <a:ext cx="16154400" cy="9525"/>
          </a:xfrm>
          <a:prstGeom prst="rect">
            <a:avLst/>
          </a:prstGeom>
          <a:solidFill>
            <a:srgbClr val="E5EAEF"/>
          </a:solidFill>
          <a:ln/>
        </p:spPr>
        <p:txBody>
          <a:bodyPr/>
          <a:lstStyle/>
          <a:p>
            <a:endParaRPr lang="es-ES"/>
          </a:p>
        </p:txBody>
      </p:sp>
      <p:sp>
        <p:nvSpPr>
          <p:cNvPr id="10" name="Text 6"/>
          <p:cNvSpPr/>
          <p:nvPr/>
        </p:nvSpPr>
        <p:spPr>
          <a:xfrm>
            <a:off x="1066800" y="5363319"/>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4D7CA8"/>
                </a:solidFill>
                <a:latin typeface="JetBrains Mono" pitchFamily="34" charset="0"/>
                <a:ea typeface="JetBrains Mono" pitchFamily="34" charset="-122"/>
                <a:cs typeface="JetBrains Mono" pitchFamily="34" charset="-120"/>
              </a:rPr>
              <a:t>01</a:t>
            </a:r>
            <a:endParaRPr lang="en-US" sz="1425" dirty="0"/>
          </a:p>
        </p:txBody>
      </p:sp>
      <p:sp>
        <p:nvSpPr>
          <p:cNvPr id="11" name="Text 7"/>
          <p:cNvSpPr/>
          <p:nvPr/>
        </p:nvSpPr>
        <p:spPr>
          <a:xfrm>
            <a:off x="1562100" y="5306169"/>
            <a:ext cx="6813322"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¿Qué parte de vuestro portfolio da más miedo tocar?</a:t>
            </a:r>
            <a:endParaRPr lang="en-US" sz="2175" dirty="0"/>
          </a:p>
        </p:txBody>
      </p:sp>
      <p:sp>
        <p:nvSpPr>
          <p:cNvPr id="12" name="Shape 8"/>
          <p:cNvSpPr/>
          <p:nvPr/>
        </p:nvSpPr>
        <p:spPr>
          <a:xfrm>
            <a:off x="1066800" y="5781973"/>
            <a:ext cx="16154400" cy="9525"/>
          </a:xfrm>
          <a:prstGeom prst="rect">
            <a:avLst/>
          </a:prstGeom>
          <a:solidFill>
            <a:srgbClr val="E5EAEF"/>
          </a:solidFill>
          <a:ln/>
        </p:spPr>
        <p:txBody>
          <a:bodyPr/>
          <a:lstStyle/>
          <a:p>
            <a:endParaRPr lang="es-ES"/>
          </a:p>
        </p:txBody>
      </p:sp>
      <p:sp>
        <p:nvSpPr>
          <p:cNvPr id="13" name="Text 9"/>
          <p:cNvSpPr/>
          <p:nvPr/>
        </p:nvSpPr>
        <p:spPr>
          <a:xfrm>
            <a:off x="1066800" y="5981998"/>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4D7CA8"/>
                </a:solidFill>
                <a:latin typeface="JetBrains Mono" pitchFamily="34" charset="0"/>
                <a:ea typeface="JetBrains Mono" pitchFamily="34" charset="-122"/>
                <a:cs typeface="JetBrains Mono" pitchFamily="34" charset="-120"/>
              </a:rPr>
              <a:t>02</a:t>
            </a:r>
            <a:endParaRPr lang="en-US" sz="1425" dirty="0"/>
          </a:p>
        </p:txBody>
      </p:sp>
      <p:sp>
        <p:nvSpPr>
          <p:cNvPr id="14" name="Text 10"/>
          <p:cNvSpPr/>
          <p:nvPr/>
        </p:nvSpPr>
        <p:spPr>
          <a:xfrm>
            <a:off x="1562100" y="5924848"/>
            <a:ext cx="13681978"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¿Qué proporción del presupuesto se va en sostener lo que ya tenéis, en vez de construir lo que necesitáis?</a:t>
            </a:r>
            <a:endParaRPr lang="en-US" sz="2175" dirty="0"/>
          </a:p>
        </p:txBody>
      </p:sp>
      <p:sp>
        <p:nvSpPr>
          <p:cNvPr id="15" name="Shape 11"/>
          <p:cNvSpPr/>
          <p:nvPr/>
        </p:nvSpPr>
        <p:spPr>
          <a:xfrm>
            <a:off x="1066800" y="6400651"/>
            <a:ext cx="16154400" cy="9525"/>
          </a:xfrm>
          <a:prstGeom prst="rect">
            <a:avLst/>
          </a:prstGeom>
          <a:solidFill>
            <a:srgbClr val="E5EAEF"/>
          </a:solidFill>
          <a:ln/>
        </p:spPr>
        <p:txBody>
          <a:bodyPr/>
          <a:lstStyle/>
          <a:p>
            <a:endParaRPr lang="es-ES"/>
          </a:p>
        </p:txBody>
      </p:sp>
      <p:sp>
        <p:nvSpPr>
          <p:cNvPr id="16" name="Text 12"/>
          <p:cNvSpPr/>
          <p:nvPr/>
        </p:nvSpPr>
        <p:spPr>
          <a:xfrm>
            <a:off x="1066800" y="6600676"/>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4D7CA8"/>
                </a:solidFill>
                <a:latin typeface="JetBrains Mono" pitchFamily="34" charset="0"/>
                <a:ea typeface="JetBrains Mono" pitchFamily="34" charset="-122"/>
                <a:cs typeface="JetBrains Mono" pitchFamily="34" charset="-120"/>
              </a:rPr>
              <a:t>03</a:t>
            </a:r>
            <a:endParaRPr lang="en-US" sz="1425" dirty="0"/>
          </a:p>
        </p:txBody>
      </p:sp>
      <p:sp>
        <p:nvSpPr>
          <p:cNvPr id="17" name="Text 13"/>
          <p:cNvSpPr/>
          <p:nvPr/>
        </p:nvSpPr>
        <p:spPr>
          <a:xfrm>
            <a:off x="1562100" y="6543526"/>
            <a:ext cx="8764920"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¿Cuánto os frena eso para sacar al mercado lo que negocio os pide?</a:t>
            </a:r>
            <a:endParaRPr lang="en-US" sz="2175" dirty="0"/>
          </a:p>
        </p:txBody>
      </p:sp>
      <p:sp>
        <p:nvSpPr>
          <p:cNvPr id="18" name="Shape 14">
            <a:hlinkClick r:id="rId6" action="ppaction://hlinksldjump"/>
          </p:cNvPr>
          <p:cNvSpPr/>
          <p:nvPr/>
        </p:nvSpPr>
        <p:spPr>
          <a:xfrm>
            <a:off x="15692437" y="9182100"/>
            <a:ext cx="1528763"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19" name="Text 15"/>
          <p:cNvSpPr/>
          <p:nvPr/>
        </p:nvSpPr>
        <p:spPr>
          <a:xfrm>
            <a:off x="15997238" y="9324975"/>
            <a:ext cx="661988"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Cerrar</a:t>
            </a:r>
            <a:endParaRPr lang="en-US" sz="16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687800" y="9334500"/>
            <a:ext cx="228600" cy="228600"/>
          </a:xfrm>
          <a:prstGeom prst="rect">
            <a:avLst/>
          </a:prstGeom>
        </p:spPr>
      </p:pic>
      <p:sp>
        <p:nvSpPr>
          <p:cNvPr id="21" name="Text 16"/>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2" name="Text 17"/>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16 / 24</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2F7B53"/>
          </a:solidFill>
          <a:ln/>
        </p:spPr>
        <p:txBody>
          <a:bodyPr/>
          <a:lstStyle/>
          <a:p>
            <a:endParaRPr lang="es-ES"/>
          </a:p>
        </p:txBody>
      </p:sp>
      <p:sp>
        <p:nvSpPr>
          <p:cNvPr id="5" name="Text 2"/>
          <p:cNvSpPr/>
          <p:nvPr/>
        </p:nvSpPr>
        <p:spPr>
          <a:xfrm>
            <a:off x="2076450" y="628650"/>
            <a:ext cx="3566606"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2F7B53"/>
                </a:solidFill>
                <a:latin typeface="JetBrains Mono" pitchFamily="34" charset="0"/>
                <a:ea typeface="JetBrains Mono" pitchFamily="34" charset="-122"/>
                <a:cs typeface="JetBrains Mono" pitchFamily="34" charset="-120"/>
              </a:rPr>
              <a:t>PRÁCTICA 03 · DATA &amp; AI</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1561951"/>
            <a:ext cx="9776490" cy="538163"/>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3750" b="1" kern="0" spc="-75" dirty="0">
                <a:solidFill>
                  <a:srgbClr val="041C2C"/>
                </a:solidFill>
                <a:latin typeface="Barlow" pitchFamily="34" charset="0"/>
                <a:ea typeface="Barlow" pitchFamily="34" charset="-122"/>
                <a:cs typeface="Barlow" pitchFamily="34" charset="-120"/>
              </a:rPr>
              <a:t>El dato que decide. </a:t>
            </a:r>
            <a:r>
              <a:rPr lang="en-US" sz="3750" b="1" kern="0" spc="-75" dirty="0">
                <a:solidFill>
                  <a:srgbClr val="3A8E63"/>
                </a:solidFill>
                <a:latin typeface="Barlow" pitchFamily="34" charset="0"/>
                <a:ea typeface="Barlow" pitchFamily="34" charset="-122"/>
                <a:cs typeface="Barlow" pitchFamily="34" charset="-120"/>
              </a:rPr>
              <a:t>La IA que cumple.</a:t>
            </a:r>
            <a:endParaRPr lang="en-US" sz="3750" dirty="0"/>
          </a:p>
        </p:txBody>
      </p:sp>
      <p:sp>
        <p:nvSpPr>
          <p:cNvPr id="8" name="Text 4"/>
          <p:cNvSpPr/>
          <p:nvPr/>
        </p:nvSpPr>
        <p:spPr>
          <a:xfrm>
            <a:off x="1066800" y="2271564"/>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Gobierno del dato y de los modelos de IA, analítica de negocio y conformidad, en sectores regulados.</a:t>
            </a:r>
            <a:endParaRPr lang="en-US" sz="1875" dirty="0"/>
          </a:p>
        </p:txBody>
      </p:sp>
      <p:sp>
        <p:nvSpPr>
          <p:cNvPr id="9" name="Shape 5"/>
          <p:cNvSpPr/>
          <p:nvPr/>
        </p:nvSpPr>
        <p:spPr>
          <a:xfrm>
            <a:off x="10487918" y="1561951"/>
            <a:ext cx="6733133" cy="1520726"/>
          </a:xfrm>
          <a:prstGeom prst="roundRect">
            <a:avLst>
              <a:gd name="adj" fmla="val 8769"/>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10" name="Shape 6"/>
          <p:cNvSpPr/>
          <p:nvPr/>
        </p:nvSpPr>
        <p:spPr>
          <a:xfrm>
            <a:off x="10487918" y="1561951"/>
            <a:ext cx="38100" cy="1520726"/>
          </a:xfrm>
          <a:prstGeom prst="rect">
            <a:avLst/>
          </a:prstGeom>
          <a:solidFill>
            <a:srgbClr val="3A8E63"/>
          </a:solidFill>
          <a:ln/>
        </p:spPr>
        <p:txBody>
          <a:bodyPr/>
          <a:lstStyle/>
          <a:p>
            <a:endParaRPr lang="es-ES"/>
          </a:p>
        </p:txBody>
      </p:sp>
      <p:sp>
        <p:nvSpPr>
          <p:cNvPr id="11" name="Text 7"/>
          <p:cNvSpPr/>
          <p:nvPr/>
        </p:nvSpPr>
        <p:spPr>
          <a:xfrm>
            <a:off x="10811768" y="1809601"/>
            <a:ext cx="6307239" cy="686098"/>
          </a:xfrm>
          <a:prstGeom prst="rect">
            <a:avLst/>
          </a:prstGeom>
          <a:noFill/>
          <a:ln/>
        </p:spPr>
        <p:txBody>
          <a:bodyPr wrap="square" lIns="25400" tIns="25400" rIns="25400" bIns="25400" rtlCol="0" anchor="t">
            <a:normAutofit lnSpcReduction="10000"/>
          </a:bodyPr>
          <a:lstStyle/>
          <a:p>
            <a:pPr marL="0" indent="0" algn="l">
              <a:lnSpc>
                <a:spcPct val="106313"/>
              </a:lnSpc>
              <a:buNone/>
            </a:pPr>
            <a:r>
              <a:rPr lang="en-US" sz="2025" b="1" kern="0" spc="-20" dirty="0">
                <a:solidFill>
                  <a:srgbClr val="FFFFFF"/>
                </a:solidFill>
                <a:latin typeface="Barlow" pitchFamily="34" charset="0"/>
                <a:ea typeface="Barlow" pitchFamily="34" charset="-122"/>
                <a:cs typeface="Barlow" pitchFamily="34" charset="-120"/>
              </a:rPr>
              <a:t>El mercado vende la plataforma y promete IA. </a:t>
            </a:r>
            <a:r>
              <a:rPr lang="en-US" sz="2025" b="1" kern="0" spc="-20" dirty="0">
                <a:solidFill>
                  <a:srgbClr val="8FD3AD"/>
                </a:solidFill>
                <a:latin typeface="Barlow" pitchFamily="34" charset="0"/>
                <a:ea typeface="Barlow" pitchFamily="34" charset="-122"/>
                <a:cs typeface="Barlow" pitchFamily="34" charset="-120"/>
              </a:rPr>
              <a:t>Nosotros gobernamos el dato y los modelos.</a:t>
            </a:r>
            <a:endParaRPr lang="en-US" sz="2025" dirty="0"/>
          </a:p>
        </p:txBody>
      </p:sp>
      <p:sp>
        <p:nvSpPr>
          <p:cNvPr id="12" name="Text 8"/>
          <p:cNvSpPr/>
          <p:nvPr/>
        </p:nvSpPr>
        <p:spPr>
          <a:xfrm>
            <a:off x="10811768" y="2581424"/>
            <a:ext cx="6735887" cy="291703"/>
          </a:xfrm>
          <a:prstGeom prst="rect">
            <a:avLst/>
          </a:prstGeom>
          <a:noFill/>
          <a:ln/>
        </p:spPr>
        <p:txBody>
          <a:bodyPr wrap="square" lIns="25400" tIns="25400" rIns="25400" bIns="25400" rtlCol="0" anchor="t">
            <a:normAutofit/>
          </a:bodyPr>
          <a:lstStyle/>
          <a:p>
            <a:pPr marL="0" indent="0" algn="l">
              <a:lnSpc>
                <a:spcPct val="121091"/>
              </a:lnSpc>
              <a:buNone/>
            </a:pPr>
            <a:r>
              <a:rPr lang="en-US" sz="1388" dirty="0">
                <a:solidFill>
                  <a:srgbClr val="FFFFFF">
                    <a:alpha val="72000"/>
                  </a:srgbClr>
                </a:solidFill>
                <a:latin typeface="Arial" pitchFamily="34" charset="0"/>
                <a:ea typeface="Arial" pitchFamily="34" charset="-122"/>
                <a:cs typeface="Arial" pitchFamily="34" charset="-120"/>
              </a:rPr>
              <a:t>Respondemos de que el dato decida y la IA cumpla con la normativa vigente.</a:t>
            </a:r>
            <a:endParaRPr lang="en-US" sz="1388" dirty="0"/>
          </a:p>
        </p:txBody>
      </p:sp>
      <p:sp>
        <p:nvSpPr>
          <p:cNvPr id="13" name="Text 9"/>
          <p:cNvSpPr/>
          <p:nvPr/>
        </p:nvSpPr>
        <p:spPr>
          <a:xfrm>
            <a:off x="1066800" y="3368427"/>
            <a:ext cx="17769840"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QUÉ CONSTRUIMOS Y OPERAMOS</a:t>
            </a:r>
            <a:endParaRPr lang="en-US" sz="1350" dirty="0"/>
          </a:p>
        </p:txBody>
      </p:sp>
      <p:sp>
        <p:nvSpPr>
          <p:cNvPr id="14" name="Shape 10"/>
          <p:cNvSpPr/>
          <p:nvPr/>
        </p:nvSpPr>
        <p:spPr>
          <a:xfrm>
            <a:off x="1066800" y="3739902"/>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15" name="Shape 11"/>
          <p:cNvSpPr/>
          <p:nvPr/>
        </p:nvSpPr>
        <p:spPr>
          <a:xfrm>
            <a:off x="1066800" y="6549777"/>
            <a:ext cx="3910013" cy="9525"/>
          </a:xfrm>
          <a:prstGeom prst="rect">
            <a:avLst/>
          </a:prstGeom>
          <a:solidFill>
            <a:srgbClr val="C8D2DA"/>
          </a:solidFill>
          <a:ln/>
        </p:spPr>
        <p:txBody>
          <a:bodyPr/>
          <a:lstStyle/>
          <a:p>
            <a:endParaRPr lang="es-ES"/>
          </a:p>
        </p:txBody>
      </p:sp>
      <p:sp>
        <p:nvSpPr>
          <p:cNvPr id="16" name="Shape 12"/>
          <p:cNvSpPr/>
          <p:nvPr/>
        </p:nvSpPr>
        <p:spPr>
          <a:xfrm>
            <a:off x="1066800" y="3739902"/>
            <a:ext cx="3910013" cy="28575"/>
          </a:xfrm>
          <a:prstGeom prst="rect">
            <a:avLst/>
          </a:prstGeom>
          <a:solidFill>
            <a:srgbClr val="3A8E63"/>
          </a:solidFill>
          <a:ln/>
        </p:spPr>
        <p:txBody>
          <a:bodyPr/>
          <a:lstStyle/>
          <a:p>
            <a:endParaRPr lang="es-ES"/>
          </a:p>
        </p:txBody>
      </p:sp>
      <p:sp>
        <p:nvSpPr>
          <p:cNvPr id="17" name="Shape 13"/>
          <p:cNvSpPr/>
          <p:nvPr/>
        </p:nvSpPr>
        <p:spPr>
          <a:xfrm>
            <a:off x="1066800" y="3739902"/>
            <a:ext cx="9525" cy="2819400"/>
          </a:xfrm>
          <a:prstGeom prst="rect">
            <a:avLst/>
          </a:prstGeom>
          <a:solidFill>
            <a:srgbClr val="C8D2DA"/>
          </a:solidFill>
          <a:ln/>
        </p:spPr>
        <p:txBody>
          <a:bodyPr/>
          <a:lstStyle/>
          <a:p>
            <a:endParaRPr lang="es-ES"/>
          </a:p>
        </p:txBody>
      </p:sp>
      <p:sp>
        <p:nvSpPr>
          <p:cNvPr id="18" name="Shape 14"/>
          <p:cNvSpPr/>
          <p:nvPr/>
        </p:nvSpPr>
        <p:spPr>
          <a:xfrm>
            <a:off x="4967288" y="3739902"/>
            <a:ext cx="9525" cy="2819400"/>
          </a:xfrm>
          <a:prstGeom prst="rect">
            <a:avLst/>
          </a:prstGeom>
          <a:solidFill>
            <a:srgbClr val="C8D2DA"/>
          </a:solidFill>
          <a:ln/>
        </p:spPr>
        <p:txBody>
          <a:bodyPr/>
          <a:lstStyle/>
          <a:p>
            <a:endParaRPr lang="es-ES"/>
          </a:p>
        </p:txBody>
      </p:sp>
      <p:sp>
        <p:nvSpPr>
          <p:cNvPr id="19" name="Text 15"/>
          <p:cNvSpPr/>
          <p:nvPr/>
        </p:nvSpPr>
        <p:spPr>
          <a:xfrm>
            <a:off x="1285875" y="3958977"/>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01 · Gobernar</a:t>
            </a:r>
            <a:endParaRPr lang="en-US" sz="1200" dirty="0"/>
          </a:p>
        </p:txBody>
      </p:sp>
      <p:sp>
        <p:nvSpPr>
          <p:cNvPr id="20" name="Shape 16"/>
          <p:cNvSpPr/>
          <p:nvPr/>
        </p:nvSpPr>
        <p:spPr>
          <a:xfrm>
            <a:off x="1285875" y="4311402"/>
            <a:ext cx="419100" cy="419100"/>
          </a:xfrm>
          <a:prstGeom prst="roundRect">
            <a:avLst>
              <a:gd name="adj" fmla="val 25000"/>
            </a:avLst>
          </a:prstGeom>
          <a:solidFill>
            <a:srgbClr val="3A8E63">
              <a:alpha val="12000"/>
            </a:srgbClr>
          </a:solidFill>
          <a:ln/>
        </p:spPr>
        <p:txBody>
          <a:bodyPr/>
          <a:lstStyle/>
          <a:p>
            <a:endParaRPr lang="es-ES"/>
          </a:p>
        </p:txBody>
      </p:sp>
      <p:pic>
        <p:nvPicPr>
          <p:cNvPr id="21"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85888" y="4411414"/>
            <a:ext cx="219075" cy="219075"/>
          </a:xfrm>
          <a:prstGeom prst="rect">
            <a:avLst/>
          </a:prstGeom>
        </p:spPr>
      </p:pic>
      <p:sp>
        <p:nvSpPr>
          <p:cNvPr id="22" name="Text 17"/>
          <p:cNvSpPr/>
          <p:nvPr/>
        </p:nvSpPr>
        <p:spPr>
          <a:xfrm>
            <a:off x="1828800" y="4282827"/>
            <a:ext cx="1819573"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Gobierno del dato</a:t>
            </a:r>
            <a:endParaRPr lang="en-US" sz="1763" dirty="0"/>
          </a:p>
        </p:txBody>
      </p:sp>
      <p:sp>
        <p:nvSpPr>
          <p:cNvPr id="23" name="Text 18"/>
          <p:cNvSpPr/>
          <p:nvPr/>
        </p:nvSpPr>
        <p:spPr>
          <a:xfrm>
            <a:off x="1285875" y="4882902"/>
            <a:ext cx="3576018" cy="114300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El modelo operativo que sobrevive al cambio de CDO: roles con mandato y un catálogo vivo, no el roadmap que se archiva.</a:t>
            </a:r>
            <a:endParaRPr lang="en-US" sz="1500" dirty="0"/>
          </a:p>
        </p:txBody>
      </p:sp>
      <p:sp>
        <p:nvSpPr>
          <p:cNvPr id="24" name="Shape 19"/>
          <p:cNvSpPr/>
          <p:nvPr/>
        </p:nvSpPr>
        <p:spPr>
          <a:xfrm>
            <a:off x="1285875" y="5987802"/>
            <a:ext cx="3471863" cy="9525"/>
          </a:xfrm>
          <a:prstGeom prst="rect">
            <a:avLst/>
          </a:prstGeom>
          <a:solidFill>
            <a:srgbClr val="E5EAEF"/>
          </a:solidFill>
          <a:ln/>
        </p:spPr>
        <p:txBody>
          <a:bodyPr/>
          <a:lstStyle/>
          <a:p>
            <a:endParaRPr lang="es-ES"/>
          </a:p>
        </p:txBody>
      </p:sp>
      <p:sp>
        <p:nvSpPr>
          <p:cNvPr id="25" name="Text 20"/>
          <p:cNvSpPr/>
          <p:nvPr/>
        </p:nvSpPr>
        <p:spPr>
          <a:xfrm>
            <a:off x="1285875" y="6130677"/>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A8E63"/>
                </a:solidFill>
                <a:latin typeface="JetBrains Mono" pitchFamily="34" charset="0"/>
                <a:ea typeface="JetBrains Mono" pitchFamily="34" charset="-122"/>
                <a:cs typeface="JetBrains Mono" pitchFamily="34" charset="-120"/>
              </a:rPr>
              <a:t>DAMA-DMBOK · DCAM · Normas UNE</a:t>
            </a:r>
            <a:endParaRPr lang="en-US" sz="1238" dirty="0"/>
          </a:p>
        </p:txBody>
      </p:sp>
      <p:sp>
        <p:nvSpPr>
          <p:cNvPr id="26" name="Shape 21"/>
          <p:cNvSpPr/>
          <p:nvPr/>
        </p:nvSpPr>
        <p:spPr>
          <a:xfrm>
            <a:off x="5148263" y="3739902"/>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27" name="Shape 22"/>
          <p:cNvSpPr/>
          <p:nvPr/>
        </p:nvSpPr>
        <p:spPr>
          <a:xfrm>
            <a:off x="5148263" y="6549777"/>
            <a:ext cx="3910013" cy="9525"/>
          </a:xfrm>
          <a:prstGeom prst="rect">
            <a:avLst/>
          </a:prstGeom>
          <a:solidFill>
            <a:srgbClr val="C8D2DA"/>
          </a:solidFill>
          <a:ln/>
        </p:spPr>
        <p:txBody>
          <a:bodyPr/>
          <a:lstStyle/>
          <a:p>
            <a:endParaRPr lang="es-ES"/>
          </a:p>
        </p:txBody>
      </p:sp>
      <p:sp>
        <p:nvSpPr>
          <p:cNvPr id="28" name="Shape 23"/>
          <p:cNvSpPr/>
          <p:nvPr/>
        </p:nvSpPr>
        <p:spPr>
          <a:xfrm>
            <a:off x="5148263" y="3739902"/>
            <a:ext cx="3910013" cy="28575"/>
          </a:xfrm>
          <a:prstGeom prst="rect">
            <a:avLst/>
          </a:prstGeom>
          <a:solidFill>
            <a:srgbClr val="3A8E63"/>
          </a:solidFill>
          <a:ln/>
        </p:spPr>
        <p:txBody>
          <a:bodyPr/>
          <a:lstStyle/>
          <a:p>
            <a:endParaRPr lang="es-ES"/>
          </a:p>
        </p:txBody>
      </p:sp>
      <p:sp>
        <p:nvSpPr>
          <p:cNvPr id="29" name="Shape 24"/>
          <p:cNvSpPr/>
          <p:nvPr/>
        </p:nvSpPr>
        <p:spPr>
          <a:xfrm>
            <a:off x="5148263" y="3739902"/>
            <a:ext cx="9525" cy="2819400"/>
          </a:xfrm>
          <a:prstGeom prst="rect">
            <a:avLst/>
          </a:prstGeom>
          <a:solidFill>
            <a:srgbClr val="C8D2DA"/>
          </a:solidFill>
          <a:ln/>
        </p:spPr>
        <p:txBody>
          <a:bodyPr/>
          <a:lstStyle/>
          <a:p>
            <a:endParaRPr lang="es-ES"/>
          </a:p>
        </p:txBody>
      </p:sp>
      <p:sp>
        <p:nvSpPr>
          <p:cNvPr id="30" name="Shape 25"/>
          <p:cNvSpPr/>
          <p:nvPr/>
        </p:nvSpPr>
        <p:spPr>
          <a:xfrm>
            <a:off x="9048750" y="3739902"/>
            <a:ext cx="9525" cy="2819400"/>
          </a:xfrm>
          <a:prstGeom prst="rect">
            <a:avLst/>
          </a:prstGeom>
          <a:solidFill>
            <a:srgbClr val="C8D2DA"/>
          </a:solidFill>
          <a:ln/>
        </p:spPr>
        <p:txBody>
          <a:bodyPr/>
          <a:lstStyle/>
          <a:p>
            <a:endParaRPr lang="es-ES"/>
          </a:p>
        </p:txBody>
      </p:sp>
      <p:sp>
        <p:nvSpPr>
          <p:cNvPr id="31" name="Text 26"/>
          <p:cNvSpPr/>
          <p:nvPr/>
        </p:nvSpPr>
        <p:spPr>
          <a:xfrm>
            <a:off x="5367338" y="3958977"/>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02 · Cumplir</a:t>
            </a:r>
            <a:endParaRPr lang="en-US" sz="1200" dirty="0"/>
          </a:p>
        </p:txBody>
      </p:sp>
      <p:sp>
        <p:nvSpPr>
          <p:cNvPr id="32" name="Shape 27"/>
          <p:cNvSpPr/>
          <p:nvPr/>
        </p:nvSpPr>
        <p:spPr>
          <a:xfrm>
            <a:off x="5367338" y="4311402"/>
            <a:ext cx="419100" cy="419100"/>
          </a:xfrm>
          <a:prstGeom prst="roundRect">
            <a:avLst>
              <a:gd name="adj" fmla="val 25000"/>
            </a:avLst>
          </a:prstGeom>
          <a:solidFill>
            <a:srgbClr val="3A8E63">
              <a:alpha val="12000"/>
            </a:srgbClr>
          </a:solidFill>
          <a:ln/>
        </p:spPr>
        <p:txBody>
          <a:bodyPr/>
          <a:lstStyle/>
          <a:p>
            <a:endParaRPr lang="es-ES"/>
          </a:p>
        </p:txBody>
      </p:sp>
      <p:pic>
        <p:nvPicPr>
          <p:cNvPr id="33"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67350" y="4411414"/>
            <a:ext cx="219075" cy="219075"/>
          </a:xfrm>
          <a:prstGeom prst="rect">
            <a:avLst/>
          </a:prstGeom>
        </p:spPr>
      </p:pic>
      <p:sp>
        <p:nvSpPr>
          <p:cNvPr id="34" name="Text 28"/>
          <p:cNvSpPr/>
          <p:nvPr/>
        </p:nvSpPr>
        <p:spPr>
          <a:xfrm>
            <a:off x="5910263" y="4282827"/>
            <a:ext cx="2165747"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Gobierno de modelos</a:t>
            </a:r>
            <a:endParaRPr lang="en-US" sz="1763" dirty="0"/>
          </a:p>
        </p:txBody>
      </p:sp>
      <p:sp>
        <p:nvSpPr>
          <p:cNvPr id="35" name="Text 29"/>
          <p:cNvSpPr/>
          <p:nvPr/>
        </p:nvSpPr>
        <p:spPr>
          <a:xfrm>
            <a:off x="5367338" y="4882902"/>
            <a:ext cx="3576018"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Inventario y clasificación por riesgo de tu IA en producción: llegas a 2027 con el cumplimiento demostrado.</a:t>
            </a:r>
            <a:endParaRPr lang="en-US" sz="1500" dirty="0"/>
          </a:p>
        </p:txBody>
      </p:sp>
      <p:sp>
        <p:nvSpPr>
          <p:cNvPr id="36" name="Shape 30"/>
          <p:cNvSpPr/>
          <p:nvPr/>
        </p:nvSpPr>
        <p:spPr>
          <a:xfrm>
            <a:off x="5367338" y="5987802"/>
            <a:ext cx="3471863" cy="9525"/>
          </a:xfrm>
          <a:prstGeom prst="rect">
            <a:avLst/>
          </a:prstGeom>
          <a:solidFill>
            <a:srgbClr val="E5EAEF"/>
          </a:solidFill>
          <a:ln/>
        </p:spPr>
        <p:txBody>
          <a:bodyPr/>
          <a:lstStyle/>
          <a:p>
            <a:endParaRPr lang="es-ES"/>
          </a:p>
        </p:txBody>
      </p:sp>
      <p:sp>
        <p:nvSpPr>
          <p:cNvPr id="37" name="Text 31"/>
          <p:cNvSpPr/>
          <p:nvPr/>
        </p:nvSpPr>
        <p:spPr>
          <a:xfrm>
            <a:off x="5367338" y="6130677"/>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A8E63"/>
                </a:solidFill>
                <a:latin typeface="JetBrains Mono" pitchFamily="34" charset="0"/>
                <a:ea typeface="JetBrains Mono" pitchFamily="34" charset="-122"/>
                <a:cs typeface="JetBrains Mono" pitchFamily="34" charset="-120"/>
              </a:rPr>
              <a:t>EU AI Act · alto riesgo</a:t>
            </a:r>
            <a:endParaRPr lang="en-US" sz="1238" dirty="0"/>
          </a:p>
        </p:txBody>
      </p:sp>
      <p:sp>
        <p:nvSpPr>
          <p:cNvPr id="38" name="Shape 32"/>
          <p:cNvSpPr/>
          <p:nvPr/>
        </p:nvSpPr>
        <p:spPr>
          <a:xfrm>
            <a:off x="9229725" y="3739902"/>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39" name="Shape 33"/>
          <p:cNvSpPr/>
          <p:nvPr/>
        </p:nvSpPr>
        <p:spPr>
          <a:xfrm>
            <a:off x="9229725" y="6549777"/>
            <a:ext cx="3910013" cy="9525"/>
          </a:xfrm>
          <a:prstGeom prst="rect">
            <a:avLst/>
          </a:prstGeom>
          <a:solidFill>
            <a:srgbClr val="C8D2DA"/>
          </a:solidFill>
          <a:ln/>
        </p:spPr>
        <p:txBody>
          <a:bodyPr/>
          <a:lstStyle/>
          <a:p>
            <a:endParaRPr lang="es-ES"/>
          </a:p>
        </p:txBody>
      </p:sp>
      <p:sp>
        <p:nvSpPr>
          <p:cNvPr id="40" name="Shape 34"/>
          <p:cNvSpPr/>
          <p:nvPr/>
        </p:nvSpPr>
        <p:spPr>
          <a:xfrm>
            <a:off x="9229725" y="3739902"/>
            <a:ext cx="3910013" cy="28575"/>
          </a:xfrm>
          <a:prstGeom prst="rect">
            <a:avLst/>
          </a:prstGeom>
          <a:solidFill>
            <a:srgbClr val="3A8E63"/>
          </a:solidFill>
          <a:ln/>
        </p:spPr>
        <p:txBody>
          <a:bodyPr/>
          <a:lstStyle/>
          <a:p>
            <a:endParaRPr lang="es-ES"/>
          </a:p>
        </p:txBody>
      </p:sp>
      <p:sp>
        <p:nvSpPr>
          <p:cNvPr id="41" name="Shape 35"/>
          <p:cNvSpPr/>
          <p:nvPr/>
        </p:nvSpPr>
        <p:spPr>
          <a:xfrm>
            <a:off x="9229725" y="3739902"/>
            <a:ext cx="9525" cy="2819400"/>
          </a:xfrm>
          <a:prstGeom prst="rect">
            <a:avLst/>
          </a:prstGeom>
          <a:solidFill>
            <a:srgbClr val="C8D2DA"/>
          </a:solidFill>
          <a:ln/>
        </p:spPr>
        <p:txBody>
          <a:bodyPr/>
          <a:lstStyle/>
          <a:p>
            <a:endParaRPr lang="es-ES"/>
          </a:p>
        </p:txBody>
      </p:sp>
      <p:sp>
        <p:nvSpPr>
          <p:cNvPr id="42" name="Shape 36"/>
          <p:cNvSpPr/>
          <p:nvPr/>
        </p:nvSpPr>
        <p:spPr>
          <a:xfrm>
            <a:off x="13130213" y="3739902"/>
            <a:ext cx="9525" cy="2819400"/>
          </a:xfrm>
          <a:prstGeom prst="rect">
            <a:avLst/>
          </a:prstGeom>
          <a:solidFill>
            <a:srgbClr val="C8D2DA"/>
          </a:solidFill>
          <a:ln/>
        </p:spPr>
        <p:txBody>
          <a:bodyPr/>
          <a:lstStyle/>
          <a:p>
            <a:endParaRPr lang="es-ES"/>
          </a:p>
        </p:txBody>
      </p:sp>
      <p:sp>
        <p:nvSpPr>
          <p:cNvPr id="43" name="Text 37"/>
          <p:cNvSpPr/>
          <p:nvPr/>
        </p:nvSpPr>
        <p:spPr>
          <a:xfrm>
            <a:off x="9448800" y="3958977"/>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03 · Decidir</a:t>
            </a:r>
            <a:endParaRPr lang="en-US" sz="1200" dirty="0"/>
          </a:p>
        </p:txBody>
      </p:sp>
      <p:sp>
        <p:nvSpPr>
          <p:cNvPr id="44" name="Shape 38"/>
          <p:cNvSpPr/>
          <p:nvPr/>
        </p:nvSpPr>
        <p:spPr>
          <a:xfrm>
            <a:off x="9448800" y="4311402"/>
            <a:ext cx="419100" cy="419100"/>
          </a:xfrm>
          <a:prstGeom prst="roundRect">
            <a:avLst>
              <a:gd name="adj" fmla="val 25000"/>
            </a:avLst>
          </a:prstGeom>
          <a:solidFill>
            <a:srgbClr val="3A8E63">
              <a:alpha val="12000"/>
            </a:srgbClr>
          </a:solidFill>
          <a:ln/>
        </p:spPr>
        <p:txBody>
          <a:bodyPr/>
          <a:lstStyle/>
          <a:p>
            <a:endParaRPr lang="es-ES"/>
          </a:p>
        </p:txBody>
      </p:sp>
      <p:pic>
        <p:nvPicPr>
          <p:cNvPr id="45"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48813" y="4411414"/>
            <a:ext cx="219075" cy="219075"/>
          </a:xfrm>
          <a:prstGeom prst="rect">
            <a:avLst/>
          </a:prstGeom>
        </p:spPr>
      </p:pic>
      <p:sp>
        <p:nvSpPr>
          <p:cNvPr id="46" name="Text 39"/>
          <p:cNvSpPr/>
          <p:nvPr/>
        </p:nvSpPr>
        <p:spPr>
          <a:xfrm>
            <a:off x="9991725" y="4282827"/>
            <a:ext cx="2091184"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Analítica que decide</a:t>
            </a:r>
            <a:endParaRPr lang="en-US" sz="1763" dirty="0"/>
          </a:p>
        </p:txBody>
      </p:sp>
      <p:sp>
        <p:nvSpPr>
          <p:cNvPr id="47" name="Text 40"/>
          <p:cNvSpPr/>
          <p:nvPr/>
        </p:nvSpPr>
        <p:spPr>
          <a:xfrm>
            <a:off x="9448800" y="4882902"/>
            <a:ext cx="3576018"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Acercamos el dato a cada equipo con capa semántica común. Menos tiempo cuadrando, más decidiendo.</a:t>
            </a:r>
            <a:endParaRPr lang="en-US" sz="1500" dirty="0"/>
          </a:p>
        </p:txBody>
      </p:sp>
      <p:sp>
        <p:nvSpPr>
          <p:cNvPr id="48" name="Shape 41"/>
          <p:cNvSpPr/>
          <p:nvPr/>
        </p:nvSpPr>
        <p:spPr>
          <a:xfrm>
            <a:off x="9448800" y="5778252"/>
            <a:ext cx="3471863" cy="9525"/>
          </a:xfrm>
          <a:prstGeom prst="rect">
            <a:avLst/>
          </a:prstGeom>
          <a:solidFill>
            <a:srgbClr val="E5EAEF"/>
          </a:solidFill>
          <a:ln/>
        </p:spPr>
        <p:txBody>
          <a:bodyPr/>
          <a:lstStyle/>
          <a:p>
            <a:endParaRPr lang="es-ES"/>
          </a:p>
        </p:txBody>
      </p:sp>
      <p:sp>
        <p:nvSpPr>
          <p:cNvPr id="49" name="Text 42"/>
          <p:cNvSpPr/>
          <p:nvPr/>
        </p:nvSpPr>
        <p:spPr>
          <a:xfrm>
            <a:off x="9448800" y="5921127"/>
            <a:ext cx="3576018"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A8E63"/>
                </a:solidFill>
                <a:latin typeface="JetBrains Mono" pitchFamily="34" charset="0"/>
                <a:ea typeface="JetBrains Mono" pitchFamily="34" charset="-122"/>
                <a:cs typeface="JetBrains Mono" pitchFamily="34" charset="-120"/>
              </a:rPr>
              <a:t>Dato al negocio · equipos más eficientes</a:t>
            </a:r>
            <a:endParaRPr lang="en-US" sz="1238" dirty="0"/>
          </a:p>
        </p:txBody>
      </p:sp>
      <p:sp>
        <p:nvSpPr>
          <p:cNvPr id="50" name="Shape 43"/>
          <p:cNvSpPr/>
          <p:nvPr/>
        </p:nvSpPr>
        <p:spPr>
          <a:xfrm>
            <a:off x="13311188" y="3739902"/>
            <a:ext cx="3910013" cy="2819400"/>
          </a:xfrm>
          <a:prstGeom prst="roundRect">
            <a:avLst>
              <a:gd name="adj" fmla="val 405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51" name="Shape 44"/>
          <p:cNvSpPr/>
          <p:nvPr/>
        </p:nvSpPr>
        <p:spPr>
          <a:xfrm>
            <a:off x="13311188" y="6549777"/>
            <a:ext cx="3910013" cy="9525"/>
          </a:xfrm>
          <a:prstGeom prst="rect">
            <a:avLst/>
          </a:prstGeom>
          <a:solidFill>
            <a:srgbClr val="C8D2DA"/>
          </a:solidFill>
          <a:ln/>
        </p:spPr>
        <p:txBody>
          <a:bodyPr/>
          <a:lstStyle/>
          <a:p>
            <a:endParaRPr lang="es-ES"/>
          </a:p>
        </p:txBody>
      </p:sp>
      <p:sp>
        <p:nvSpPr>
          <p:cNvPr id="52" name="Shape 45"/>
          <p:cNvSpPr/>
          <p:nvPr/>
        </p:nvSpPr>
        <p:spPr>
          <a:xfrm>
            <a:off x="13311188" y="3739902"/>
            <a:ext cx="3910013" cy="28575"/>
          </a:xfrm>
          <a:prstGeom prst="rect">
            <a:avLst/>
          </a:prstGeom>
          <a:solidFill>
            <a:srgbClr val="3A8E63"/>
          </a:solidFill>
          <a:ln/>
        </p:spPr>
        <p:txBody>
          <a:bodyPr/>
          <a:lstStyle/>
          <a:p>
            <a:endParaRPr lang="es-ES"/>
          </a:p>
        </p:txBody>
      </p:sp>
      <p:sp>
        <p:nvSpPr>
          <p:cNvPr id="53" name="Shape 46"/>
          <p:cNvSpPr/>
          <p:nvPr/>
        </p:nvSpPr>
        <p:spPr>
          <a:xfrm>
            <a:off x="13311188" y="3739902"/>
            <a:ext cx="9525" cy="2819400"/>
          </a:xfrm>
          <a:prstGeom prst="rect">
            <a:avLst/>
          </a:prstGeom>
          <a:solidFill>
            <a:srgbClr val="C8D2DA"/>
          </a:solidFill>
          <a:ln/>
        </p:spPr>
        <p:txBody>
          <a:bodyPr/>
          <a:lstStyle/>
          <a:p>
            <a:endParaRPr lang="es-ES"/>
          </a:p>
        </p:txBody>
      </p:sp>
      <p:sp>
        <p:nvSpPr>
          <p:cNvPr id="54" name="Shape 47"/>
          <p:cNvSpPr/>
          <p:nvPr/>
        </p:nvSpPr>
        <p:spPr>
          <a:xfrm>
            <a:off x="17211675" y="3739902"/>
            <a:ext cx="9525" cy="2819400"/>
          </a:xfrm>
          <a:prstGeom prst="rect">
            <a:avLst/>
          </a:prstGeom>
          <a:solidFill>
            <a:srgbClr val="C8D2DA"/>
          </a:solidFill>
          <a:ln/>
        </p:spPr>
        <p:txBody>
          <a:bodyPr/>
          <a:lstStyle/>
          <a:p>
            <a:endParaRPr lang="es-ES"/>
          </a:p>
        </p:txBody>
      </p:sp>
      <p:sp>
        <p:nvSpPr>
          <p:cNvPr id="55" name="Text 48"/>
          <p:cNvSpPr/>
          <p:nvPr/>
        </p:nvSpPr>
        <p:spPr>
          <a:xfrm>
            <a:off x="13530263" y="3958977"/>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04 · Predecir</a:t>
            </a:r>
            <a:endParaRPr lang="en-US" sz="1200" dirty="0"/>
          </a:p>
        </p:txBody>
      </p:sp>
      <p:sp>
        <p:nvSpPr>
          <p:cNvPr id="56" name="Shape 49"/>
          <p:cNvSpPr/>
          <p:nvPr/>
        </p:nvSpPr>
        <p:spPr>
          <a:xfrm>
            <a:off x="13530263" y="4311402"/>
            <a:ext cx="419100" cy="419100"/>
          </a:xfrm>
          <a:prstGeom prst="roundRect">
            <a:avLst>
              <a:gd name="adj" fmla="val 25000"/>
            </a:avLst>
          </a:prstGeom>
          <a:solidFill>
            <a:srgbClr val="3A8E63">
              <a:alpha val="12000"/>
            </a:srgbClr>
          </a:solidFill>
          <a:ln/>
        </p:spPr>
        <p:txBody>
          <a:bodyPr/>
          <a:lstStyle/>
          <a:p>
            <a:endParaRPr lang="es-ES"/>
          </a:p>
        </p:txBody>
      </p:sp>
      <p:pic>
        <p:nvPicPr>
          <p:cNvPr id="57"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630275" y="4411414"/>
            <a:ext cx="219075" cy="219075"/>
          </a:xfrm>
          <a:prstGeom prst="rect">
            <a:avLst/>
          </a:prstGeom>
        </p:spPr>
      </p:pic>
      <p:sp>
        <p:nvSpPr>
          <p:cNvPr id="58" name="Text 50"/>
          <p:cNvSpPr/>
          <p:nvPr/>
        </p:nvSpPr>
        <p:spPr>
          <a:xfrm>
            <a:off x="14073188" y="4282827"/>
            <a:ext cx="1932087"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Analítica avanzada</a:t>
            </a:r>
            <a:endParaRPr lang="en-US" sz="1763" dirty="0"/>
          </a:p>
        </p:txBody>
      </p:sp>
      <p:sp>
        <p:nvSpPr>
          <p:cNvPr id="59" name="Text 51"/>
          <p:cNvSpPr/>
          <p:nvPr/>
        </p:nvSpPr>
        <p:spPr>
          <a:xfrm>
            <a:off x="13530263" y="4882902"/>
            <a:ext cx="3576018" cy="114300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Modelos predictivos con alcance claro: entregamos modelo y pipeline, y operamos la puesta en producción con vuestro equipo.</a:t>
            </a:r>
            <a:endParaRPr lang="en-US" sz="1500" dirty="0"/>
          </a:p>
        </p:txBody>
      </p:sp>
      <p:sp>
        <p:nvSpPr>
          <p:cNvPr id="60" name="Shape 52"/>
          <p:cNvSpPr/>
          <p:nvPr/>
        </p:nvSpPr>
        <p:spPr>
          <a:xfrm>
            <a:off x="13530263" y="5987802"/>
            <a:ext cx="3471863" cy="9525"/>
          </a:xfrm>
          <a:prstGeom prst="rect">
            <a:avLst/>
          </a:prstGeom>
          <a:solidFill>
            <a:srgbClr val="E5EAEF"/>
          </a:solidFill>
          <a:ln/>
        </p:spPr>
        <p:txBody>
          <a:bodyPr/>
          <a:lstStyle/>
          <a:p>
            <a:endParaRPr lang="es-ES"/>
          </a:p>
        </p:txBody>
      </p:sp>
      <p:sp>
        <p:nvSpPr>
          <p:cNvPr id="61" name="Text 53"/>
          <p:cNvSpPr/>
          <p:nvPr/>
        </p:nvSpPr>
        <p:spPr>
          <a:xfrm>
            <a:off x="13530263" y="6130677"/>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3A8E63"/>
                </a:solidFill>
                <a:latin typeface="JetBrains Mono" pitchFamily="34" charset="0"/>
                <a:ea typeface="JetBrains Mono" pitchFamily="34" charset="-122"/>
                <a:cs typeface="JetBrains Mono" pitchFamily="34" charset="-120"/>
              </a:rPr>
              <a:t>Modelo + pipeline en producción</a:t>
            </a:r>
            <a:endParaRPr lang="en-US" sz="1238" dirty="0"/>
          </a:p>
        </p:txBody>
      </p:sp>
      <p:sp>
        <p:nvSpPr>
          <p:cNvPr id="62" name="Shape 54"/>
          <p:cNvSpPr/>
          <p:nvPr/>
        </p:nvSpPr>
        <p:spPr>
          <a:xfrm>
            <a:off x="1066800" y="6730752"/>
            <a:ext cx="16154400" cy="2622947"/>
          </a:xfrm>
          <a:prstGeom prst="roundRect">
            <a:avLst>
              <a:gd name="adj" fmla="val 5084"/>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63" name="Text 55"/>
          <p:cNvSpPr/>
          <p:nvPr/>
        </p:nvSpPr>
        <p:spPr>
          <a:xfrm>
            <a:off x="1390650" y="6959352"/>
            <a:ext cx="9126230"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8FD3AD"/>
                </a:solidFill>
                <a:latin typeface="JetBrains Mono" pitchFamily="34" charset="0"/>
                <a:ea typeface="JetBrains Mono" pitchFamily="34" charset="-122"/>
                <a:cs typeface="JetBrains Mono" pitchFamily="34" charset="-120"/>
              </a:rPr>
              <a:t>EL SISTEMA QUE LO SOSTIENE</a:t>
            </a:r>
            <a:endParaRPr lang="en-US" sz="1125" dirty="0"/>
          </a:p>
        </p:txBody>
      </p:sp>
      <p:sp>
        <p:nvSpPr>
          <p:cNvPr id="64" name="Text 56"/>
          <p:cNvSpPr/>
          <p:nvPr/>
        </p:nvSpPr>
        <p:spPr>
          <a:xfrm>
            <a:off x="1390650" y="7302252"/>
            <a:ext cx="2832527"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GOBIERNO DEL DATO</a:t>
            </a:r>
            <a:endParaRPr lang="en-US" sz="1125" dirty="0"/>
          </a:p>
        </p:txBody>
      </p:sp>
      <p:sp>
        <p:nvSpPr>
          <p:cNvPr id="65" name="Text 57"/>
          <p:cNvSpPr/>
          <p:nvPr/>
        </p:nvSpPr>
        <p:spPr>
          <a:xfrm>
            <a:off x="1390650" y="7578477"/>
            <a:ext cx="2652275" cy="486073"/>
          </a:xfrm>
          <a:prstGeom prst="rect">
            <a:avLst/>
          </a:prstGeom>
          <a:noFill/>
          <a:ln/>
        </p:spPr>
        <p:txBody>
          <a:bodyPr wrap="square" lIns="25400" tIns="25400" rIns="25400" bIns="25400" rtlCol="0" anchor="t">
            <a:normAutofit lnSpcReduction="10000"/>
          </a:bodyPr>
          <a:lstStyle/>
          <a:p>
            <a:pPr marL="0" indent="0" algn="l">
              <a:lnSpc>
                <a:spcPct val="94080"/>
              </a:lnSpc>
              <a:buNone/>
            </a:pPr>
            <a:r>
              <a:rPr lang="en-US" sz="1575" b="1" dirty="0">
                <a:solidFill>
                  <a:srgbClr val="FFFFFF"/>
                </a:solidFill>
                <a:latin typeface="Barlow" pitchFamily="34" charset="0"/>
                <a:ea typeface="Barlow" pitchFamily="34" charset="-122"/>
                <a:cs typeface="Barlow" pitchFamily="34" charset="-120"/>
              </a:rPr>
              <a:t>Adjudicación frente a las Big 4</a:t>
            </a:r>
            <a:endParaRPr lang="en-US" sz="1575" dirty="0"/>
          </a:p>
        </p:txBody>
      </p:sp>
      <p:sp>
        <p:nvSpPr>
          <p:cNvPr id="66" name="Text 58"/>
          <p:cNvSpPr/>
          <p:nvPr/>
        </p:nvSpPr>
        <p:spPr>
          <a:xfrm>
            <a:off x="1390650" y="8112175"/>
            <a:ext cx="2652275" cy="478036"/>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Política de gobierno del dato en un supervisor financiero.</a:t>
            </a:r>
            <a:endParaRPr lang="en-US" sz="1238" dirty="0"/>
          </a:p>
        </p:txBody>
      </p:sp>
      <p:sp>
        <p:nvSpPr>
          <p:cNvPr id="67" name="Text 59"/>
          <p:cNvSpPr/>
          <p:nvPr/>
        </p:nvSpPr>
        <p:spPr>
          <a:xfrm>
            <a:off x="4251424" y="7302252"/>
            <a:ext cx="2832527"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MÉTODO</a:t>
            </a:r>
            <a:endParaRPr lang="en-US" sz="1125" dirty="0"/>
          </a:p>
        </p:txBody>
      </p:sp>
      <p:sp>
        <p:nvSpPr>
          <p:cNvPr id="68" name="Text 60"/>
          <p:cNvSpPr/>
          <p:nvPr/>
        </p:nvSpPr>
        <p:spPr>
          <a:xfrm>
            <a:off x="4251424" y="7578477"/>
            <a:ext cx="2652275" cy="485775"/>
          </a:xfrm>
          <a:prstGeom prst="rect">
            <a:avLst/>
          </a:prstGeom>
          <a:noFill/>
          <a:ln/>
        </p:spPr>
        <p:txBody>
          <a:bodyPr wrap="square" lIns="25400" tIns="25400" rIns="25400" bIns="25400" rtlCol="0" anchor="t">
            <a:normAutofit/>
          </a:bodyPr>
          <a:lstStyle/>
          <a:p>
            <a:pPr marL="0" indent="0" algn="l">
              <a:lnSpc>
                <a:spcPct val="94080"/>
              </a:lnSpc>
              <a:buNone/>
            </a:pPr>
            <a:r>
              <a:rPr lang="en-US" sz="1575" b="1" dirty="0">
                <a:solidFill>
                  <a:srgbClr val="FFFFFF"/>
                </a:solidFill>
                <a:latin typeface="Barlow" pitchFamily="34" charset="0"/>
                <a:ea typeface="Barlow" pitchFamily="34" charset="-122"/>
                <a:cs typeface="Barlow" pitchFamily="34" charset="-120"/>
              </a:rPr>
              <a:t>DAMA-DMBOK + DCAM</a:t>
            </a:r>
            <a:endParaRPr lang="en-US" sz="1575" dirty="0"/>
          </a:p>
        </p:txBody>
      </p:sp>
      <p:sp>
        <p:nvSpPr>
          <p:cNvPr id="69" name="Text 61"/>
          <p:cNvSpPr/>
          <p:nvPr/>
        </p:nvSpPr>
        <p:spPr>
          <a:xfrm>
            <a:off x="4251424" y="8111877"/>
            <a:ext cx="2652275" cy="698004"/>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Estándares de gobierno del dato reconocidos, no marco propio improvisado.</a:t>
            </a:r>
            <a:endParaRPr lang="en-US" sz="1238" dirty="0"/>
          </a:p>
        </p:txBody>
      </p:sp>
      <p:sp>
        <p:nvSpPr>
          <p:cNvPr id="70" name="Text 62"/>
          <p:cNvSpPr/>
          <p:nvPr/>
        </p:nvSpPr>
        <p:spPr>
          <a:xfrm>
            <a:off x="7112198" y="7302252"/>
            <a:ext cx="2832527"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LO QUE NADIE MÁS REÚNE</a:t>
            </a:r>
            <a:endParaRPr lang="en-US" sz="1125" dirty="0"/>
          </a:p>
        </p:txBody>
      </p:sp>
      <p:sp>
        <p:nvSpPr>
          <p:cNvPr id="71" name="Text 63"/>
          <p:cNvSpPr/>
          <p:nvPr/>
        </p:nvSpPr>
        <p:spPr>
          <a:xfrm>
            <a:off x="7112198" y="7578477"/>
            <a:ext cx="2652275" cy="485775"/>
          </a:xfrm>
          <a:prstGeom prst="rect">
            <a:avLst/>
          </a:prstGeom>
          <a:noFill/>
          <a:ln/>
        </p:spPr>
        <p:txBody>
          <a:bodyPr wrap="square" lIns="25400" tIns="25400" rIns="25400" bIns="25400" rtlCol="0" anchor="t">
            <a:normAutofit/>
          </a:bodyPr>
          <a:lstStyle/>
          <a:p>
            <a:pPr marL="0" indent="0" algn="l">
              <a:lnSpc>
                <a:spcPct val="94080"/>
              </a:lnSpc>
              <a:buNone/>
            </a:pPr>
            <a:r>
              <a:rPr lang="en-US" sz="1575" b="1" dirty="0">
                <a:solidFill>
                  <a:srgbClr val="FFFFFF"/>
                </a:solidFill>
                <a:latin typeface="Barlow" pitchFamily="34" charset="0"/>
                <a:ea typeface="Barlow" pitchFamily="34" charset="-122"/>
                <a:cs typeface="Barlow" pitchFamily="34" charset="-120"/>
              </a:rPr>
              <a:t>Process Mining → modelos</a:t>
            </a:r>
            <a:endParaRPr lang="en-US" sz="1575" dirty="0"/>
          </a:p>
        </p:txBody>
      </p:sp>
      <p:sp>
        <p:nvSpPr>
          <p:cNvPr id="72" name="Text 64"/>
          <p:cNvSpPr/>
          <p:nvPr/>
        </p:nvSpPr>
        <p:spPr>
          <a:xfrm>
            <a:off x="7112198" y="8111877"/>
            <a:ext cx="2652275" cy="698004"/>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El dato real de cómo opera el negocio alimenta los modelos de IA, bajo un mismo techo.</a:t>
            </a:r>
            <a:endParaRPr lang="en-US" sz="1238" dirty="0"/>
          </a:p>
        </p:txBody>
      </p:sp>
      <p:sp>
        <p:nvSpPr>
          <p:cNvPr id="73" name="Text 65"/>
          <p:cNvSpPr/>
          <p:nvPr/>
        </p:nvSpPr>
        <p:spPr>
          <a:xfrm>
            <a:off x="1390650" y="8905131"/>
            <a:ext cx="9126230" cy="258068"/>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50000"/>
                  </a:srgbClr>
                </a:solidFill>
                <a:latin typeface="Arial" pitchFamily="34" charset="0"/>
                <a:ea typeface="Arial" pitchFamily="34" charset="-122"/>
                <a:cs typeface="Arial" pitchFamily="34" charset="-120"/>
              </a:rPr>
              <a:t>Referencias: CNMV · Bankinter · Banco BPCE.</a:t>
            </a:r>
            <a:endParaRPr lang="en-US" sz="1238" dirty="0"/>
          </a:p>
        </p:txBody>
      </p:sp>
      <p:sp>
        <p:nvSpPr>
          <p:cNvPr id="74" name="Shape 66"/>
          <p:cNvSpPr/>
          <p:nvPr/>
        </p:nvSpPr>
        <p:spPr>
          <a:xfrm>
            <a:off x="10106323" y="7546479"/>
            <a:ext cx="9525" cy="991493"/>
          </a:xfrm>
          <a:prstGeom prst="rect">
            <a:avLst/>
          </a:prstGeom>
          <a:solidFill>
            <a:srgbClr val="FFFFFF">
              <a:alpha val="16000"/>
            </a:srgbClr>
          </a:solidFill>
          <a:ln/>
        </p:spPr>
        <p:txBody>
          <a:bodyPr/>
          <a:lstStyle/>
          <a:p>
            <a:endParaRPr lang="es-ES"/>
          </a:p>
        </p:txBody>
      </p:sp>
      <p:sp>
        <p:nvSpPr>
          <p:cNvPr id="75" name="Text 67"/>
          <p:cNvSpPr/>
          <p:nvPr/>
        </p:nvSpPr>
        <p:spPr>
          <a:xfrm>
            <a:off x="10439698" y="7546479"/>
            <a:ext cx="5521315"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CUMPLIMIENTO VIGENTE</a:t>
            </a:r>
            <a:endParaRPr lang="en-US" sz="1125" dirty="0"/>
          </a:p>
        </p:txBody>
      </p:sp>
      <p:sp>
        <p:nvSpPr>
          <p:cNvPr id="76" name="Shape 68"/>
          <p:cNvSpPr/>
          <p:nvPr/>
        </p:nvSpPr>
        <p:spPr>
          <a:xfrm>
            <a:off x="10439698" y="7860804"/>
            <a:ext cx="105727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7" name="Text 69"/>
          <p:cNvSpPr/>
          <p:nvPr/>
        </p:nvSpPr>
        <p:spPr>
          <a:xfrm>
            <a:off x="10582573" y="7927479"/>
            <a:ext cx="8477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EU AI Act</a:t>
            </a:r>
            <a:endParaRPr lang="en-US" sz="1125" dirty="0"/>
          </a:p>
        </p:txBody>
      </p:sp>
      <p:sp>
        <p:nvSpPr>
          <p:cNvPr id="78" name="Shape 70"/>
          <p:cNvSpPr/>
          <p:nvPr/>
        </p:nvSpPr>
        <p:spPr>
          <a:xfrm>
            <a:off x="11582698" y="7860804"/>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9" name="Text 71"/>
          <p:cNvSpPr/>
          <p:nvPr/>
        </p:nvSpPr>
        <p:spPr>
          <a:xfrm>
            <a:off x="11725573" y="7927479"/>
            <a:ext cx="419100" cy="228600"/>
          </a:xfrm>
          <a:prstGeom prst="rect">
            <a:avLst/>
          </a:prstGeom>
          <a:noFill/>
          <a:ln/>
        </p:spPr>
        <p:txBody>
          <a:bodyPr wrap="square" lIns="25400" tIns="25400" rIns="25400" bIns="25400" rtlCol="0" anchor="t">
            <a:normAutofit fontScale="92500"/>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DORA</a:t>
            </a:r>
            <a:endParaRPr lang="en-US" sz="1125" dirty="0"/>
          </a:p>
        </p:txBody>
      </p:sp>
      <p:sp>
        <p:nvSpPr>
          <p:cNvPr id="80" name="Shape 72"/>
          <p:cNvSpPr/>
          <p:nvPr/>
        </p:nvSpPr>
        <p:spPr>
          <a:xfrm>
            <a:off x="12297073" y="7860804"/>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81" name="Text 73"/>
          <p:cNvSpPr/>
          <p:nvPr/>
        </p:nvSpPr>
        <p:spPr>
          <a:xfrm>
            <a:off x="12439948" y="7927479"/>
            <a:ext cx="419100" cy="228600"/>
          </a:xfrm>
          <a:prstGeom prst="rect">
            <a:avLst/>
          </a:prstGeom>
          <a:noFill/>
          <a:ln/>
        </p:spPr>
        <p:txBody>
          <a:bodyPr wrap="square" lIns="25400" tIns="25400" rIns="25400" bIns="25400" rtlCol="0" anchor="t">
            <a:normAutofit fontScale="92500"/>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GDPR</a:t>
            </a:r>
            <a:endParaRPr lang="en-US" sz="1125" dirty="0"/>
          </a:p>
        </p:txBody>
      </p:sp>
      <p:sp>
        <p:nvSpPr>
          <p:cNvPr id="82" name="Shape 74"/>
          <p:cNvSpPr/>
          <p:nvPr/>
        </p:nvSpPr>
        <p:spPr>
          <a:xfrm>
            <a:off x="13011448" y="7860804"/>
            <a:ext cx="9715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83" name="Text 75"/>
          <p:cNvSpPr/>
          <p:nvPr/>
        </p:nvSpPr>
        <p:spPr>
          <a:xfrm>
            <a:off x="13154323" y="7927479"/>
            <a:ext cx="7620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Data Act</a:t>
            </a:r>
            <a:endParaRPr lang="en-US" sz="1125" dirty="0"/>
          </a:p>
        </p:txBody>
      </p:sp>
      <p:sp>
        <p:nvSpPr>
          <p:cNvPr id="84" name="Text 76"/>
          <p:cNvSpPr/>
          <p:nvPr/>
        </p:nvSpPr>
        <p:spPr>
          <a:xfrm>
            <a:off x="10439698" y="8318004"/>
            <a:ext cx="5521315" cy="258068"/>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Empieza por un </a:t>
            </a:r>
            <a:r>
              <a:rPr lang="en-US" sz="1238" b="1" dirty="0">
                <a:solidFill>
                  <a:srgbClr val="8FD3AD"/>
                </a:solidFill>
                <a:latin typeface="Arial" pitchFamily="34" charset="0"/>
                <a:ea typeface="Arial" pitchFamily="34" charset="-122"/>
                <a:cs typeface="Arial" pitchFamily="34" charset="-120"/>
              </a:rPr>
              <a:t>Assessment de conformidad y estado del dato</a:t>
            </a:r>
            <a:r>
              <a:rPr lang="en-US" sz="1238" dirty="0">
                <a:solidFill>
                  <a:srgbClr val="FFFFFF">
                    <a:alpha val="62000"/>
                  </a:srgbClr>
                </a:solidFill>
                <a:latin typeface="Arial" pitchFamily="34" charset="0"/>
                <a:ea typeface="Arial" pitchFamily="34" charset="-122"/>
                <a:cs typeface="Arial" pitchFamily="34" charset="-120"/>
              </a:rPr>
              <a:t>.</a:t>
            </a:r>
            <a:endParaRPr lang="en-US" sz="1238" dirty="0"/>
          </a:p>
        </p:txBody>
      </p:sp>
      <p:sp>
        <p:nvSpPr>
          <p:cNvPr id="85" name="Shape 77">
            <a:hlinkClick r:id="rId10" action="ppaction://hlinksldjump"/>
          </p:cNvPr>
          <p:cNvSpPr/>
          <p:nvPr/>
        </p:nvSpPr>
        <p:spPr>
          <a:xfrm>
            <a:off x="15379452" y="9182100"/>
            <a:ext cx="1841748"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86" name="Text 78"/>
          <p:cNvSpPr/>
          <p:nvPr/>
        </p:nvSpPr>
        <p:spPr>
          <a:xfrm>
            <a:off x="15684252" y="9324975"/>
            <a:ext cx="974973"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Continuar</a:t>
            </a:r>
            <a:endParaRPr lang="en-US" sz="1650" dirty="0"/>
          </a:p>
        </p:txBody>
      </p:sp>
      <p:pic>
        <p:nvPicPr>
          <p:cNvPr id="87" name="Image 6"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687800" y="9334500"/>
            <a:ext cx="228600" cy="228600"/>
          </a:xfrm>
          <a:prstGeom prst="rect">
            <a:avLst/>
          </a:prstGeom>
        </p:spPr>
      </p:pic>
      <p:sp>
        <p:nvSpPr>
          <p:cNvPr id="88" name="Text 79"/>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89" name="Text 80"/>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17 / 24</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3A8E63"/>
          </a:solidFill>
          <a:ln/>
        </p:spPr>
        <p:txBody>
          <a:bodyPr/>
          <a:lstStyle/>
          <a:p>
            <a:endParaRPr lang="es-ES"/>
          </a:p>
        </p:txBody>
      </p:sp>
      <p:sp>
        <p:nvSpPr>
          <p:cNvPr id="5" name="Text 2"/>
          <p:cNvSpPr/>
          <p:nvPr/>
        </p:nvSpPr>
        <p:spPr>
          <a:xfrm>
            <a:off x="2076450" y="628650"/>
            <a:ext cx="3256538"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3A8E63"/>
                </a:solidFill>
                <a:latin typeface="JetBrains Mono" pitchFamily="34" charset="0"/>
                <a:ea typeface="JetBrains Mono" pitchFamily="34" charset="-122"/>
                <a:cs typeface="JetBrains Mono" pitchFamily="34" charset="-120"/>
              </a:rPr>
              <a:t>DISCOVERY · DATA E IA</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3720554"/>
            <a:ext cx="17769840" cy="563017"/>
          </a:xfrm>
          <a:prstGeom prst="rect">
            <a:avLst/>
          </a:prstGeom>
          <a:noFill/>
          <a:ln/>
        </p:spPr>
        <p:txBody>
          <a:bodyPr wrap="square" lIns="25400" tIns="25400" rIns="25400" bIns="25400" rtlCol="0" anchor="t">
            <a:normAutofit lnSpcReduction="10000"/>
          </a:bodyPr>
          <a:lstStyle/>
          <a:p>
            <a:pPr marL="0" indent="0" algn="l">
              <a:lnSpc>
                <a:spcPct val="88903"/>
              </a:lnSpc>
              <a:buNone/>
            </a:pPr>
            <a:r>
              <a:rPr lang="en-US" sz="3900" b="1" kern="0" spc="-78" dirty="0">
                <a:solidFill>
                  <a:srgbClr val="041C2C"/>
                </a:solidFill>
                <a:latin typeface="Barlow" pitchFamily="34" charset="0"/>
                <a:ea typeface="Barlow" pitchFamily="34" charset="-122"/>
                <a:cs typeface="Barlow" pitchFamily="34" charset="-120"/>
              </a:rPr>
              <a:t>¿Qué IA tenéis en marcha que aún no mueve el negocio?</a:t>
            </a:r>
            <a:endParaRPr lang="en-US" sz="3900" dirty="0"/>
          </a:p>
        </p:txBody>
      </p:sp>
      <p:sp>
        <p:nvSpPr>
          <p:cNvPr id="8" name="Text 4"/>
          <p:cNvSpPr/>
          <p:nvPr/>
        </p:nvSpPr>
        <p:spPr>
          <a:xfrm>
            <a:off x="1066800" y="4388346"/>
            <a:ext cx="11319153" cy="741164"/>
          </a:xfrm>
          <a:prstGeom prst="rect">
            <a:avLst/>
          </a:prstGeom>
          <a:noFill/>
          <a:ln/>
        </p:spPr>
        <p:txBody>
          <a:bodyPr wrap="square" lIns="25400" tIns="25400" rIns="25400" bIns="25400" rtlCol="0" anchor="t">
            <a:normAutofit/>
          </a:bodyPr>
          <a:lstStyle/>
          <a:p>
            <a:pPr marL="0" indent="0" algn="l">
              <a:lnSpc>
                <a:spcPct val="115375"/>
              </a:lnSpc>
              <a:buNone/>
            </a:pPr>
            <a:r>
              <a:rPr lang="en-US" sz="1950" dirty="0">
                <a:solidFill>
                  <a:srgbClr val="041C2C">
                    <a:alpha val="80000"/>
                  </a:srgbClr>
                </a:solidFill>
                <a:latin typeface="Roboto" pitchFamily="34" charset="0"/>
                <a:ea typeface="Roboto" pitchFamily="34" charset="-122"/>
                <a:cs typeface="Roboto" pitchFamily="34" charset="-120"/>
              </a:rPr>
              <a:t>La conversación separa las iniciativas vistosas de las que de verdad llegan a producción, gobernadas y medidas.</a:t>
            </a:r>
            <a:endParaRPr lang="en-US" sz="1950" dirty="0"/>
          </a:p>
        </p:txBody>
      </p:sp>
      <p:sp>
        <p:nvSpPr>
          <p:cNvPr id="9" name="Shape 5"/>
          <p:cNvSpPr/>
          <p:nvPr/>
        </p:nvSpPr>
        <p:spPr>
          <a:xfrm>
            <a:off x="1066800" y="5339060"/>
            <a:ext cx="16154400" cy="9525"/>
          </a:xfrm>
          <a:prstGeom prst="rect">
            <a:avLst/>
          </a:prstGeom>
          <a:solidFill>
            <a:srgbClr val="E5EAEF"/>
          </a:solidFill>
          <a:ln/>
        </p:spPr>
        <p:txBody>
          <a:bodyPr/>
          <a:lstStyle/>
          <a:p>
            <a:endParaRPr lang="es-ES"/>
          </a:p>
        </p:txBody>
      </p:sp>
      <p:sp>
        <p:nvSpPr>
          <p:cNvPr id="10" name="Text 6"/>
          <p:cNvSpPr/>
          <p:nvPr/>
        </p:nvSpPr>
        <p:spPr>
          <a:xfrm>
            <a:off x="1066800" y="5539085"/>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3A8E63"/>
                </a:solidFill>
                <a:latin typeface="JetBrains Mono" pitchFamily="34" charset="0"/>
                <a:ea typeface="JetBrains Mono" pitchFamily="34" charset="-122"/>
                <a:cs typeface="JetBrains Mono" pitchFamily="34" charset="-120"/>
              </a:rPr>
              <a:t>01</a:t>
            </a:r>
            <a:endParaRPr lang="en-US" sz="1425" dirty="0"/>
          </a:p>
        </p:txBody>
      </p:sp>
      <p:sp>
        <p:nvSpPr>
          <p:cNvPr id="11" name="Text 7"/>
          <p:cNvSpPr/>
          <p:nvPr/>
        </p:nvSpPr>
        <p:spPr>
          <a:xfrm>
            <a:off x="1562100" y="5481935"/>
            <a:ext cx="7508766"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¿Cuántas iniciativas de IA tenéis en marcha ahora mismo?</a:t>
            </a:r>
            <a:endParaRPr lang="en-US" sz="2175" dirty="0"/>
          </a:p>
        </p:txBody>
      </p:sp>
      <p:sp>
        <p:nvSpPr>
          <p:cNvPr id="12" name="Shape 8"/>
          <p:cNvSpPr/>
          <p:nvPr/>
        </p:nvSpPr>
        <p:spPr>
          <a:xfrm>
            <a:off x="1066800" y="5957739"/>
            <a:ext cx="16154400" cy="9525"/>
          </a:xfrm>
          <a:prstGeom prst="rect">
            <a:avLst/>
          </a:prstGeom>
          <a:solidFill>
            <a:srgbClr val="E5EAEF"/>
          </a:solidFill>
          <a:ln/>
        </p:spPr>
        <p:txBody>
          <a:bodyPr/>
          <a:lstStyle/>
          <a:p>
            <a:endParaRPr lang="es-ES"/>
          </a:p>
        </p:txBody>
      </p:sp>
      <p:sp>
        <p:nvSpPr>
          <p:cNvPr id="13" name="Text 9"/>
          <p:cNvSpPr/>
          <p:nvPr/>
        </p:nvSpPr>
        <p:spPr>
          <a:xfrm>
            <a:off x="1066800" y="6157764"/>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3A8E63"/>
                </a:solidFill>
                <a:latin typeface="JetBrains Mono" pitchFamily="34" charset="0"/>
                <a:ea typeface="JetBrains Mono" pitchFamily="34" charset="-122"/>
                <a:cs typeface="JetBrains Mono" pitchFamily="34" charset="-120"/>
              </a:rPr>
              <a:t>02</a:t>
            </a:r>
            <a:endParaRPr lang="en-US" sz="1425" dirty="0"/>
          </a:p>
        </p:txBody>
      </p:sp>
      <p:sp>
        <p:nvSpPr>
          <p:cNvPr id="14" name="Text 10"/>
          <p:cNvSpPr/>
          <p:nvPr/>
        </p:nvSpPr>
        <p:spPr>
          <a:xfrm>
            <a:off x="1562100" y="6100614"/>
            <a:ext cx="10071661"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¿Cuántas han llegado de verdad a producción y mueven una cifra del negocio?</a:t>
            </a:r>
            <a:endParaRPr lang="en-US" sz="2175" dirty="0"/>
          </a:p>
        </p:txBody>
      </p:sp>
      <p:sp>
        <p:nvSpPr>
          <p:cNvPr id="15" name="Shape 11"/>
          <p:cNvSpPr/>
          <p:nvPr/>
        </p:nvSpPr>
        <p:spPr>
          <a:xfrm>
            <a:off x="1066800" y="6576417"/>
            <a:ext cx="16154400" cy="9525"/>
          </a:xfrm>
          <a:prstGeom prst="rect">
            <a:avLst/>
          </a:prstGeom>
          <a:solidFill>
            <a:srgbClr val="E5EAEF"/>
          </a:solidFill>
          <a:ln/>
        </p:spPr>
        <p:txBody>
          <a:bodyPr/>
          <a:lstStyle/>
          <a:p>
            <a:endParaRPr lang="es-ES"/>
          </a:p>
        </p:txBody>
      </p:sp>
      <p:sp>
        <p:nvSpPr>
          <p:cNvPr id="16" name="Text 12"/>
          <p:cNvSpPr/>
          <p:nvPr/>
        </p:nvSpPr>
        <p:spPr>
          <a:xfrm>
            <a:off x="1066800" y="6776442"/>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3A8E63"/>
                </a:solidFill>
                <a:latin typeface="JetBrains Mono" pitchFamily="34" charset="0"/>
                <a:ea typeface="JetBrains Mono" pitchFamily="34" charset="-122"/>
                <a:cs typeface="JetBrains Mono" pitchFamily="34" charset="-120"/>
              </a:rPr>
              <a:t>03</a:t>
            </a:r>
            <a:endParaRPr lang="en-US" sz="1425" dirty="0"/>
          </a:p>
        </p:txBody>
      </p:sp>
      <p:sp>
        <p:nvSpPr>
          <p:cNvPr id="17" name="Text 13"/>
          <p:cNvSpPr/>
          <p:nvPr/>
        </p:nvSpPr>
        <p:spPr>
          <a:xfrm>
            <a:off x="1562100" y="6719292"/>
            <a:ext cx="8246775"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Si el resto se queda en piloto, ¿qué habéis invertido sin retorno?</a:t>
            </a:r>
            <a:endParaRPr lang="en-US" sz="2175" dirty="0"/>
          </a:p>
        </p:txBody>
      </p:sp>
      <p:sp>
        <p:nvSpPr>
          <p:cNvPr id="18" name="Shape 14">
            <a:hlinkClick r:id="rId6" action="ppaction://hlinksldjump"/>
          </p:cNvPr>
          <p:cNvSpPr/>
          <p:nvPr/>
        </p:nvSpPr>
        <p:spPr>
          <a:xfrm>
            <a:off x="15692437" y="9182100"/>
            <a:ext cx="1528763"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19" name="Text 15"/>
          <p:cNvSpPr/>
          <p:nvPr/>
        </p:nvSpPr>
        <p:spPr>
          <a:xfrm>
            <a:off x="15997238" y="9324975"/>
            <a:ext cx="661988"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Cerrar</a:t>
            </a:r>
            <a:endParaRPr lang="en-US" sz="16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687800" y="9334500"/>
            <a:ext cx="228600" cy="228600"/>
          </a:xfrm>
          <a:prstGeom prst="rect">
            <a:avLst/>
          </a:prstGeom>
        </p:spPr>
      </p:pic>
      <p:sp>
        <p:nvSpPr>
          <p:cNvPr id="21" name="Text 16"/>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2" name="Text 17"/>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18 / 24</a:t>
            </a:r>
            <a:endParaRPr lang="en-US" sz="11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9E335E"/>
          </a:solidFill>
          <a:ln/>
        </p:spPr>
        <p:txBody>
          <a:bodyPr/>
          <a:lstStyle/>
          <a:p>
            <a:endParaRPr lang="es-ES"/>
          </a:p>
        </p:txBody>
      </p:sp>
      <p:sp>
        <p:nvSpPr>
          <p:cNvPr id="5" name="Text 2"/>
          <p:cNvSpPr/>
          <p:nvPr/>
        </p:nvSpPr>
        <p:spPr>
          <a:xfrm>
            <a:off x="2076450" y="628650"/>
            <a:ext cx="4652010"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9E335E"/>
                </a:solidFill>
                <a:latin typeface="JetBrains Mono" pitchFamily="34" charset="0"/>
                <a:ea typeface="JetBrains Mono" pitchFamily="34" charset="-122"/>
                <a:cs typeface="JetBrains Mono" pitchFamily="34" charset="-120"/>
              </a:rPr>
              <a:t>PRÁCTICA 04 · SMART OPERATIONS</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1761679"/>
            <a:ext cx="9154350" cy="1038225"/>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3750" b="1" kern="0" spc="-75" dirty="0">
                <a:solidFill>
                  <a:srgbClr val="041C2C"/>
                </a:solidFill>
                <a:latin typeface="Barlow" pitchFamily="34" charset="0"/>
                <a:ea typeface="Barlow" pitchFamily="34" charset="-122"/>
                <a:cs typeface="Barlow" pitchFamily="34" charset="-120"/>
              </a:rPr>
              <a:t>El puesto de trabajo, operado </a:t>
            </a:r>
            <a:r>
              <a:rPr lang="en-US" sz="3750" b="1" kern="0" spc="-75" dirty="0">
                <a:solidFill>
                  <a:srgbClr val="9E335E"/>
                </a:solidFill>
                <a:latin typeface="Barlow" pitchFamily="34" charset="0"/>
                <a:ea typeface="Barlow" pitchFamily="34" charset="-122"/>
                <a:cs typeface="Barlow" pitchFamily="34" charset="-120"/>
              </a:rPr>
              <a:t>de extremo a extremo.</a:t>
            </a:r>
            <a:endParaRPr lang="en-US" sz="3750" dirty="0"/>
          </a:p>
        </p:txBody>
      </p:sp>
      <p:sp>
        <p:nvSpPr>
          <p:cNvPr id="8" name="Text 4"/>
          <p:cNvSpPr/>
          <p:nvPr/>
        </p:nvSpPr>
        <p:spPr>
          <a:xfrm>
            <a:off x="1066800" y="2971354"/>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Operamos el soporte, el dispositivo y la experiencia del empleado. Cuatro piezas combinables, una sola operación.</a:t>
            </a:r>
            <a:endParaRPr lang="en-US" sz="1875" dirty="0"/>
          </a:p>
        </p:txBody>
      </p:sp>
      <p:sp>
        <p:nvSpPr>
          <p:cNvPr id="9" name="Shape 5"/>
          <p:cNvSpPr/>
          <p:nvPr/>
        </p:nvSpPr>
        <p:spPr>
          <a:xfrm>
            <a:off x="10487918" y="1761679"/>
            <a:ext cx="6733133" cy="2098328"/>
          </a:xfrm>
          <a:prstGeom prst="roundRect">
            <a:avLst>
              <a:gd name="adj" fmla="val 6355"/>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10" name="Shape 6"/>
          <p:cNvSpPr/>
          <p:nvPr/>
        </p:nvSpPr>
        <p:spPr>
          <a:xfrm>
            <a:off x="10487918" y="1761679"/>
            <a:ext cx="38100" cy="2098328"/>
          </a:xfrm>
          <a:prstGeom prst="rect">
            <a:avLst/>
          </a:prstGeom>
          <a:solidFill>
            <a:srgbClr val="9E335E"/>
          </a:solidFill>
          <a:ln/>
        </p:spPr>
        <p:txBody>
          <a:bodyPr/>
          <a:lstStyle/>
          <a:p>
            <a:endParaRPr lang="es-ES"/>
          </a:p>
        </p:txBody>
      </p:sp>
      <p:sp>
        <p:nvSpPr>
          <p:cNvPr id="11" name="Text 7"/>
          <p:cNvSpPr/>
          <p:nvPr/>
        </p:nvSpPr>
        <p:spPr>
          <a:xfrm>
            <a:off x="10811768" y="2009329"/>
            <a:ext cx="6307239" cy="1010096"/>
          </a:xfrm>
          <a:prstGeom prst="rect">
            <a:avLst/>
          </a:prstGeom>
          <a:noFill/>
          <a:ln/>
        </p:spPr>
        <p:txBody>
          <a:bodyPr wrap="square" lIns="25400" tIns="25400" rIns="25400" bIns="25400" rtlCol="0" anchor="t">
            <a:normAutofit lnSpcReduction="10000"/>
          </a:bodyPr>
          <a:lstStyle/>
          <a:p>
            <a:pPr marL="0" indent="0" algn="l">
              <a:lnSpc>
                <a:spcPct val="106313"/>
              </a:lnSpc>
              <a:buNone/>
            </a:pPr>
            <a:r>
              <a:rPr lang="en-US" sz="2025" b="1" kern="0" spc="-20" dirty="0">
                <a:solidFill>
                  <a:srgbClr val="FFFFFF"/>
                </a:solidFill>
                <a:latin typeface="Barlow" pitchFamily="34" charset="0"/>
                <a:ea typeface="Barlow" pitchFamily="34" charset="-122"/>
                <a:cs typeface="Barlow" pitchFamily="34" charset="-120"/>
              </a:rPr>
              <a:t>El soporte tradicional crea un ticket por cada incidencia. </a:t>
            </a:r>
            <a:r>
              <a:rPr lang="en-US" sz="2025" b="1" kern="0" spc="-20" dirty="0">
                <a:solidFill>
                  <a:srgbClr val="E498B4"/>
                </a:solidFill>
                <a:latin typeface="Barlow" pitchFamily="34" charset="0"/>
                <a:ea typeface="Barlow" pitchFamily="34" charset="-122"/>
                <a:cs typeface="Barlow" pitchFamily="34" charset="-120"/>
              </a:rPr>
              <a:t>Nuestra IA la resuelve antes de que llegue al técnico.</a:t>
            </a:r>
            <a:endParaRPr lang="en-US" sz="2025" dirty="0"/>
          </a:p>
        </p:txBody>
      </p:sp>
      <p:sp>
        <p:nvSpPr>
          <p:cNvPr id="12" name="Text 8"/>
          <p:cNvSpPr/>
          <p:nvPr/>
        </p:nvSpPr>
        <p:spPr>
          <a:xfrm>
            <a:off x="10811768" y="3105150"/>
            <a:ext cx="6307239" cy="545306"/>
          </a:xfrm>
          <a:prstGeom prst="rect">
            <a:avLst/>
          </a:prstGeom>
          <a:noFill/>
          <a:ln/>
        </p:spPr>
        <p:txBody>
          <a:bodyPr wrap="square" lIns="25400" tIns="25400" rIns="25400" bIns="25400" rtlCol="0" anchor="t">
            <a:normAutofit/>
          </a:bodyPr>
          <a:lstStyle/>
          <a:p>
            <a:pPr marL="0" indent="0" algn="l">
              <a:lnSpc>
                <a:spcPct val="121091"/>
              </a:lnSpc>
              <a:buNone/>
            </a:pPr>
            <a:r>
              <a:rPr lang="en-US" sz="1388" dirty="0">
                <a:solidFill>
                  <a:srgbClr val="FFFFFF">
                    <a:alpha val="72000"/>
                  </a:srgbClr>
                </a:solidFill>
                <a:latin typeface="Arial" pitchFamily="34" charset="0"/>
                <a:ea typeface="Arial" pitchFamily="34" charset="-122"/>
                <a:cs typeface="Arial" pitchFamily="34" charset="-120"/>
              </a:rPr>
              <a:t>Smart Support clasifica y resuelve, SmartHelp asiste al usuario y la automatización N0 filtra antes de crear el ticket — en producción, no en demo.</a:t>
            </a:r>
            <a:endParaRPr lang="en-US" sz="1388" dirty="0"/>
          </a:p>
        </p:txBody>
      </p:sp>
      <p:sp>
        <p:nvSpPr>
          <p:cNvPr id="13" name="Text 9"/>
          <p:cNvSpPr/>
          <p:nvPr/>
        </p:nvSpPr>
        <p:spPr>
          <a:xfrm>
            <a:off x="1066800" y="4145756"/>
            <a:ext cx="17769840"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QUÉ INCLUYE · DEL PRIMER CONTACTO A LA EXPERIENCIA</a:t>
            </a:r>
            <a:endParaRPr lang="en-US" sz="1350" dirty="0"/>
          </a:p>
        </p:txBody>
      </p:sp>
      <p:sp>
        <p:nvSpPr>
          <p:cNvPr id="14" name="Shape 10"/>
          <p:cNvSpPr/>
          <p:nvPr/>
        </p:nvSpPr>
        <p:spPr>
          <a:xfrm>
            <a:off x="1066800" y="4517231"/>
            <a:ext cx="3910013" cy="2543175"/>
          </a:xfrm>
          <a:prstGeom prst="roundRect">
            <a:avLst>
              <a:gd name="adj" fmla="val 449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15" name="Shape 11"/>
          <p:cNvSpPr/>
          <p:nvPr/>
        </p:nvSpPr>
        <p:spPr>
          <a:xfrm>
            <a:off x="1066800" y="7050881"/>
            <a:ext cx="3910013" cy="9525"/>
          </a:xfrm>
          <a:prstGeom prst="rect">
            <a:avLst/>
          </a:prstGeom>
          <a:solidFill>
            <a:srgbClr val="C8D2DA"/>
          </a:solidFill>
          <a:ln/>
        </p:spPr>
        <p:txBody>
          <a:bodyPr/>
          <a:lstStyle/>
          <a:p>
            <a:endParaRPr lang="es-ES"/>
          </a:p>
        </p:txBody>
      </p:sp>
      <p:sp>
        <p:nvSpPr>
          <p:cNvPr id="16" name="Shape 12"/>
          <p:cNvSpPr/>
          <p:nvPr/>
        </p:nvSpPr>
        <p:spPr>
          <a:xfrm>
            <a:off x="1066800" y="4517231"/>
            <a:ext cx="3910013" cy="28575"/>
          </a:xfrm>
          <a:prstGeom prst="rect">
            <a:avLst/>
          </a:prstGeom>
          <a:solidFill>
            <a:srgbClr val="9E335E"/>
          </a:solidFill>
          <a:ln/>
        </p:spPr>
        <p:txBody>
          <a:bodyPr/>
          <a:lstStyle/>
          <a:p>
            <a:endParaRPr lang="es-ES"/>
          </a:p>
        </p:txBody>
      </p:sp>
      <p:sp>
        <p:nvSpPr>
          <p:cNvPr id="17" name="Shape 13"/>
          <p:cNvSpPr/>
          <p:nvPr/>
        </p:nvSpPr>
        <p:spPr>
          <a:xfrm>
            <a:off x="1066800" y="4517231"/>
            <a:ext cx="9525" cy="2543175"/>
          </a:xfrm>
          <a:prstGeom prst="rect">
            <a:avLst/>
          </a:prstGeom>
          <a:solidFill>
            <a:srgbClr val="C8D2DA"/>
          </a:solidFill>
          <a:ln/>
        </p:spPr>
        <p:txBody>
          <a:bodyPr/>
          <a:lstStyle/>
          <a:p>
            <a:endParaRPr lang="es-ES"/>
          </a:p>
        </p:txBody>
      </p:sp>
      <p:sp>
        <p:nvSpPr>
          <p:cNvPr id="18" name="Shape 14"/>
          <p:cNvSpPr/>
          <p:nvPr/>
        </p:nvSpPr>
        <p:spPr>
          <a:xfrm>
            <a:off x="4967288" y="4517231"/>
            <a:ext cx="9525" cy="2543175"/>
          </a:xfrm>
          <a:prstGeom prst="rect">
            <a:avLst/>
          </a:prstGeom>
          <a:solidFill>
            <a:srgbClr val="C8D2DA"/>
          </a:solidFill>
          <a:ln/>
        </p:spPr>
        <p:txBody>
          <a:bodyPr/>
          <a:lstStyle/>
          <a:p>
            <a:endParaRPr lang="es-ES"/>
          </a:p>
        </p:txBody>
      </p:sp>
      <p:sp>
        <p:nvSpPr>
          <p:cNvPr id="19" name="Text 15"/>
          <p:cNvSpPr/>
          <p:nvPr/>
        </p:nvSpPr>
        <p:spPr>
          <a:xfrm>
            <a:off x="1285875" y="4736306"/>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01 · Atender</a:t>
            </a:r>
            <a:endParaRPr lang="en-US" sz="1200" dirty="0"/>
          </a:p>
        </p:txBody>
      </p:sp>
      <p:sp>
        <p:nvSpPr>
          <p:cNvPr id="20" name="Shape 16"/>
          <p:cNvSpPr/>
          <p:nvPr/>
        </p:nvSpPr>
        <p:spPr>
          <a:xfrm>
            <a:off x="1285875" y="5088731"/>
            <a:ext cx="419100" cy="419100"/>
          </a:xfrm>
          <a:prstGeom prst="roundRect">
            <a:avLst>
              <a:gd name="adj" fmla="val 25000"/>
            </a:avLst>
          </a:prstGeom>
          <a:solidFill>
            <a:srgbClr val="9E335E">
              <a:alpha val="10000"/>
            </a:srgbClr>
          </a:solidFill>
          <a:ln/>
        </p:spPr>
        <p:txBody>
          <a:bodyPr/>
          <a:lstStyle/>
          <a:p>
            <a:endParaRPr lang="es-ES"/>
          </a:p>
        </p:txBody>
      </p:sp>
      <p:pic>
        <p:nvPicPr>
          <p:cNvPr id="21"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85888" y="5188744"/>
            <a:ext cx="219075" cy="219075"/>
          </a:xfrm>
          <a:prstGeom prst="rect">
            <a:avLst/>
          </a:prstGeom>
        </p:spPr>
      </p:pic>
      <p:sp>
        <p:nvSpPr>
          <p:cNvPr id="22" name="Text 17"/>
          <p:cNvSpPr/>
          <p:nvPr/>
        </p:nvSpPr>
        <p:spPr>
          <a:xfrm>
            <a:off x="1828800" y="5060156"/>
            <a:ext cx="1020812"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CAU base</a:t>
            </a:r>
            <a:endParaRPr lang="en-US" sz="1763" dirty="0"/>
          </a:p>
        </p:txBody>
      </p:sp>
      <p:sp>
        <p:nvSpPr>
          <p:cNvPr id="23" name="Text 18"/>
          <p:cNvSpPr/>
          <p:nvPr/>
        </p:nvSpPr>
        <p:spPr>
          <a:xfrm>
            <a:off x="1285875" y="5660231"/>
            <a:ext cx="3576018" cy="59055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Atención N1/N2/N3 · resolución remota · monitorización de SLAs.</a:t>
            </a:r>
            <a:endParaRPr lang="en-US" sz="1500" dirty="0"/>
          </a:p>
        </p:txBody>
      </p:sp>
      <p:sp>
        <p:nvSpPr>
          <p:cNvPr id="24" name="Shape 19"/>
          <p:cNvSpPr/>
          <p:nvPr/>
        </p:nvSpPr>
        <p:spPr>
          <a:xfrm>
            <a:off x="1285875" y="6279356"/>
            <a:ext cx="3471863" cy="9525"/>
          </a:xfrm>
          <a:prstGeom prst="rect">
            <a:avLst/>
          </a:prstGeom>
          <a:solidFill>
            <a:srgbClr val="E5EAEF"/>
          </a:solidFill>
          <a:ln/>
        </p:spPr>
        <p:txBody>
          <a:bodyPr/>
          <a:lstStyle/>
          <a:p>
            <a:endParaRPr lang="es-ES"/>
          </a:p>
        </p:txBody>
      </p:sp>
      <p:sp>
        <p:nvSpPr>
          <p:cNvPr id="25" name="Text 20"/>
          <p:cNvSpPr/>
          <p:nvPr/>
        </p:nvSpPr>
        <p:spPr>
          <a:xfrm>
            <a:off x="1285875" y="6422231"/>
            <a:ext cx="3576018"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Omnicanal · IA en clasificación y enrutado · SLAs</a:t>
            </a:r>
            <a:endParaRPr lang="en-US" sz="1238" dirty="0"/>
          </a:p>
        </p:txBody>
      </p:sp>
      <p:sp>
        <p:nvSpPr>
          <p:cNvPr id="26" name="Shape 21"/>
          <p:cNvSpPr/>
          <p:nvPr/>
        </p:nvSpPr>
        <p:spPr>
          <a:xfrm>
            <a:off x="5148263" y="4517231"/>
            <a:ext cx="3910013" cy="2543175"/>
          </a:xfrm>
          <a:prstGeom prst="roundRect">
            <a:avLst>
              <a:gd name="adj" fmla="val 449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27" name="Shape 22"/>
          <p:cNvSpPr/>
          <p:nvPr/>
        </p:nvSpPr>
        <p:spPr>
          <a:xfrm>
            <a:off x="5148263" y="7050881"/>
            <a:ext cx="3910013" cy="9525"/>
          </a:xfrm>
          <a:prstGeom prst="rect">
            <a:avLst/>
          </a:prstGeom>
          <a:solidFill>
            <a:srgbClr val="C8D2DA"/>
          </a:solidFill>
          <a:ln/>
        </p:spPr>
        <p:txBody>
          <a:bodyPr/>
          <a:lstStyle/>
          <a:p>
            <a:endParaRPr lang="es-ES"/>
          </a:p>
        </p:txBody>
      </p:sp>
      <p:sp>
        <p:nvSpPr>
          <p:cNvPr id="28" name="Shape 23"/>
          <p:cNvSpPr/>
          <p:nvPr/>
        </p:nvSpPr>
        <p:spPr>
          <a:xfrm>
            <a:off x="5148263" y="4517231"/>
            <a:ext cx="3910013" cy="28575"/>
          </a:xfrm>
          <a:prstGeom prst="rect">
            <a:avLst/>
          </a:prstGeom>
          <a:solidFill>
            <a:srgbClr val="9E335E"/>
          </a:solidFill>
          <a:ln/>
        </p:spPr>
        <p:txBody>
          <a:bodyPr/>
          <a:lstStyle/>
          <a:p>
            <a:endParaRPr lang="es-ES"/>
          </a:p>
        </p:txBody>
      </p:sp>
      <p:sp>
        <p:nvSpPr>
          <p:cNvPr id="29" name="Shape 24"/>
          <p:cNvSpPr/>
          <p:nvPr/>
        </p:nvSpPr>
        <p:spPr>
          <a:xfrm>
            <a:off x="5148263" y="4517231"/>
            <a:ext cx="9525" cy="2543175"/>
          </a:xfrm>
          <a:prstGeom prst="rect">
            <a:avLst/>
          </a:prstGeom>
          <a:solidFill>
            <a:srgbClr val="C8D2DA"/>
          </a:solidFill>
          <a:ln/>
        </p:spPr>
        <p:txBody>
          <a:bodyPr/>
          <a:lstStyle/>
          <a:p>
            <a:endParaRPr lang="es-ES"/>
          </a:p>
        </p:txBody>
      </p:sp>
      <p:sp>
        <p:nvSpPr>
          <p:cNvPr id="30" name="Shape 25"/>
          <p:cNvSpPr/>
          <p:nvPr/>
        </p:nvSpPr>
        <p:spPr>
          <a:xfrm>
            <a:off x="9048750" y="4517231"/>
            <a:ext cx="9525" cy="2543175"/>
          </a:xfrm>
          <a:prstGeom prst="rect">
            <a:avLst/>
          </a:prstGeom>
          <a:solidFill>
            <a:srgbClr val="C8D2DA"/>
          </a:solidFill>
          <a:ln/>
        </p:spPr>
        <p:txBody>
          <a:bodyPr/>
          <a:lstStyle/>
          <a:p>
            <a:endParaRPr lang="es-ES"/>
          </a:p>
        </p:txBody>
      </p:sp>
      <p:sp>
        <p:nvSpPr>
          <p:cNvPr id="31" name="Text 26"/>
          <p:cNvSpPr/>
          <p:nvPr/>
        </p:nvSpPr>
        <p:spPr>
          <a:xfrm>
            <a:off x="5367338" y="4736306"/>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02 · Gestionar</a:t>
            </a:r>
            <a:endParaRPr lang="en-US" sz="1200" dirty="0"/>
          </a:p>
        </p:txBody>
      </p:sp>
      <p:sp>
        <p:nvSpPr>
          <p:cNvPr id="32" name="Shape 27"/>
          <p:cNvSpPr/>
          <p:nvPr/>
        </p:nvSpPr>
        <p:spPr>
          <a:xfrm>
            <a:off x="5367338" y="5088731"/>
            <a:ext cx="419100" cy="419100"/>
          </a:xfrm>
          <a:prstGeom prst="roundRect">
            <a:avLst>
              <a:gd name="adj" fmla="val 25000"/>
            </a:avLst>
          </a:prstGeom>
          <a:solidFill>
            <a:srgbClr val="9E335E">
              <a:alpha val="10000"/>
            </a:srgbClr>
          </a:solidFill>
          <a:ln/>
        </p:spPr>
        <p:txBody>
          <a:bodyPr/>
          <a:lstStyle/>
          <a:p>
            <a:endParaRPr lang="es-ES"/>
          </a:p>
        </p:txBody>
      </p:sp>
      <p:pic>
        <p:nvPicPr>
          <p:cNvPr id="33"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67350" y="5188744"/>
            <a:ext cx="219075" cy="219075"/>
          </a:xfrm>
          <a:prstGeom prst="rect">
            <a:avLst/>
          </a:prstGeom>
        </p:spPr>
      </p:pic>
      <p:sp>
        <p:nvSpPr>
          <p:cNvPr id="34" name="Text 28"/>
          <p:cNvSpPr/>
          <p:nvPr/>
        </p:nvSpPr>
        <p:spPr>
          <a:xfrm>
            <a:off x="5910263" y="5060156"/>
            <a:ext cx="2067818"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Puesto y dispositivo</a:t>
            </a:r>
            <a:endParaRPr lang="en-US" sz="1763" dirty="0"/>
          </a:p>
        </p:txBody>
      </p:sp>
      <p:sp>
        <p:nvSpPr>
          <p:cNvPr id="35" name="Text 29"/>
          <p:cNvSpPr/>
          <p:nvPr/>
        </p:nvSpPr>
        <p:spPr>
          <a:xfrm>
            <a:off x="5367338" y="5660231"/>
            <a:ext cx="3576018" cy="59055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Gestión del parque y MDM · despliegue de software y licencias · Parcheo</a:t>
            </a:r>
            <a:endParaRPr lang="en-US" sz="1500" dirty="0"/>
          </a:p>
        </p:txBody>
      </p:sp>
      <p:sp>
        <p:nvSpPr>
          <p:cNvPr id="36" name="Shape 30"/>
          <p:cNvSpPr/>
          <p:nvPr/>
        </p:nvSpPr>
        <p:spPr>
          <a:xfrm>
            <a:off x="5367338" y="6279356"/>
            <a:ext cx="3471863" cy="9525"/>
          </a:xfrm>
          <a:prstGeom prst="rect">
            <a:avLst/>
          </a:prstGeom>
          <a:solidFill>
            <a:srgbClr val="E5EAEF"/>
          </a:solidFill>
          <a:ln/>
        </p:spPr>
        <p:txBody>
          <a:bodyPr/>
          <a:lstStyle/>
          <a:p>
            <a:endParaRPr lang="es-ES"/>
          </a:p>
        </p:txBody>
      </p:sp>
      <p:sp>
        <p:nvSpPr>
          <p:cNvPr id="37" name="Text 31"/>
          <p:cNvSpPr/>
          <p:nvPr/>
        </p:nvSpPr>
        <p:spPr>
          <a:xfrm>
            <a:off x="5367338" y="6422231"/>
            <a:ext cx="3576018"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Cumplimiento NIS2 · Seguridad del puesto</a:t>
            </a:r>
            <a:endParaRPr lang="en-US" sz="1238" dirty="0"/>
          </a:p>
        </p:txBody>
      </p:sp>
      <p:sp>
        <p:nvSpPr>
          <p:cNvPr id="38" name="Shape 32"/>
          <p:cNvSpPr/>
          <p:nvPr/>
        </p:nvSpPr>
        <p:spPr>
          <a:xfrm>
            <a:off x="9229725" y="4517231"/>
            <a:ext cx="3910013" cy="2543175"/>
          </a:xfrm>
          <a:prstGeom prst="roundRect">
            <a:avLst>
              <a:gd name="adj" fmla="val 449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39" name="Shape 33"/>
          <p:cNvSpPr/>
          <p:nvPr/>
        </p:nvSpPr>
        <p:spPr>
          <a:xfrm>
            <a:off x="9229725" y="7050881"/>
            <a:ext cx="3910013" cy="9525"/>
          </a:xfrm>
          <a:prstGeom prst="rect">
            <a:avLst/>
          </a:prstGeom>
          <a:solidFill>
            <a:srgbClr val="C8D2DA"/>
          </a:solidFill>
          <a:ln/>
        </p:spPr>
        <p:txBody>
          <a:bodyPr/>
          <a:lstStyle/>
          <a:p>
            <a:endParaRPr lang="es-ES"/>
          </a:p>
        </p:txBody>
      </p:sp>
      <p:sp>
        <p:nvSpPr>
          <p:cNvPr id="40" name="Shape 34"/>
          <p:cNvSpPr/>
          <p:nvPr/>
        </p:nvSpPr>
        <p:spPr>
          <a:xfrm>
            <a:off x="9229725" y="4517231"/>
            <a:ext cx="3910013" cy="28575"/>
          </a:xfrm>
          <a:prstGeom prst="rect">
            <a:avLst/>
          </a:prstGeom>
          <a:solidFill>
            <a:srgbClr val="9E335E"/>
          </a:solidFill>
          <a:ln/>
        </p:spPr>
        <p:txBody>
          <a:bodyPr/>
          <a:lstStyle/>
          <a:p>
            <a:endParaRPr lang="es-ES"/>
          </a:p>
        </p:txBody>
      </p:sp>
      <p:sp>
        <p:nvSpPr>
          <p:cNvPr id="41" name="Shape 35"/>
          <p:cNvSpPr/>
          <p:nvPr/>
        </p:nvSpPr>
        <p:spPr>
          <a:xfrm>
            <a:off x="9229725" y="4517231"/>
            <a:ext cx="9525" cy="2543175"/>
          </a:xfrm>
          <a:prstGeom prst="rect">
            <a:avLst/>
          </a:prstGeom>
          <a:solidFill>
            <a:srgbClr val="C8D2DA"/>
          </a:solidFill>
          <a:ln/>
        </p:spPr>
        <p:txBody>
          <a:bodyPr/>
          <a:lstStyle/>
          <a:p>
            <a:endParaRPr lang="es-ES"/>
          </a:p>
        </p:txBody>
      </p:sp>
      <p:sp>
        <p:nvSpPr>
          <p:cNvPr id="42" name="Shape 36"/>
          <p:cNvSpPr/>
          <p:nvPr/>
        </p:nvSpPr>
        <p:spPr>
          <a:xfrm>
            <a:off x="13130213" y="4517231"/>
            <a:ext cx="9525" cy="2543175"/>
          </a:xfrm>
          <a:prstGeom prst="rect">
            <a:avLst/>
          </a:prstGeom>
          <a:solidFill>
            <a:srgbClr val="C8D2DA"/>
          </a:solidFill>
          <a:ln/>
        </p:spPr>
        <p:txBody>
          <a:bodyPr/>
          <a:lstStyle/>
          <a:p>
            <a:endParaRPr lang="es-ES"/>
          </a:p>
        </p:txBody>
      </p:sp>
      <p:sp>
        <p:nvSpPr>
          <p:cNvPr id="43" name="Text 37"/>
          <p:cNvSpPr/>
          <p:nvPr/>
        </p:nvSpPr>
        <p:spPr>
          <a:xfrm>
            <a:off x="9448800" y="4736306"/>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03 · Proveer</a:t>
            </a:r>
            <a:endParaRPr lang="en-US" sz="1200" dirty="0"/>
          </a:p>
        </p:txBody>
      </p:sp>
      <p:sp>
        <p:nvSpPr>
          <p:cNvPr id="44" name="Shape 38"/>
          <p:cNvSpPr/>
          <p:nvPr/>
        </p:nvSpPr>
        <p:spPr>
          <a:xfrm>
            <a:off x="9448800" y="5088731"/>
            <a:ext cx="419100" cy="419100"/>
          </a:xfrm>
          <a:prstGeom prst="roundRect">
            <a:avLst>
              <a:gd name="adj" fmla="val 25000"/>
            </a:avLst>
          </a:prstGeom>
          <a:solidFill>
            <a:srgbClr val="9E335E">
              <a:alpha val="10000"/>
            </a:srgbClr>
          </a:solidFill>
          <a:ln/>
        </p:spPr>
        <p:txBody>
          <a:bodyPr/>
          <a:lstStyle/>
          <a:p>
            <a:endParaRPr lang="es-ES"/>
          </a:p>
        </p:txBody>
      </p:sp>
      <p:pic>
        <p:nvPicPr>
          <p:cNvPr id="45"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48813" y="5188744"/>
            <a:ext cx="219075" cy="219075"/>
          </a:xfrm>
          <a:prstGeom prst="rect">
            <a:avLst/>
          </a:prstGeom>
        </p:spPr>
      </p:pic>
      <p:sp>
        <p:nvSpPr>
          <p:cNvPr id="46" name="Text 39"/>
          <p:cNvSpPr/>
          <p:nvPr/>
        </p:nvSpPr>
        <p:spPr>
          <a:xfrm>
            <a:off x="9991725" y="5060156"/>
            <a:ext cx="583555"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DaaS</a:t>
            </a:r>
            <a:endParaRPr lang="en-US" sz="1763" dirty="0"/>
          </a:p>
        </p:txBody>
      </p:sp>
      <p:sp>
        <p:nvSpPr>
          <p:cNvPr id="47" name="Text 40"/>
          <p:cNvSpPr/>
          <p:nvPr/>
        </p:nvSpPr>
        <p:spPr>
          <a:xfrm>
            <a:off x="9448800" y="5660231"/>
            <a:ext cx="3576018" cy="59055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Dispositivo como servicio · financiación y renting</a:t>
            </a:r>
            <a:endParaRPr lang="en-US" sz="1500" dirty="0"/>
          </a:p>
        </p:txBody>
      </p:sp>
      <p:sp>
        <p:nvSpPr>
          <p:cNvPr id="48" name="Shape 41"/>
          <p:cNvSpPr/>
          <p:nvPr/>
        </p:nvSpPr>
        <p:spPr>
          <a:xfrm>
            <a:off x="9448800" y="6279356"/>
            <a:ext cx="3471863" cy="9525"/>
          </a:xfrm>
          <a:prstGeom prst="rect">
            <a:avLst/>
          </a:prstGeom>
          <a:solidFill>
            <a:srgbClr val="E5EAEF"/>
          </a:solidFill>
          <a:ln/>
        </p:spPr>
        <p:txBody>
          <a:bodyPr/>
          <a:lstStyle/>
          <a:p>
            <a:endParaRPr lang="es-ES"/>
          </a:p>
        </p:txBody>
      </p:sp>
      <p:sp>
        <p:nvSpPr>
          <p:cNvPr id="49" name="Text 42"/>
          <p:cNvSpPr/>
          <p:nvPr/>
        </p:nvSpPr>
        <p:spPr>
          <a:xfrm>
            <a:off x="9448800" y="6422231"/>
            <a:ext cx="3576018"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Ciclo de vida, renovacion, logística y borrado seguro</a:t>
            </a:r>
            <a:endParaRPr lang="en-US" sz="1238" dirty="0"/>
          </a:p>
        </p:txBody>
      </p:sp>
      <p:sp>
        <p:nvSpPr>
          <p:cNvPr id="50" name="Shape 43"/>
          <p:cNvSpPr/>
          <p:nvPr/>
        </p:nvSpPr>
        <p:spPr>
          <a:xfrm>
            <a:off x="13311188" y="4517231"/>
            <a:ext cx="3910013" cy="2543175"/>
          </a:xfrm>
          <a:prstGeom prst="roundRect">
            <a:avLst>
              <a:gd name="adj" fmla="val 449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51" name="Shape 44"/>
          <p:cNvSpPr/>
          <p:nvPr/>
        </p:nvSpPr>
        <p:spPr>
          <a:xfrm>
            <a:off x="13311188" y="7050881"/>
            <a:ext cx="3910013" cy="9525"/>
          </a:xfrm>
          <a:prstGeom prst="rect">
            <a:avLst/>
          </a:prstGeom>
          <a:solidFill>
            <a:srgbClr val="C8D2DA"/>
          </a:solidFill>
          <a:ln/>
        </p:spPr>
        <p:txBody>
          <a:bodyPr/>
          <a:lstStyle/>
          <a:p>
            <a:endParaRPr lang="es-ES"/>
          </a:p>
        </p:txBody>
      </p:sp>
      <p:sp>
        <p:nvSpPr>
          <p:cNvPr id="52" name="Shape 45"/>
          <p:cNvSpPr/>
          <p:nvPr/>
        </p:nvSpPr>
        <p:spPr>
          <a:xfrm>
            <a:off x="13311188" y="4517231"/>
            <a:ext cx="3910013" cy="28575"/>
          </a:xfrm>
          <a:prstGeom prst="rect">
            <a:avLst/>
          </a:prstGeom>
          <a:solidFill>
            <a:srgbClr val="9E335E"/>
          </a:solidFill>
          <a:ln/>
        </p:spPr>
        <p:txBody>
          <a:bodyPr/>
          <a:lstStyle/>
          <a:p>
            <a:endParaRPr lang="es-ES"/>
          </a:p>
        </p:txBody>
      </p:sp>
      <p:sp>
        <p:nvSpPr>
          <p:cNvPr id="53" name="Shape 46"/>
          <p:cNvSpPr/>
          <p:nvPr/>
        </p:nvSpPr>
        <p:spPr>
          <a:xfrm>
            <a:off x="13311188" y="4517231"/>
            <a:ext cx="9525" cy="2543175"/>
          </a:xfrm>
          <a:prstGeom prst="rect">
            <a:avLst/>
          </a:prstGeom>
          <a:solidFill>
            <a:srgbClr val="C8D2DA"/>
          </a:solidFill>
          <a:ln/>
        </p:spPr>
        <p:txBody>
          <a:bodyPr/>
          <a:lstStyle/>
          <a:p>
            <a:endParaRPr lang="es-ES"/>
          </a:p>
        </p:txBody>
      </p:sp>
      <p:sp>
        <p:nvSpPr>
          <p:cNvPr id="54" name="Shape 47"/>
          <p:cNvSpPr/>
          <p:nvPr/>
        </p:nvSpPr>
        <p:spPr>
          <a:xfrm>
            <a:off x="17211675" y="4517231"/>
            <a:ext cx="9525" cy="2543175"/>
          </a:xfrm>
          <a:prstGeom prst="rect">
            <a:avLst/>
          </a:prstGeom>
          <a:solidFill>
            <a:srgbClr val="C8D2DA"/>
          </a:solidFill>
          <a:ln/>
        </p:spPr>
        <p:txBody>
          <a:bodyPr/>
          <a:lstStyle/>
          <a:p>
            <a:endParaRPr lang="es-ES"/>
          </a:p>
        </p:txBody>
      </p:sp>
      <p:sp>
        <p:nvSpPr>
          <p:cNvPr id="55" name="Text 48"/>
          <p:cNvSpPr/>
          <p:nvPr/>
        </p:nvSpPr>
        <p:spPr>
          <a:xfrm>
            <a:off x="13530263" y="4736306"/>
            <a:ext cx="3819049"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04 · Elevar</a:t>
            </a:r>
            <a:endParaRPr lang="en-US" sz="1200" dirty="0"/>
          </a:p>
        </p:txBody>
      </p:sp>
      <p:sp>
        <p:nvSpPr>
          <p:cNvPr id="56" name="Shape 49"/>
          <p:cNvSpPr/>
          <p:nvPr/>
        </p:nvSpPr>
        <p:spPr>
          <a:xfrm>
            <a:off x="13530263" y="5088731"/>
            <a:ext cx="419100" cy="419100"/>
          </a:xfrm>
          <a:prstGeom prst="roundRect">
            <a:avLst>
              <a:gd name="adj" fmla="val 25000"/>
            </a:avLst>
          </a:prstGeom>
          <a:solidFill>
            <a:srgbClr val="9E335E">
              <a:alpha val="10000"/>
            </a:srgbClr>
          </a:solidFill>
          <a:ln/>
        </p:spPr>
        <p:txBody>
          <a:bodyPr/>
          <a:lstStyle/>
          <a:p>
            <a:endParaRPr lang="es-ES"/>
          </a:p>
        </p:txBody>
      </p:sp>
      <p:pic>
        <p:nvPicPr>
          <p:cNvPr id="57"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630275" y="5188744"/>
            <a:ext cx="219075" cy="219075"/>
          </a:xfrm>
          <a:prstGeom prst="rect">
            <a:avLst/>
          </a:prstGeom>
        </p:spPr>
      </p:pic>
      <p:sp>
        <p:nvSpPr>
          <p:cNvPr id="58" name="Text 50"/>
          <p:cNvSpPr/>
          <p:nvPr/>
        </p:nvSpPr>
        <p:spPr>
          <a:xfrm>
            <a:off x="14073188" y="5060156"/>
            <a:ext cx="1839664"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Servicios de valor</a:t>
            </a:r>
            <a:endParaRPr lang="en-US" sz="1763" dirty="0"/>
          </a:p>
        </p:txBody>
      </p:sp>
      <p:sp>
        <p:nvSpPr>
          <p:cNvPr id="59" name="Text 51"/>
          <p:cNvSpPr/>
          <p:nvPr/>
        </p:nvSpPr>
        <p:spPr>
          <a:xfrm>
            <a:off x="13530263" y="5660231"/>
            <a:ext cx="3576018"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SmartHelp embebido · portal de autoservicio · automatización · analítica de experiencia.</a:t>
            </a:r>
            <a:endParaRPr lang="en-US" sz="1500" dirty="0"/>
          </a:p>
        </p:txBody>
      </p:sp>
      <p:sp>
        <p:nvSpPr>
          <p:cNvPr id="60" name="Shape 52"/>
          <p:cNvSpPr/>
          <p:nvPr/>
        </p:nvSpPr>
        <p:spPr>
          <a:xfrm>
            <a:off x="13530263" y="6488906"/>
            <a:ext cx="3471863" cy="9525"/>
          </a:xfrm>
          <a:prstGeom prst="rect">
            <a:avLst/>
          </a:prstGeom>
          <a:solidFill>
            <a:srgbClr val="E5EAEF"/>
          </a:solidFill>
          <a:ln/>
        </p:spPr>
        <p:txBody>
          <a:bodyPr/>
          <a:lstStyle/>
          <a:p>
            <a:endParaRPr lang="es-ES"/>
          </a:p>
        </p:txBody>
      </p:sp>
      <p:sp>
        <p:nvSpPr>
          <p:cNvPr id="61" name="Text 53"/>
          <p:cNvSpPr/>
          <p:nvPr/>
        </p:nvSpPr>
        <p:spPr>
          <a:xfrm>
            <a:off x="13530263" y="6631781"/>
            <a:ext cx="3576018" cy="2476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DEX · XLAs</a:t>
            </a:r>
            <a:endParaRPr lang="en-US" sz="1238" dirty="0"/>
          </a:p>
        </p:txBody>
      </p:sp>
      <p:sp>
        <p:nvSpPr>
          <p:cNvPr id="62" name="Shape 54"/>
          <p:cNvSpPr/>
          <p:nvPr/>
        </p:nvSpPr>
        <p:spPr>
          <a:xfrm>
            <a:off x="1066800" y="7231856"/>
            <a:ext cx="16154400" cy="1921966"/>
          </a:xfrm>
          <a:prstGeom prst="roundRect">
            <a:avLst>
              <a:gd name="adj" fmla="val 6938"/>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63" name="Text 55"/>
          <p:cNvSpPr/>
          <p:nvPr/>
        </p:nvSpPr>
        <p:spPr>
          <a:xfrm>
            <a:off x="1390650" y="7460456"/>
            <a:ext cx="9126230"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E498B4"/>
                </a:solidFill>
                <a:latin typeface="JetBrains Mono" pitchFamily="34" charset="0"/>
                <a:ea typeface="JetBrains Mono" pitchFamily="34" charset="-122"/>
                <a:cs typeface="JetBrains Mono" pitchFamily="34" charset="-120"/>
              </a:rPr>
              <a:t>LA EVIDENCIA EN PRODUCCIÓN · SECTOR AAPP</a:t>
            </a:r>
            <a:endParaRPr lang="en-US" sz="1125" dirty="0"/>
          </a:p>
        </p:txBody>
      </p:sp>
      <p:sp>
        <p:nvSpPr>
          <p:cNvPr id="64" name="Text 56"/>
          <p:cNvSpPr/>
          <p:nvPr/>
        </p:nvSpPr>
        <p:spPr>
          <a:xfrm>
            <a:off x="1390650" y="7784306"/>
            <a:ext cx="2431271"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+400K</a:t>
            </a:r>
            <a:endParaRPr lang="en-US" sz="2700" dirty="0"/>
          </a:p>
        </p:txBody>
      </p:sp>
      <p:sp>
        <p:nvSpPr>
          <p:cNvPr id="65" name="Text 57"/>
          <p:cNvSpPr/>
          <p:nvPr/>
        </p:nvSpPr>
        <p:spPr>
          <a:xfrm>
            <a:off x="1390650" y="8174831"/>
            <a:ext cx="2431271"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USUARIOS ATENDIDOS HOY</a:t>
            </a:r>
            <a:endParaRPr lang="en-US" sz="1163" dirty="0"/>
          </a:p>
        </p:txBody>
      </p:sp>
      <p:sp>
        <p:nvSpPr>
          <p:cNvPr id="66" name="Text 58"/>
          <p:cNvSpPr/>
          <p:nvPr/>
        </p:nvSpPr>
        <p:spPr>
          <a:xfrm>
            <a:off x="3924746" y="7784306"/>
            <a:ext cx="2506251"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95 %+</a:t>
            </a:r>
            <a:endParaRPr lang="en-US" sz="2700" dirty="0"/>
          </a:p>
        </p:txBody>
      </p:sp>
      <p:sp>
        <p:nvSpPr>
          <p:cNvPr id="67" name="Text 59"/>
          <p:cNvSpPr/>
          <p:nvPr/>
        </p:nvSpPr>
        <p:spPr>
          <a:xfrm>
            <a:off x="3924746" y="8174831"/>
            <a:ext cx="2506251"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RENOVACIÓN DE CONTRATO</a:t>
            </a:r>
            <a:endParaRPr lang="en-US" sz="1163" dirty="0"/>
          </a:p>
        </p:txBody>
      </p:sp>
      <p:sp>
        <p:nvSpPr>
          <p:cNvPr id="68" name="Text 60"/>
          <p:cNvSpPr/>
          <p:nvPr/>
        </p:nvSpPr>
        <p:spPr>
          <a:xfrm>
            <a:off x="6527006" y="7784306"/>
            <a:ext cx="3162732"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80-98 %</a:t>
            </a:r>
            <a:endParaRPr lang="en-US" sz="2700" dirty="0"/>
          </a:p>
        </p:txBody>
      </p:sp>
      <p:sp>
        <p:nvSpPr>
          <p:cNvPr id="69" name="Text 61"/>
          <p:cNvSpPr/>
          <p:nvPr/>
        </p:nvSpPr>
        <p:spPr>
          <a:xfrm>
            <a:off x="6527006" y="8174831"/>
            <a:ext cx="3162732"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INCIDENCIAS CLASIFICADAS POR IA</a:t>
            </a:r>
            <a:endParaRPr lang="en-US" sz="1163" dirty="0"/>
          </a:p>
        </p:txBody>
      </p:sp>
      <p:sp>
        <p:nvSpPr>
          <p:cNvPr id="70" name="Text 62"/>
          <p:cNvSpPr/>
          <p:nvPr/>
        </p:nvSpPr>
        <p:spPr>
          <a:xfrm>
            <a:off x="1390650" y="8485287"/>
            <a:ext cx="8545470" cy="478036"/>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50000"/>
                  </a:srgbClr>
                </a:solidFill>
                <a:latin typeface="Arial" pitchFamily="34" charset="0"/>
                <a:ea typeface="Arial" pitchFamily="34" charset="-122"/>
                <a:cs typeface="Arial" pitchFamily="34" charset="-120"/>
              </a:rPr>
              <a:t>Caso AAPP: +200.000 usuarios · 855 sedes · &gt;97 % de cumplimiento de SLA. Centros propios Madrid · São Paulo · Miami.</a:t>
            </a:r>
            <a:endParaRPr lang="en-US" sz="1238" dirty="0"/>
          </a:p>
        </p:txBody>
      </p:sp>
      <p:sp>
        <p:nvSpPr>
          <p:cNvPr id="71" name="Shape 63"/>
          <p:cNvSpPr/>
          <p:nvPr/>
        </p:nvSpPr>
        <p:spPr>
          <a:xfrm>
            <a:off x="10106323" y="7492305"/>
            <a:ext cx="9525" cy="1401068"/>
          </a:xfrm>
          <a:prstGeom prst="rect">
            <a:avLst/>
          </a:prstGeom>
          <a:solidFill>
            <a:srgbClr val="FFFFFF">
              <a:alpha val="16000"/>
            </a:srgbClr>
          </a:solidFill>
          <a:ln/>
        </p:spPr>
        <p:txBody>
          <a:bodyPr/>
          <a:lstStyle/>
          <a:p>
            <a:endParaRPr lang="es-ES"/>
          </a:p>
        </p:txBody>
      </p:sp>
      <p:sp>
        <p:nvSpPr>
          <p:cNvPr id="72" name="Text 64"/>
          <p:cNvSpPr/>
          <p:nvPr/>
        </p:nvSpPr>
        <p:spPr>
          <a:xfrm>
            <a:off x="10439698" y="7492305"/>
            <a:ext cx="5521315"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GOBIERNO COMO ARQUITECTURA</a:t>
            </a:r>
            <a:endParaRPr lang="en-US" sz="1125" dirty="0"/>
          </a:p>
        </p:txBody>
      </p:sp>
      <p:sp>
        <p:nvSpPr>
          <p:cNvPr id="73" name="Shape 65"/>
          <p:cNvSpPr/>
          <p:nvPr/>
        </p:nvSpPr>
        <p:spPr>
          <a:xfrm>
            <a:off x="10439698" y="7806630"/>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4" name="Text 66"/>
          <p:cNvSpPr/>
          <p:nvPr/>
        </p:nvSpPr>
        <p:spPr>
          <a:xfrm>
            <a:off x="10582573" y="7873305"/>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ITIL</a:t>
            </a:r>
            <a:endParaRPr lang="en-US" sz="1125" dirty="0"/>
          </a:p>
        </p:txBody>
      </p:sp>
      <p:sp>
        <p:nvSpPr>
          <p:cNvPr id="75" name="Shape 67"/>
          <p:cNvSpPr/>
          <p:nvPr/>
        </p:nvSpPr>
        <p:spPr>
          <a:xfrm>
            <a:off x="11154073" y="7806630"/>
            <a:ext cx="105727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6" name="Text 68"/>
          <p:cNvSpPr/>
          <p:nvPr/>
        </p:nvSpPr>
        <p:spPr>
          <a:xfrm>
            <a:off x="11296948" y="7873305"/>
            <a:ext cx="8477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ISO 20000</a:t>
            </a:r>
            <a:endParaRPr lang="en-US" sz="1125" dirty="0"/>
          </a:p>
        </p:txBody>
      </p:sp>
      <p:sp>
        <p:nvSpPr>
          <p:cNvPr id="77" name="Shape 69"/>
          <p:cNvSpPr/>
          <p:nvPr/>
        </p:nvSpPr>
        <p:spPr>
          <a:xfrm>
            <a:off x="12297073" y="7806630"/>
            <a:ext cx="105727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78" name="Text 70"/>
          <p:cNvSpPr/>
          <p:nvPr/>
        </p:nvSpPr>
        <p:spPr>
          <a:xfrm>
            <a:off x="12439948" y="7873305"/>
            <a:ext cx="8477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ISO 27001</a:t>
            </a:r>
            <a:endParaRPr lang="en-US" sz="1125" dirty="0"/>
          </a:p>
        </p:txBody>
      </p:sp>
      <p:sp>
        <p:nvSpPr>
          <p:cNvPr id="79" name="Shape 71"/>
          <p:cNvSpPr/>
          <p:nvPr/>
        </p:nvSpPr>
        <p:spPr>
          <a:xfrm>
            <a:off x="13440073" y="7806630"/>
            <a:ext cx="9715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80" name="Text 72"/>
          <p:cNvSpPr/>
          <p:nvPr/>
        </p:nvSpPr>
        <p:spPr>
          <a:xfrm>
            <a:off x="13582948" y="7873305"/>
            <a:ext cx="7620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ENS alto</a:t>
            </a:r>
            <a:endParaRPr lang="en-US" sz="1125" dirty="0"/>
          </a:p>
        </p:txBody>
      </p:sp>
      <p:sp>
        <p:nvSpPr>
          <p:cNvPr id="81" name="Shape 73"/>
          <p:cNvSpPr/>
          <p:nvPr/>
        </p:nvSpPr>
        <p:spPr>
          <a:xfrm>
            <a:off x="10439698" y="8216205"/>
            <a:ext cx="148590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82" name="Text 74"/>
          <p:cNvSpPr/>
          <p:nvPr/>
        </p:nvSpPr>
        <p:spPr>
          <a:xfrm>
            <a:off x="10582573" y="8282880"/>
            <a:ext cx="127635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+174 Microsoft</a:t>
            </a:r>
            <a:endParaRPr lang="en-US" sz="1125" dirty="0"/>
          </a:p>
        </p:txBody>
      </p:sp>
      <p:sp>
        <p:nvSpPr>
          <p:cNvPr id="83" name="Text 75"/>
          <p:cNvSpPr/>
          <p:nvPr/>
        </p:nvSpPr>
        <p:spPr>
          <a:xfrm>
            <a:off x="10439698" y="8673405"/>
            <a:ext cx="5521315" cy="258068"/>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Empieza por un </a:t>
            </a:r>
            <a:r>
              <a:rPr lang="en-US" sz="1238" b="1" dirty="0">
                <a:solidFill>
                  <a:srgbClr val="E498B4"/>
                </a:solidFill>
                <a:latin typeface="Arial" pitchFamily="34" charset="0"/>
                <a:ea typeface="Arial" pitchFamily="34" charset="-122"/>
                <a:cs typeface="Arial" pitchFamily="34" charset="-120"/>
              </a:rPr>
              <a:t>Assessment de tu modelo de puesto de trabajo</a:t>
            </a:r>
            <a:r>
              <a:rPr lang="en-US" sz="1238" dirty="0">
                <a:solidFill>
                  <a:srgbClr val="FFFFFF">
                    <a:alpha val="62000"/>
                  </a:srgbClr>
                </a:solidFill>
                <a:latin typeface="Arial" pitchFamily="34" charset="0"/>
                <a:ea typeface="Arial" pitchFamily="34" charset="-122"/>
                <a:cs typeface="Arial" pitchFamily="34" charset="-120"/>
              </a:rPr>
              <a:t>.</a:t>
            </a:r>
            <a:endParaRPr lang="en-US" sz="1238" dirty="0"/>
          </a:p>
        </p:txBody>
      </p:sp>
      <p:sp>
        <p:nvSpPr>
          <p:cNvPr id="84" name="Shape 76">
            <a:hlinkClick r:id="rId10" action="ppaction://hlinksldjump"/>
          </p:cNvPr>
          <p:cNvSpPr/>
          <p:nvPr/>
        </p:nvSpPr>
        <p:spPr>
          <a:xfrm>
            <a:off x="15379452" y="9182100"/>
            <a:ext cx="1841748"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85" name="Text 77"/>
          <p:cNvSpPr/>
          <p:nvPr/>
        </p:nvSpPr>
        <p:spPr>
          <a:xfrm>
            <a:off x="15684252" y="9324975"/>
            <a:ext cx="974973"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Continuar</a:t>
            </a:r>
            <a:endParaRPr lang="en-US" sz="1650" dirty="0"/>
          </a:p>
        </p:txBody>
      </p:sp>
      <p:pic>
        <p:nvPicPr>
          <p:cNvPr id="86" name="Image 6"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6687800" y="9334500"/>
            <a:ext cx="228600" cy="228600"/>
          </a:xfrm>
          <a:prstGeom prst="rect">
            <a:avLst/>
          </a:prstGeom>
        </p:spPr>
      </p:pic>
      <p:sp>
        <p:nvSpPr>
          <p:cNvPr id="87" name="Text 78"/>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88" name="Text 79"/>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19 / 24</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9E335E"/>
          </a:solidFill>
          <a:ln/>
        </p:spPr>
        <p:txBody>
          <a:bodyPr/>
          <a:lstStyle/>
          <a:p>
            <a:endParaRPr lang="es-ES"/>
          </a:p>
        </p:txBody>
      </p:sp>
      <p:sp>
        <p:nvSpPr>
          <p:cNvPr id="5" name="Text 2"/>
          <p:cNvSpPr/>
          <p:nvPr/>
        </p:nvSpPr>
        <p:spPr>
          <a:xfrm>
            <a:off x="2076450" y="628650"/>
            <a:ext cx="4652010"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9E335E"/>
                </a:solidFill>
                <a:latin typeface="JetBrains Mono" pitchFamily="34" charset="0"/>
                <a:ea typeface="JetBrains Mono" pitchFamily="34" charset="-122"/>
                <a:cs typeface="JetBrains Mono" pitchFamily="34" charset="-120"/>
              </a:rPr>
              <a:t>PRÁCTICA 04 · SMART OPERATIONS</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1372344"/>
            <a:ext cx="9154350" cy="1038225"/>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3750" b="1" kern="0" spc="-75" dirty="0">
                <a:solidFill>
                  <a:srgbClr val="041C2C"/>
                </a:solidFill>
                <a:latin typeface="Barlow" pitchFamily="34" charset="0"/>
                <a:ea typeface="Barlow" pitchFamily="34" charset="-122"/>
                <a:cs typeface="Barlow" pitchFamily="34" charset="-120"/>
              </a:rPr>
              <a:t>La infraestructura, operada </a:t>
            </a:r>
            <a:r>
              <a:rPr lang="en-US" sz="3750" b="1" kern="0" spc="-75" dirty="0">
                <a:solidFill>
                  <a:srgbClr val="9E335E"/>
                </a:solidFill>
                <a:latin typeface="Barlow" pitchFamily="34" charset="0"/>
                <a:ea typeface="Barlow" pitchFamily="34" charset="-122"/>
                <a:cs typeface="Barlow" pitchFamily="34" charset="-120"/>
              </a:rPr>
              <a:t>24×7 y optimizada.</a:t>
            </a:r>
            <a:endParaRPr lang="en-US" sz="3750" dirty="0"/>
          </a:p>
        </p:txBody>
      </p:sp>
      <p:sp>
        <p:nvSpPr>
          <p:cNvPr id="8" name="Text 4"/>
          <p:cNvSpPr/>
          <p:nvPr/>
        </p:nvSpPr>
        <p:spPr>
          <a:xfrm>
            <a:off x="1066800" y="2582019"/>
            <a:ext cx="8162851" cy="1073944"/>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041C2C">
                    <a:alpha val="82000"/>
                  </a:srgbClr>
                </a:solidFill>
                <a:latin typeface="Roboto" pitchFamily="34" charset="0"/>
                <a:ea typeface="Roboto" pitchFamily="34" charset="-122"/>
                <a:cs typeface="Roboto" pitchFamily="34" charset="-120"/>
              </a:rPr>
              <a:t>Mantenemos disponible y bajo control la infraestructura crítica —sistemas, redes y cloud— con un modelo preventivo que se anticipa al incidente y mantiene el gasto y el cumplimiento bajo control.</a:t>
            </a:r>
            <a:endParaRPr lang="en-US" sz="1875" dirty="0"/>
          </a:p>
        </p:txBody>
      </p:sp>
      <p:sp>
        <p:nvSpPr>
          <p:cNvPr id="9" name="Shape 5"/>
          <p:cNvSpPr/>
          <p:nvPr/>
        </p:nvSpPr>
        <p:spPr>
          <a:xfrm>
            <a:off x="10487918" y="1372344"/>
            <a:ext cx="6733133" cy="2245519"/>
          </a:xfrm>
          <a:prstGeom prst="roundRect">
            <a:avLst>
              <a:gd name="adj" fmla="val 5938"/>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10" name="Shape 6"/>
          <p:cNvSpPr/>
          <p:nvPr/>
        </p:nvSpPr>
        <p:spPr>
          <a:xfrm>
            <a:off x="10487918" y="1372344"/>
            <a:ext cx="38100" cy="2245519"/>
          </a:xfrm>
          <a:prstGeom prst="rect">
            <a:avLst/>
          </a:prstGeom>
          <a:solidFill>
            <a:srgbClr val="9E335E"/>
          </a:solidFill>
          <a:ln/>
        </p:spPr>
        <p:txBody>
          <a:bodyPr/>
          <a:lstStyle/>
          <a:p>
            <a:endParaRPr lang="es-ES"/>
          </a:p>
        </p:txBody>
      </p:sp>
      <p:sp>
        <p:nvSpPr>
          <p:cNvPr id="11" name="Text 7"/>
          <p:cNvSpPr/>
          <p:nvPr/>
        </p:nvSpPr>
        <p:spPr>
          <a:xfrm>
            <a:off x="10811768" y="1693515"/>
            <a:ext cx="6307239" cy="1010096"/>
          </a:xfrm>
          <a:prstGeom prst="rect">
            <a:avLst/>
          </a:prstGeom>
          <a:noFill/>
          <a:ln/>
        </p:spPr>
        <p:txBody>
          <a:bodyPr wrap="square" lIns="25400" tIns="25400" rIns="25400" bIns="25400" rtlCol="0" anchor="t">
            <a:normAutofit/>
          </a:bodyPr>
          <a:lstStyle/>
          <a:p>
            <a:pPr marL="0" indent="0" algn="l">
              <a:lnSpc>
                <a:spcPct val="106313"/>
              </a:lnSpc>
              <a:buNone/>
            </a:pPr>
            <a:r>
              <a:rPr lang="en-US" sz="2025" b="1" kern="0" spc="-20" dirty="0">
                <a:solidFill>
                  <a:srgbClr val="FFFFFF"/>
                </a:solidFill>
                <a:latin typeface="Barlow" pitchFamily="34" charset="0"/>
                <a:ea typeface="Barlow" pitchFamily="34" charset="-122"/>
                <a:cs typeface="Barlow" pitchFamily="34" charset="-120"/>
              </a:rPr>
              <a:t>El soporte tradicional apaga fuegos. </a:t>
            </a:r>
            <a:r>
              <a:rPr lang="en-US" sz="2025" b="1" kern="0" spc="-20" dirty="0">
                <a:solidFill>
                  <a:srgbClr val="E498B4"/>
                </a:solidFill>
                <a:latin typeface="Barlow" pitchFamily="34" charset="0"/>
                <a:ea typeface="Barlow" pitchFamily="34" charset="-122"/>
                <a:cs typeface="Barlow" pitchFamily="34" charset="-120"/>
              </a:rPr>
              <a:t>Nuestro modelo preventivo AIOps se anticipa al incidente y baja el gasto.</a:t>
            </a:r>
            <a:endParaRPr lang="en-US" sz="2025" dirty="0"/>
          </a:p>
        </p:txBody>
      </p:sp>
      <p:sp>
        <p:nvSpPr>
          <p:cNvPr id="12" name="Text 8"/>
          <p:cNvSpPr/>
          <p:nvPr/>
        </p:nvSpPr>
        <p:spPr>
          <a:xfrm>
            <a:off x="10811768" y="2789337"/>
            <a:ext cx="6307239" cy="545306"/>
          </a:xfrm>
          <a:prstGeom prst="rect">
            <a:avLst/>
          </a:prstGeom>
          <a:noFill/>
          <a:ln/>
        </p:spPr>
        <p:txBody>
          <a:bodyPr wrap="square" lIns="25400" tIns="25400" rIns="25400" bIns="25400" rtlCol="0" anchor="t">
            <a:normAutofit/>
          </a:bodyPr>
          <a:lstStyle/>
          <a:p>
            <a:pPr marL="0" indent="0" algn="l">
              <a:lnSpc>
                <a:spcPct val="121091"/>
              </a:lnSpc>
              <a:buNone/>
            </a:pPr>
            <a:r>
              <a:rPr lang="en-US" sz="1388" dirty="0">
                <a:solidFill>
                  <a:srgbClr val="FFFFFF">
                    <a:alpha val="72000"/>
                  </a:srgbClr>
                </a:solidFill>
                <a:latin typeface="Arial" pitchFamily="34" charset="0"/>
                <a:ea typeface="Arial" pitchFamily="34" charset="-122"/>
                <a:cs typeface="Arial" pitchFamily="34" charset="-120"/>
              </a:rPr>
              <a:t>Operación follow-the-sun desde centros propios, con IA Data Driven que reduce la inversión -30% en infraestructura sin tocar la disponibilidad.</a:t>
            </a:r>
            <a:endParaRPr lang="en-US" sz="1388" dirty="0"/>
          </a:p>
        </p:txBody>
      </p:sp>
      <p:sp>
        <p:nvSpPr>
          <p:cNvPr id="13" name="Text 9"/>
          <p:cNvSpPr/>
          <p:nvPr/>
        </p:nvSpPr>
        <p:spPr>
          <a:xfrm>
            <a:off x="1066800" y="3903613"/>
            <a:ext cx="17769840" cy="257175"/>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4A6273"/>
                </a:solidFill>
                <a:latin typeface="JetBrains Mono" pitchFamily="34" charset="0"/>
                <a:ea typeface="JetBrains Mono" pitchFamily="34" charset="-122"/>
                <a:cs typeface="JetBrains Mono" pitchFamily="34" charset="-120"/>
              </a:rPr>
              <a:t>QUÉ INCLUYE · DE LA CONTINUIDAD A LA OPTIMIZACIÓN</a:t>
            </a:r>
            <a:endParaRPr lang="en-US" sz="1350" dirty="0"/>
          </a:p>
        </p:txBody>
      </p:sp>
      <p:sp>
        <p:nvSpPr>
          <p:cNvPr id="14" name="Shape 10"/>
          <p:cNvSpPr/>
          <p:nvPr/>
        </p:nvSpPr>
        <p:spPr>
          <a:xfrm>
            <a:off x="1066800" y="4275088"/>
            <a:ext cx="3124200" cy="3238500"/>
          </a:xfrm>
          <a:prstGeom prst="roundRect">
            <a:avLst>
              <a:gd name="adj" fmla="val 3659"/>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15" name="Shape 11"/>
          <p:cNvSpPr/>
          <p:nvPr/>
        </p:nvSpPr>
        <p:spPr>
          <a:xfrm>
            <a:off x="1066800" y="7504063"/>
            <a:ext cx="3124200" cy="9525"/>
          </a:xfrm>
          <a:prstGeom prst="rect">
            <a:avLst/>
          </a:prstGeom>
          <a:solidFill>
            <a:srgbClr val="C8D2DA"/>
          </a:solidFill>
          <a:ln/>
        </p:spPr>
        <p:txBody>
          <a:bodyPr/>
          <a:lstStyle/>
          <a:p>
            <a:endParaRPr lang="es-ES"/>
          </a:p>
        </p:txBody>
      </p:sp>
      <p:sp>
        <p:nvSpPr>
          <p:cNvPr id="16" name="Shape 12"/>
          <p:cNvSpPr/>
          <p:nvPr/>
        </p:nvSpPr>
        <p:spPr>
          <a:xfrm>
            <a:off x="1066800" y="4275088"/>
            <a:ext cx="3124200" cy="28575"/>
          </a:xfrm>
          <a:prstGeom prst="rect">
            <a:avLst/>
          </a:prstGeom>
          <a:solidFill>
            <a:srgbClr val="9E335E"/>
          </a:solidFill>
          <a:ln/>
        </p:spPr>
        <p:txBody>
          <a:bodyPr/>
          <a:lstStyle/>
          <a:p>
            <a:endParaRPr lang="es-ES"/>
          </a:p>
        </p:txBody>
      </p:sp>
      <p:sp>
        <p:nvSpPr>
          <p:cNvPr id="17" name="Shape 13"/>
          <p:cNvSpPr/>
          <p:nvPr/>
        </p:nvSpPr>
        <p:spPr>
          <a:xfrm>
            <a:off x="1066800" y="4275088"/>
            <a:ext cx="9525" cy="3238500"/>
          </a:xfrm>
          <a:prstGeom prst="rect">
            <a:avLst/>
          </a:prstGeom>
          <a:solidFill>
            <a:srgbClr val="C8D2DA"/>
          </a:solidFill>
          <a:ln/>
        </p:spPr>
        <p:txBody>
          <a:bodyPr/>
          <a:lstStyle/>
          <a:p>
            <a:endParaRPr lang="es-ES"/>
          </a:p>
        </p:txBody>
      </p:sp>
      <p:sp>
        <p:nvSpPr>
          <p:cNvPr id="18" name="Shape 14"/>
          <p:cNvSpPr/>
          <p:nvPr/>
        </p:nvSpPr>
        <p:spPr>
          <a:xfrm>
            <a:off x="4181475" y="4275088"/>
            <a:ext cx="9525" cy="3238500"/>
          </a:xfrm>
          <a:prstGeom prst="rect">
            <a:avLst/>
          </a:prstGeom>
          <a:solidFill>
            <a:srgbClr val="C8D2DA"/>
          </a:solidFill>
          <a:ln/>
        </p:spPr>
        <p:txBody>
          <a:bodyPr/>
          <a:lstStyle/>
          <a:p>
            <a:endParaRPr lang="es-ES"/>
          </a:p>
        </p:txBody>
      </p:sp>
      <p:sp>
        <p:nvSpPr>
          <p:cNvPr id="19" name="Text 15"/>
          <p:cNvSpPr/>
          <p:nvPr/>
        </p:nvSpPr>
        <p:spPr>
          <a:xfrm>
            <a:off x="1285875" y="4494163"/>
            <a:ext cx="2954655"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01 · Operar</a:t>
            </a:r>
            <a:endParaRPr lang="en-US" sz="1200" dirty="0"/>
          </a:p>
        </p:txBody>
      </p:sp>
      <p:sp>
        <p:nvSpPr>
          <p:cNvPr id="20" name="Shape 16"/>
          <p:cNvSpPr/>
          <p:nvPr/>
        </p:nvSpPr>
        <p:spPr>
          <a:xfrm>
            <a:off x="1285875" y="4846588"/>
            <a:ext cx="419100" cy="419100"/>
          </a:xfrm>
          <a:prstGeom prst="roundRect">
            <a:avLst>
              <a:gd name="adj" fmla="val 25000"/>
            </a:avLst>
          </a:prstGeom>
          <a:solidFill>
            <a:srgbClr val="9E335E">
              <a:alpha val="10000"/>
            </a:srgbClr>
          </a:solidFill>
          <a:ln/>
        </p:spPr>
        <p:txBody>
          <a:bodyPr/>
          <a:lstStyle/>
          <a:p>
            <a:endParaRPr lang="es-ES"/>
          </a:p>
        </p:txBody>
      </p:sp>
      <p:pic>
        <p:nvPicPr>
          <p:cNvPr id="21"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85888" y="4946600"/>
            <a:ext cx="219075" cy="219075"/>
          </a:xfrm>
          <a:prstGeom prst="rect">
            <a:avLst/>
          </a:prstGeom>
        </p:spPr>
      </p:pic>
      <p:sp>
        <p:nvSpPr>
          <p:cNvPr id="22" name="Text 17"/>
          <p:cNvSpPr/>
          <p:nvPr/>
        </p:nvSpPr>
        <p:spPr>
          <a:xfrm>
            <a:off x="1828800" y="4818013"/>
            <a:ext cx="1605558"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Operación 24×7</a:t>
            </a:r>
            <a:endParaRPr lang="en-US" sz="1763" dirty="0"/>
          </a:p>
        </p:txBody>
      </p:sp>
      <p:sp>
        <p:nvSpPr>
          <p:cNvPr id="23" name="Text 18"/>
          <p:cNvSpPr/>
          <p:nvPr/>
        </p:nvSpPr>
        <p:spPr>
          <a:xfrm>
            <a:off x="1285875" y="5418088"/>
            <a:ext cx="2766632"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Sistemas clásicos y cloud · monitorización AIOps preventiva.</a:t>
            </a:r>
            <a:endParaRPr lang="en-US" sz="1500" dirty="0"/>
          </a:p>
        </p:txBody>
      </p:sp>
      <p:sp>
        <p:nvSpPr>
          <p:cNvPr id="24" name="Shape 19"/>
          <p:cNvSpPr/>
          <p:nvPr/>
        </p:nvSpPr>
        <p:spPr>
          <a:xfrm>
            <a:off x="1285875" y="6522988"/>
            <a:ext cx="2686050" cy="9525"/>
          </a:xfrm>
          <a:prstGeom prst="rect">
            <a:avLst/>
          </a:prstGeom>
          <a:solidFill>
            <a:srgbClr val="E5EAEF"/>
          </a:solidFill>
          <a:ln/>
        </p:spPr>
        <p:txBody>
          <a:bodyPr/>
          <a:lstStyle/>
          <a:p>
            <a:endParaRPr lang="es-ES"/>
          </a:p>
        </p:txBody>
      </p:sp>
      <p:sp>
        <p:nvSpPr>
          <p:cNvPr id="25" name="Text 20"/>
          <p:cNvSpPr/>
          <p:nvPr/>
        </p:nvSpPr>
        <p:spPr>
          <a:xfrm>
            <a:off x="1285875" y="6665863"/>
            <a:ext cx="2766632" cy="6667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Gestión proactiva incidentes · continuidad de negocio.</a:t>
            </a:r>
            <a:endParaRPr lang="en-US" sz="1238" dirty="0"/>
          </a:p>
        </p:txBody>
      </p:sp>
      <p:sp>
        <p:nvSpPr>
          <p:cNvPr id="26" name="Shape 21"/>
          <p:cNvSpPr/>
          <p:nvPr/>
        </p:nvSpPr>
        <p:spPr>
          <a:xfrm>
            <a:off x="4324350" y="4275088"/>
            <a:ext cx="3124200" cy="3238500"/>
          </a:xfrm>
          <a:prstGeom prst="roundRect">
            <a:avLst>
              <a:gd name="adj" fmla="val 3659"/>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27" name="Shape 22"/>
          <p:cNvSpPr/>
          <p:nvPr/>
        </p:nvSpPr>
        <p:spPr>
          <a:xfrm>
            <a:off x="4324350" y="7504063"/>
            <a:ext cx="3124200" cy="9525"/>
          </a:xfrm>
          <a:prstGeom prst="rect">
            <a:avLst/>
          </a:prstGeom>
          <a:solidFill>
            <a:srgbClr val="C8D2DA"/>
          </a:solidFill>
          <a:ln/>
        </p:spPr>
        <p:txBody>
          <a:bodyPr/>
          <a:lstStyle/>
          <a:p>
            <a:endParaRPr lang="es-ES"/>
          </a:p>
        </p:txBody>
      </p:sp>
      <p:sp>
        <p:nvSpPr>
          <p:cNvPr id="28" name="Shape 23"/>
          <p:cNvSpPr/>
          <p:nvPr/>
        </p:nvSpPr>
        <p:spPr>
          <a:xfrm>
            <a:off x="4324350" y="4275088"/>
            <a:ext cx="3124200" cy="28575"/>
          </a:xfrm>
          <a:prstGeom prst="rect">
            <a:avLst/>
          </a:prstGeom>
          <a:solidFill>
            <a:srgbClr val="9E335E"/>
          </a:solidFill>
          <a:ln/>
        </p:spPr>
        <p:txBody>
          <a:bodyPr/>
          <a:lstStyle/>
          <a:p>
            <a:endParaRPr lang="es-ES"/>
          </a:p>
        </p:txBody>
      </p:sp>
      <p:sp>
        <p:nvSpPr>
          <p:cNvPr id="29" name="Shape 24"/>
          <p:cNvSpPr/>
          <p:nvPr/>
        </p:nvSpPr>
        <p:spPr>
          <a:xfrm>
            <a:off x="4324350" y="4275088"/>
            <a:ext cx="9525" cy="3238500"/>
          </a:xfrm>
          <a:prstGeom prst="rect">
            <a:avLst/>
          </a:prstGeom>
          <a:solidFill>
            <a:srgbClr val="C8D2DA"/>
          </a:solidFill>
          <a:ln/>
        </p:spPr>
        <p:txBody>
          <a:bodyPr/>
          <a:lstStyle/>
          <a:p>
            <a:endParaRPr lang="es-ES"/>
          </a:p>
        </p:txBody>
      </p:sp>
      <p:sp>
        <p:nvSpPr>
          <p:cNvPr id="30" name="Shape 25"/>
          <p:cNvSpPr/>
          <p:nvPr/>
        </p:nvSpPr>
        <p:spPr>
          <a:xfrm>
            <a:off x="7439025" y="4275088"/>
            <a:ext cx="9525" cy="3238500"/>
          </a:xfrm>
          <a:prstGeom prst="rect">
            <a:avLst/>
          </a:prstGeom>
          <a:solidFill>
            <a:srgbClr val="C8D2DA"/>
          </a:solidFill>
          <a:ln/>
        </p:spPr>
        <p:txBody>
          <a:bodyPr/>
          <a:lstStyle/>
          <a:p>
            <a:endParaRPr lang="es-ES"/>
          </a:p>
        </p:txBody>
      </p:sp>
      <p:sp>
        <p:nvSpPr>
          <p:cNvPr id="31" name="Text 26"/>
          <p:cNvSpPr/>
          <p:nvPr/>
        </p:nvSpPr>
        <p:spPr>
          <a:xfrm>
            <a:off x="4543425" y="4494163"/>
            <a:ext cx="2954655"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02 · Escalar</a:t>
            </a:r>
            <a:endParaRPr lang="en-US" sz="1200" dirty="0"/>
          </a:p>
        </p:txBody>
      </p:sp>
      <p:sp>
        <p:nvSpPr>
          <p:cNvPr id="32" name="Shape 27"/>
          <p:cNvSpPr/>
          <p:nvPr/>
        </p:nvSpPr>
        <p:spPr>
          <a:xfrm>
            <a:off x="4543425" y="4846588"/>
            <a:ext cx="419100" cy="419100"/>
          </a:xfrm>
          <a:prstGeom prst="roundRect">
            <a:avLst>
              <a:gd name="adj" fmla="val 25000"/>
            </a:avLst>
          </a:prstGeom>
          <a:solidFill>
            <a:srgbClr val="9E335E">
              <a:alpha val="10000"/>
            </a:srgbClr>
          </a:solidFill>
          <a:ln/>
        </p:spPr>
        <p:txBody>
          <a:bodyPr/>
          <a:lstStyle/>
          <a:p>
            <a:endParaRPr lang="es-ES"/>
          </a:p>
        </p:txBody>
      </p:sp>
      <p:pic>
        <p:nvPicPr>
          <p:cNvPr id="33"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3438" y="4946600"/>
            <a:ext cx="219075" cy="219075"/>
          </a:xfrm>
          <a:prstGeom prst="rect">
            <a:avLst/>
          </a:prstGeom>
        </p:spPr>
      </p:pic>
      <p:sp>
        <p:nvSpPr>
          <p:cNvPr id="34" name="Text 28"/>
          <p:cNvSpPr/>
          <p:nvPr/>
        </p:nvSpPr>
        <p:spPr>
          <a:xfrm>
            <a:off x="5086350" y="4818013"/>
            <a:ext cx="1836241"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Cloud y migración</a:t>
            </a:r>
            <a:endParaRPr lang="en-US" sz="1763" dirty="0"/>
          </a:p>
        </p:txBody>
      </p:sp>
      <p:sp>
        <p:nvSpPr>
          <p:cNvPr id="35" name="Text 29"/>
          <p:cNvSpPr/>
          <p:nvPr/>
        </p:nvSpPr>
        <p:spPr>
          <a:xfrm>
            <a:off x="4543425" y="5418088"/>
            <a:ext cx="2766632" cy="114300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Escalabilidad, optimización y alta disponibilidad · capacidad adaptativa · assessment y migración.</a:t>
            </a:r>
            <a:endParaRPr lang="en-US" sz="1500" dirty="0"/>
          </a:p>
        </p:txBody>
      </p:sp>
      <p:sp>
        <p:nvSpPr>
          <p:cNvPr id="36" name="Shape 30"/>
          <p:cNvSpPr/>
          <p:nvPr/>
        </p:nvSpPr>
        <p:spPr>
          <a:xfrm>
            <a:off x="4543425" y="6522988"/>
            <a:ext cx="2686050" cy="9525"/>
          </a:xfrm>
          <a:prstGeom prst="rect">
            <a:avLst/>
          </a:prstGeom>
          <a:solidFill>
            <a:srgbClr val="E5EAEF"/>
          </a:solidFill>
          <a:ln/>
        </p:spPr>
        <p:txBody>
          <a:bodyPr/>
          <a:lstStyle/>
          <a:p>
            <a:endParaRPr lang="es-ES"/>
          </a:p>
        </p:txBody>
      </p:sp>
      <p:sp>
        <p:nvSpPr>
          <p:cNvPr id="37" name="Text 31"/>
          <p:cNvSpPr/>
          <p:nvPr/>
        </p:nvSpPr>
        <p:spPr>
          <a:xfrm>
            <a:off x="4543425" y="6665863"/>
            <a:ext cx="2766632" cy="66675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La nube como habilitador para escalar con rapidez y control.</a:t>
            </a:r>
            <a:endParaRPr lang="en-US" sz="1238" dirty="0"/>
          </a:p>
        </p:txBody>
      </p:sp>
      <p:sp>
        <p:nvSpPr>
          <p:cNvPr id="38" name="Shape 32"/>
          <p:cNvSpPr/>
          <p:nvPr/>
        </p:nvSpPr>
        <p:spPr>
          <a:xfrm>
            <a:off x="7581900" y="4275088"/>
            <a:ext cx="3124200" cy="3238500"/>
          </a:xfrm>
          <a:prstGeom prst="roundRect">
            <a:avLst>
              <a:gd name="adj" fmla="val 3659"/>
            </a:avLst>
          </a:prstGeom>
          <a:solidFill>
            <a:srgbClr val="9E335E">
              <a:alpha val="10000"/>
            </a:srgbClr>
          </a:solidFill>
          <a:ln/>
          <a:effectLst>
            <a:outerShdw blurRad="209550" dist="57150" dir="5400000" algn="bl" rotWithShape="0">
              <a:srgbClr val="000000">
                <a:alpha val="30000"/>
              </a:srgbClr>
            </a:outerShdw>
          </a:effectLst>
        </p:spPr>
        <p:txBody>
          <a:bodyPr/>
          <a:lstStyle/>
          <a:p>
            <a:endParaRPr lang="es-ES"/>
          </a:p>
        </p:txBody>
      </p:sp>
      <p:sp>
        <p:nvSpPr>
          <p:cNvPr id="39" name="Shape 33"/>
          <p:cNvSpPr/>
          <p:nvPr/>
        </p:nvSpPr>
        <p:spPr>
          <a:xfrm>
            <a:off x="7581900" y="7504063"/>
            <a:ext cx="3124200" cy="9525"/>
          </a:xfrm>
          <a:prstGeom prst="rect">
            <a:avLst/>
          </a:prstGeom>
          <a:solidFill>
            <a:srgbClr val="9F325D">
              <a:alpha val="32000"/>
            </a:srgbClr>
          </a:solidFill>
          <a:ln/>
        </p:spPr>
        <p:txBody>
          <a:bodyPr/>
          <a:lstStyle/>
          <a:p>
            <a:endParaRPr lang="es-ES"/>
          </a:p>
        </p:txBody>
      </p:sp>
      <p:sp>
        <p:nvSpPr>
          <p:cNvPr id="40" name="Shape 34"/>
          <p:cNvSpPr/>
          <p:nvPr/>
        </p:nvSpPr>
        <p:spPr>
          <a:xfrm>
            <a:off x="7581900" y="4275088"/>
            <a:ext cx="3124200" cy="28575"/>
          </a:xfrm>
          <a:prstGeom prst="rect">
            <a:avLst/>
          </a:prstGeom>
          <a:solidFill>
            <a:srgbClr val="9F325D">
              <a:alpha val="32000"/>
            </a:srgbClr>
          </a:solidFill>
          <a:ln/>
        </p:spPr>
        <p:txBody>
          <a:bodyPr/>
          <a:lstStyle/>
          <a:p>
            <a:endParaRPr lang="es-ES"/>
          </a:p>
        </p:txBody>
      </p:sp>
      <p:sp>
        <p:nvSpPr>
          <p:cNvPr id="41" name="Shape 35"/>
          <p:cNvSpPr/>
          <p:nvPr/>
        </p:nvSpPr>
        <p:spPr>
          <a:xfrm>
            <a:off x="7581900" y="4275088"/>
            <a:ext cx="9525" cy="3238500"/>
          </a:xfrm>
          <a:prstGeom prst="rect">
            <a:avLst/>
          </a:prstGeom>
          <a:solidFill>
            <a:srgbClr val="9F325D">
              <a:alpha val="32000"/>
            </a:srgbClr>
          </a:solidFill>
          <a:ln/>
        </p:spPr>
        <p:txBody>
          <a:bodyPr/>
          <a:lstStyle/>
          <a:p>
            <a:endParaRPr lang="es-ES"/>
          </a:p>
        </p:txBody>
      </p:sp>
      <p:sp>
        <p:nvSpPr>
          <p:cNvPr id="42" name="Shape 36"/>
          <p:cNvSpPr/>
          <p:nvPr/>
        </p:nvSpPr>
        <p:spPr>
          <a:xfrm>
            <a:off x="10696575" y="4275088"/>
            <a:ext cx="9525" cy="3238500"/>
          </a:xfrm>
          <a:prstGeom prst="rect">
            <a:avLst/>
          </a:prstGeom>
          <a:solidFill>
            <a:srgbClr val="9F325D">
              <a:alpha val="32000"/>
            </a:srgbClr>
          </a:solidFill>
          <a:ln/>
        </p:spPr>
        <p:txBody>
          <a:bodyPr/>
          <a:lstStyle/>
          <a:p>
            <a:endParaRPr lang="es-ES"/>
          </a:p>
        </p:txBody>
      </p:sp>
      <p:sp>
        <p:nvSpPr>
          <p:cNvPr id="43" name="Text 37"/>
          <p:cNvSpPr/>
          <p:nvPr/>
        </p:nvSpPr>
        <p:spPr>
          <a:xfrm>
            <a:off x="7800975" y="4494163"/>
            <a:ext cx="1596018"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03 · Optimizar</a:t>
            </a:r>
            <a:endParaRPr lang="en-US" sz="1200" dirty="0"/>
          </a:p>
        </p:txBody>
      </p:sp>
      <p:sp>
        <p:nvSpPr>
          <p:cNvPr id="44" name="Shape 38"/>
          <p:cNvSpPr/>
          <p:nvPr/>
        </p:nvSpPr>
        <p:spPr>
          <a:xfrm>
            <a:off x="7800975" y="4846588"/>
            <a:ext cx="419100" cy="419100"/>
          </a:xfrm>
          <a:prstGeom prst="roundRect">
            <a:avLst>
              <a:gd name="adj" fmla="val 25000"/>
            </a:avLst>
          </a:prstGeom>
          <a:solidFill>
            <a:srgbClr val="9E335E"/>
          </a:solidFill>
          <a:ln/>
        </p:spPr>
        <p:txBody>
          <a:bodyPr/>
          <a:lstStyle/>
          <a:p>
            <a:endParaRPr lang="es-ES"/>
          </a:p>
        </p:txBody>
      </p:sp>
      <p:pic>
        <p:nvPicPr>
          <p:cNvPr id="45"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00988" y="4946600"/>
            <a:ext cx="219075" cy="219075"/>
          </a:xfrm>
          <a:prstGeom prst="rect">
            <a:avLst/>
          </a:prstGeom>
        </p:spPr>
      </p:pic>
      <p:sp>
        <p:nvSpPr>
          <p:cNvPr id="46" name="Text 39"/>
          <p:cNvSpPr/>
          <p:nvPr/>
        </p:nvSpPr>
        <p:spPr>
          <a:xfrm>
            <a:off x="8343900" y="4818013"/>
            <a:ext cx="1834009"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Control de Costes</a:t>
            </a:r>
            <a:endParaRPr lang="en-US" sz="1763" dirty="0"/>
          </a:p>
        </p:txBody>
      </p:sp>
      <p:sp>
        <p:nvSpPr>
          <p:cNvPr id="47" name="Text 40"/>
          <p:cNvSpPr/>
          <p:nvPr/>
        </p:nvSpPr>
        <p:spPr>
          <a:xfrm>
            <a:off x="7800975" y="5418088"/>
            <a:ext cx="2766632" cy="59055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b="1" dirty="0">
                <a:solidFill>
                  <a:srgbClr val="354A5A"/>
                </a:solidFill>
                <a:latin typeface="Arial" pitchFamily="34" charset="0"/>
                <a:ea typeface="Arial" pitchFamily="34" charset="-122"/>
                <a:cs typeface="Arial" pitchFamily="34" charset="-120"/>
              </a:rPr>
              <a:t>FinOps </a:t>
            </a:r>
            <a:r>
              <a:rPr lang="en-US" sz="1500" dirty="0">
                <a:solidFill>
                  <a:srgbClr val="354A5A"/>
                </a:solidFill>
                <a:latin typeface="Arial" pitchFamily="34" charset="0"/>
                <a:ea typeface="Arial" pitchFamily="34" charset="-122"/>
                <a:cs typeface="Arial" pitchFamily="34" charset="-120"/>
              </a:rPr>
              <a:t>as a service · transparencia del gasto.</a:t>
            </a:r>
            <a:endParaRPr lang="en-US" sz="1500" dirty="0"/>
          </a:p>
        </p:txBody>
      </p:sp>
      <p:sp>
        <p:nvSpPr>
          <p:cNvPr id="48" name="Shape 41"/>
          <p:cNvSpPr/>
          <p:nvPr/>
        </p:nvSpPr>
        <p:spPr>
          <a:xfrm>
            <a:off x="7800975" y="6732538"/>
            <a:ext cx="2686050" cy="9525"/>
          </a:xfrm>
          <a:prstGeom prst="rect">
            <a:avLst/>
          </a:prstGeom>
          <a:solidFill>
            <a:srgbClr val="9F3260">
              <a:alpha val="22000"/>
            </a:srgbClr>
          </a:solidFill>
          <a:ln/>
        </p:spPr>
        <p:txBody>
          <a:bodyPr/>
          <a:lstStyle/>
          <a:p>
            <a:endParaRPr lang="es-ES"/>
          </a:p>
        </p:txBody>
      </p:sp>
      <p:sp>
        <p:nvSpPr>
          <p:cNvPr id="49" name="Text 42"/>
          <p:cNvSpPr/>
          <p:nvPr/>
        </p:nvSpPr>
        <p:spPr>
          <a:xfrm>
            <a:off x="7800975" y="6875413"/>
            <a:ext cx="2766632"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Visibilidad coste/servicio ·euros vs capacidad medible</a:t>
            </a:r>
            <a:endParaRPr lang="en-US" sz="1238" dirty="0"/>
          </a:p>
        </p:txBody>
      </p:sp>
      <p:sp>
        <p:nvSpPr>
          <p:cNvPr id="50" name="Shape 43"/>
          <p:cNvSpPr/>
          <p:nvPr/>
        </p:nvSpPr>
        <p:spPr>
          <a:xfrm>
            <a:off x="10839450" y="4275088"/>
            <a:ext cx="3124200" cy="3238500"/>
          </a:xfrm>
          <a:prstGeom prst="roundRect">
            <a:avLst>
              <a:gd name="adj" fmla="val 3659"/>
            </a:avLst>
          </a:prstGeom>
          <a:solidFill>
            <a:srgbClr val="9E335E">
              <a:alpha val="10000"/>
            </a:srgbClr>
          </a:solidFill>
          <a:ln/>
          <a:effectLst>
            <a:outerShdw blurRad="209550" dist="57150" dir="5400000" algn="bl" rotWithShape="0">
              <a:srgbClr val="000000">
                <a:alpha val="30000"/>
              </a:srgbClr>
            </a:outerShdw>
          </a:effectLst>
        </p:spPr>
        <p:txBody>
          <a:bodyPr/>
          <a:lstStyle/>
          <a:p>
            <a:endParaRPr lang="es-ES"/>
          </a:p>
        </p:txBody>
      </p:sp>
      <p:sp>
        <p:nvSpPr>
          <p:cNvPr id="51" name="Shape 44"/>
          <p:cNvSpPr/>
          <p:nvPr/>
        </p:nvSpPr>
        <p:spPr>
          <a:xfrm>
            <a:off x="10839450" y="7504063"/>
            <a:ext cx="3124200" cy="9525"/>
          </a:xfrm>
          <a:prstGeom prst="rect">
            <a:avLst/>
          </a:prstGeom>
          <a:solidFill>
            <a:srgbClr val="9F325D">
              <a:alpha val="32000"/>
            </a:srgbClr>
          </a:solidFill>
          <a:ln/>
        </p:spPr>
        <p:txBody>
          <a:bodyPr/>
          <a:lstStyle/>
          <a:p>
            <a:endParaRPr lang="es-ES"/>
          </a:p>
        </p:txBody>
      </p:sp>
      <p:sp>
        <p:nvSpPr>
          <p:cNvPr id="52" name="Shape 45"/>
          <p:cNvSpPr/>
          <p:nvPr/>
        </p:nvSpPr>
        <p:spPr>
          <a:xfrm>
            <a:off x="10839450" y="4275088"/>
            <a:ext cx="3124200" cy="28575"/>
          </a:xfrm>
          <a:prstGeom prst="rect">
            <a:avLst/>
          </a:prstGeom>
          <a:solidFill>
            <a:srgbClr val="9F325D">
              <a:alpha val="32000"/>
            </a:srgbClr>
          </a:solidFill>
          <a:ln/>
        </p:spPr>
        <p:txBody>
          <a:bodyPr/>
          <a:lstStyle/>
          <a:p>
            <a:endParaRPr lang="es-ES"/>
          </a:p>
        </p:txBody>
      </p:sp>
      <p:sp>
        <p:nvSpPr>
          <p:cNvPr id="53" name="Shape 46"/>
          <p:cNvSpPr/>
          <p:nvPr/>
        </p:nvSpPr>
        <p:spPr>
          <a:xfrm>
            <a:off x="10839450" y="4275088"/>
            <a:ext cx="9525" cy="3238500"/>
          </a:xfrm>
          <a:prstGeom prst="rect">
            <a:avLst/>
          </a:prstGeom>
          <a:solidFill>
            <a:srgbClr val="9F325D">
              <a:alpha val="32000"/>
            </a:srgbClr>
          </a:solidFill>
          <a:ln/>
        </p:spPr>
        <p:txBody>
          <a:bodyPr/>
          <a:lstStyle/>
          <a:p>
            <a:endParaRPr lang="es-ES"/>
          </a:p>
        </p:txBody>
      </p:sp>
      <p:sp>
        <p:nvSpPr>
          <p:cNvPr id="54" name="Shape 47"/>
          <p:cNvSpPr/>
          <p:nvPr/>
        </p:nvSpPr>
        <p:spPr>
          <a:xfrm>
            <a:off x="13954125" y="4275088"/>
            <a:ext cx="9525" cy="3238500"/>
          </a:xfrm>
          <a:prstGeom prst="rect">
            <a:avLst/>
          </a:prstGeom>
          <a:solidFill>
            <a:srgbClr val="9F325D">
              <a:alpha val="32000"/>
            </a:srgbClr>
          </a:solidFill>
          <a:ln/>
        </p:spPr>
        <p:txBody>
          <a:bodyPr/>
          <a:lstStyle/>
          <a:p>
            <a:endParaRPr lang="es-ES"/>
          </a:p>
        </p:txBody>
      </p:sp>
      <p:sp>
        <p:nvSpPr>
          <p:cNvPr id="55" name="Text 48"/>
          <p:cNvSpPr/>
          <p:nvPr/>
        </p:nvSpPr>
        <p:spPr>
          <a:xfrm>
            <a:off x="11058525" y="4494163"/>
            <a:ext cx="1482075"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04 · Predecir</a:t>
            </a:r>
            <a:endParaRPr lang="en-US" sz="1200" dirty="0"/>
          </a:p>
        </p:txBody>
      </p:sp>
      <p:sp>
        <p:nvSpPr>
          <p:cNvPr id="56" name="Shape 49"/>
          <p:cNvSpPr/>
          <p:nvPr/>
        </p:nvSpPr>
        <p:spPr>
          <a:xfrm>
            <a:off x="11058525" y="4846588"/>
            <a:ext cx="419100" cy="419100"/>
          </a:xfrm>
          <a:prstGeom prst="roundRect">
            <a:avLst>
              <a:gd name="adj" fmla="val 25000"/>
            </a:avLst>
          </a:prstGeom>
          <a:solidFill>
            <a:srgbClr val="9E335E"/>
          </a:solidFill>
          <a:ln/>
        </p:spPr>
        <p:txBody>
          <a:bodyPr/>
          <a:lstStyle/>
          <a:p>
            <a:endParaRPr lang="es-ES"/>
          </a:p>
        </p:txBody>
      </p:sp>
      <p:pic>
        <p:nvPicPr>
          <p:cNvPr id="57"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158538" y="4946600"/>
            <a:ext cx="219075" cy="219075"/>
          </a:xfrm>
          <a:prstGeom prst="rect">
            <a:avLst/>
          </a:prstGeom>
        </p:spPr>
      </p:pic>
      <p:sp>
        <p:nvSpPr>
          <p:cNvPr id="58" name="Text 50"/>
          <p:cNvSpPr/>
          <p:nvPr/>
        </p:nvSpPr>
        <p:spPr>
          <a:xfrm>
            <a:off x="11601450" y="4818013"/>
            <a:ext cx="2140744"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Operación predictiva</a:t>
            </a:r>
            <a:endParaRPr lang="en-US" sz="1763" dirty="0"/>
          </a:p>
        </p:txBody>
      </p:sp>
      <p:sp>
        <p:nvSpPr>
          <p:cNvPr id="59" name="Text 51"/>
          <p:cNvSpPr/>
          <p:nvPr/>
        </p:nvSpPr>
        <p:spPr>
          <a:xfrm>
            <a:off x="11058525" y="5418088"/>
            <a:ext cx="2766632" cy="866775"/>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b="1" dirty="0">
                <a:solidFill>
                  <a:srgbClr val="354A5A"/>
                </a:solidFill>
                <a:latin typeface="Arial" pitchFamily="34" charset="0"/>
                <a:ea typeface="Arial" pitchFamily="34" charset="-122"/>
                <a:cs typeface="Arial" pitchFamily="34" charset="-120"/>
              </a:rPr>
              <a:t>AIOps </a:t>
            </a:r>
            <a:r>
              <a:rPr lang="en-US" sz="1500" dirty="0">
                <a:solidFill>
                  <a:srgbClr val="354A5A"/>
                </a:solidFill>
                <a:latin typeface="Arial" pitchFamily="34" charset="0"/>
                <a:ea typeface="Arial" pitchFamily="34" charset="-122"/>
                <a:cs typeface="Arial" pitchFamily="34" charset="-120"/>
              </a:rPr>
              <a:t>para correlación de eventos y monitorización preventiva · Observabilidad.</a:t>
            </a:r>
            <a:endParaRPr lang="en-US" sz="1500" dirty="0"/>
          </a:p>
        </p:txBody>
      </p:sp>
      <p:sp>
        <p:nvSpPr>
          <p:cNvPr id="60" name="Shape 52"/>
          <p:cNvSpPr/>
          <p:nvPr/>
        </p:nvSpPr>
        <p:spPr>
          <a:xfrm>
            <a:off x="11058525" y="6732538"/>
            <a:ext cx="2686050" cy="9525"/>
          </a:xfrm>
          <a:prstGeom prst="rect">
            <a:avLst/>
          </a:prstGeom>
          <a:solidFill>
            <a:srgbClr val="9F3260">
              <a:alpha val="22000"/>
            </a:srgbClr>
          </a:solidFill>
          <a:ln/>
        </p:spPr>
        <p:txBody>
          <a:bodyPr/>
          <a:lstStyle/>
          <a:p>
            <a:endParaRPr lang="es-ES"/>
          </a:p>
        </p:txBody>
      </p:sp>
      <p:sp>
        <p:nvSpPr>
          <p:cNvPr id="61" name="Text 53"/>
          <p:cNvSpPr/>
          <p:nvPr/>
        </p:nvSpPr>
        <p:spPr>
          <a:xfrm>
            <a:off x="11058525" y="6875413"/>
            <a:ext cx="2766632"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Pasamos de una operación reactiva a una predictiva.</a:t>
            </a:r>
            <a:endParaRPr lang="en-US" sz="1238" dirty="0"/>
          </a:p>
        </p:txBody>
      </p:sp>
      <p:sp>
        <p:nvSpPr>
          <p:cNvPr id="62" name="Shape 54"/>
          <p:cNvSpPr/>
          <p:nvPr/>
        </p:nvSpPr>
        <p:spPr>
          <a:xfrm>
            <a:off x="14097000" y="4275088"/>
            <a:ext cx="3124200" cy="3238500"/>
          </a:xfrm>
          <a:prstGeom prst="roundRect">
            <a:avLst>
              <a:gd name="adj" fmla="val 3659"/>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63" name="Shape 55"/>
          <p:cNvSpPr/>
          <p:nvPr/>
        </p:nvSpPr>
        <p:spPr>
          <a:xfrm>
            <a:off x="14097000" y="7504063"/>
            <a:ext cx="3124200" cy="9525"/>
          </a:xfrm>
          <a:prstGeom prst="rect">
            <a:avLst/>
          </a:prstGeom>
          <a:solidFill>
            <a:srgbClr val="C8D2DA"/>
          </a:solidFill>
          <a:ln/>
        </p:spPr>
        <p:txBody>
          <a:bodyPr/>
          <a:lstStyle/>
          <a:p>
            <a:endParaRPr lang="es-ES"/>
          </a:p>
        </p:txBody>
      </p:sp>
      <p:sp>
        <p:nvSpPr>
          <p:cNvPr id="64" name="Shape 56"/>
          <p:cNvSpPr/>
          <p:nvPr/>
        </p:nvSpPr>
        <p:spPr>
          <a:xfrm>
            <a:off x="14097000" y="4275088"/>
            <a:ext cx="3124200" cy="28575"/>
          </a:xfrm>
          <a:prstGeom prst="rect">
            <a:avLst/>
          </a:prstGeom>
          <a:solidFill>
            <a:srgbClr val="9E335E"/>
          </a:solidFill>
          <a:ln/>
        </p:spPr>
        <p:txBody>
          <a:bodyPr/>
          <a:lstStyle/>
          <a:p>
            <a:endParaRPr lang="es-ES"/>
          </a:p>
        </p:txBody>
      </p:sp>
      <p:sp>
        <p:nvSpPr>
          <p:cNvPr id="65" name="Shape 57"/>
          <p:cNvSpPr/>
          <p:nvPr/>
        </p:nvSpPr>
        <p:spPr>
          <a:xfrm>
            <a:off x="14097000" y="4275088"/>
            <a:ext cx="9525" cy="3238500"/>
          </a:xfrm>
          <a:prstGeom prst="rect">
            <a:avLst/>
          </a:prstGeom>
          <a:solidFill>
            <a:srgbClr val="C8D2DA"/>
          </a:solidFill>
          <a:ln/>
        </p:spPr>
        <p:txBody>
          <a:bodyPr/>
          <a:lstStyle/>
          <a:p>
            <a:endParaRPr lang="es-ES"/>
          </a:p>
        </p:txBody>
      </p:sp>
      <p:sp>
        <p:nvSpPr>
          <p:cNvPr id="66" name="Shape 58"/>
          <p:cNvSpPr/>
          <p:nvPr/>
        </p:nvSpPr>
        <p:spPr>
          <a:xfrm>
            <a:off x="17211675" y="4275088"/>
            <a:ext cx="9525" cy="3238500"/>
          </a:xfrm>
          <a:prstGeom prst="rect">
            <a:avLst/>
          </a:prstGeom>
          <a:solidFill>
            <a:srgbClr val="C8D2DA"/>
          </a:solidFill>
          <a:ln/>
        </p:spPr>
        <p:txBody>
          <a:bodyPr/>
          <a:lstStyle/>
          <a:p>
            <a:endParaRPr lang="es-ES"/>
          </a:p>
        </p:txBody>
      </p:sp>
      <p:sp>
        <p:nvSpPr>
          <p:cNvPr id="67" name="Text 59"/>
          <p:cNvSpPr/>
          <p:nvPr/>
        </p:nvSpPr>
        <p:spPr>
          <a:xfrm>
            <a:off x="14316075" y="4494163"/>
            <a:ext cx="2954655" cy="238125"/>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6E8493"/>
                </a:solidFill>
                <a:latin typeface="JetBrains Mono" pitchFamily="34" charset="0"/>
                <a:ea typeface="JetBrains Mono" pitchFamily="34" charset="-122"/>
                <a:cs typeface="JetBrains Mono" pitchFamily="34" charset="-120"/>
              </a:rPr>
              <a:t>05 · Gobernar</a:t>
            </a:r>
            <a:endParaRPr lang="en-US" sz="1200" dirty="0"/>
          </a:p>
        </p:txBody>
      </p:sp>
      <p:sp>
        <p:nvSpPr>
          <p:cNvPr id="68" name="Shape 60"/>
          <p:cNvSpPr/>
          <p:nvPr/>
        </p:nvSpPr>
        <p:spPr>
          <a:xfrm>
            <a:off x="14316075" y="4846588"/>
            <a:ext cx="419100" cy="419100"/>
          </a:xfrm>
          <a:prstGeom prst="roundRect">
            <a:avLst>
              <a:gd name="adj" fmla="val 25000"/>
            </a:avLst>
          </a:prstGeom>
          <a:solidFill>
            <a:srgbClr val="9E335E">
              <a:alpha val="10000"/>
            </a:srgbClr>
          </a:solidFill>
          <a:ln/>
        </p:spPr>
        <p:txBody>
          <a:bodyPr/>
          <a:lstStyle/>
          <a:p>
            <a:endParaRPr lang="es-ES"/>
          </a:p>
        </p:txBody>
      </p:sp>
      <p:pic>
        <p:nvPicPr>
          <p:cNvPr id="69" name="Image 6"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416088" y="4946600"/>
            <a:ext cx="219075" cy="219075"/>
          </a:xfrm>
          <a:prstGeom prst="rect">
            <a:avLst/>
          </a:prstGeom>
        </p:spPr>
      </p:pic>
      <p:sp>
        <p:nvSpPr>
          <p:cNvPr id="70" name="Text 61"/>
          <p:cNvSpPr/>
          <p:nvPr/>
        </p:nvSpPr>
        <p:spPr>
          <a:xfrm>
            <a:off x="14859000" y="4818013"/>
            <a:ext cx="2219325" cy="514350"/>
          </a:xfrm>
          <a:prstGeom prst="rect">
            <a:avLst/>
          </a:prstGeom>
          <a:noFill/>
          <a:ln/>
        </p:spPr>
        <p:txBody>
          <a:bodyPr wrap="square" lIns="25400" tIns="25400" rIns="25400" bIns="25400" rtlCol="0" anchor="ctr">
            <a:normAutofit/>
          </a:bodyPr>
          <a:lstStyle/>
          <a:p>
            <a:pPr marL="0" indent="0" algn="l">
              <a:lnSpc>
                <a:spcPct val="85897"/>
              </a:lnSpc>
              <a:buNone/>
            </a:pPr>
            <a:r>
              <a:rPr lang="en-US" sz="1763" b="1" dirty="0">
                <a:solidFill>
                  <a:srgbClr val="041C2C"/>
                </a:solidFill>
                <a:latin typeface="Barlow" pitchFamily="34" charset="0"/>
                <a:ea typeface="Barlow" pitchFamily="34" charset="-122"/>
                <a:cs typeface="Barlow" pitchFamily="34" charset="-120"/>
              </a:rPr>
              <a:t>Resiliencia y gobierno</a:t>
            </a:r>
            <a:endParaRPr lang="en-US" sz="1763" dirty="0"/>
          </a:p>
        </p:txBody>
      </p:sp>
      <p:sp>
        <p:nvSpPr>
          <p:cNvPr id="71" name="Text 62"/>
          <p:cNvSpPr/>
          <p:nvPr/>
        </p:nvSpPr>
        <p:spPr>
          <a:xfrm>
            <a:off x="14316075" y="5418088"/>
            <a:ext cx="2766632" cy="590550"/>
          </a:xfrm>
          <a:prstGeom prst="rect">
            <a:avLst/>
          </a:prstGeom>
          <a:noFill/>
          <a:ln/>
        </p:spPr>
        <p:txBody>
          <a:bodyPr wrap="square" lIns="25400" tIns="25400" rIns="25400" bIns="25400" rtlCol="0" anchor="t">
            <a:normAutofit lnSpcReduction="10000"/>
          </a:bodyPr>
          <a:lstStyle/>
          <a:p>
            <a:pPr marL="0" indent="0" algn="l">
              <a:lnSpc>
                <a:spcPct val="126087"/>
              </a:lnSpc>
              <a:buNone/>
            </a:pPr>
            <a:r>
              <a:rPr lang="en-US" sz="1500" dirty="0">
                <a:solidFill>
                  <a:srgbClr val="354A5A"/>
                </a:solidFill>
                <a:latin typeface="Arial" pitchFamily="34" charset="0"/>
                <a:ea typeface="Arial" pitchFamily="34" charset="-122"/>
                <a:cs typeface="Arial" pitchFamily="34" charset="-120"/>
              </a:rPr>
              <a:t>NIS2 · DORA · AI Act como arquitectura.</a:t>
            </a:r>
            <a:endParaRPr lang="en-US" sz="1500" dirty="0"/>
          </a:p>
        </p:txBody>
      </p:sp>
      <p:sp>
        <p:nvSpPr>
          <p:cNvPr id="72" name="Shape 63"/>
          <p:cNvSpPr/>
          <p:nvPr/>
        </p:nvSpPr>
        <p:spPr>
          <a:xfrm>
            <a:off x="14316075" y="6732538"/>
            <a:ext cx="2686050" cy="9525"/>
          </a:xfrm>
          <a:prstGeom prst="rect">
            <a:avLst/>
          </a:prstGeom>
          <a:solidFill>
            <a:srgbClr val="E5EAEF"/>
          </a:solidFill>
          <a:ln/>
        </p:spPr>
        <p:txBody>
          <a:bodyPr/>
          <a:lstStyle/>
          <a:p>
            <a:endParaRPr lang="es-ES"/>
          </a:p>
        </p:txBody>
      </p:sp>
      <p:sp>
        <p:nvSpPr>
          <p:cNvPr id="73" name="Text 64"/>
          <p:cNvSpPr/>
          <p:nvPr/>
        </p:nvSpPr>
        <p:spPr>
          <a:xfrm>
            <a:off x="14316075" y="6875413"/>
            <a:ext cx="2766632" cy="457200"/>
          </a:xfrm>
          <a:prstGeom prst="rect">
            <a:avLst/>
          </a:prstGeom>
          <a:noFill/>
          <a:ln/>
        </p:spPr>
        <p:txBody>
          <a:bodyPr wrap="square" lIns="25400" tIns="25400" rIns="25400" bIns="25400" rtlCol="0" anchor="t">
            <a:normAutofit/>
          </a:bodyPr>
          <a:lstStyle/>
          <a:p>
            <a:pPr marL="0" indent="0" algn="l">
              <a:buNone/>
            </a:pPr>
            <a:r>
              <a:rPr lang="en-US" sz="1238" kern="0" spc="25" dirty="0">
                <a:solidFill>
                  <a:srgbClr val="9E335E"/>
                </a:solidFill>
                <a:latin typeface="JetBrains Mono" pitchFamily="34" charset="0"/>
                <a:ea typeface="JetBrains Mono" pitchFamily="34" charset="-122"/>
                <a:cs typeface="JetBrains Mono" pitchFamily="34" charset="-120"/>
              </a:rPr>
              <a:t>En el ADN, no como una capa de compliance añadida.</a:t>
            </a:r>
            <a:endParaRPr lang="en-US" sz="1238" dirty="0"/>
          </a:p>
        </p:txBody>
      </p:sp>
      <p:sp>
        <p:nvSpPr>
          <p:cNvPr id="74" name="Shape 65"/>
          <p:cNvSpPr/>
          <p:nvPr/>
        </p:nvSpPr>
        <p:spPr>
          <a:xfrm>
            <a:off x="1066800" y="7685038"/>
            <a:ext cx="16154400" cy="1858268"/>
          </a:xfrm>
          <a:prstGeom prst="roundRect">
            <a:avLst>
              <a:gd name="adj" fmla="val 7176"/>
            </a:avLst>
          </a:prstGeom>
          <a:solidFill>
            <a:srgbClr val="041C2C"/>
          </a:solidFill>
          <a:ln/>
          <a:effectLst>
            <a:outerShdw blurRad="152400" dist="57150" dir="5400000" algn="bl" rotWithShape="0">
              <a:srgbClr val="041C2C">
                <a:alpha val="10000"/>
              </a:srgbClr>
            </a:outerShdw>
          </a:effectLst>
        </p:spPr>
        <p:txBody>
          <a:bodyPr/>
          <a:lstStyle/>
          <a:p>
            <a:endParaRPr lang="es-ES"/>
          </a:p>
        </p:txBody>
      </p:sp>
      <p:sp>
        <p:nvSpPr>
          <p:cNvPr id="75" name="Text 66"/>
          <p:cNvSpPr/>
          <p:nvPr/>
        </p:nvSpPr>
        <p:spPr>
          <a:xfrm>
            <a:off x="1390650" y="7991773"/>
            <a:ext cx="9126230"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E498B4"/>
                </a:solidFill>
                <a:latin typeface="JetBrains Mono" pitchFamily="34" charset="0"/>
                <a:ea typeface="JetBrains Mono" pitchFamily="34" charset="-122"/>
                <a:cs typeface="JetBrains Mono" pitchFamily="34" charset="-120"/>
              </a:rPr>
              <a:t>LA EVIDENCIA EN PRODUCCIÓN · TELEFÓNICA TECH</a:t>
            </a:r>
            <a:endParaRPr lang="en-US" sz="1125" dirty="0"/>
          </a:p>
        </p:txBody>
      </p:sp>
      <p:sp>
        <p:nvSpPr>
          <p:cNvPr id="76" name="Text 67"/>
          <p:cNvSpPr/>
          <p:nvPr/>
        </p:nvSpPr>
        <p:spPr>
          <a:xfrm>
            <a:off x="1390650" y="8315623"/>
            <a:ext cx="1525950"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−40 %</a:t>
            </a:r>
            <a:endParaRPr lang="en-US" sz="2700" dirty="0"/>
          </a:p>
        </p:txBody>
      </p:sp>
      <p:sp>
        <p:nvSpPr>
          <p:cNvPr id="77" name="Text 68"/>
          <p:cNvSpPr/>
          <p:nvPr/>
        </p:nvSpPr>
        <p:spPr>
          <a:xfrm>
            <a:off x="1390650" y="8706148"/>
            <a:ext cx="1525950"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MTTD CON AIOPS</a:t>
            </a:r>
            <a:endParaRPr lang="en-US" sz="1163" dirty="0"/>
          </a:p>
        </p:txBody>
      </p:sp>
      <p:sp>
        <p:nvSpPr>
          <p:cNvPr id="78" name="Text 69"/>
          <p:cNvSpPr/>
          <p:nvPr/>
        </p:nvSpPr>
        <p:spPr>
          <a:xfrm>
            <a:off x="3101727" y="8315623"/>
            <a:ext cx="2636565"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25.000</a:t>
            </a:r>
            <a:endParaRPr lang="en-US" sz="2700" dirty="0"/>
          </a:p>
        </p:txBody>
      </p:sp>
      <p:sp>
        <p:nvSpPr>
          <p:cNvPr id="79" name="Text 70"/>
          <p:cNvSpPr/>
          <p:nvPr/>
        </p:nvSpPr>
        <p:spPr>
          <a:xfrm>
            <a:off x="3101727" y="8706148"/>
            <a:ext cx="2636565"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ELEMENTOS MONITORIZADOS</a:t>
            </a:r>
            <a:endParaRPr lang="en-US" sz="1163" dirty="0"/>
          </a:p>
        </p:txBody>
      </p:sp>
      <p:sp>
        <p:nvSpPr>
          <p:cNvPr id="80" name="Text 71"/>
          <p:cNvSpPr/>
          <p:nvPr/>
        </p:nvSpPr>
        <p:spPr>
          <a:xfrm>
            <a:off x="5822454" y="8315623"/>
            <a:ext cx="2361530" cy="381000"/>
          </a:xfrm>
          <a:prstGeom prst="rect">
            <a:avLst/>
          </a:prstGeom>
          <a:noFill/>
          <a:ln/>
        </p:spPr>
        <p:txBody>
          <a:bodyPr wrap="square" lIns="25400" tIns="25400" rIns="25400" bIns="25400" rtlCol="0" anchor="t">
            <a:normAutofit lnSpcReduction="10000"/>
          </a:bodyPr>
          <a:lstStyle/>
          <a:p>
            <a:pPr marL="0" indent="0" algn="l">
              <a:lnSpc>
                <a:spcPct val="83721"/>
              </a:lnSpc>
              <a:buNone/>
            </a:pPr>
            <a:r>
              <a:rPr lang="en-US" sz="2700" b="1" dirty="0">
                <a:solidFill>
                  <a:srgbClr val="FFFFFF"/>
                </a:solidFill>
                <a:latin typeface="Barlow" pitchFamily="34" charset="0"/>
                <a:ea typeface="Barlow" pitchFamily="34" charset="-122"/>
                <a:cs typeface="Barlow" pitchFamily="34" charset="-120"/>
              </a:rPr>
              <a:t>+3.000</a:t>
            </a:r>
            <a:endParaRPr lang="en-US" sz="2700" dirty="0"/>
          </a:p>
        </p:txBody>
      </p:sp>
      <p:sp>
        <p:nvSpPr>
          <p:cNvPr id="81" name="Text 72"/>
          <p:cNvSpPr/>
          <p:nvPr/>
        </p:nvSpPr>
        <p:spPr>
          <a:xfrm>
            <a:off x="5822454" y="8706148"/>
            <a:ext cx="2361530" cy="215205"/>
          </a:xfrm>
          <a:prstGeom prst="rect">
            <a:avLst/>
          </a:prstGeom>
          <a:noFill/>
          <a:ln/>
        </p:spPr>
        <p:txBody>
          <a:bodyPr wrap="square" lIns="25400" tIns="25400" rIns="25400" bIns="25400" rtlCol="0" anchor="t">
            <a:normAutofit fontScale="92500" lnSpcReduction="10000"/>
          </a:bodyPr>
          <a:lstStyle/>
          <a:p>
            <a:pPr marL="0" indent="0" algn="l">
              <a:lnSpc>
                <a:spcPct val="103333"/>
              </a:lnSpc>
              <a:buNone/>
            </a:pPr>
            <a:r>
              <a:rPr lang="en-US" sz="1163" kern="0" spc="70" dirty="0">
                <a:solidFill>
                  <a:srgbClr val="FFFFFF">
                    <a:alpha val="60000"/>
                  </a:srgbClr>
                </a:solidFill>
                <a:latin typeface="Arial" pitchFamily="34" charset="0"/>
                <a:ea typeface="Arial" pitchFamily="34" charset="-122"/>
                <a:cs typeface="Arial" pitchFamily="34" charset="-120"/>
              </a:rPr>
              <a:t>CLIENTES OPERADOS HOY</a:t>
            </a:r>
            <a:endParaRPr lang="en-US" sz="1163" dirty="0"/>
          </a:p>
        </p:txBody>
      </p:sp>
      <p:sp>
        <p:nvSpPr>
          <p:cNvPr id="82" name="Text 73"/>
          <p:cNvSpPr/>
          <p:nvPr/>
        </p:nvSpPr>
        <p:spPr>
          <a:xfrm>
            <a:off x="1390650" y="9016603"/>
            <a:ext cx="9126230" cy="258068"/>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50000"/>
                  </a:srgbClr>
                </a:solidFill>
                <a:latin typeface="Arial" pitchFamily="34" charset="0"/>
                <a:ea typeface="Arial" pitchFamily="34" charset="-122"/>
                <a:cs typeface="Arial" pitchFamily="34" charset="-120"/>
              </a:rPr>
              <a:t>Operación follow-the-sun · centros propios Madrid · São Paulo · Miami · −30 % de inversión con IA Data Driven.</a:t>
            </a:r>
            <a:endParaRPr lang="en-US" sz="1238" dirty="0"/>
          </a:p>
        </p:txBody>
      </p:sp>
      <p:sp>
        <p:nvSpPr>
          <p:cNvPr id="83" name="Shape 74"/>
          <p:cNvSpPr/>
          <p:nvPr/>
        </p:nvSpPr>
        <p:spPr>
          <a:xfrm>
            <a:off x="10106323" y="7913638"/>
            <a:ext cx="9525" cy="1401068"/>
          </a:xfrm>
          <a:prstGeom prst="rect">
            <a:avLst/>
          </a:prstGeom>
          <a:solidFill>
            <a:srgbClr val="FFFFFF">
              <a:alpha val="16000"/>
            </a:srgbClr>
          </a:solidFill>
          <a:ln/>
        </p:spPr>
        <p:txBody>
          <a:bodyPr/>
          <a:lstStyle/>
          <a:p>
            <a:endParaRPr lang="es-ES"/>
          </a:p>
        </p:txBody>
      </p:sp>
      <p:sp>
        <p:nvSpPr>
          <p:cNvPr id="84" name="Text 75"/>
          <p:cNvSpPr/>
          <p:nvPr/>
        </p:nvSpPr>
        <p:spPr>
          <a:xfrm>
            <a:off x="10439698" y="7913638"/>
            <a:ext cx="5521315" cy="228600"/>
          </a:xfrm>
          <a:prstGeom prst="rect">
            <a:avLst/>
          </a:prstGeom>
          <a:noFill/>
          <a:ln/>
        </p:spPr>
        <p:txBody>
          <a:bodyPr wrap="square" lIns="25400" tIns="25400" rIns="25400" bIns="25400" rtlCol="0" anchor="t">
            <a:normAutofit/>
          </a:bodyPr>
          <a:lstStyle/>
          <a:p>
            <a:pPr marL="0" indent="0" algn="l">
              <a:buNone/>
            </a:pPr>
            <a:r>
              <a:rPr lang="en-US" sz="1125" b="1" kern="0" spc="180" dirty="0">
                <a:solidFill>
                  <a:srgbClr val="FFFFFF">
                    <a:alpha val="50000"/>
                  </a:srgbClr>
                </a:solidFill>
                <a:latin typeface="JetBrains Mono" pitchFamily="34" charset="0"/>
                <a:ea typeface="JetBrains Mono" pitchFamily="34" charset="-122"/>
                <a:cs typeface="JetBrains Mono" pitchFamily="34" charset="-120"/>
              </a:rPr>
              <a:t>GOBIERNO COMO ARQUITECTURA</a:t>
            </a:r>
            <a:endParaRPr lang="en-US" sz="1125" dirty="0"/>
          </a:p>
        </p:txBody>
      </p:sp>
      <p:sp>
        <p:nvSpPr>
          <p:cNvPr id="85" name="Shape 76"/>
          <p:cNvSpPr/>
          <p:nvPr/>
        </p:nvSpPr>
        <p:spPr>
          <a:xfrm>
            <a:off x="10439698" y="8227963"/>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86" name="Text 77"/>
          <p:cNvSpPr/>
          <p:nvPr/>
        </p:nvSpPr>
        <p:spPr>
          <a:xfrm>
            <a:off x="10582573" y="8294638"/>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NIS2</a:t>
            </a:r>
            <a:endParaRPr lang="en-US" sz="1125" dirty="0"/>
          </a:p>
        </p:txBody>
      </p:sp>
      <p:sp>
        <p:nvSpPr>
          <p:cNvPr id="87" name="Shape 78"/>
          <p:cNvSpPr/>
          <p:nvPr/>
        </p:nvSpPr>
        <p:spPr>
          <a:xfrm>
            <a:off x="11154073" y="8227963"/>
            <a:ext cx="6286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88" name="Text 79"/>
          <p:cNvSpPr/>
          <p:nvPr/>
        </p:nvSpPr>
        <p:spPr>
          <a:xfrm>
            <a:off x="11296948" y="8294638"/>
            <a:ext cx="4191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DORA</a:t>
            </a:r>
            <a:endParaRPr lang="en-US" sz="1125" dirty="0"/>
          </a:p>
        </p:txBody>
      </p:sp>
      <p:sp>
        <p:nvSpPr>
          <p:cNvPr id="89" name="Shape 80"/>
          <p:cNvSpPr/>
          <p:nvPr/>
        </p:nvSpPr>
        <p:spPr>
          <a:xfrm>
            <a:off x="11868448" y="8227963"/>
            <a:ext cx="80010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90" name="Text 81"/>
          <p:cNvSpPr/>
          <p:nvPr/>
        </p:nvSpPr>
        <p:spPr>
          <a:xfrm>
            <a:off x="12011323" y="8294638"/>
            <a:ext cx="59055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AI Act</a:t>
            </a:r>
            <a:endParaRPr lang="en-US" sz="1125" dirty="0"/>
          </a:p>
        </p:txBody>
      </p:sp>
      <p:sp>
        <p:nvSpPr>
          <p:cNvPr id="91" name="Shape 82"/>
          <p:cNvSpPr/>
          <p:nvPr/>
        </p:nvSpPr>
        <p:spPr>
          <a:xfrm>
            <a:off x="12754273" y="8227963"/>
            <a:ext cx="105727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92" name="Text 83"/>
          <p:cNvSpPr/>
          <p:nvPr/>
        </p:nvSpPr>
        <p:spPr>
          <a:xfrm>
            <a:off x="12897148" y="8294638"/>
            <a:ext cx="8477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ISO 20000</a:t>
            </a:r>
            <a:endParaRPr lang="en-US" sz="1125" dirty="0"/>
          </a:p>
        </p:txBody>
      </p:sp>
      <p:sp>
        <p:nvSpPr>
          <p:cNvPr id="93" name="Shape 84"/>
          <p:cNvSpPr/>
          <p:nvPr/>
        </p:nvSpPr>
        <p:spPr>
          <a:xfrm>
            <a:off x="13897273" y="8227963"/>
            <a:ext cx="1057275"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94" name="Text 85"/>
          <p:cNvSpPr/>
          <p:nvPr/>
        </p:nvSpPr>
        <p:spPr>
          <a:xfrm>
            <a:off x="14040148" y="8294638"/>
            <a:ext cx="8477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ISO 27001</a:t>
            </a:r>
            <a:endParaRPr lang="en-US" sz="1125" dirty="0"/>
          </a:p>
        </p:txBody>
      </p:sp>
      <p:sp>
        <p:nvSpPr>
          <p:cNvPr id="95" name="Shape 86"/>
          <p:cNvSpPr/>
          <p:nvPr/>
        </p:nvSpPr>
        <p:spPr>
          <a:xfrm>
            <a:off x="10439698" y="8637538"/>
            <a:ext cx="971550" cy="323850"/>
          </a:xfrm>
          <a:prstGeom prst="roundRect">
            <a:avLst>
              <a:gd name="adj" fmla="val 50000"/>
            </a:avLst>
          </a:prstGeom>
          <a:solidFill>
            <a:srgbClr val="FFFFFF">
              <a:alpha val="8000"/>
            </a:srgbClr>
          </a:solidFill>
          <a:ln w="9525">
            <a:solidFill>
              <a:srgbClr val="FFFFFF">
                <a:alpha val="14000"/>
              </a:srgbClr>
            </a:solidFill>
            <a:prstDash val="solid"/>
          </a:ln>
        </p:spPr>
        <p:txBody>
          <a:bodyPr/>
          <a:lstStyle/>
          <a:p>
            <a:endParaRPr lang="es-ES"/>
          </a:p>
        </p:txBody>
      </p:sp>
      <p:sp>
        <p:nvSpPr>
          <p:cNvPr id="96" name="Text 87"/>
          <p:cNvSpPr/>
          <p:nvPr/>
        </p:nvSpPr>
        <p:spPr>
          <a:xfrm>
            <a:off x="10582573" y="8704213"/>
            <a:ext cx="7620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FFFFFF">
                    <a:alpha val="88000"/>
                  </a:srgbClr>
                </a:solidFill>
                <a:latin typeface="JetBrains Mono" pitchFamily="34" charset="0"/>
                <a:ea typeface="JetBrains Mono" pitchFamily="34" charset="-122"/>
                <a:cs typeface="JetBrains Mono" pitchFamily="34" charset="-120"/>
              </a:rPr>
              <a:t>ENS alto</a:t>
            </a:r>
            <a:endParaRPr lang="en-US" sz="1125" dirty="0"/>
          </a:p>
        </p:txBody>
      </p:sp>
      <p:sp>
        <p:nvSpPr>
          <p:cNvPr id="97" name="Text 88"/>
          <p:cNvSpPr/>
          <p:nvPr/>
        </p:nvSpPr>
        <p:spPr>
          <a:xfrm>
            <a:off x="10439698" y="9094738"/>
            <a:ext cx="5521315" cy="258068"/>
          </a:xfrm>
          <a:prstGeom prst="rect">
            <a:avLst/>
          </a:prstGeom>
          <a:noFill/>
          <a:ln/>
        </p:spPr>
        <p:txBody>
          <a:bodyPr wrap="square" lIns="25400" tIns="25400" rIns="25400" bIns="25400" rtlCol="0" anchor="t">
            <a:normAutofit lnSpcReduction="10000"/>
          </a:bodyPr>
          <a:lstStyle/>
          <a:p>
            <a:pPr marL="0" indent="0" algn="l">
              <a:lnSpc>
                <a:spcPct val="121579"/>
              </a:lnSpc>
              <a:buNone/>
            </a:pPr>
            <a:r>
              <a:rPr lang="en-US" sz="1238" dirty="0">
                <a:solidFill>
                  <a:srgbClr val="FFFFFF">
                    <a:alpha val="62000"/>
                  </a:srgbClr>
                </a:solidFill>
                <a:latin typeface="Arial" pitchFamily="34" charset="0"/>
                <a:ea typeface="Arial" pitchFamily="34" charset="-122"/>
                <a:cs typeface="Arial" pitchFamily="34" charset="-120"/>
              </a:rPr>
              <a:t>Empieza por un </a:t>
            </a:r>
            <a:r>
              <a:rPr lang="en-US" sz="1238" b="1" dirty="0">
                <a:solidFill>
                  <a:srgbClr val="E498B4"/>
                </a:solidFill>
                <a:latin typeface="Arial" pitchFamily="34" charset="0"/>
                <a:ea typeface="Arial" pitchFamily="34" charset="-122"/>
                <a:cs typeface="Arial" pitchFamily="34" charset="-120"/>
              </a:rPr>
              <a:t>Assessment de tu entorno de infraestructura</a:t>
            </a:r>
            <a:r>
              <a:rPr lang="en-US" sz="1238" dirty="0">
                <a:solidFill>
                  <a:srgbClr val="FFFFFF">
                    <a:alpha val="62000"/>
                  </a:srgbClr>
                </a:solidFill>
                <a:latin typeface="Arial" pitchFamily="34" charset="0"/>
                <a:ea typeface="Arial" pitchFamily="34" charset="-122"/>
                <a:cs typeface="Arial" pitchFamily="34" charset="-120"/>
              </a:rPr>
              <a:t>.</a:t>
            </a:r>
            <a:endParaRPr lang="en-US" sz="1238" dirty="0"/>
          </a:p>
        </p:txBody>
      </p:sp>
      <p:sp>
        <p:nvSpPr>
          <p:cNvPr id="98" name="Shape 89">
            <a:hlinkClick r:id="rId11" action="ppaction://hlinksldjump"/>
          </p:cNvPr>
          <p:cNvSpPr/>
          <p:nvPr/>
        </p:nvSpPr>
        <p:spPr>
          <a:xfrm>
            <a:off x="15379452" y="9182100"/>
            <a:ext cx="1841748"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99" name="Text 90"/>
          <p:cNvSpPr/>
          <p:nvPr/>
        </p:nvSpPr>
        <p:spPr>
          <a:xfrm>
            <a:off x="15684252" y="9324975"/>
            <a:ext cx="974973"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Continuar</a:t>
            </a:r>
            <a:endParaRPr lang="en-US" sz="1650" dirty="0"/>
          </a:p>
        </p:txBody>
      </p:sp>
      <p:pic>
        <p:nvPicPr>
          <p:cNvPr id="100" name="Image 7"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6687800" y="9334500"/>
            <a:ext cx="228600" cy="228600"/>
          </a:xfrm>
          <a:prstGeom prst="rect">
            <a:avLst/>
          </a:prstGeom>
        </p:spPr>
      </p:pic>
      <p:sp>
        <p:nvSpPr>
          <p:cNvPr id="101" name="Text 91"/>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102" name="Text 92"/>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20 / 24</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9E335E"/>
          </a:solidFill>
          <a:ln/>
        </p:spPr>
        <p:txBody>
          <a:bodyPr/>
          <a:lstStyle/>
          <a:p>
            <a:endParaRPr lang="es-ES"/>
          </a:p>
        </p:txBody>
      </p:sp>
      <p:sp>
        <p:nvSpPr>
          <p:cNvPr id="5" name="Text 2"/>
          <p:cNvSpPr/>
          <p:nvPr/>
        </p:nvSpPr>
        <p:spPr>
          <a:xfrm>
            <a:off x="2076450" y="628650"/>
            <a:ext cx="4341941"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9E335E"/>
                </a:solidFill>
                <a:latin typeface="JetBrains Mono" pitchFamily="34" charset="0"/>
                <a:ea typeface="JetBrains Mono" pitchFamily="34" charset="-122"/>
                <a:cs typeface="JetBrains Mono" pitchFamily="34" charset="-120"/>
              </a:rPr>
              <a:t>DISCOVERY · SMART OPERATIONS</a:t>
            </a:r>
            <a:endParaRPr lang="en-US" sz="1500" dirty="0"/>
          </a:p>
        </p:txBody>
      </p:sp>
      <p:pic>
        <p:nvPicPr>
          <p:cNvPr id="6" name="Image 1" descr="preencoded.png"/>
          <p:cNvPicPr>
            <a:picLocks noChangeAspect="1"/>
          </p:cNvPicPr>
          <p:nvPr/>
        </p:nvPicPr>
        <p:blipFill>
          <a:blip r:embed="rId4"/>
          <a:stretch>
            <a:fillRect/>
          </a:stretch>
        </p:blipFill>
        <p:spPr>
          <a:xfrm>
            <a:off x="16200686" y="581025"/>
            <a:ext cx="1020514" cy="285750"/>
          </a:xfrm>
          <a:prstGeom prst="rect">
            <a:avLst/>
          </a:prstGeom>
        </p:spPr>
      </p:pic>
      <p:sp>
        <p:nvSpPr>
          <p:cNvPr id="7" name="Text 3"/>
          <p:cNvSpPr/>
          <p:nvPr/>
        </p:nvSpPr>
        <p:spPr>
          <a:xfrm>
            <a:off x="1066800" y="3896320"/>
            <a:ext cx="17769840" cy="563017"/>
          </a:xfrm>
          <a:prstGeom prst="rect">
            <a:avLst/>
          </a:prstGeom>
          <a:noFill/>
          <a:ln/>
        </p:spPr>
        <p:txBody>
          <a:bodyPr wrap="square" lIns="25400" tIns="25400" rIns="25400" bIns="25400" rtlCol="0" anchor="t">
            <a:normAutofit lnSpcReduction="10000"/>
          </a:bodyPr>
          <a:lstStyle/>
          <a:p>
            <a:pPr marL="0" indent="0" algn="l">
              <a:lnSpc>
                <a:spcPct val="88903"/>
              </a:lnSpc>
              <a:buNone/>
            </a:pPr>
            <a:r>
              <a:rPr lang="en-US" sz="3900" b="1" kern="0" spc="-78" dirty="0">
                <a:solidFill>
                  <a:srgbClr val="041C2C"/>
                </a:solidFill>
                <a:latin typeface="Barlow" pitchFamily="34" charset="0"/>
                <a:ea typeface="Barlow" pitchFamily="34" charset="-122"/>
                <a:cs typeface="Barlow" pitchFamily="34" charset="-120"/>
              </a:rPr>
              <a:t>¿Dónde cuesta más operar de lo que debería?</a:t>
            </a:r>
            <a:endParaRPr lang="en-US" sz="3900" dirty="0"/>
          </a:p>
        </p:txBody>
      </p:sp>
      <p:sp>
        <p:nvSpPr>
          <p:cNvPr id="8" name="Text 4"/>
          <p:cNvSpPr/>
          <p:nvPr/>
        </p:nvSpPr>
        <p:spPr>
          <a:xfrm>
            <a:off x="1066800" y="4564112"/>
            <a:ext cx="12088416" cy="389632"/>
          </a:xfrm>
          <a:prstGeom prst="rect">
            <a:avLst/>
          </a:prstGeom>
          <a:noFill/>
          <a:ln/>
        </p:spPr>
        <p:txBody>
          <a:bodyPr wrap="square" lIns="25400" tIns="25400" rIns="25400" bIns="25400" rtlCol="0" anchor="t">
            <a:normAutofit/>
          </a:bodyPr>
          <a:lstStyle/>
          <a:p>
            <a:pPr marL="0" indent="0" algn="l">
              <a:lnSpc>
                <a:spcPct val="115375"/>
              </a:lnSpc>
              <a:buNone/>
            </a:pPr>
            <a:r>
              <a:rPr lang="en-US" sz="1950" dirty="0">
                <a:solidFill>
                  <a:srgbClr val="041C2C">
                    <a:alpha val="80000"/>
                  </a:srgbClr>
                </a:solidFill>
                <a:latin typeface="Roboto" pitchFamily="34" charset="0"/>
                <a:ea typeface="Roboto" pitchFamily="34" charset="-122"/>
                <a:cs typeface="Roboto" pitchFamily="34" charset="-120"/>
              </a:rPr>
              <a:t>Buscamos dónde la operación puede ser más eficiente, más automática y con mejor experiencia.</a:t>
            </a:r>
            <a:endParaRPr lang="en-US" sz="1950" dirty="0"/>
          </a:p>
        </p:txBody>
      </p:sp>
      <p:sp>
        <p:nvSpPr>
          <p:cNvPr id="9" name="Shape 5"/>
          <p:cNvSpPr/>
          <p:nvPr/>
        </p:nvSpPr>
        <p:spPr>
          <a:xfrm>
            <a:off x="1066800" y="5163294"/>
            <a:ext cx="16154400" cy="9525"/>
          </a:xfrm>
          <a:prstGeom prst="rect">
            <a:avLst/>
          </a:prstGeom>
          <a:solidFill>
            <a:srgbClr val="E5EAEF"/>
          </a:solidFill>
          <a:ln/>
        </p:spPr>
        <p:txBody>
          <a:bodyPr/>
          <a:lstStyle/>
          <a:p>
            <a:endParaRPr lang="es-ES"/>
          </a:p>
        </p:txBody>
      </p:sp>
      <p:sp>
        <p:nvSpPr>
          <p:cNvPr id="10" name="Text 6"/>
          <p:cNvSpPr/>
          <p:nvPr/>
        </p:nvSpPr>
        <p:spPr>
          <a:xfrm>
            <a:off x="1066800" y="5363319"/>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9E335E"/>
                </a:solidFill>
                <a:latin typeface="JetBrains Mono" pitchFamily="34" charset="0"/>
                <a:ea typeface="JetBrains Mono" pitchFamily="34" charset="-122"/>
                <a:cs typeface="JetBrains Mono" pitchFamily="34" charset="-120"/>
              </a:rPr>
              <a:t>01</a:t>
            </a:r>
            <a:endParaRPr lang="en-US" sz="1425" dirty="0"/>
          </a:p>
        </p:txBody>
      </p:sp>
      <p:sp>
        <p:nvSpPr>
          <p:cNvPr id="11" name="Text 7"/>
          <p:cNvSpPr/>
          <p:nvPr/>
        </p:nvSpPr>
        <p:spPr>
          <a:xfrm>
            <a:off x="1562100" y="5306169"/>
            <a:ext cx="11566014"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¿Qué parte de vuestra operación —puesto, cloud, infraestructura— os quita más el sueño?</a:t>
            </a:r>
            <a:endParaRPr lang="en-US" sz="2175" dirty="0"/>
          </a:p>
        </p:txBody>
      </p:sp>
      <p:sp>
        <p:nvSpPr>
          <p:cNvPr id="12" name="Shape 8"/>
          <p:cNvSpPr/>
          <p:nvPr/>
        </p:nvSpPr>
        <p:spPr>
          <a:xfrm>
            <a:off x="1066800" y="5781973"/>
            <a:ext cx="16154400" cy="9525"/>
          </a:xfrm>
          <a:prstGeom prst="rect">
            <a:avLst/>
          </a:prstGeom>
          <a:solidFill>
            <a:srgbClr val="E5EAEF"/>
          </a:solidFill>
          <a:ln/>
        </p:spPr>
        <p:txBody>
          <a:bodyPr/>
          <a:lstStyle/>
          <a:p>
            <a:endParaRPr lang="es-ES"/>
          </a:p>
        </p:txBody>
      </p:sp>
      <p:sp>
        <p:nvSpPr>
          <p:cNvPr id="13" name="Text 9"/>
          <p:cNvSpPr/>
          <p:nvPr/>
        </p:nvSpPr>
        <p:spPr>
          <a:xfrm>
            <a:off x="1066800" y="5981998"/>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9E335E"/>
                </a:solidFill>
                <a:latin typeface="JetBrains Mono" pitchFamily="34" charset="0"/>
                <a:ea typeface="JetBrains Mono" pitchFamily="34" charset="-122"/>
                <a:cs typeface="JetBrains Mono" pitchFamily="34" charset="-120"/>
              </a:rPr>
              <a:t>02</a:t>
            </a:r>
            <a:endParaRPr lang="en-US" sz="1425" dirty="0"/>
          </a:p>
        </p:txBody>
      </p:sp>
      <p:sp>
        <p:nvSpPr>
          <p:cNvPr id="14" name="Text 10"/>
          <p:cNvSpPr/>
          <p:nvPr/>
        </p:nvSpPr>
        <p:spPr>
          <a:xfrm>
            <a:off x="1562100" y="5924848"/>
            <a:ext cx="10653326"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¿Qué coste operativo os cuesta más justificar cada año sin saber si es el correcto?</a:t>
            </a:r>
            <a:endParaRPr lang="en-US" sz="2175" dirty="0"/>
          </a:p>
        </p:txBody>
      </p:sp>
      <p:sp>
        <p:nvSpPr>
          <p:cNvPr id="15" name="Shape 11"/>
          <p:cNvSpPr/>
          <p:nvPr/>
        </p:nvSpPr>
        <p:spPr>
          <a:xfrm>
            <a:off x="1066800" y="6400651"/>
            <a:ext cx="16154400" cy="9525"/>
          </a:xfrm>
          <a:prstGeom prst="rect">
            <a:avLst/>
          </a:prstGeom>
          <a:solidFill>
            <a:srgbClr val="E5EAEF"/>
          </a:solidFill>
          <a:ln/>
        </p:spPr>
        <p:txBody>
          <a:bodyPr/>
          <a:lstStyle/>
          <a:p>
            <a:endParaRPr lang="es-ES"/>
          </a:p>
        </p:txBody>
      </p:sp>
      <p:sp>
        <p:nvSpPr>
          <p:cNvPr id="16" name="Text 12"/>
          <p:cNvSpPr/>
          <p:nvPr/>
        </p:nvSpPr>
        <p:spPr>
          <a:xfrm>
            <a:off x="1066800" y="6600676"/>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9E335E"/>
                </a:solidFill>
                <a:latin typeface="JetBrains Mono" pitchFamily="34" charset="0"/>
                <a:ea typeface="JetBrains Mono" pitchFamily="34" charset="-122"/>
                <a:cs typeface="JetBrains Mono" pitchFamily="34" charset="-120"/>
              </a:rPr>
              <a:t>03</a:t>
            </a:r>
            <a:endParaRPr lang="en-US" sz="1425" dirty="0"/>
          </a:p>
        </p:txBody>
      </p:sp>
      <p:sp>
        <p:nvSpPr>
          <p:cNvPr id="17" name="Text 13"/>
          <p:cNvSpPr/>
          <p:nvPr/>
        </p:nvSpPr>
        <p:spPr>
          <a:xfrm>
            <a:off x="1562100" y="6543526"/>
            <a:ext cx="9907295"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¿Cuánto de eso creéis que es sobredimensionamiento que nadie ha medido?</a:t>
            </a:r>
            <a:endParaRPr lang="en-US" sz="2175" dirty="0"/>
          </a:p>
        </p:txBody>
      </p:sp>
      <p:sp>
        <p:nvSpPr>
          <p:cNvPr id="18" name="Shape 14">
            <a:hlinkClick r:id="rId5" action="ppaction://hlinksldjump"/>
          </p:cNvPr>
          <p:cNvSpPr/>
          <p:nvPr/>
        </p:nvSpPr>
        <p:spPr>
          <a:xfrm>
            <a:off x="15692437" y="9182100"/>
            <a:ext cx="1528763"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19" name="Text 15"/>
          <p:cNvSpPr/>
          <p:nvPr/>
        </p:nvSpPr>
        <p:spPr>
          <a:xfrm>
            <a:off x="15997238" y="9324975"/>
            <a:ext cx="661988"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Cerrar</a:t>
            </a:r>
            <a:endParaRPr lang="en-US" sz="16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687800" y="9334500"/>
            <a:ext cx="228600" cy="228600"/>
          </a:xfrm>
          <a:prstGeom prst="rect">
            <a:avLst/>
          </a:prstGeom>
        </p:spPr>
      </p:pic>
      <p:sp>
        <p:nvSpPr>
          <p:cNvPr id="21" name="Text 16"/>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2" name="Text 17"/>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21 / 24</a:t>
            </a:r>
            <a:endParaRPr lang="en-US" sz="11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C73F00"/>
          </a:solidFill>
          <a:ln/>
        </p:spPr>
        <p:txBody>
          <a:bodyPr/>
          <a:lstStyle/>
          <a:p>
            <a:endParaRPr lang="es-ES"/>
          </a:p>
        </p:txBody>
      </p:sp>
      <p:sp>
        <p:nvSpPr>
          <p:cNvPr id="5" name="Text 2"/>
          <p:cNvSpPr/>
          <p:nvPr/>
        </p:nvSpPr>
        <p:spPr>
          <a:xfrm>
            <a:off x="2076450" y="628650"/>
            <a:ext cx="4341941"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C73F00"/>
                </a:solidFill>
                <a:latin typeface="JetBrains Mono" pitchFamily="34" charset="0"/>
                <a:ea typeface="JetBrains Mono" pitchFamily="34" charset="-122"/>
                <a:cs typeface="JetBrains Mono" pitchFamily="34" charset="-120"/>
              </a:rPr>
              <a:t>PRÁCTICA 05 · DIGITAL CHANGE</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1255068"/>
            <a:ext cx="9618980" cy="1047750"/>
          </a:xfrm>
          <a:prstGeom prst="rect">
            <a:avLst/>
          </a:prstGeom>
          <a:noFill/>
          <a:ln/>
        </p:spPr>
        <p:txBody>
          <a:bodyPr wrap="square" lIns="25400" tIns="25400" rIns="25400" bIns="25400" rtlCol="0" anchor="t">
            <a:normAutofit lnSpcReduction="10000"/>
          </a:bodyPr>
          <a:lstStyle/>
          <a:p>
            <a:pPr marL="0" indent="0" algn="l">
              <a:lnSpc>
                <a:spcPct val="88333"/>
              </a:lnSpc>
              <a:buNone/>
            </a:pPr>
            <a:r>
              <a:rPr lang="en-US" sz="3750" b="1" kern="0" spc="-75" dirty="0">
                <a:solidFill>
                  <a:srgbClr val="041C2C"/>
                </a:solidFill>
                <a:latin typeface="Barlow" pitchFamily="34" charset="0"/>
                <a:ea typeface="Barlow" pitchFamily="34" charset="-122"/>
                <a:cs typeface="Barlow" pitchFamily="34" charset="-120"/>
              </a:rPr>
              <a:t>La tecnología no transforma. </a:t>
            </a:r>
            <a:r>
              <a:rPr lang="en-US" sz="3750" b="1" kern="0" spc="-75" dirty="0">
                <a:solidFill>
                  <a:srgbClr val="C73F00"/>
                </a:solidFill>
                <a:latin typeface="Barlow" pitchFamily="34" charset="0"/>
                <a:ea typeface="Barlow" pitchFamily="34" charset="-122"/>
                <a:cs typeface="Barlow" pitchFamily="34" charset="-120"/>
              </a:rPr>
              <a:t>Las personas que la adoptan, sí.</a:t>
            </a:r>
            <a:endParaRPr lang="en-US" sz="3750" dirty="0"/>
          </a:p>
        </p:txBody>
      </p:sp>
      <p:sp>
        <p:nvSpPr>
          <p:cNvPr id="8" name="Text 4"/>
          <p:cNvSpPr/>
          <p:nvPr/>
        </p:nvSpPr>
        <p:spPr>
          <a:xfrm>
            <a:off x="1066800" y="2417118"/>
            <a:ext cx="7848600" cy="649784"/>
          </a:xfrm>
          <a:prstGeom prst="rect">
            <a:avLst/>
          </a:prstGeom>
          <a:noFill/>
          <a:ln/>
        </p:spPr>
        <p:txBody>
          <a:bodyPr wrap="square" lIns="25400" tIns="25400" rIns="25400" bIns="25400" rtlCol="0" anchor="t">
            <a:normAutofit/>
          </a:bodyPr>
          <a:lstStyle/>
          <a:p>
            <a:pPr marL="0" indent="0" algn="l">
              <a:lnSpc>
                <a:spcPct val="118963"/>
              </a:lnSpc>
              <a:buNone/>
            </a:pPr>
            <a:r>
              <a:rPr lang="en-US" sz="1650" dirty="0">
                <a:solidFill>
                  <a:srgbClr val="354A5A"/>
                </a:solidFill>
                <a:latin typeface="Roboto" pitchFamily="34" charset="0"/>
                <a:ea typeface="Roboto" pitchFamily="34" charset="-122"/>
                <a:cs typeface="Roboto" pitchFamily="34" charset="-120"/>
              </a:rPr>
              <a:t>Gestión del cambio y adopción digital — para cualquier tecnología, proceso o forma de trabajar.</a:t>
            </a:r>
            <a:endParaRPr lang="en-US" sz="1650" dirty="0"/>
          </a:p>
        </p:txBody>
      </p:sp>
      <p:sp>
        <p:nvSpPr>
          <p:cNvPr id="9" name="Shape 5"/>
          <p:cNvSpPr/>
          <p:nvPr/>
        </p:nvSpPr>
        <p:spPr>
          <a:xfrm>
            <a:off x="10824716" y="1066800"/>
            <a:ext cx="6396335" cy="2359819"/>
          </a:xfrm>
          <a:prstGeom prst="roundRect">
            <a:avLst>
              <a:gd name="adj" fmla="val 6458"/>
            </a:avLst>
          </a:prstGeom>
          <a:solidFill>
            <a:srgbClr val="041C2C"/>
          </a:solidFill>
          <a:ln/>
        </p:spPr>
        <p:txBody>
          <a:bodyPr/>
          <a:lstStyle/>
          <a:p>
            <a:endParaRPr lang="es-ES"/>
          </a:p>
        </p:txBody>
      </p:sp>
      <p:sp>
        <p:nvSpPr>
          <p:cNvPr id="10" name="Text 6"/>
          <p:cNvSpPr/>
          <p:nvPr/>
        </p:nvSpPr>
        <p:spPr>
          <a:xfrm>
            <a:off x="11110466" y="1295400"/>
            <a:ext cx="5999580" cy="566142"/>
          </a:xfrm>
          <a:prstGeom prst="rect">
            <a:avLst/>
          </a:prstGeom>
          <a:noFill/>
          <a:ln/>
        </p:spPr>
        <p:txBody>
          <a:bodyPr wrap="square" lIns="25400" tIns="25400" rIns="25400" bIns="25400" rtlCol="0" anchor="t">
            <a:normAutofit lnSpcReduction="10000"/>
          </a:bodyPr>
          <a:lstStyle/>
          <a:p>
            <a:pPr marL="0" indent="0" algn="l">
              <a:lnSpc>
                <a:spcPct val="110880"/>
              </a:lnSpc>
              <a:buNone/>
            </a:pPr>
            <a:r>
              <a:rPr lang="en-US" sz="1575" b="1" dirty="0">
                <a:solidFill>
                  <a:srgbClr val="FFFFFF"/>
                </a:solidFill>
                <a:latin typeface="Roboto" pitchFamily="34" charset="0"/>
                <a:ea typeface="Roboto" pitchFamily="34" charset="-122"/>
                <a:cs typeface="Roboto" pitchFamily="34" charset="-120"/>
              </a:rPr>
              <a:t>La mayoría de consultoras vende e implanta. Nosotros hacemos que el cambio cale y se quede.</a:t>
            </a:r>
            <a:endParaRPr lang="en-US" sz="1575" dirty="0"/>
          </a:p>
        </p:txBody>
      </p:sp>
      <p:sp>
        <p:nvSpPr>
          <p:cNvPr id="11" name="Text 7"/>
          <p:cNvSpPr/>
          <p:nvPr/>
        </p:nvSpPr>
        <p:spPr>
          <a:xfrm>
            <a:off x="11110466" y="1947267"/>
            <a:ext cx="5999580" cy="551855"/>
          </a:xfrm>
          <a:prstGeom prst="rect">
            <a:avLst/>
          </a:prstGeom>
          <a:noFill/>
          <a:ln/>
        </p:spPr>
        <p:txBody>
          <a:bodyPr wrap="square" lIns="25400" tIns="25400" rIns="25400" bIns="25400" rtlCol="0" anchor="t">
            <a:normAutofit/>
          </a:bodyPr>
          <a:lstStyle/>
          <a:p>
            <a:pPr marL="0" indent="0" algn="l">
              <a:lnSpc>
                <a:spcPct val="117304"/>
              </a:lnSpc>
              <a:buNone/>
            </a:pPr>
            <a:r>
              <a:rPr lang="en-US" sz="1425" dirty="0">
                <a:solidFill>
                  <a:srgbClr val="FF9866"/>
                </a:solidFill>
                <a:latin typeface="Roboto" pitchFamily="34" charset="0"/>
                <a:ea typeface="Roboto" pitchFamily="34" charset="-122"/>
                <a:cs typeface="Roboto" pitchFamily="34" charset="-120"/>
              </a:rPr>
              <a:t>La IA es el frente más urgente : el 95% de las iniciativas no llega a producción. Pero afecta también a otros procesos o tecnologías.</a:t>
            </a:r>
            <a:endParaRPr lang="en-US" sz="1425" dirty="0"/>
          </a:p>
        </p:txBody>
      </p:sp>
      <p:sp>
        <p:nvSpPr>
          <p:cNvPr id="12" name="Shape 8"/>
          <p:cNvSpPr/>
          <p:nvPr/>
        </p:nvSpPr>
        <p:spPr>
          <a:xfrm>
            <a:off x="11110466" y="2584847"/>
            <a:ext cx="5824835" cy="9525"/>
          </a:xfrm>
          <a:prstGeom prst="rect">
            <a:avLst/>
          </a:prstGeom>
          <a:solidFill>
            <a:srgbClr val="FFFFFF">
              <a:alpha val="14000"/>
            </a:srgbClr>
          </a:solidFill>
          <a:ln/>
        </p:spPr>
        <p:txBody>
          <a:bodyPr/>
          <a:lstStyle/>
          <a:p>
            <a:endParaRPr lang="es-ES"/>
          </a:p>
        </p:txBody>
      </p:sp>
      <p:sp>
        <p:nvSpPr>
          <p:cNvPr id="13" name="Text 9"/>
          <p:cNvSpPr/>
          <p:nvPr/>
        </p:nvSpPr>
        <p:spPr>
          <a:xfrm>
            <a:off x="11110466" y="2718197"/>
            <a:ext cx="5999580" cy="517922"/>
          </a:xfrm>
          <a:prstGeom prst="rect">
            <a:avLst/>
          </a:prstGeom>
          <a:noFill/>
          <a:ln/>
        </p:spPr>
        <p:txBody>
          <a:bodyPr wrap="square" lIns="25400" tIns="25400" rIns="25400" bIns="25400" rtlCol="0" anchor="t">
            <a:normAutofit/>
          </a:bodyPr>
          <a:lstStyle/>
          <a:p>
            <a:pPr marL="0" indent="0" algn="l">
              <a:lnSpc>
                <a:spcPct val="114545"/>
              </a:lnSpc>
              <a:buNone/>
            </a:pPr>
            <a:r>
              <a:rPr lang="en-US" sz="1350" i="1" dirty="0">
                <a:solidFill>
                  <a:srgbClr val="9DAEB9"/>
                </a:solidFill>
                <a:latin typeface="Roboto" pitchFamily="34" charset="0"/>
                <a:ea typeface="Roboto" pitchFamily="34" charset="-122"/>
                <a:cs typeface="Roboto" pitchFamily="34" charset="-120"/>
              </a:rPr>
              <a:t>No atacamos la herramienta. Atacamos la causa raíz: las personas, el conocimiento y la gobernanza que la rodean.</a:t>
            </a:r>
            <a:endParaRPr lang="en-US" sz="1350" dirty="0"/>
          </a:p>
        </p:txBody>
      </p:sp>
      <p:sp>
        <p:nvSpPr>
          <p:cNvPr id="14" name="Shape 10"/>
          <p:cNvSpPr/>
          <p:nvPr/>
        </p:nvSpPr>
        <p:spPr>
          <a:xfrm>
            <a:off x="1066800" y="3831282"/>
            <a:ext cx="16154400" cy="1154609"/>
          </a:xfrm>
          <a:prstGeom prst="roundRect">
            <a:avLst>
              <a:gd name="adj" fmla="val 13199"/>
            </a:avLst>
          </a:prstGeom>
          <a:solidFill>
            <a:srgbClr val="FFFFFF"/>
          </a:solidFill>
          <a:ln w="9525">
            <a:solidFill>
              <a:srgbClr val="E5EAEF"/>
            </a:solidFill>
            <a:prstDash val="solid"/>
          </a:ln>
          <a:effectLst>
            <a:outerShdw blurRad="38100" dist="19050" dir="5400000" algn="bl" rotWithShape="0">
              <a:srgbClr val="041C2C">
                <a:alpha val="7000"/>
              </a:srgbClr>
            </a:outerShdw>
          </a:effectLst>
        </p:spPr>
        <p:txBody>
          <a:bodyPr/>
          <a:lstStyle/>
          <a:p>
            <a:endParaRPr lang="es-ES"/>
          </a:p>
        </p:txBody>
      </p:sp>
      <p:sp>
        <p:nvSpPr>
          <p:cNvPr id="15" name="Text 11"/>
          <p:cNvSpPr/>
          <p:nvPr/>
        </p:nvSpPr>
        <p:spPr>
          <a:xfrm>
            <a:off x="1362075" y="3974157"/>
            <a:ext cx="17120235" cy="228600"/>
          </a:xfrm>
          <a:prstGeom prst="rect">
            <a:avLst/>
          </a:prstGeom>
          <a:noFill/>
          <a:ln/>
        </p:spPr>
        <p:txBody>
          <a:bodyPr wrap="square" lIns="25400" tIns="25400" rIns="25400" bIns="25400" rtlCol="0" anchor="t">
            <a:normAutofit/>
          </a:bodyPr>
          <a:lstStyle/>
          <a:p>
            <a:pPr marL="0" indent="0" algn="l">
              <a:buNone/>
            </a:pPr>
            <a:r>
              <a:rPr lang="en-US" sz="1125" kern="0" spc="158" dirty="0">
                <a:solidFill>
                  <a:srgbClr val="6E8493"/>
                </a:solidFill>
                <a:latin typeface="JetBrains Mono" pitchFamily="34" charset="0"/>
                <a:ea typeface="JetBrains Mono" pitchFamily="34" charset="-122"/>
                <a:cs typeface="JetBrains Mono" pitchFamily="34" charset="-120"/>
              </a:rPr>
              <a:t>EL OFICIO · TRES MANERAS DE TRABAJAR EL CAMBIO</a:t>
            </a:r>
            <a:endParaRPr lang="en-US" sz="1125" dirty="0"/>
          </a:p>
        </p:txBody>
      </p:sp>
      <p:sp>
        <p:nvSpPr>
          <p:cNvPr id="16" name="Shape 12"/>
          <p:cNvSpPr/>
          <p:nvPr/>
        </p:nvSpPr>
        <p:spPr>
          <a:xfrm>
            <a:off x="1362075" y="4269432"/>
            <a:ext cx="28575" cy="564059"/>
          </a:xfrm>
          <a:prstGeom prst="rect">
            <a:avLst/>
          </a:prstGeom>
          <a:solidFill>
            <a:srgbClr val="C73F00"/>
          </a:solidFill>
          <a:ln/>
        </p:spPr>
        <p:txBody>
          <a:bodyPr/>
          <a:lstStyle/>
          <a:p>
            <a:endParaRPr lang="es-ES"/>
          </a:p>
        </p:txBody>
      </p:sp>
      <p:sp>
        <p:nvSpPr>
          <p:cNvPr id="17" name="Text 13"/>
          <p:cNvSpPr/>
          <p:nvPr/>
        </p:nvSpPr>
        <p:spPr>
          <a:xfrm>
            <a:off x="1562100" y="4269432"/>
            <a:ext cx="524922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041C2C"/>
                </a:solidFill>
                <a:latin typeface="Barlow" pitchFamily="34" charset="0"/>
                <a:ea typeface="Barlow" pitchFamily="34" charset="-122"/>
                <a:cs typeface="Barlow" pitchFamily="34" charset="-120"/>
              </a:rPr>
              <a:t>Transformación</a:t>
            </a:r>
            <a:endParaRPr lang="en-US" sz="1725" dirty="0"/>
          </a:p>
        </p:txBody>
      </p:sp>
      <p:sp>
        <p:nvSpPr>
          <p:cNvPr id="18" name="Text 14"/>
          <p:cNvSpPr/>
          <p:nvPr/>
        </p:nvSpPr>
        <p:spPr>
          <a:xfrm>
            <a:off x="1562100" y="4583757"/>
            <a:ext cx="5249228" cy="287834"/>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4A6273"/>
                </a:solidFill>
                <a:latin typeface="Roboto" pitchFamily="34" charset="0"/>
                <a:ea typeface="Roboto" pitchFamily="34" charset="-122"/>
                <a:cs typeface="Roboto" pitchFamily="34" charset="-120"/>
              </a:rPr>
              <a:t>Acompañamos el cambio grande de extremo a extremo</a:t>
            </a:r>
            <a:endParaRPr lang="en-US" sz="1425" dirty="0"/>
          </a:p>
        </p:txBody>
      </p:sp>
      <p:sp>
        <p:nvSpPr>
          <p:cNvPr id="19" name="Shape 15"/>
          <p:cNvSpPr/>
          <p:nvPr/>
        </p:nvSpPr>
        <p:spPr>
          <a:xfrm>
            <a:off x="6657975" y="4269432"/>
            <a:ext cx="28575" cy="564059"/>
          </a:xfrm>
          <a:prstGeom prst="rect">
            <a:avLst/>
          </a:prstGeom>
          <a:solidFill>
            <a:srgbClr val="C73F00"/>
          </a:solidFill>
          <a:ln/>
        </p:spPr>
        <p:txBody>
          <a:bodyPr/>
          <a:lstStyle/>
          <a:p>
            <a:endParaRPr lang="es-ES"/>
          </a:p>
        </p:txBody>
      </p:sp>
      <p:sp>
        <p:nvSpPr>
          <p:cNvPr id="20" name="Text 16"/>
          <p:cNvSpPr/>
          <p:nvPr/>
        </p:nvSpPr>
        <p:spPr>
          <a:xfrm>
            <a:off x="6858000" y="4269432"/>
            <a:ext cx="524922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041C2C"/>
                </a:solidFill>
                <a:latin typeface="Barlow" pitchFamily="34" charset="0"/>
                <a:ea typeface="Barlow" pitchFamily="34" charset="-122"/>
                <a:cs typeface="Barlow" pitchFamily="34" charset="-120"/>
              </a:rPr>
              <a:t>Adopción</a:t>
            </a:r>
            <a:endParaRPr lang="en-US" sz="1725" dirty="0"/>
          </a:p>
        </p:txBody>
      </p:sp>
      <p:sp>
        <p:nvSpPr>
          <p:cNvPr id="21" name="Text 17"/>
          <p:cNvSpPr/>
          <p:nvPr/>
        </p:nvSpPr>
        <p:spPr>
          <a:xfrm>
            <a:off x="6858000" y="4583757"/>
            <a:ext cx="5249228" cy="287834"/>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4A6273"/>
                </a:solidFill>
                <a:latin typeface="Roboto" pitchFamily="34" charset="0"/>
                <a:ea typeface="Roboto" pitchFamily="34" charset="-122"/>
                <a:cs typeface="Roboto" pitchFamily="34" charset="-120"/>
              </a:rPr>
              <a:t>Para que la inversión se use y tenga retorno en negocio.</a:t>
            </a:r>
            <a:endParaRPr lang="en-US" sz="1425" dirty="0"/>
          </a:p>
        </p:txBody>
      </p:sp>
      <p:sp>
        <p:nvSpPr>
          <p:cNvPr id="22" name="Shape 18"/>
          <p:cNvSpPr/>
          <p:nvPr/>
        </p:nvSpPr>
        <p:spPr>
          <a:xfrm>
            <a:off x="11953875" y="4269432"/>
            <a:ext cx="28575" cy="564059"/>
          </a:xfrm>
          <a:prstGeom prst="rect">
            <a:avLst/>
          </a:prstGeom>
          <a:solidFill>
            <a:srgbClr val="C73F00"/>
          </a:solidFill>
          <a:ln/>
        </p:spPr>
        <p:txBody>
          <a:bodyPr/>
          <a:lstStyle/>
          <a:p>
            <a:endParaRPr lang="es-ES"/>
          </a:p>
        </p:txBody>
      </p:sp>
      <p:sp>
        <p:nvSpPr>
          <p:cNvPr id="23" name="Text 19"/>
          <p:cNvSpPr/>
          <p:nvPr/>
        </p:nvSpPr>
        <p:spPr>
          <a:xfrm>
            <a:off x="12153900" y="4269432"/>
            <a:ext cx="5249228" cy="304800"/>
          </a:xfrm>
          <a:prstGeom prst="rect">
            <a:avLst/>
          </a:prstGeom>
          <a:noFill/>
          <a:ln/>
        </p:spPr>
        <p:txBody>
          <a:bodyPr wrap="square" lIns="25400" tIns="25400" rIns="25400" bIns="25400" rtlCol="0" anchor="t">
            <a:normAutofit lnSpcReduction="10000"/>
          </a:bodyPr>
          <a:lstStyle/>
          <a:p>
            <a:pPr marL="0" indent="0" algn="l">
              <a:buNone/>
            </a:pPr>
            <a:r>
              <a:rPr lang="en-US" sz="1725" b="1" dirty="0">
                <a:solidFill>
                  <a:srgbClr val="041C2C"/>
                </a:solidFill>
                <a:latin typeface="Barlow" pitchFamily="34" charset="0"/>
                <a:ea typeface="Barlow" pitchFamily="34" charset="-122"/>
                <a:cs typeface="Barlow" pitchFamily="34" charset="-120"/>
              </a:rPr>
              <a:t>Concienciación</a:t>
            </a:r>
            <a:endParaRPr lang="en-US" sz="1725" dirty="0"/>
          </a:p>
        </p:txBody>
      </p:sp>
      <p:sp>
        <p:nvSpPr>
          <p:cNvPr id="24" name="Text 20"/>
          <p:cNvSpPr/>
          <p:nvPr/>
        </p:nvSpPr>
        <p:spPr>
          <a:xfrm>
            <a:off x="12153900" y="4583757"/>
            <a:ext cx="5249228" cy="287834"/>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4A6273"/>
                </a:solidFill>
                <a:latin typeface="Roboto" pitchFamily="34" charset="0"/>
                <a:ea typeface="Roboto" pitchFamily="34" charset="-122"/>
                <a:cs typeface="Roboto" pitchFamily="34" charset="-120"/>
              </a:rPr>
              <a:t>Cambio de chip y cultura, con narrativa y juego.</a:t>
            </a:r>
            <a:endParaRPr lang="en-US" sz="1425" dirty="0"/>
          </a:p>
        </p:txBody>
      </p:sp>
      <p:sp>
        <p:nvSpPr>
          <p:cNvPr id="25" name="Text 21"/>
          <p:cNvSpPr/>
          <p:nvPr/>
        </p:nvSpPr>
        <p:spPr>
          <a:xfrm>
            <a:off x="1066800" y="5390406"/>
            <a:ext cx="17769840" cy="228600"/>
          </a:xfrm>
          <a:prstGeom prst="rect">
            <a:avLst/>
          </a:prstGeom>
          <a:noFill/>
          <a:ln/>
        </p:spPr>
        <p:txBody>
          <a:bodyPr wrap="square" lIns="25400" tIns="25400" rIns="25400" bIns="25400" rtlCol="0" anchor="t">
            <a:normAutofit/>
          </a:bodyPr>
          <a:lstStyle/>
          <a:p>
            <a:pPr marL="0" indent="0" algn="l">
              <a:buNone/>
            </a:pPr>
            <a:r>
              <a:rPr lang="en-US" sz="1125" kern="0" spc="158" dirty="0">
                <a:solidFill>
                  <a:srgbClr val="6E8493"/>
                </a:solidFill>
                <a:latin typeface="JetBrains Mono" pitchFamily="34" charset="0"/>
                <a:ea typeface="JetBrains Mono" pitchFamily="34" charset="-122"/>
                <a:cs typeface="JetBrains Mono" pitchFamily="34" charset="-120"/>
              </a:rPr>
              <a:t>EN EL FRENTE IA · HOY PRODUCTIZADO — CULTURA, CONOCIMIENTO Y GOBERNANZA</a:t>
            </a:r>
            <a:endParaRPr lang="en-US" sz="1125" dirty="0"/>
          </a:p>
        </p:txBody>
      </p:sp>
      <p:sp>
        <p:nvSpPr>
          <p:cNvPr id="26" name="Shape 22"/>
          <p:cNvSpPr/>
          <p:nvPr/>
        </p:nvSpPr>
        <p:spPr>
          <a:xfrm>
            <a:off x="1066800" y="5695206"/>
            <a:ext cx="5257800" cy="3187005"/>
          </a:xfrm>
          <a:prstGeom prst="roundRect">
            <a:avLst>
              <a:gd name="adj" fmla="val 418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27" name="Shape 23"/>
          <p:cNvSpPr/>
          <p:nvPr/>
        </p:nvSpPr>
        <p:spPr>
          <a:xfrm>
            <a:off x="1066800" y="8872686"/>
            <a:ext cx="5257800" cy="9525"/>
          </a:xfrm>
          <a:prstGeom prst="rect">
            <a:avLst/>
          </a:prstGeom>
          <a:solidFill>
            <a:srgbClr val="E5EAEF"/>
          </a:solidFill>
          <a:ln/>
        </p:spPr>
        <p:txBody>
          <a:bodyPr/>
          <a:lstStyle/>
          <a:p>
            <a:endParaRPr lang="es-ES"/>
          </a:p>
        </p:txBody>
      </p:sp>
      <p:sp>
        <p:nvSpPr>
          <p:cNvPr id="28" name="Shape 24"/>
          <p:cNvSpPr/>
          <p:nvPr/>
        </p:nvSpPr>
        <p:spPr>
          <a:xfrm>
            <a:off x="1066800" y="5695206"/>
            <a:ext cx="5257800" cy="38100"/>
          </a:xfrm>
          <a:prstGeom prst="rect">
            <a:avLst/>
          </a:prstGeom>
          <a:solidFill>
            <a:srgbClr val="C73F00"/>
          </a:solidFill>
          <a:ln/>
        </p:spPr>
        <p:txBody>
          <a:bodyPr/>
          <a:lstStyle/>
          <a:p>
            <a:endParaRPr lang="es-ES"/>
          </a:p>
        </p:txBody>
      </p:sp>
      <p:sp>
        <p:nvSpPr>
          <p:cNvPr id="29" name="Shape 25"/>
          <p:cNvSpPr/>
          <p:nvPr/>
        </p:nvSpPr>
        <p:spPr>
          <a:xfrm>
            <a:off x="1066800" y="5695206"/>
            <a:ext cx="9525" cy="3187005"/>
          </a:xfrm>
          <a:prstGeom prst="rect">
            <a:avLst/>
          </a:prstGeom>
          <a:solidFill>
            <a:srgbClr val="E5EAEF"/>
          </a:solidFill>
          <a:ln/>
        </p:spPr>
        <p:txBody>
          <a:bodyPr/>
          <a:lstStyle/>
          <a:p>
            <a:endParaRPr lang="es-ES"/>
          </a:p>
        </p:txBody>
      </p:sp>
      <p:sp>
        <p:nvSpPr>
          <p:cNvPr id="30" name="Shape 26"/>
          <p:cNvSpPr/>
          <p:nvPr/>
        </p:nvSpPr>
        <p:spPr>
          <a:xfrm>
            <a:off x="6315075" y="5695206"/>
            <a:ext cx="9525" cy="3187005"/>
          </a:xfrm>
          <a:prstGeom prst="rect">
            <a:avLst/>
          </a:prstGeom>
          <a:solidFill>
            <a:srgbClr val="E5EAEF"/>
          </a:solidFill>
          <a:ln/>
        </p:spPr>
        <p:txBody>
          <a:bodyPr/>
          <a:lstStyle/>
          <a:p>
            <a:endParaRPr lang="es-ES"/>
          </a:p>
        </p:txBody>
      </p:sp>
      <p:sp>
        <p:nvSpPr>
          <p:cNvPr id="31" name="Text 27"/>
          <p:cNvSpPr/>
          <p:nvPr/>
        </p:nvSpPr>
        <p:spPr>
          <a:xfrm>
            <a:off x="1285875" y="5940177"/>
            <a:ext cx="282029" cy="195709"/>
          </a:xfrm>
          <a:prstGeom prst="rect">
            <a:avLst/>
          </a:prstGeom>
          <a:noFill/>
          <a:ln/>
        </p:spPr>
        <p:txBody>
          <a:bodyPr wrap="square" lIns="25400" tIns="25400" rIns="25400" bIns="25400" rtlCol="0" anchor="t">
            <a:normAutofit lnSpcReduction="10000"/>
          </a:bodyPr>
          <a:lstStyle/>
          <a:p>
            <a:pPr marL="0" indent="0" algn="l">
              <a:lnSpc>
                <a:spcPct val="72000"/>
              </a:lnSpc>
              <a:buNone/>
            </a:pPr>
            <a:r>
              <a:rPr lang="en-US" sz="1350" dirty="0">
                <a:solidFill>
                  <a:srgbClr val="6E8493"/>
                </a:solidFill>
                <a:latin typeface="JetBrains Mono" pitchFamily="34" charset="0"/>
                <a:ea typeface="JetBrains Mono" pitchFamily="34" charset="-122"/>
                <a:cs typeface="JetBrains Mono" pitchFamily="34" charset="-120"/>
              </a:rPr>
              <a:t>01</a:t>
            </a:r>
            <a:endParaRPr lang="en-US" sz="1350" dirty="0"/>
          </a:p>
        </p:txBody>
      </p:sp>
      <p:sp>
        <p:nvSpPr>
          <p:cNvPr id="32" name="Shape 28"/>
          <p:cNvSpPr/>
          <p:nvPr/>
        </p:nvSpPr>
        <p:spPr>
          <a:xfrm>
            <a:off x="5176838" y="5876181"/>
            <a:ext cx="928688" cy="285750"/>
          </a:xfrm>
          <a:prstGeom prst="roundRect">
            <a:avLst>
              <a:gd name="adj" fmla="val 50000"/>
            </a:avLst>
          </a:prstGeom>
          <a:solidFill>
            <a:srgbClr val="FFE3D4"/>
          </a:solidFill>
          <a:ln/>
        </p:spPr>
        <p:txBody>
          <a:bodyPr/>
          <a:lstStyle/>
          <a:p>
            <a:endParaRPr lang="es-ES"/>
          </a:p>
        </p:txBody>
      </p:sp>
      <p:sp>
        <p:nvSpPr>
          <p:cNvPr id="33" name="Text 29"/>
          <p:cNvSpPr/>
          <p:nvPr/>
        </p:nvSpPr>
        <p:spPr>
          <a:xfrm>
            <a:off x="5291138" y="5923806"/>
            <a:ext cx="776288" cy="228600"/>
          </a:xfrm>
          <a:prstGeom prst="rect">
            <a:avLst/>
          </a:prstGeom>
          <a:noFill/>
          <a:ln/>
        </p:spPr>
        <p:txBody>
          <a:bodyPr wrap="square" lIns="25400" tIns="25400" rIns="25400" bIns="25400" rtlCol="0" anchor="t">
            <a:normAutofit/>
          </a:bodyPr>
          <a:lstStyle/>
          <a:p>
            <a:pPr marL="0" indent="0" algn="l">
              <a:buNone/>
            </a:pPr>
            <a:r>
              <a:rPr lang="en-US" sz="1125" b="1" kern="0" spc="113" dirty="0">
                <a:solidFill>
                  <a:srgbClr val="C73F00"/>
                </a:solidFill>
                <a:latin typeface="JetBrains Mono" pitchFamily="34" charset="0"/>
                <a:ea typeface="JetBrains Mono" pitchFamily="34" charset="-122"/>
                <a:cs typeface="JetBrains Mono" pitchFamily="34" charset="-120"/>
              </a:rPr>
              <a:t>CULTURA</a:t>
            </a:r>
            <a:endParaRPr lang="en-US" sz="1125" dirty="0"/>
          </a:p>
        </p:txBody>
      </p:sp>
      <p:sp>
        <p:nvSpPr>
          <p:cNvPr id="34" name="Text 30"/>
          <p:cNvSpPr/>
          <p:nvPr/>
        </p:nvSpPr>
        <p:spPr>
          <a:xfrm>
            <a:off x="1285875" y="6257181"/>
            <a:ext cx="5301615" cy="329505"/>
          </a:xfrm>
          <a:prstGeom prst="rect">
            <a:avLst/>
          </a:prstGeom>
          <a:noFill/>
          <a:ln/>
        </p:spPr>
        <p:txBody>
          <a:bodyPr wrap="square" lIns="25400" tIns="25400" rIns="25400" bIns="25400" rtlCol="0" anchor="t">
            <a:normAutofit lnSpcReduction="10000"/>
          </a:bodyPr>
          <a:lstStyle/>
          <a:p>
            <a:pPr marL="0" indent="0" algn="l">
              <a:lnSpc>
                <a:spcPct val="85000"/>
              </a:lnSpc>
              <a:buNone/>
            </a:pPr>
            <a:r>
              <a:rPr lang="en-US" sz="2250" b="1" dirty="0">
                <a:solidFill>
                  <a:srgbClr val="041C2C"/>
                </a:solidFill>
                <a:latin typeface="Barlow" pitchFamily="34" charset="0"/>
                <a:ea typeface="Barlow" pitchFamily="34" charset="-122"/>
                <a:cs typeface="Barlow" pitchFamily="34" charset="-120"/>
              </a:rPr>
              <a:t>IAbility</a:t>
            </a:r>
            <a:endParaRPr lang="en-US" sz="2250" dirty="0"/>
          </a:p>
        </p:txBody>
      </p:sp>
      <p:sp>
        <p:nvSpPr>
          <p:cNvPr id="35" name="Text 31"/>
          <p:cNvSpPr/>
          <p:nvPr/>
        </p:nvSpPr>
        <p:spPr>
          <a:xfrm>
            <a:off x="1285875" y="6643836"/>
            <a:ext cx="4964240"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354A5A"/>
                </a:solidFill>
                <a:latin typeface="Roboto" pitchFamily="34" charset="0"/>
                <a:ea typeface="Roboto" pitchFamily="34" charset="-122"/>
                <a:cs typeface="Roboto" pitchFamily="34" charset="-120"/>
              </a:rPr>
              <a:t>Compras licencias de IA y solo el </a:t>
            </a:r>
            <a:r>
              <a:rPr lang="en-US" sz="1500" b="1" dirty="0">
                <a:solidFill>
                  <a:srgbClr val="041C2C"/>
                </a:solidFill>
                <a:latin typeface="Roboto" pitchFamily="34" charset="0"/>
                <a:ea typeface="Roboto" pitchFamily="34" charset="-122"/>
                <a:cs typeface="Roboto" pitchFamily="34" charset="-120"/>
              </a:rPr>
              <a:t>15-20% </a:t>
            </a:r>
            <a:r>
              <a:rPr lang="en-US" sz="1500" dirty="0">
                <a:solidFill>
                  <a:srgbClr val="354A5A"/>
                </a:solidFill>
                <a:latin typeface="Roboto" pitchFamily="34" charset="0"/>
                <a:ea typeface="Roboto" pitchFamily="34" charset="-122"/>
                <a:cs typeface="Roboto" pitchFamily="34" charset="-120"/>
              </a:rPr>
              <a:t>se usan. El resto es miedo, indiferencia o Shadow AI sin control.</a:t>
            </a:r>
            <a:endParaRPr lang="en-US" sz="1500" dirty="0"/>
          </a:p>
        </p:txBody>
      </p:sp>
      <p:sp>
        <p:nvSpPr>
          <p:cNvPr id="36" name="Text 32"/>
          <p:cNvSpPr/>
          <p:nvPr/>
        </p:nvSpPr>
        <p:spPr>
          <a:xfrm>
            <a:off x="1285875" y="7310586"/>
            <a:ext cx="4964240" cy="866775"/>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354A5A"/>
                </a:solidFill>
                <a:latin typeface="Roboto" pitchFamily="34" charset="0"/>
                <a:ea typeface="Roboto" pitchFamily="34" charset="-122"/>
                <a:cs typeface="Roboto" pitchFamily="34" charset="-120"/>
              </a:rPr>
              <a:t>Cambio cultural — no un curso. Hacemos que la organización </a:t>
            </a:r>
            <a:r>
              <a:rPr lang="en-US" sz="1500" b="1" dirty="0">
                <a:solidFill>
                  <a:srgbClr val="C73F00"/>
                </a:solidFill>
                <a:latin typeface="Roboto" pitchFamily="34" charset="0"/>
                <a:ea typeface="Roboto" pitchFamily="34" charset="-122"/>
                <a:cs typeface="Roboto" pitchFamily="34" charset="-120"/>
              </a:rPr>
              <a:t>quiera </a:t>
            </a:r>
            <a:r>
              <a:rPr lang="en-US" sz="1500" dirty="0">
                <a:solidFill>
                  <a:srgbClr val="354A5A"/>
                </a:solidFill>
                <a:latin typeface="Roboto" pitchFamily="34" charset="0"/>
                <a:ea typeface="Roboto" pitchFamily="34" charset="-122"/>
                <a:cs typeface="Roboto" pitchFamily="34" charset="-120"/>
              </a:rPr>
              <a:t>usar la IA, y la use bien. Del 15-20% de uso al </a:t>
            </a:r>
            <a:r>
              <a:rPr lang="en-US" sz="1500" b="1" dirty="0">
                <a:solidFill>
                  <a:srgbClr val="C73F00"/>
                </a:solidFill>
                <a:latin typeface="Roboto" pitchFamily="34" charset="0"/>
                <a:ea typeface="Roboto" pitchFamily="34" charset="-122"/>
                <a:cs typeface="Roboto" pitchFamily="34" charset="-120"/>
              </a:rPr>
              <a:t>70-75%</a:t>
            </a:r>
            <a:r>
              <a:rPr lang="en-US" sz="1500" dirty="0">
                <a:solidFill>
                  <a:srgbClr val="354A5A"/>
                </a:solidFill>
                <a:latin typeface="Roboto" pitchFamily="34" charset="0"/>
                <a:ea typeface="Roboto" pitchFamily="34" charset="-122"/>
                <a:cs typeface="Roboto" pitchFamily="34" charset="-120"/>
              </a:rPr>
              <a:t>.</a:t>
            </a:r>
            <a:endParaRPr lang="en-US" sz="1500" dirty="0"/>
          </a:p>
        </p:txBody>
      </p:sp>
      <p:sp>
        <p:nvSpPr>
          <p:cNvPr id="37" name="Shape 33"/>
          <p:cNvSpPr/>
          <p:nvPr/>
        </p:nvSpPr>
        <p:spPr>
          <a:xfrm>
            <a:off x="1285875" y="8244036"/>
            <a:ext cx="4819650" cy="9525"/>
          </a:xfrm>
          <a:prstGeom prst="rect">
            <a:avLst/>
          </a:prstGeom>
          <a:solidFill>
            <a:srgbClr val="E5EAEF"/>
          </a:solidFill>
          <a:ln/>
        </p:spPr>
        <p:txBody>
          <a:bodyPr/>
          <a:lstStyle/>
          <a:p>
            <a:endParaRPr lang="es-ES"/>
          </a:p>
        </p:txBody>
      </p:sp>
      <p:sp>
        <p:nvSpPr>
          <p:cNvPr id="38" name="Text 34"/>
          <p:cNvSpPr/>
          <p:nvPr/>
        </p:nvSpPr>
        <p:spPr>
          <a:xfrm>
            <a:off x="1285875" y="8348811"/>
            <a:ext cx="4964240" cy="438150"/>
          </a:xfrm>
          <a:prstGeom prst="rect">
            <a:avLst/>
          </a:prstGeom>
          <a:noFill/>
          <a:ln/>
        </p:spPr>
        <p:txBody>
          <a:bodyPr wrap="square" lIns="25400" tIns="25400" rIns="25400" bIns="25400" rtlCol="0" anchor="t">
            <a:normAutofit/>
          </a:bodyPr>
          <a:lstStyle/>
          <a:p>
            <a:pPr marL="0" indent="0" algn="l">
              <a:buNone/>
            </a:pPr>
            <a:r>
              <a:rPr lang="en-US" sz="1163" kern="0" spc="12" dirty="0">
                <a:solidFill>
                  <a:srgbClr val="C73F00"/>
                </a:solidFill>
                <a:latin typeface="JetBrains Mono" pitchFamily="34" charset="0"/>
                <a:ea typeface="JetBrains Mono" pitchFamily="34" charset="-122"/>
                <a:cs typeface="JetBrains Mono" pitchFamily="34" charset="-120"/>
              </a:rPr>
              <a:t>Cubre la alfabetización del AI Act (art. 4) · productizado</a:t>
            </a:r>
            <a:endParaRPr lang="en-US" sz="1163" dirty="0"/>
          </a:p>
        </p:txBody>
      </p:sp>
      <p:sp>
        <p:nvSpPr>
          <p:cNvPr id="39" name="Shape 35"/>
          <p:cNvSpPr/>
          <p:nvPr/>
        </p:nvSpPr>
        <p:spPr>
          <a:xfrm>
            <a:off x="6515100" y="5695206"/>
            <a:ext cx="5257800" cy="3187005"/>
          </a:xfrm>
          <a:prstGeom prst="roundRect">
            <a:avLst>
              <a:gd name="adj" fmla="val 418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40" name="Shape 36"/>
          <p:cNvSpPr/>
          <p:nvPr/>
        </p:nvSpPr>
        <p:spPr>
          <a:xfrm>
            <a:off x="6515100" y="8872686"/>
            <a:ext cx="5257800" cy="9525"/>
          </a:xfrm>
          <a:prstGeom prst="rect">
            <a:avLst/>
          </a:prstGeom>
          <a:solidFill>
            <a:srgbClr val="E5EAEF"/>
          </a:solidFill>
          <a:ln/>
        </p:spPr>
        <p:txBody>
          <a:bodyPr/>
          <a:lstStyle/>
          <a:p>
            <a:endParaRPr lang="es-ES"/>
          </a:p>
        </p:txBody>
      </p:sp>
      <p:sp>
        <p:nvSpPr>
          <p:cNvPr id="41" name="Shape 37"/>
          <p:cNvSpPr/>
          <p:nvPr/>
        </p:nvSpPr>
        <p:spPr>
          <a:xfrm>
            <a:off x="6515100" y="5695206"/>
            <a:ext cx="5257800" cy="38100"/>
          </a:xfrm>
          <a:prstGeom prst="rect">
            <a:avLst/>
          </a:prstGeom>
          <a:solidFill>
            <a:srgbClr val="15857B"/>
          </a:solidFill>
          <a:ln/>
        </p:spPr>
        <p:txBody>
          <a:bodyPr/>
          <a:lstStyle/>
          <a:p>
            <a:endParaRPr lang="es-ES"/>
          </a:p>
        </p:txBody>
      </p:sp>
      <p:sp>
        <p:nvSpPr>
          <p:cNvPr id="42" name="Shape 38"/>
          <p:cNvSpPr/>
          <p:nvPr/>
        </p:nvSpPr>
        <p:spPr>
          <a:xfrm>
            <a:off x="6515100" y="5695206"/>
            <a:ext cx="9525" cy="3187005"/>
          </a:xfrm>
          <a:prstGeom prst="rect">
            <a:avLst/>
          </a:prstGeom>
          <a:solidFill>
            <a:srgbClr val="E5EAEF"/>
          </a:solidFill>
          <a:ln/>
        </p:spPr>
        <p:txBody>
          <a:bodyPr/>
          <a:lstStyle/>
          <a:p>
            <a:endParaRPr lang="es-ES"/>
          </a:p>
        </p:txBody>
      </p:sp>
      <p:sp>
        <p:nvSpPr>
          <p:cNvPr id="43" name="Shape 39"/>
          <p:cNvSpPr/>
          <p:nvPr/>
        </p:nvSpPr>
        <p:spPr>
          <a:xfrm>
            <a:off x="11763375" y="5695206"/>
            <a:ext cx="9525" cy="3187005"/>
          </a:xfrm>
          <a:prstGeom prst="rect">
            <a:avLst/>
          </a:prstGeom>
          <a:solidFill>
            <a:srgbClr val="E5EAEF"/>
          </a:solidFill>
          <a:ln/>
        </p:spPr>
        <p:txBody>
          <a:bodyPr/>
          <a:lstStyle/>
          <a:p>
            <a:endParaRPr lang="es-ES"/>
          </a:p>
        </p:txBody>
      </p:sp>
      <p:sp>
        <p:nvSpPr>
          <p:cNvPr id="44" name="Text 40"/>
          <p:cNvSpPr/>
          <p:nvPr/>
        </p:nvSpPr>
        <p:spPr>
          <a:xfrm>
            <a:off x="6734175" y="5940177"/>
            <a:ext cx="282029" cy="195709"/>
          </a:xfrm>
          <a:prstGeom prst="rect">
            <a:avLst/>
          </a:prstGeom>
          <a:noFill/>
          <a:ln/>
        </p:spPr>
        <p:txBody>
          <a:bodyPr wrap="square" lIns="25400" tIns="25400" rIns="25400" bIns="25400" rtlCol="0" anchor="t">
            <a:normAutofit lnSpcReduction="10000"/>
          </a:bodyPr>
          <a:lstStyle/>
          <a:p>
            <a:pPr marL="0" indent="0" algn="l">
              <a:lnSpc>
                <a:spcPct val="72000"/>
              </a:lnSpc>
              <a:buNone/>
            </a:pPr>
            <a:r>
              <a:rPr lang="en-US" sz="1350" dirty="0">
                <a:solidFill>
                  <a:srgbClr val="6E8493"/>
                </a:solidFill>
                <a:latin typeface="JetBrains Mono" pitchFamily="34" charset="0"/>
                <a:ea typeface="JetBrains Mono" pitchFamily="34" charset="-122"/>
                <a:cs typeface="JetBrains Mono" pitchFamily="34" charset="-120"/>
              </a:rPr>
              <a:t>02</a:t>
            </a:r>
            <a:endParaRPr lang="en-US" sz="1350" dirty="0"/>
          </a:p>
        </p:txBody>
      </p:sp>
      <p:sp>
        <p:nvSpPr>
          <p:cNvPr id="45" name="Shape 41"/>
          <p:cNvSpPr/>
          <p:nvPr/>
        </p:nvSpPr>
        <p:spPr>
          <a:xfrm>
            <a:off x="10125075" y="5876181"/>
            <a:ext cx="1428750" cy="285750"/>
          </a:xfrm>
          <a:prstGeom prst="roundRect">
            <a:avLst>
              <a:gd name="adj" fmla="val 50000"/>
            </a:avLst>
          </a:prstGeom>
          <a:solidFill>
            <a:srgbClr val="D6EEEB"/>
          </a:solidFill>
          <a:ln/>
        </p:spPr>
        <p:txBody>
          <a:bodyPr/>
          <a:lstStyle/>
          <a:p>
            <a:endParaRPr lang="es-ES"/>
          </a:p>
        </p:txBody>
      </p:sp>
      <p:sp>
        <p:nvSpPr>
          <p:cNvPr id="46" name="Text 42"/>
          <p:cNvSpPr/>
          <p:nvPr/>
        </p:nvSpPr>
        <p:spPr>
          <a:xfrm>
            <a:off x="10239375" y="5923806"/>
            <a:ext cx="1276350" cy="228600"/>
          </a:xfrm>
          <a:prstGeom prst="rect">
            <a:avLst/>
          </a:prstGeom>
          <a:noFill/>
          <a:ln/>
        </p:spPr>
        <p:txBody>
          <a:bodyPr wrap="square" lIns="25400" tIns="25400" rIns="25400" bIns="25400" rtlCol="0" anchor="t">
            <a:normAutofit fontScale="92500"/>
          </a:bodyPr>
          <a:lstStyle/>
          <a:p>
            <a:pPr marL="0" indent="0" algn="l">
              <a:buNone/>
            </a:pPr>
            <a:r>
              <a:rPr lang="en-US" sz="1125" b="1" kern="0" spc="113" dirty="0">
                <a:solidFill>
                  <a:srgbClr val="15857B"/>
                </a:solidFill>
                <a:latin typeface="JetBrains Mono" pitchFamily="34" charset="0"/>
                <a:ea typeface="JetBrains Mono" pitchFamily="34" charset="-122"/>
                <a:cs typeface="JetBrains Mono" pitchFamily="34" charset="-120"/>
              </a:rPr>
              <a:t>CONOCIMIENTO</a:t>
            </a:r>
            <a:endParaRPr lang="en-US" sz="1125" dirty="0"/>
          </a:p>
        </p:txBody>
      </p:sp>
      <p:sp>
        <p:nvSpPr>
          <p:cNvPr id="47" name="Text 43"/>
          <p:cNvSpPr/>
          <p:nvPr/>
        </p:nvSpPr>
        <p:spPr>
          <a:xfrm>
            <a:off x="6734175" y="6257181"/>
            <a:ext cx="5301615" cy="329505"/>
          </a:xfrm>
          <a:prstGeom prst="rect">
            <a:avLst/>
          </a:prstGeom>
          <a:noFill/>
          <a:ln/>
        </p:spPr>
        <p:txBody>
          <a:bodyPr wrap="square" lIns="25400" tIns="25400" rIns="25400" bIns="25400" rtlCol="0" anchor="t">
            <a:normAutofit lnSpcReduction="10000"/>
          </a:bodyPr>
          <a:lstStyle/>
          <a:p>
            <a:pPr marL="0" indent="0" algn="l">
              <a:lnSpc>
                <a:spcPct val="85000"/>
              </a:lnSpc>
              <a:buNone/>
            </a:pPr>
            <a:r>
              <a:rPr lang="en-US" sz="2250" b="1" dirty="0">
                <a:solidFill>
                  <a:srgbClr val="041C2C"/>
                </a:solidFill>
                <a:latin typeface="Barlow" pitchFamily="34" charset="0"/>
                <a:ea typeface="Barlow" pitchFamily="34" charset="-122"/>
                <a:cs typeface="Barlow" pitchFamily="34" charset="-120"/>
              </a:rPr>
              <a:t>PreservIA</a:t>
            </a:r>
            <a:endParaRPr lang="en-US" sz="2250" dirty="0"/>
          </a:p>
        </p:txBody>
      </p:sp>
      <p:sp>
        <p:nvSpPr>
          <p:cNvPr id="48" name="Text 44"/>
          <p:cNvSpPr/>
          <p:nvPr/>
        </p:nvSpPr>
        <p:spPr>
          <a:xfrm>
            <a:off x="6734175" y="6781949"/>
            <a:ext cx="4964240"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354A5A"/>
                </a:solidFill>
                <a:latin typeface="Roboto" pitchFamily="34" charset="0"/>
                <a:ea typeface="Roboto" pitchFamily="34" charset="-122"/>
                <a:cs typeface="Roboto" pitchFamily="34" charset="-120"/>
              </a:rPr>
              <a:t>El 80% del conocimiento vive solo en la cabeza de tus expertos. Y una IA mal alimentada es cara y mediocre.</a:t>
            </a:r>
            <a:endParaRPr lang="en-US" sz="1500" dirty="0"/>
          </a:p>
        </p:txBody>
      </p:sp>
      <p:sp>
        <p:nvSpPr>
          <p:cNvPr id="49" name="Text 45"/>
          <p:cNvSpPr/>
          <p:nvPr/>
        </p:nvSpPr>
        <p:spPr>
          <a:xfrm>
            <a:off x="6734175" y="7448699"/>
            <a:ext cx="4964240"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354A5A"/>
                </a:solidFill>
                <a:latin typeface="Roboto" pitchFamily="34" charset="0"/>
                <a:ea typeface="Roboto" pitchFamily="34" charset="-122"/>
                <a:cs typeface="Roboto" pitchFamily="34" charset="-120"/>
              </a:rPr>
              <a:t>Capturamos el conocimiento tácito y lo activamos donde hace falta. Onboarding </a:t>
            </a:r>
            <a:r>
              <a:rPr lang="en-US" sz="1500" b="1" dirty="0">
                <a:solidFill>
                  <a:srgbClr val="15857B"/>
                </a:solidFill>
                <a:latin typeface="Roboto" pitchFamily="34" charset="0"/>
                <a:ea typeface="Roboto" pitchFamily="34" charset="-122"/>
                <a:cs typeface="Roboto" pitchFamily="34" charset="-120"/>
              </a:rPr>
              <a:t>2× más rápido</a:t>
            </a:r>
            <a:r>
              <a:rPr lang="en-US" sz="1500" dirty="0">
                <a:solidFill>
                  <a:srgbClr val="354A5A"/>
                </a:solidFill>
                <a:latin typeface="Roboto" pitchFamily="34" charset="0"/>
                <a:ea typeface="Roboto" pitchFamily="34" charset="-122"/>
                <a:cs typeface="Roboto" pitchFamily="34" charset="-120"/>
              </a:rPr>
              <a:t>.</a:t>
            </a:r>
            <a:endParaRPr lang="en-US" sz="1500" dirty="0"/>
          </a:p>
        </p:txBody>
      </p:sp>
      <p:sp>
        <p:nvSpPr>
          <p:cNvPr id="50" name="Shape 46"/>
          <p:cNvSpPr/>
          <p:nvPr/>
        </p:nvSpPr>
        <p:spPr>
          <a:xfrm>
            <a:off x="6734175" y="8244036"/>
            <a:ext cx="4819650" cy="9525"/>
          </a:xfrm>
          <a:prstGeom prst="rect">
            <a:avLst/>
          </a:prstGeom>
          <a:solidFill>
            <a:srgbClr val="E5EAEF"/>
          </a:solidFill>
          <a:ln/>
        </p:spPr>
        <p:txBody>
          <a:bodyPr/>
          <a:lstStyle/>
          <a:p>
            <a:endParaRPr lang="es-ES"/>
          </a:p>
        </p:txBody>
      </p:sp>
      <p:sp>
        <p:nvSpPr>
          <p:cNvPr id="51" name="Text 47"/>
          <p:cNvSpPr/>
          <p:nvPr/>
        </p:nvSpPr>
        <p:spPr>
          <a:xfrm>
            <a:off x="6734175" y="8348811"/>
            <a:ext cx="4964240" cy="438150"/>
          </a:xfrm>
          <a:prstGeom prst="rect">
            <a:avLst/>
          </a:prstGeom>
          <a:noFill/>
          <a:ln/>
        </p:spPr>
        <p:txBody>
          <a:bodyPr wrap="square" lIns="25400" tIns="25400" rIns="25400" bIns="25400" rtlCol="0" anchor="t">
            <a:normAutofit/>
          </a:bodyPr>
          <a:lstStyle/>
          <a:p>
            <a:pPr marL="0" indent="0" algn="l">
              <a:buNone/>
            </a:pPr>
            <a:r>
              <a:rPr lang="en-US" sz="1163" kern="0" spc="12" dirty="0">
                <a:solidFill>
                  <a:srgbClr val="15857B"/>
                </a:solidFill>
                <a:latin typeface="JetBrains Mono" pitchFamily="34" charset="0"/>
                <a:ea typeface="JetBrains Mono" pitchFamily="34" charset="-122"/>
                <a:cs typeface="JetBrains Mono" pitchFamily="34" charset="-120"/>
              </a:rPr>
              <a:t>Activo permanente · alimenta tus RAG con conocimiento vivo</a:t>
            </a:r>
            <a:endParaRPr lang="en-US" sz="1163" dirty="0"/>
          </a:p>
        </p:txBody>
      </p:sp>
      <p:sp>
        <p:nvSpPr>
          <p:cNvPr id="52" name="Shape 48"/>
          <p:cNvSpPr/>
          <p:nvPr/>
        </p:nvSpPr>
        <p:spPr>
          <a:xfrm>
            <a:off x="11963400" y="5695206"/>
            <a:ext cx="5257800" cy="3187005"/>
          </a:xfrm>
          <a:prstGeom prst="roundRect">
            <a:avLst>
              <a:gd name="adj" fmla="val 4184"/>
            </a:avLst>
          </a:prstGeom>
          <a:solidFill>
            <a:srgbClr val="FFFFFF"/>
          </a:solidFill>
          <a:ln/>
          <a:effectLst>
            <a:outerShdw blurRad="38100" dist="19050" dir="5400000" algn="bl" rotWithShape="0">
              <a:srgbClr val="041C2C">
                <a:alpha val="7000"/>
              </a:srgbClr>
            </a:outerShdw>
          </a:effectLst>
        </p:spPr>
        <p:txBody>
          <a:bodyPr/>
          <a:lstStyle/>
          <a:p>
            <a:endParaRPr lang="es-ES"/>
          </a:p>
        </p:txBody>
      </p:sp>
      <p:sp>
        <p:nvSpPr>
          <p:cNvPr id="53" name="Shape 49"/>
          <p:cNvSpPr/>
          <p:nvPr/>
        </p:nvSpPr>
        <p:spPr>
          <a:xfrm>
            <a:off x="11963400" y="8872686"/>
            <a:ext cx="5257800" cy="9525"/>
          </a:xfrm>
          <a:prstGeom prst="rect">
            <a:avLst/>
          </a:prstGeom>
          <a:solidFill>
            <a:srgbClr val="E5EAEF"/>
          </a:solidFill>
          <a:ln/>
        </p:spPr>
        <p:txBody>
          <a:bodyPr/>
          <a:lstStyle/>
          <a:p>
            <a:endParaRPr lang="es-ES"/>
          </a:p>
        </p:txBody>
      </p:sp>
      <p:sp>
        <p:nvSpPr>
          <p:cNvPr id="54" name="Shape 50"/>
          <p:cNvSpPr/>
          <p:nvPr/>
        </p:nvSpPr>
        <p:spPr>
          <a:xfrm>
            <a:off x="11963400" y="5695206"/>
            <a:ext cx="5257800" cy="38100"/>
          </a:xfrm>
          <a:prstGeom prst="rect">
            <a:avLst/>
          </a:prstGeom>
          <a:solidFill>
            <a:srgbClr val="5E3D9B"/>
          </a:solidFill>
          <a:ln/>
        </p:spPr>
        <p:txBody>
          <a:bodyPr/>
          <a:lstStyle/>
          <a:p>
            <a:endParaRPr lang="es-ES"/>
          </a:p>
        </p:txBody>
      </p:sp>
      <p:sp>
        <p:nvSpPr>
          <p:cNvPr id="55" name="Shape 51"/>
          <p:cNvSpPr/>
          <p:nvPr/>
        </p:nvSpPr>
        <p:spPr>
          <a:xfrm>
            <a:off x="11963400" y="5695206"/>
            <a:ext cx="9525" cy="3187005"/>
          </a:xfrm>
          <a:prstGeom prst="rect">
            <a:avLst/>
          </a:prstGeom>
          <a:solidFill>
            <a:srgbClr val="E5EAEF"/>
          </a:solidFill>
          <a:ln/>
        </p:spPr>
        <p:txBody>
          <a:bodyPr/>
          <a:lstStyle/>
          <a:p>
            <a:endParaRPr lang="es-ES"/>
          </a:p>
        </p:txBody>
      </p:sp>
      <p:sp>
        <p:nvSpPr>
          <p:cNvPr id="56" name="Shape 52"/>
          <p:cNvSpPr/>
          <p:nvPr/>
        </p:nvSpPr>
        <p:spPr>
          <a:xfrm>
            <a:off x="17211675" y="5695206"/>
            <a:ext cx="9525" cy="3187005"/>
          </a:xfrm>
          <a:prstGeom prst="rect">
            <a:avLst/>
          </a:prstGeom>
          <a:solidFill>
            <a:srgbClr val="E5EAEF"/>
          </a:solidFill>
          <a:ln/>
        </p:spPr>
        <p:txBody>
          <a:bodyPr/>
          <a:lstStyle/>
          <a:p>
            <a:endParaRPr lang="es-ES"/>
          </a:p>
        </p:txBody>
      </p:sp>
      <p:sp>
        <p:nvSpPr>
          <p:cNvPr id="57" name="Text 53"/>
          <p:cNvSpPr/>
          <p:nvPr/>
        </p:nvSpPr>
        <p:spPr>
          <a:xfrm>
            <a:off x="12182475" y="5940177"/>
            <a:ext cx="282029" cy="195709"/>
          </a:xfrm>
          <a:prstGeom prst="rect">
            <a:avLst/>
          </a:prstGeom>
          <a:noFill/>
          <a:ln/>
        </p:spPr>
        <p:txBody>
          <a:bodyPr wrap="square" lIns="25400" tIns="25400" rIns="25400" bIns="25400" rtlCol="0" anchor="t">
            <a:normAutofit lnSpcReduction="10000"/>
          </a:bodyPr>
          <a:lstStyle/>
          <a:p>
            <a:pPr marL="0" indent="0" algn="l">
              <a:lnSpc>
                <a:spcPct val="72000"/>
              </a:lnSpc>
              <a:buNone/>
            </a:pPr>
            <a:r>
              <a:rPr lang="en-US" sz="1350" dirty="0">
                <a:solidFill>
                  <a:srgbClr val="6E8493"/>
                </a:solidFill>
                <a:latin typeface="JetBrains Mono" pitchFamily="34" charset="0"/>
                <a:ea typeface="JetBrains Mono" pitchFamily="34" charset="-122"/>
                <a:cs typeface="JetBrains Mono" pitchFamily="34" charset="-120"/>
              </a:rPr>
              <a:t>03</a:t>
            </a:r>
            <a:endParaRPr lang="en-US" sz="1350" dirty="0"/>
          </a:p>
        </p:txBody>
      </p:sp>
      <p:sp>
        <p:nvSpPr>
          <p:cNvPr id="58" name="Shape 54"/>
          <p:cNvSpPr/>
          <p:nvPr/>
        </p:nvSpPr>
        <p:spPr>
          <a:xfrm>
            <a:off x="15773400" y="5876181"/>
            <a:ext cx="1228725" cy="285750"/>
          </a:xfrm>
          <a:prstGeom prst="roundRect">
            <a:avLst>
              <a:gd name="adj" fmla="val 50000"/>
            </a:avLst>
          </a:prstGeom>
          <a:solidFill>
            <a:srgbClr val="EDE3F7"/>
          </a:solidFill>
          <a:ln/>
        </p:spPr>
        <p:txBody>
          <a:bodyPr/>
          <a:lstStyle/>
          <a:p>
            <a:endParaRPr lang="es-ES"/>
          </a:p>
        </p:txBody>
      </p:sp>
      <p:sp>
        <p:nvSpPr>
          <p:cNvPr id="59" name="Text 55"/>
          <p:cNvSpPr/>
          <p:nvPr/>
        </p:nvSpPr>
        <p:spPr>
          <a:xfrm>
            <a:off x="15887700" y="5923806"/>
            <a:ext cx="1076325" cy="228600"/>
          </a:xfrm>
          <a:prstGeom prst="rect">
            <a:avLst/>
          </a:prstGeom>
          <a:noFill/>
          <a:ln/>
        </p:spPr>
        <p:txBody>
          <a:bodyPr wrap="square" lIns="25400" tIns="25400" rIns="25400" bIns="25400" rtlCol="0" anchor="t">
            <a:normAutofit fontScale="77500" lnSpcReduction="20000"/>
          </a:bodyPr>
          <a:lstStyle/>
          <a:p>
            <a:pPr marL="0" indent="0" algn="l">
              <a:buNone/>
            </a:pPr>
            <a:r>
              <a:rPr lang="en-US" sz="1125" b="1" kern="0" spc="113" dirty="0">
                <a:solidFill>
                  <a:srgbClr val="5E3D9B"/>
                </a:solidFill>
                <a:latin typeface="JetBrains Mono" pitchFamily="34" charset="0"/>
                <a:ea typeface="JetBrains Mono" pitchFamily="34" charset="-122"/>
                <a:cs typeface="JetBrains Mono" pitchFamily="34" charset="-120"/>
              </a:rPr>
              <a:t>GOBERNANZA</a:t>
            </a:r>
            <a:endParaRPr lang="en-US" sz="1125" dirty="0"/>
          </a:p>
        </p:txBody>
      </p:sp>
      <p:sp>
        <p:nvSpPr>
          <p:cNvPr id="60" name="Text 56"/>
          <p:cNvSpPr/>
          <p:nvPr/>
        </p:nvSpPr>
        <p:spPr>
          <a:xfrm>
            <a:off x="12182475" y="6257181"/>
            <a:ext cx="5301615" cy="329505"/>
          </a:xfrm>
          <a:prstGeom prst="rect">
            <a:avLst/>
          </a:prstGeom>
          <a:noFill/>
          <a:ln/>
        </p:spPr>
        <p:txBody>
          <a:bodyPr wrap="square" lIns="25400" tIns="25400" rIns="25400" bIns="25400" rtlCol="0" anchor="t">
            <a:normAutofit lnSpcReduction="10000"/>
          </a:bodyPr>
          <a:lstStyle/>
          <a:p>
            <a:pPr marL="0" indent="0" algn="l">
              <a:lnSpc>
                <a:spcPct val="85000"/>
              </a:lnSpc>
              <a:buNone/>
            </a:pPr>
            <a:r>
              <a:rPr lang="en-US" sz="2250" b="1" dirty="0">
                <a:solidFill>
                  <a:srgbClr val="041C2C"/>
                </a:solidFill>
                <a:latin typeface="Barlow" pitchFamily="34" charset="0"/>
                <a:ea typeface="Barlow" pitchFamily="34" charset="-122"/>
                <a:cs typeface="Barlow" pitchFamily="34" charset="-120"/>
              </a:rPr>
              <a:t>Oficina de Gobernanza Humana -IA</a:t>
            </a:r>
            <a:endParaRPr lang="en-US" sz="2250" dirty="0"/>
          </a:p>
        </p:txBody>
      </p:sp>
      <p:sp>
        <p:nvSpPr>
          <p:cNvPr id="61" name="Text 57"/>
          <p:cNvSpPr/>
          <p:nvPr/>
        </p:nvSpPr>
        <p:spPr>
          <a:xfrm>
            <a:off x="12182475" y="6881961"/>
            <a:ext cx="4964240"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354A5A"/>
                </a:solidFill>
                <a:latin typeface="Roboto" pitchFamily="34" charset="0"/>
                <a:ea typeface="Roboto" pitchFamily="34" charset="-122"/>
                <a:cs typeface="Roboto" pitchFamily="34" charset="-120"/>
              </a:rPr>
              <a:t>El </a:t>
            </a:r>
            <a:r>
              <a:rPr lang="en-US" sz="1500" b="1" dirty="0">
                <a:solidFill>
                  <a:srgbClr val="041C2C"/>
                </a:solidFill>
                <a:latin typeface="Roboto" pitchFamily="34" charset="0"/>
                <a:ea typeface="Roboto" pitchFamily="34" charset="-122"/>
                <a:cs typeface="Roboto" pitchFamily="34" charset="-120"/>
              </a:rPr>
              <a:t>78% </a:t>
            </a:r>
            <a:r>
              <a:rPr lang="en-US" sz="1500" dirty="0">
                <a:solidFill>
                  <a:srgbClr val="354A5A"/>
                </a:solidFill>
                <a:latin typeface="Roboto" pitchFamily="34" charset="0"/>
                <a:ea typeface="Roboto" pitchFamily="34" charset="-122"/>
                <a:cs typeface="Roboto" pitchFamily="34" charset="-120"/>
              </a:rPr>
              <a:t>ya usa IA, pero solo el </a:t>
            </a:r>
            <a:r>
              <a:rPr lang="en-US" sz="1500" b="1" dirty="0">
                <a:solidFill>
                  <a:srgbClr val="041C2C"/>
                </a:solidFill>
                <a:latin typeface="Roboto" pitchFamily="34" charset="0"/>
                <a:ea typeface="Roboto" pitchFamily="34" charset="-122"/>
                <a:cs typeface="Roboto" pitchFamily="34" charset="-120"/>
              </a:rPr>
              <a:t>5-8% </a:t>
            </a:r>
            <a:r>
              <a:rPr lang="en-US" sz="1500" dirty="0">
                <a:solidFill>
                  <a:srgbClr val="354A5A"/>
                </a:solidFill>
                <a:latin typeface="Roboto" pitchFamily="34" charset="0"/>
                <a:ea typeface="Roboto" pitchFamily="34" charset="-122"/>
                <a:cs typeface="Roboto" pitchFamily="34" charset="-120"/>
              </a:rPr>
              <a:t>pasa del piloto. No es técnico: falta quién decida qué avanza y qué se frena.</a:t>
            </a:r>
            <a:endParaRPr lang="en-US" sz="1500" dirty="0"/>
          </a:p>
        </p:txBody>
      </p:sp>
      <p:sp>
        <p:nvSpPr>
          <p:cNvPr id="62" name="Text 58"/>
          <p:cNvSpPr/>
          <p:nvPr/>
        </p:nvSpPr>
        <p:spPr>
          <a:xfrm>
            <a:off x="12182475" y="7548711"/>
            <a:ext cx="4964240" cy="590550"/>
          </a:xfrm>
          <a:prstGeom prst="rect">
            <a:avLst/>
          </a:prstGeom>
          <a:noFill/>
          <a:ln/>
        </p:spPr>
        <p:txBody>
          <a:bodyPr wrap="square" lIns="25400" tIns="25400" rIns="25400" bIns="25400" rtlCol="0" anchor="t">
            <a:normAutofit/>
          </a:bodyPr>
          <a:lstStyle/>
          <a:p>
            <a:pPr marL="0" indent="0" algn="l">
              <a:lnSpc>
                <a:spcPct val="120833"/>
              </a:lnSpc>
              <a:buNone/>
            </a:pPr>
            <a:r>
              <a:rPr lang="en-US" sz="1500" dirty="0">
                <a:solidFill>
                  <a:srgbClr val="354A5A"/>
                </a:solidFill>
                <a:latin typeface="Roboto" pitchFamily="34" charset="0"/>
                <a:ea typeface="Roboto" pitchFamily="34" charset="-122"/>
                <a:cs typeface="Roboto" pitchFamily="34" charset="-120"/>
              </a:rPr>
              <a:t>Montamos el modelo que decide, deja rastro y aguanta una auditoría ante el regulador.</a:t>
            </a:r>
            <a:endParaRPr lang="en-US" sz="1500" dirty="0"/>
          </a:p>
        </p:txBody>
      </p:sp>
      <p:sp>
        <p:nvSpPr>
          <p:cNvPr id="63" name="Shape 59"/>
          <p:cNvSpPr/>
          <p:nvPr/>
        </p:nvSpPr>
        <p:spPr>
          <a:xfrm>
            <a:off x="12182475" y="8444061"/>
            <a:ext cx="4819650" cy="9525"/>
          </a:xfrm>
          <a:prstGeom prst="rect">
            <a:avLst/>
          </a:prstGeom>
          <a:solidFill>
            <a:srgbClr val="E5EAEF"/>
          </a:solidFill>
          <a:ln/>
        </p:spPr>
        <p:txBody>
          <a:bodyPr/>
          <a:lstStyle/>
          <a:p>
            <a:endParaRPr lang="es-ES"/>
          </a:p>
        </p:txBody>
      </p:sp>
      <p:sp>
        <p:nvSpPr>
          <p:cNvPr id="64" name="Text 60"/>
          <p:cNvSpPr/>
          <p:nvPr/>
        </p:nvSpPr>
        <p:spPr>
          <a:xfrm>
            <a:off x="12182475" y="8548836"/>
            <a:ext cx="4964240" cy="238125"/>
          </a:xfrm>
          <a:prstGeom prst="rect">
            <a:avLst/>
          </a:prstGeom>
          <a:noFill/>
          <a:ln/>
        </p:spPr>
        <p:txBody>
          <a:bodyPr wrap="square" lIns="25400" tIns="25400" rIns="25400" bIns="25400" rtlCol="0" anchor="t">
            <a:normAutofit/>
          </a:bodyPr>
          <a:lstStyle/>
          <a:p>
            <a:pPr marL="0" indent="0" algn="l">
              <a:buNone/>
            </a:pPr>
            <a:r>
              <a:rPr lang="en-US" sz="1163" kern="0" spc="12" dirty="0">
                <a:solidFill>
                  <a:srgbClr val="5E3D9B"/>
                </a:solidFill>
                <a:latin typeface="JetBrains Mono" pitchFamily="34" charset="0"/>
                <a:ea typeface="JetBrains Mono" pitchFamily="34" charset="-122"/>
                <a:cs typeface="JetBrains Mono" pitchFamily="34" charset="-120"/>
              </a:rPr>
              <a:t>AI Act · ISO/IEC 42001 · Modelo de servicio flexible</a:t>
            </a:r>
            <a:endParaRPr lang="en-US" sz="1163" dirty="0"/>
          </a:p>
        </p:txBody>
      </p:sp>
      <p:sp>
        <p:nvSpPr>
          <p:cNvPr id="65" name="Shape 61"/>
          <p:cNvSpPr/>
          <p:nvPr/>
        </p:nvSpPr>
        <p:spPr>
          <a:xfrm>
            <a:off x="1066800" y="9286875"/>
            <a:ext cx="16154400" cy="428625"/>
          </a:xfrm>
          <a:prstGeom prst="roundRect">
            <a:avLst>
              <a:gd name="adj" fmla="val 31111"/>
            </a:avLst>
          </a:prstGeom>
          <a:solidFill>
            <a:srgbClr val="041C2C"/>
          </a:solidFill>
          <a:ln/>
        </p:spPr>
        <p:txBody>
          <a:bodyPr/>
          <a:lstStyle/>
          <a:p>
            <a:endParaRPr lang="es-ES"/>
          </a:p>
        </p:txBody>
      </p:sp>
      <p:sp>
        <p:nvSpPr>
          <p:cNvPr id="66" name="Text 62"/>
          <p:cNvSpPr/>
          <p:nvPr/>
        </p:nvSpPr>
        <p:spPr>
          <a:xfrm>
            <a:off x="1486190" y="9410700"/>
            <a:ext cx="2727588" cy="219075"/>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FFFFFF"/>
                </a:solidFill>
                <a:latin typeface="Roboto" pitchFamily="34" charset="0"/>
                <a:ea typeface="Roboto" pitchFamily="34" charset="-122"/>
                <a:cs typeface="Roboto" pitchFamily="34" charset="-120"/>
              </a:rPr>
              <a:t>AI Act art. 4 </a:t>
            </a:r>
            <a:r>
              <a:rPr lang="en-US" sz="1200" dirty="0">
                <a:solidFill>
                  <a:srgbClr val="FFFFFF">
                    <a:alpha val="82000"/>
                  </a:srgbClr>
                </a:solidFill>
                <a:latin typeface="Roboto" pitchFamily="34" charset="0"/>
                <a:ea typeface="Roboto" pitchFamily="34" charset="-122"/>
                <a:cs typeface="Roboto" pitchFamily="34" charset="-120"/>
              </a:rPr>
              <a:t>en vigor desde feb 2025</a:t>
            </a:r>
            <a:endParaRPr lang="en-US" sz="1200" dirty="0"/>
          </a:p>
        </p:txBody>
      </p:sp>
      <p:sp>
        <p:nvSpPr>
          <p:cNvPr id="67" name="Text 63"/>
          <p:cNvSpPr/>
          <p:nvPr/>
        </p:nvSpPr>
        <p:spPr>
          <a:xfrm>
            <a:off x="4165997" y="9410700"/>
            <a:ext cx="122188" cy="219075"/>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FF9866"/>
                </a:solidFill>
                <a:latin typeface="Roboto" pitchFamily="34" charset="0"/>
                <a:ea typeface="Roboto" pitchFamily="34" charset="-122"/>
                <a:cs typeface="Roboto" pitchFamily="34" charset="-120"/>
              </a:rPr>
              <a:t>·</a:t>
            </a:r>
            <a:endParaRPr lang="en-US" sz="1200" dirty="0"/>
          </a:p>
        </p:txBody>
      </p:sp>
      <p:sp>
        <p:nvSpPr>
          <p:cNvPr id="68" name="Text 64"/>
          <p:cNvSpPr/>
          <p:nvPr/>
        </p:nvSpPr>
        <p:spPr>
          <a:xfrm>
            <a:off x="4264156" y="9410700"/>
            <a:ext cx="2205023" cy="219075"/>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FFFFF">
                    <a:alpha val="82000"/>
                  </a:srgbClr>
                </a:solidFill>
                <a:latin typeface="Roboto" pitchFamily="34" charset="0"/>
                <a:ea typeface="Roboto" pitchFamily="34" charset="-122"/>
                <a:cs typeface="Roboto" pitchFamily="34" charset="-120"/>
              </a:rPr>
              <a:t>Alineados con </a:t>
            </a:r>
            <a:r>
              <a:rPr lang="en-US" sz="1200" b="1" dirty="0">
                <a:solidFill>
                  <a:srgbClr val="FFFFFF"/>
                </a:solidFill>
                <a:latin typeface="Roboto" pitchFamily="34" charset="0"/>
                <a:ea typeface="Roboto" pitchFamily="34" charset="-122"/>
                <a:cs typeface="Roboto" pitchFamily="34" charset="-120"/>
              </a:rPr>
              <a:t>ISO/IEC 42001</a:t>
            </a:r>
            <a:endParaRPr lang="en-US" sz="1200" dirty="0"/>
          </a:p>
        </p:txBody>
      </p:sp>
      <p:sp>
        <p:nvSpPr>
          <p:cNvPr id="69" name="Text 65"/>
          <p:cNvSpPr/>
          <p:nvPr/>
        </p:nvSpPr>
        <p:spPr>
          <a:xfrm>
            <a:off x="6445151" y="9410700"/>
            <a:ext cx="122188" cy="219075"/>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FF9866"/>
                </a:solidFill>
                <a:latin typeface="Roboto" pitchFamily="34" charset="0"/>
                <a:ea typeface="Roboto" pitchFamily="34" charset="-122"/>
                <a:cs typeface="Roboto" pitchFamily="34" charset="-120"/>
              </a:rPr>
              <a:t>·</a:t>
            </a:r>
            <a:endParaRPr lang="en-US" sz="1200" dirty="0"/>
          </a:p>
        </p:txBody>
      </p:sp>
      <p:sp>
        <p:nvSpPr>
          <p:cNvPr id="70" name="Text 66"/>
          <p:cNvSpPr/>
          <p:nvPr/>
        </p:nvSpPr>
        <p:spPr>
          <a:xfrm>
            <a:off x="6457846" y="9410700"/>
            <a:ext cx="4085243" cy="219075"/>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FFFFF">
                    <a:alpha val="82000"/>
                  </a:srgbClr>
                </a:solidFill>
                <a:latin typeface="Roboto" pitchFamily="34" charset="0"/>
                <a:ea typeface="Roboto" pitchFamily="34" charset="-122"/>
                <a:cs typeface="Roboto" pitchFamily="34" charset="-120"/>
              </a:rPr>
              <a:t>Referencias: </a:t>
            </a:r>
            <a:r>
              <a:rPr lang="en-US" sz="1200" b="1" dirty="0">
                <a:solidFill>
                  <a:srgbClr val="FFFFFF"/>
                </a:solidFill>
                <a:latin typeface="Roboto" pitchFamily="34" charset="0"/>
                <a:ea typeface="Roboto" pitchFamily="34" charset="-122"/>
                <a:cs typeface="Roboto" pitchFamily="34" charset="-120"/>
              </a:rPr>
              <a:t>MAPFRE · Faes Farma · Gobierno Navarra</a:t>
            </a:r>
            <a:endParaRPr lang="en-US" sz="1200" dirty="0"/>
          </a:p>
        </p:txBody>
      </p:sp>
      <p:sp>
        <p:nvSpPr>
          <p:cNvPr id="71" name="Text 67"/>
          <p:cNvSpPr/>
          <p:nvPr/>
        </p:nvSpPr>
        <p:spPr>
          <a:xfrm>
            <a:off x="10433596" y="9410700"/>
            <a:ext cx="122188" cy="219075"/>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FF9866"/>
                </a:solidFill>
                <a:latin typeface="Roboto" pitchFamily="34" charset="0"/>
                <a:ea typeface="Roboto" pitchFamily="34" charset="-122"/>
                <a:cs typeface="Roboto" pitchFamily="34" charset="-120"/>
              </a:rPr>
              <a:t>·</a:t>
            </a:r>
            <a:endParaRPr lang="en-US" sz="1200" dirty="0"/>
          </a:p>
        </p:txBody>
      </p:sp>
      <p:sp>
        <p:nvSpPr>
          <p:cNvPr id="72" name="Text 68"/>
          <p:cNvSpPr/>
          <p:nvPr/>
        </p:nvSpPr>
        <p:spPr>
          <a:xfrm>
            <a:off x="10404463" y="9410700"/>
            <a:ext cx="5005462" cy="219075"/>
          </a:xfrm>
          <a:prstGeom prst="rect">
            <a:avLst/>
          </a:prstGeom>
          <a:noFill/>
          <a:ln/>
        </p:spPr>
        <p:txBody>
          <a:bodyPr wrap="square" lIns="25400" tIns="25400" rIns="25400" bIns="25400" rtlCol="0" anchor="t">
            <a:normAutofit lnSpcReduction="10000"/>
          </a:bodyPr>
          <a:lstStyle/>
          <a:p>
            <a:pPr marL="0" indent="0" algn="ctr">
              <a:buNone/>
            </a:pPr>
            <a:r>
              <a:rPr lang="en-US" sz="1200" dirty="0">
                <a:solidFill>
                  <a:srgbClr val="FFFFFF">
                    <a:alpha val="82000"/>
                  </a:srgbClr>
                </a:solidFill>
                <a:latin typeface="Roboto" pitchFamily="34" charset="0"/>
                <a:ea typeface="Roboto" pitchFamily="34" charset="-122"/>
                <a:cs typeface="Roboto" pitchFamily="34" charset="-120"/>
              </a:rPr>
              <a:t>Empieza por un </a:t>
            </a:r>
            <a:r>
              <a:rPr lang="en-US" sz="1200" b="1" dirty="0">
                <a:solidFill>
                  <a:srgbClr val="FFFFFF"/>
                </a:solidFill>
                <a:latin typeface="Roboto" pitchFamily="34" charset="0"/>
                <a:ea typeface="Roboto" pitchFamily="34" charset="-122"/>
                <a:cs typeface="Roboto" pitchFamily="34" charset="-120"/>
              </a:rPr>
              <a:t>diagnóstico de madurez </a:t>
            </a:r>
            <a:r>
              <a:rPr lang="en-US" sz="1200" dirty="0">
                <a:solidFill>
                  <a:srgbClr val="FFFFFF">
                    <a:alpha val="82000"/>
                  </a:srgbClr>
                </a:solidFill>
                <a:latin typeface="Roboto" pitchFamily="34" charset="0"/>
                <a:ea typeface="Roboto" pitchFamily="34" charset="-122"/>
                <a:cs typeface="Roboto" pitchFamily="34" charset="-120"/>
              </a:rPr>
              <a:t>en adopción y gobernanza</a:t>
            </a:r>
            <a:endParaRPr lang="en-US" sz="1200" dirty="0"/>
          </a:p>
        </p:txBody>
      </p:sp>
      <p:sp>
        <p:nvSpPr>
          <p:cNvPr id="73" name="Shape 69">
            <a:hlinkClick r:id="rId6" action="ppaction://hlinksldjump"/>
          </p:cNvPr>
          <p:cNvSpPr/>
          <p:nvPr/>
        </p:nvSpPr>
        <p:spPr>
          <a:xfrm>
            <a:off x="15379452" y="9182100"/>
            <a:ext cx="1841748"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74" name="Text 70"/>
          <p:cNvSpPr/>
          <p:nvPr/>
        </p:nvSpPr>
        <p:spPr>
          <a:xfrm>
            <a:off x="15684252" y="9324975"/>
            <a:ext cx="974973"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Continuar</a:t>
            </a:r>
            <a:endParaRPr lang="en-US" sz="1650" dirty="0"/>
          </a:p>
        </p:txBody>
      </p:sp>
      <p:pic>
        <p:nvPicPr>
          <p:cNvPr id="75" name="Image 2"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687800" y="9334500"/>
            <a:ext cx="228600" cy="228600"/>
          </a:xfrm>
          <a:prstGeom prst="rect">
            <a:avLst/>
          </a:prstGeom>
        </p:spPr>
      </p:pic>
      <p:sp>
        <p:nvSpPr>
          <p:cNvPr id="76" name="Text 71"/>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77" name="Text 72"/>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22 / 24</a:t>
            </a:r>
            <a:endParaRPr lang="en-US" sz="11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9"/>
        </a:solidFill>
        <a:effectLst/>
      </p:bgPr>
    </p:bg>
    <p:spTree>
      <p:nvGrpSpPr>
        <p:cNvPr id="1" name=""/>
        <p:cNvGrpSpPr/>
        <p:nvPr/>
      </p:nvGrpSpPr>
      <p:grpSpPr>
        <a:xfrm>
          <a:off x="0" y="0"/>
          <a:ext cx="0" cy="0"/>
          <a:chOff x="0" y="0"/>
          <a:chExt cx="0" cy="0"/>
        </a:xfrm>
      </p:grpSpPr>
      <p:sp>
        <p:nvSpPr>
          <p:cNvPr id="2" name="Shape 0">
            <a:hlinkClick r:id="rId3" action="ppaction://hlinksldjump"/>
          </p:cNvPr>
          <p:cNvSpPr/>
          <p:nvPr/>
        </p:nvSpPr>
        <p:spPr>
          <a:xfrm>
            <a:off x="1066800" y="533400"/>
            <a:ext cx="381000" cy="381000"/>
          </a:xfrm>
          <a:prstGeom prst="ellipse">
            <a:avLst/>
          </a:prstGeom>
          <a:ln w="9525">
            <a:solidFill>
              <a:srgbClr val="C8D2DA"/>
            </a:solidFill>
            <a:prstDash val="solid"/>
          </a:ln>
        </p:spPr>
        <p:txBody>
          <a:bodyPr/>
          <a:lstStyle/>
          <a:p>
            <a:endParaRPr lang="es-ES"/>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2050" y="628650"/>
            <a:ext cx="190500" cy="190500"/>
          </a:xfrm>
          <a:prstGeom prst="rect">
            <a:avLst/>
          </a:prstGeom>
        </p:spPr>
      </p:pic>
      <p:sp>
        <p:nvSpPr>
          <p:cNvPr id="4" name="Shape 1"/>
          <p:cNvSpPr/>
          <p:nvPr/>
        </p:nvSpPr>
        <p:spPr>
          <a:xfrm>
            <a:off x="1600200" y="709613"/>
            <a:ext cx="342900" cy="28575"/>
          </a:xfrm>
          <a:prstGeom prst="rect">
            <a:avLst/>
          </a:prstGeom>
          <a:solidFill>
            <a:srgbClr val="C73F00"/>
          </a:solidFill>
          <a:ln/>
        </p:spPr>
        <p:txBody>
          <a:bodyPr/>
          <a:lstStyle/>
          <a:p>
            <a:endParaRPr lang="es-ES"/>
          </a:p>
        </p:txBody>
      </p:sp>
      <p:sp>
        <p:nvSpPr>
          <p:cNvPr id="5" name="Text 2"/>
          <p:cNvSpPr/>
          <p:nvPr/>
        </p:nvSpPr>
        <p:spPr>
          <a:xfrm>
            <a:off x="2076450" y="628650"/>
            <a:ext cx="4031873" cy="228600"/>
          </a:xfrm>
          <a:prstGeom prst="rect">
            <a:avLst/>
          </a:prstGeom>
          <a:noFill/>
          <a:ln/>
        </p:spPr>
        <p:txBody>
          <a:bodyPr wrap="square" lIns="25400" tIns="25400" rIns="25400" bIns="25400" rtlCol="0" anchor="t">
            <a:normAutofit lnSpcReduction="10000"/>
          </a:bodyPr>
          <a:lstStyle/>
          <a:p>
            <a:pPr marL="0" indent="0" algn="l">
              <a:lnSpc>
                <a:spcPct val="76923"/>
              </a:lnSpc>
              <a:buNone/>
            </a:pPr>
            <a:r>
              <a:rPr lang="en-US" sz="1500" kern="0" spc="210" dirty="0">
                <a:solidFill>
                  <a:srgbClr val="C73F00"/>
                </a:solidFill>
                <a:latin typeface="JetBrains Mono" pitchFamily="34" charset="0"/>
                <a:ea typeface="JetBrains Mono" pitchFamily="34" charset="-122"/>
                <a:cs typeface="JetBrains Mono" pitchFamily="34" charset="-120"/>
              </a:rPr>
              <a:t>DISCOVERY · DIGITAL CHANGE</a:t>
            </a:r>
            <a:endParaRPr lang="en-US" sz="1500" dirty="0"/>
          </a:p>
        </p:txBody>
      </p:sp>
      <p:pic>
        <p:nvPicPr>
          <p:cNvPr id="6" name="Image 1" descr="preencoded.png"/>
          <p:cNvPicPr>
            <a:picLocks noChangeAspect="1"/>
          </p:cNvPicPr>
          <p:nvPr/>
        </p:nvPicPr>
        <p:blipFill>
          <a:blip r:embed="rId5"/>
          <a:stretch>
            <a:fillRect/>
          </a:stretch>
        </p:blipFill>
        <p:spPr>
          <a:xfrm>
            <a:off x="16200686" y="581025"/>
            <a:ext cx="1020514" cy="285750"/>
          </a:xfrm>
          <a:prstGeom prst="rect">
            <a:avLst/>
          </a:prstGeom>
        </p:spPr>
      </p:pic>
      <p:sp>
        <p:nvSpPr>
          <p:cNvPr id="7" name="Text 3"/>
          <p:cNvSpPr/>
          <p:nvPr/>
        </p:nvSpPr>
        <p:spPr>
          <a:xfrm>
            <a:off x="1066800" y="3720554"/>
            <a:ext cx="17769840" cy="563017"/>
          </a:xfrm>
          <a:prstGeom prst="rect">
            <a:avLst/>
          </a:prstGeom>
          <a:noFill/>
          <a:ln/>
        </p:spPr>
        <p:txBody>
          <a:bodyPr wrap="square" lIns="25400" tIns="25400" rIns="25400" bIns="25400" rtlCol="0" anchor="t">
            <a:normAutofit lnSpcReduction="10000"/>
          </a:bodyPr>
          <a:lstStyle/>
          <a:p>
            <a:pPr marL="0" indent="0" algn="l">
              <a:lnSpc>
                <a:spcPct val="88903"/>
              </a:lnSpc>
              <a:buNone/>
            </a:pPr>
            <a:r>
              <a:rPr lang="en-US" sz="3900" b="1" kern="0" spc="-78" dirty="0">
                <a:solidFill>
                  <a:srgbClr val="041C2C"/>
                </a:solidFill>
                <a:latin typeface="Barlow" pitchFamily="34" charset="0"/>
                <a:ea typeface="Barlow" pitchFamily="34" charset="-122"/>
                <a:cs typeface="Barlow" pitchFamily="34" charset="-120"/>
              </a:rPr>
              <a:t>¿Qué has desplegado que la gente no ha hecho suyo?</a:t>
            </a:r>
            <a:endParaRPr lang="en-US" sz="3900" dirty="0"/>
          </a:p>
        </p:txBody>
      </p:sp>
      <p:sp>
        <p:nvSpPr>
          <p:cNvPr id="8" name="Text 4"/>
          <p:cNvSpPr/>
          <p:nvPr/>
        </p:nvSpPr>
        <p:spPr>
          <a:xfrm>
            <a:off x="1066800" y="4388346"/>
            <a:ext cx="11319153" cy="741164"/>
          </a:xfrm>
          <a:prstGeom prst="rect">
            <a:avLst/>
          </a:prstGeom>
          <a:noFill/>
          <a:ln/>
        </p:spPr>
        <p:txBody>
          <a:bodyPr wrap="square" lIns="25400" tIns="25400" rIns="25400" bIns="25400" rtlCol="0" anchor="t">
            <a:normAutofit/>
          </a:bodyPr>
          <a:lstStyle/>
          <a:p>
            <a:pPr marL="0" indent="0" algn="l">
              <a:lnSpc>
                <a:spcPct val="115375"/>
              </a:lnSpc>
              <a:buNone/>
            </a:pPr>
            <a:r>
              <a:rPr lang="en-US" sz="1950" dirty="0">
                <a:solidFill>
                  <a:srgbClr val="041C2C">
                    <a:alpha val="80000"/>
                  </a:srgbClr>
                </a:solidFill>
                <a:latin typeface="Roboto" pitchFamily="34" charset="0"/>
                <a:ea typeface="Roboto" pitchFamily="34" charset="-122"/>
                <a:cs typeface="Roboto" pitchFamily="34" charset="-120"/>
              </a:rPr>
              <a:t>Buscamos si el problema está en la tecnología, en el proceso, en las personas, en los mandos o en cómo se activó el cambio.</a:t>
            </a:r>
            <a:endParaRPr lang="en-US" sz="1950" dirty="0"/>
          </a:p>
        </p:txBody>
      </p:sp>
      <p:sp>
        <p:nvSpPr>
          <p:cNvPr id="9" name="Shape 5"/>
          <p:cNvSpPr/>
          <p:nvPr/>
        </p:nvSpPr>
        <p:spPr>
          <a:xfrm>
            <a:off x="1066800" y="5339060"/>
            <a:ext cx="16154400" cy="9525"/>
          </a:xfrm>
          <a:prstGeom prst="rect">
            <a:avLst/>
          </a:prstGeom>
          <a:solidFill>
            <a:srgbClr val="E5EAEF"/>
          </a:solidFill>
          <a:ln/>
        </p:spPr>
        <p:txBody>
          <a:bodyPr/>
          <a:lstStyle/>
          <a:p>
            <a:endParaRPr lang="es-ES"/>
          </a:p>
        </p:txBody>
      </p:sp>
      <p:sp>
        <p:nvSpPr>
          <p:cNvPr id="10" name="Text 6"/>
          <p:cNvSpPr/>
          <p:nvPr/>
        </p:nvSpPr>
        <p:spPr>
          <a:xfrm>
            <a:off x="1066800" y="5539085"/>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C73F00"/>
                </a:solidFill>
                <a:latin typeface="JetBrains Mono" pitchFamily="34" charset="0"/>
                <a:ea typeface="JetBrains Mono" pitchFamily="34" charset="-122"/>
                <a:cs typeface="JetBrains Mono" pitchFamily="34" charset="-120"/>
              </a:rPr>
              <a:t>01</a:t>
            </a:r>
            <a:endParaRPr lang="en-US" sz="1425" dirty="0"/>
          </a:p>
        </p:txBody>
      </p:sp>
      <p:sp>
        <p:nvSpPr>
          <p:cNvPr id="11" name="Text 7"/>
          <p:cNvSpPr/>
          <p:nvPr/>
        </p:nvSpPr>
        <p:spPr>
          <a:xfrm>
            <a:off x="1562100" y="5481935"/>
            <a:ext cx="11052780"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¿Qué habéis desplegado que sobre el papel funciona, pero la gente no ha hecho suyo?</a:t>
            </a:r>
            <a:endParaRPr lang="en-US" sz="2175" dirty="0"/>
          </a:p>
        </p:txBody>
      </p:sp>
      <p:sp>
        <p:nvSpPr>
          <p:cNvPr id="12" name="Shape 8"/>
          <p:cNvSpPr/>
          <p:nvPr/>
        </p:nvSpPr>
        <p:spPr>
          <a:xfrm>
            <a:off x="1066800" y="5957739"/>
            <a:ext cx="16154400" cy="9525"/>
          </a:xfrm>
          <a:prstGeom prst="rect">
            <a:avLst/>
          </a:prstGeom>
          <a:solidFill>
            <a:srgbClr val="E5EAEF"/>
          </a:solidFill>
          <a:ln/>
        </p:spPr>
        <p:txBody>
          <a:bodyPr/>
          <a:lstStyle/>
          <a:p>
            <a:endParaRPr lang="es-ES"/>
          </a:p>
        </p:txBody>
      </p:sp>
      <p:sp>
        <p:nvSpPr>
          <p:cNvPr id="13" name="Text 9"/>
          <p:cNvSpPr/>
          <p:nvPr/>
        </p:nvSpPr>
        <p:spPr>
          <a:xfrm>
            <a:off x="1066800" y="6157764"/>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C73F00"/>
                </a:solidFill>
                <a:latin typeface="JetBrains Mono" pitchFamily="34" charset="0"/>
                <a:ea typeface="JetBrains Mono" pitchFamily="34" charset="-122"/>
                <a:cs typeface="JetBrains Mono" pitchFamily="34" charset="-120"/>
              </a:rPr>
              <a:t>02</a:t>
            </a:r>
            <a:endParaRPr lang="en-US" sz="1425" dirty="0"/>
          </a:p>
        </p:txBody>
      </p:sp>
      <p:sp>
        <p:nvSpPr>
          <p:cNvPr id="14" name="Text 10"/>
          <p:cNvSpPr/>
          <p:nvPr/>
        </p:nvSpPr>
        <p:spPr>
          <a:xfrm>
            <a:off x="1562100" y="6100614"/>
            <a:ext cx="8196679"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¿Cuánto pagasteis por esa tecnología que hoy se usa a medias?</a:t>
            </a:r>
            <a:endParaRPr lang="en-US" sz="2175" dirty="0"/>
          </a:p>
        </p:txBody>
      </p:sp>
      <p:sp>
        <p:nvSpPr>
          <p:cNvPr id="15" name="Shape 11"/>
          <p:cNvSpPr/>
          <p:nvPr/>
        </p:nvSpPr>
        <p:spPr>
          <a:xfrm>
            <a:off x="1066800" y="6576417"/>
            <a:ext cx="16154400" cy="9525"/>
          </a:xfrm>
          <a:prstGeom prst="rect">
            <a:avLst/>
          </a:prstGeom>
          <a:solidFill>
            <a:srgbClr val="E5EAEF"/>
          </a:solidFill>
          <a:ln/>
        </p:spPr>
        <p:txBody>
          <a:bodyPr/>
          <a:lstStyle/>
          <a:p>
            <a:endParaRPr lang="es-ES"/>
          </a:p>
        </p:txBody>
      </p:sp>
      <p:sp>
        <p:nvSpPr>
          <p:cNvPr id="16" name="Text 12"/>
          <p:cNvSpPr/>
          <p:nvPr/>
        </p:nvSpPr>
        <p:spPr>
          <a:xfrm>
            <a:off x="1066800" y="6776442"/>
            <a:ext cx="361950" cy="276225"/>
          </a:xfrm>
          <a:prstGeom prst="rect">
            <a:avLst/>
          </a:prstGeom>
          <a:noFill/>
          <a:ln/>
        </p:spPr>
        <p:txBody>
          <a:bodyPr wrap="square" lIns="25400" tIns="25400" rIns="25400" bIns="25400" rtlCol="0" anchor="t">
            <a:normAutofit/>
          </a:bodyPr>
          <a:lstStyle/>
          <a:p>
            <a:pPr marL="0" indent="0" algn="l">
              <a:buNone/>
            </a:pPr>
            <a:r>
              <a:rPr lang="en-US" sz="1425" dirty="0">
                <a:solidFill>
                  <a:srgbClr val="C73F00"/>
                </a:solidFill>
                <a:latin typeface="JetBrains Mono" pitchFamily="34" charset="0"/>
                <a:ea typeface="JetBrains Mono" pitchFamily="34" charset="-122"/>
                <a:cs typeface="JetBrains Mono" pitchFamily="34" charset="-120"/>
              </a:rPr>
              <a:t>03</a:t>
            </a:r>
            <a:endParaRPr lang="en-US" sz="1425" dirty="0"/>
          </a:p>
        </p:txBody>
      </p:sp>
      <p:sp>
        <p:nvSpPr>
          <p:cNvPr id="17" name="Text 13"/>
          <p:cNvSpPr/>
          <p:nvPr/>
        </p:nvSpPr>
        <p:spPr>
          <a:xfrm>
            <a:off x="1562100" y="6719292"/>
            <a:ext cx="9460691" cy="380554"/>
          </a:xfrm>
          <a:prstGeom prst="rect">
            <a:avLst/>
          </a:prstGeom>
          <a:noFill/>
          <a:ln/>
        </p:spPr>
        <p:txBody>
          <a:bodyPr wrap="square" lIns="25400" tIns="25400" rIns="25400" bIns="25400" rtlCol="0" anchor="t">
            <a:normAutofit/>
          </a:bodyPr>
          <a:lstStyle/>
          <a:p>
            <a:pPr marL="0" indent="0" algn="l">
              <a:lnSpc>
                <a:spcPct val="102743"/>
              </a:lnSpc>
              <a:buNone/>
            </a:pPr>
            <a:r>
              <a:rPr lang="en-US" sz="2175" b="1" kern="0" spc="-22" dirty="0">
                <a:solidFill>
                  <a:srgbClr val="041C2C"/>
                </a:solidFill>
                <a:latin typeface="Barlow" pitchFamily="34" charset="0"/>
                <a:ea typeface="Barlow" pitchFamily="34" charset="-122"/>
                <a:cs typeface="Barlow" pitchFamily="34" charset="-120"/>
              </a:rPr>
              <a:t>¿Cuánto valor se queda encima de la mesa mientras la adopción no llega?</a:t>
            </a:r>
            <a:endParaRPr lang="en-US" sz="2175" dirty="0"/>
          </a:p>
        </p:txBody>
      </p:sp>
      <p:sp>
        <p:nvSpPr>
          <p:cNvPr id="18" name="Shape 14">
            <a:hlinkClick r:id="rId6" action="ppaction://hlinksldjump"/>
          </p:cNvPr>
          <p:cNvSpPr/>
          <p:nvPr/>
        </p:nvSpPr>
        <p:spPr>
          <a:xfrm>
            <a:off x="15692437" y="9182100"/>
            <a:ext cx="1528763" cy="533400"/>
          </a:xfrm>
          <a:prstGeom prst="roundRect">
            <a:avLst>
              <a:gd name="adj" fmla="val 50000"/>
            </a:avLst>
          </a:prstGeom>
          <a:solidFill>
            <a:srgbClr val="FE5000"/>
          </a:solidFill>
          <a:ln/>
          <a:effectLst>
            <a:outerShdw blurRad="247650" dist="114300" dir="5400000" algn="bl" rotWithShape="0">
              <a:srgbClr val="FE5000">
                <a:alpha val="34000"/>
              </a:srgbClr>
            </a:outerShdw>
          </a:effectLst>
        </p:spPr>
        <p:txBody>
          <a:bodyPr/>
          <a:lstStyle/>
          <a:p>
            <a:endParaRPr lang="es-ES"/>
          </a:p>
        </p:txBody>
      </p:sp>
      <p:sp>
        <p:nvSpPr>
          <p:cNvPr id="19" name="Text 15"/>
          <p:cNvSpPr/>
          <p:nvPr/>
        </p:nvSpPr>
        <p:spPr>
          <a:xfrm>
            <a:off x="15997238" y="9324975"/>
            <a:ext cx="661988" cy="285750"/>
          </a:xfrm>
          <a:prstGeom prst="rect">
            <a:avLst/>
          </a:prstGeom>
          <a:noFill/>
          <a:ln/>
        </p:spPr>
        <p:txBody>
          <a:bodyPr wrap="square" lIns="0" tIns="0" rIns="0" bIns="0" rtlCol="0" anchor="t">
            <a:normAutofit/>
          </a:bodyPr>
          <a:lstStyle/>
          <a:p>
            <a:pPr marL="0" indent="0" algn="l">
              <a:buNone/>
            </a:pPr>
            <a:r>
              <a:rPr lang="en-US" sz="1650" b="1" kern="0" spc="-16" dirty="0">
                <a:solidFill>
                  <a:srgbClr val="FFFFFF"/>
                </a:solidFill>
                <a:latin typeface="Barlow" pitchFamily="34" charset="0"/>
                <a:ea typeface="Barlow" pitchFamily="34" charset="-122"/>
                <a:cs typeface="Barlow" pitchFamily="34" charset="-120"/>
              </a:rPr>
              <a:t>Cerrar</a:t>
            </a:r>
            <a:endParaRPr lang="en-US" sz="16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687800" y="9334500"/>
            <a:ext cx="228600" cy="228600"/>
          </a:xfrm>
          <a:prstGeom prst="rect">
            <a:avLst/>
          </a:prstGeom>
        </p:spPr>
      </p:pic>
      <p:sp>
        <p:nvSpPr>
          <p:cNvPr id="21" name="Text 16"/>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2" name="Text 17"/>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6E8493"/>
                </a:solidFill>
                <a:latin typeface="JetBrains Mono" pitchFamily="34" charset="0"/>
                <a:ea typeface="JetBrains Mono" pitchFamily="34" charset="-122"/>
                <a:cs typeface="JetBrains Mono" pitchFamily="34" charset="-120"/>
              </a:rPr>
              <a:t>23 / 24</a:t>
            </a:r>
            <a:endParaRPr lang="en-US" sz="11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41C2C"/>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E5000">
                  <a:alpha val="17000"/>
                </a:srgbClr>
              </a:gs>
              <a:gs pos="50000">
                <a:srgbClr val="FE5000">
                  <a:alpha val="0"/>
                </a:srgbClr>
              </a:gs>
            </a:gsLst>
            <a:path path="circle">
              <a:fillToRect t="100000" r="100000"/>
            </a:path>
          </a:gradFill>
          <a:ln/>
        </p:spPr>
        <p:txBody>
          <a:bodyPr/>
          <a:lstStyle/>
          <a:p>
            <a:endParaRPr lang="es-ES"/>
          </a:p>
        </p:txBody>
      </p:sp>
      <p:pic>
        <p:nvPicPr>
          <p:cNvPr id="3" name="Image 0" descr="preencoded.png"/>
          <p:cNvPicPr>
            <a:picLocks noChangeAspect="1"/>
          </p:cNvPicPr>
          <p:nvPr/>
        </p:nvPicPr>
        <p:blipFill>
          <a:blip r:embed="rId3"/>
          <a:stretch>
            <a:fillRect/>
          </a:stretch>
        </p:blipFill>
        <p:spPr>
          <a:xfrm>
            <a:off x="10607129" y="0"/>
            <a:ext cx="7680871" cy="4937671"/>
          </a:xfrm>
          <a:prstGeom prst="rect">
            <a:avLst/>
          </a:prstGeom>
        </p:spPr>
      </p:pic>
      <p:pic>
        <p:nvPicPr>
          <p:cNvPr id="4" name="Image 1" descr="preencoded.png"/>
          <p:cNvPicPr>
            <a:picLocks noChangeAspect="1"/>
          </p:cNvPicPr>
          <p:nvPr/>
        </p:nvPicPr>
        <p:blipFill>
          <a:blip r:embed="rId4"/>
          <a:stretch>
            <a:fillRect/>
          </a:stretch>
        </p:blipFill>
        <p:spPr>
          <a:xfrm>
            <a:off x="16200686" y="533400"/>
            <a:ext cx="1020514" cy="285750"/>
          </a:xfrm>
          <a:prstGeom prst="rect">
            <a:avLst/>
          </a:prstGeom>
        </p:spPr>
      </p:pic>
      <p:sp>
        <p:nvSpPr>
          <p:cNvPr id="5" name="Shape 1"/>
          <p:cNvSpPr/>
          <p:nvPr/>
        </p:nvSpPr>
        <p:spPr>
          <a:xfrm>
            <a:off x="1066800" y="2854226"/>
            <a:ext cx="342900" cy="28575"/>
          </a:xfrm>
          <a:prstGeom prst="rect">
            <a:avLst/>
          </a:prstGeom>
          <a:solidFill>
            <a:srgbClr val="FE5000"/>
          </a:solidFill>
          <a:ln/>
        </p:spPr>
        <p:txBody>
          <a:bodyPr/>
          <a:lstStyle/>
          <a:p>
            <a:endParaRPr lang="es-ES"/>
          </a:p>
        </p:txBody>
      </p:sp>
      <p:sp>
        <p:nvSpPr>
          <p:cNvPr id="6" name="Text 2"/>
          <p:cNvSpPr/>
          <p:nvPr/>
        </p:nvSpPr>
        <p:spPr>
          <a:xfrm>
            <a:off x="1543050" y="2744688"/>
            <a:ext cx="922139" cy="285750"/>
          </a:xfrm>
          <a:prstGeom prst="rect">
            <a:avLst/>
          </a:prstGeom>
          <a:noFill/>
          <a:ln/>
        </p:spPr>
        <p:txBody>
          <a:bodyPr wrap="square" lIns="25400" tIns="25400" rIns="25400" bIns="25400" rtlCol="0" anchor="t">
            <a:normAutofit fontScale="92500"/>
          </a:bodyPr>
          <a:lstStyle/>
          <a:p>
            <a:pPr marL="0" indent="0" algn="l">
              <a:buNone/>
            </a:pPr>
            <a:r>
              <a:rPr lang="en-US" sz="1500" kern="0" spc="210" dirty="0">
                <a:solidFill>
                  <a:srgbClr val="FE5000"/>
                </a:solidFill>
                <a:latin typeface="JetBrains Mono" pitchFamily="34" charset="0"/>
                <a:ea typeface="JetBrains Mono" pitchFamily="34" charset="-122"/>
                <a:cs typeface="JetBrains Mono" pitchFamily="34" charset="-120"/>
              </a:rPr>
              <a:t>CIERRE</a:t>
            </a:r>
            <a:endParaRPr lang="en-US" sz="1500" dirty="0"/>
          </a:p>
        </p:txBody>
      </p:sp>
      <p:sp>
        <p:nvSpPr>
          <p:cNvPr id="7" name="Text 3"/>
          <p:cNvSpPr/>
          <p:nvPr/>
        </p:nvSpPr>
        <p:spPr>
          <a:xfrm>
            <a:off x="1066800" y="3201888"/>
            <a:ext cx="8963040" cy="1744861"/>
          </a:xfrm>
          <a:prstGeom prst="rect">
            <a:avLst/>
          </a:prstGeom>
          <a:noFill/>
          <a:ln/>
        </p:spPr>
        <p:txBody>
          <a:bodyPr wrap="square" lIns="25400" tIns="25400" rIns="25400" bIns="25400" rtlCol="0" anchor="t">
            <a:normAutofit lnSpcReduction="10000"/>
          </a:bodyPr>
          <a:lstStyle/>
          <a:p>
            <a:pPr marL="0" indent="0" algn="l">
              <a:lnSpc>
                <a:spcPct val="93333"/>
              </a:lnSpc>
              <a:buNone/>
            </a:pPr>
            <a:r>
              <a:rPr lang="en-US" sz="6000" b="1" kern="0" spc="-120" dirty="0">
                <a:solidFill>
                  <a:srgbClr val="FFFFFF"/>
                </a:solidFill>
                <a:latin typeface="Barlow" pitchFamily="34" charset="0"/>
                <a:ea typeface="Barlow" pitchFamily="34" charset="-122"/>
                <a:cs typeface="Barlow" pitchFamily="34" charset="-120"/>
              </a:rPr>
              <a:t>De tecnología implantada a </a:t>
            </a:r>
            <a:r>
              <a:rPr lang="en-US" sz="6000" b="1" kern="0" spc="-120" dirty="0">
                <a:solidFill>
                  <a:srgbClr val="FE5000"/>
                </a:solidFill>
                <a:latin typeface="Barlow" pitchFamily="34" charset="0"/>
                <a:ea typeface="Barlow" pitchFamily="34" charset="-122"/>
                <a:cs typeface="Barlow" pitchFamily="34" charset="-120"/>
              </a:rPr>
              <a:t>resultados.</a:t>
            </a:r>
            <a:endParaRPr lang="en-US" sz="6000" dirty="0"/>
          </a:p>
        </p:txBody>
      </p:sp>
      <p:sp>
        <p:nvSpPr>
          <p:cNvPr id="8" name="Text 4"/>
          <p:cNvSpPr/>
          <p:nvPr/>
        </p:nvSpPr>
        <p:spPr>
          <a:xfrm>
            <a:off x="1066800" y="5194399"/>
            <a:ext cx="8162851" cy="728663"/>
          </a:xfrm>
          <a:prstGeom prst="rect">
            <a:avLst/>
          </a:prstGeom>
          <a:noFill/>
          <a:ln/>
        </p:spPr>
        <p:txBody>
          <a:bodyPr wrap="square" lIns="25400" tIns="25400" rIns="25400" bIns="25400" rtlCol="0" anchor="t">
            <a:normAutofit/>
          </a:bodyPr>
          <a:lstStyle/>
          <a:p>
            <a:pPr marL="0" indent="0" algn="l">
              <a:lnSpc>
                <a:spcPct val="120833"/>
              </a:lnSpc>
              <a:buNone/>
            </a:pPr>
            <a:r>
              <a:rPr lang="en-US" sz="1875" dirty="0">
                <a:solidFill>
                  <a:srgbClr val="FFFFFF">
                    <a:alpha val="85000"/>
                  </a:srgbClr>
                </a:solidFill>
                <a:latin typeface="Roboto" pitchFamily="34" charset="0"/>
                <a:ea typeface="Roboto" pitchFamily="34" charset="-122"/>
                <a:cs typeface="Roboto" pitchFamily="34" charset="-120"/>
              </a:rPr>
              <a:t>No entregamos solo tecnología. Dejamos montadas las condiciones para que se adopte, escale y se traduzca en resultados.</a:t>
            </a:r>
            <a:endParaRPr lang="en-US" sz="1875" dirty="0"/>
          </a:p>
        </p:txBody>
      </p:sp>
      <p:sp>
        <p:nvSpPr>
          <p:cNvPr id="9" name="Text 5"/>
          <p:cNvSpPr/>
          <p:nvPr/>
        </p:nvSpPr>
        <p:spPr>
          <a:xfrm>
            <a:off x="1066800" y="6557516"/>
            <a:ext cx="13285470" cy="257175"/>
          </a:xfrm>
          <a:prstGeom prst="rect">
            <a:avLst/>
          </a:prstGeom>
          <a:noFill/>
          <a:ln/>
        </p:spPr>
        <p:txBody>
          <a:bodyPr wrap="square" lIns="25400" tIns="25400" rIns="25400" bIns="25400" rtlCol="0" anchor="t">
            <a:normAutofit lnSpcReduction="10000"/>
          </a:bodyPr>
          <a:lstStyle/>
          <a:p>
            <a:pPr marL="0" indent="0" algn="l">
              <a:buNone/>
            </a:pPr>
            <a:r>
              <a:rPr lang="en-US" sz="1425" b="1" kern="0" spc="285" dirty="0">
                <a:solidFill>
                  <a:srgbClr val="FFFFFF">
                    <a:alpha val="60000"/>
                  </a:srgbClr>
                </a:solidFill>
                <a:latin typeface="Barlow" pitchFamily="34" charset="0"/>
                <a:ea typeface="Barlow" pitchFamily="34" charset="-122"/>
                <a:cs typeface="Barlow" pitchFamily="34" charset="-120"/>
              </a:rPr>
              <a:t>HABLEMOS DE</a:t>
            </a:r>
            <a:endParaRPr lang="en-US" sz="1425" dirty="0"/>
          </a:p>
        </p:txBody>
      </p:sp>
      <p:sp>
        <p:nvSpPr>
          <p:cNvPr id="10" name="Text 6"/>
          <p:cNvSpPr/>
          <p:nvPr/>
        </p:nvSpPr>
        <p:spPr>
          <a:xfrm>
            <a:off x="1066800" y="6852791"/>
            <a:ext cx="13285470" cy="540990"/>
          </a:xfrm>
          <a:prstGeom prst="rect">
            <a:avLst/>
          </a:prstGeom>
          <a:noFill/>
          <a:ln/>
        </p:spPr>
        <p:txBody>
          <a:bodyPr wrap="square" lIns="25400" tIns="25400" rIns="25400" bIns="25400" rtlCol="0" anchor="t">
            <a:normAutofit lnSpcReduction="10000"/>
          </a:bodyPr>
          <a:lstStyle/>
          <a:p>
            <a:pPr marL="0" indent="0" algn="l">
              <a:lnSpc>
                <a:spcPct val="91034"/>
              </a:lnSpc>
              <a:buNone/>
            </a:pPr>
            <a:r>
              <a:rPr lang="en-US" sz="3600" b="1" dirty="0">
                <a:solidFill>
                  <a:srgbClr val="FFFFFF"/>
                </a:solidFill>
                <a:latin typeface="Barlow" pitchFamily="34" charset="0"/>
                <a:ea typeface="Barlow" pitchFamily="34" charset="-122"/>
                <a:cs typeface="Barlow" pitchFamily="34" charset="-120"/>
              </a:rPr>
              <a:t>Resultados</a:t>
            </a:r>
            <a:r>
              <a:rPr lang="en-US" sz="3600" b="1" dirty="0">
                <a:solidFill>
                  <a:srgbClr val="FE5000"/>
                </a:solidFill>
                <a:latin typeface="Barlow" pitchFamily="34" charset="0"/>
                <a:ea typeface="Barlow" pitchFamily="34" charset="-122"/>
                <a:cs typeface="Barlow" pitchFamily="34" charset="-120"/>
              </a:rPr>
              <a:t>, </a:t>
            </a:r>
            <a:r>
              <a:rPr lang="en-US" sz="3600" b="1" dirty="0">
                <a:solidFill>
                  <a:srgbClr val="FFFFFF"/>
                </a:solidFill>
                <a:latin typeface="Barlow" pitchFamily="34" charset="0"/>
                <a:ea typeface="Barlow" pitchFamily="34" charset="-122"/>
                <a:cs typeface="Barlow" pitchFamily="34" charset="-120"/>
              </a:rPr>
              <a:t>no de proyectos.</a:t>
            </a:r>
            <a:endParaRPr lang="en-US" sz="3600" dirty="0"/>
          </a:p>
        </p:txBody>
      </p:sp>
      <p:sp>
        <p:nvSpPr>
          <p:cNvPr id="11" name="Text 7"/>
          <p:cNvSpPr/>
          <p:nvPr/>
        </p:nvSpPr>
        <p:spPr>
          <a:xfrm>
            <a:off x="1066800" y="7489031"/>
            <a:ext cx="5041499" cy="624780"/>
          </a:xfrm>
          <a:prstGeom prst="rect">
            <a:avLst/>
          </a:prstGeom>
          <a:noFill/>
          <a:ln/>
        </p:spPr>
        <p:txBody>
          <a:bodyPr wrap="square" lIns="25400" tIns="25400" rIns="25400" bIns="25400" rtlCol="0" anchor="t">
            <a:normAutofit/>
          </a:bodyPr>
          <a:lstStyle/>
          <a:p>
            <a:pPr marL="0" indent="0" algn="l">
              <a:lnSpc>
                <a:spcPct val="118462"/>
              </a:lnSpc>
              <a:buNone/>
            </a:pPr>
            <a:r>
              <a:rPr lang="en-US" sz="1650" dirty="0">
                <a:solidFill>
                  <a:srgbClr val="FFFFFF">
                    <a:alpha val="60000"/>
                  </a:srgbClr>
                </a:solidFill>
                <a:latin typeface="Arial" pitchFamily="34" charset="0"/>
                <a:ea typeface="Arial" pitchFamily="34" charset="-122"/>
                <a:cs typeface="Arial" pitchFamily="34" charset="-120"/>
              </a:rPr>
              <a:t>Business Tech con método, sector y adopción — para que la transformación funcione.</a:t>
            </a:r>
            <a:endParaRPr lang="en-US" sz="1650" dirty="0"/>
          </a:p>
        </p:txBody>
      </p:sp>
      <p:sp>
        <p:nvSpPr>
          <p:cNvPr id="12" name="Shape 8"/>
          <p:cNvSpPr/>
          <p:nvPr/>
        </p:nvSpPr>
        <p:spPr>
          <a:xfrm>
            <a:off x="13601700" y="6380262"/>
            <a:ext cx="3619500" cy="781050"/>
          </a:xfrm>
          <a:prstGeom prst="roundRect">
            <a:avLst>
              <a:gd name="adj" fmla="val 14634"/>
            </a:avLst>
          </a:prstGeom>
          <a:solidFill>
            <a:srgbClr val="FFFFFF">
              <a:alpha val="5000"/>
            </a:srgbClr>
          </a:solidFill>
          <a:ln w="9525">
            <a:solidFill>
              <a:srgbClr val="FFFFFF">
                <a:alpha val="15000"/>
              </a:srgbClr>
            </a:solidFill>
            <a:prstDash val="solid"/>
          </a:ln>
        </p:spPr>
        <p:txBody>
          <a:bodyPr/>
          <a:lstStyle/>
          <a:p>
            <a:endParaRPr lang="es-ES"/>
          </a:p>
        </p:txBody>
      </p:sp>
      <p:sp>
        <p:nvSpPr>
          <p:cNvPr id="13" name="Shape 9"/>
          <p:cNvSpPr/>
          <p:nvPr/>
        </p:nvSpPr>
        <p:spPr>
          <a:xfrm>
            <a:off x="13820775" y="6561237"/>
            <a:ext cx="419100" cy="419100"/>
          </a:xfrm>
          <a:prstGeom prst="ellipse">
            <a:avLst/>
          </a:prstGeom>
          <a:solidFill>
            <a:srgbClr val="FE5000">
              <a:alpha val="15000"/>
            </a:srgbClr>
          </a:solidFill>
          <a:ln/>
        </p:spPr>
        <p:txBody>
          <a:bodyPr/>
          <a:lstStyle/>
          <a:p>
            <a:endParaRPr lang="es-E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25550" y="6666012"/>
            <a:ext cx="209550" cy="209550"/>
          </a:xfrm>
          <a:prstGeom prst="rect">
            <a:avLst/>
          </a:prstGeom>
        </p:spPr>
      </p:pic>
      <p:sp>
        <p:nvSpPr>
          <p:cNvPr id="15" name="Text 10"/>
          <p:cNvSpPr/>
          <p:nvPr/>
        </p:nvSpPr>
        <p:spPr>
          <a:xfrm>
            <a:off x="14411325" y="6632674"/>
            <a:ext cx="2563222"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Barlow" pitchFamily="34" charset="0"/>
                <a:ea typeface="Barlow" pitchFamily="34" charset="-122"/>
                <a:cs typeface="Barlow" pitchFamily="34" charset="-120"/>
              </a:rPr>
              <a:t>contacto@entelgy.com</a:t>
            </a:r>
            <a:endParaRPr lang="en-US" sz="1800" dirty="0"/>
          </a:p>
        </p:txBody>
      </p:sp>
      <p:sp>
        <p:nvSpPr>
          <p:cNvPr id="16" name="Shape 11"/>
          <p:cNvSpPr/>
          <p:nvPr/>
        </p:nvSpPr>
        <p:spPr>
          <a:xfrm>
            <a:off x="13601700" y="7294662"/>
            <a:ext cx="3619500" cy="781050"/>
          </a:xfrm>
          <a:prstGeom prst="roundRect">
            <a:avLst>
              <a:gd name="adj" fmla="val 14634"/>
            </a:avLst>
          </a:prstGeom>
          <a:solidFill>
            <a:srgbClr val="FFFFFF">
              <a:alpha val="5000"/>
            </a:srgbClr>
          </a:solidFill>
          <a:ln w="9525">
            <a:solidFill>
              <a:srgbClr val="FFFFFF">
                <a:alpha val="15000"/>
              </a:srgbClr>
            </a:solidFill>
            <a:prstDash val="solid"/>
          </a:ln>
        </p:spPr>
        <p:txBody>
          <a:bodyPr/>
          <a:lstStyle/>
          <a:p>
            <a:endParaRPr lang="es-ES"/>
          </a:p>
        </p:txBody>
      </p:sp>
      <p:sp>
        <p:nvSpPr>
          <p:cNvPr id="17" name="Shape 12"/>
          <p:cNvSpPr/>
          <p:nvPr/>
        </p:nvSpPr>
        <p:spPr>
          <a:xfrm>
            <a:off x="13820775" y="7475637"/>
            <a:ext cx="419100" cy="419100"/>
          </a:xfrm>
          <a:prstGeom prst="ellipse">
            <a:avLst/>
          </a:prstGeom>
          <a:solidFill>
            <a:srgbClr val="855AC6">
              <a:alpha val="20000"/>
            </a:srgbClr>
          </a:solidFill>
          <a:ln/>
        </p:spPr>
        <p:txBody>
          <a:bodyPr/>
          <a:lstStyle/>
          <a:p>
            <a:endParaRPr lang="es-ES"/>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925550" y="7580412"/>
            <a:ext cx="209550" cy="209550"/>
          </a:xfrm>
          <a:prstGeom prst="rect">
            <a:avLst/>
          </a:prstGeom>
        </p:spPr>
      </p:pic>
      <p:sp>
        <p:nvSpPr>
          <p:cNvPr id="19" name="Text 13"/>
          <p:cNvSpPr/>
          <p:nvPr/>
        </p:nvSpPr>
        <p:spPr>
          <a:xfrm>
            <a:off x="14411325" y="7547074"/>
            <a:ext cx="1692444"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Barlow" pitchFamily="34" charset="0"/>
                <a:ea typeface="Barlow" pitchFamily="34" charset="-122"/>
                <a:cs typeface="Barlow" pitchFamily="34" charset="-120"/>
              </a:rPr>
              <a:t>+34 612 865 787</a:t>
            </a:r>
            <a:endParaRPr lang="en-US" sz="1800" dirty="0"/>
          </a:p>
        </p:txBody>
      </p:sp>
      <p:sp>
        <p:nvSpPr>
          <p:cNvPr id="20" name="Text 14"/>
          <p:cNvSpPr/>
          <p:nvPr/>
        </p:nvSpPr>
        <p:spPr>
          <a:xfrm>
            <a:off x="1066800" y="9906000"/>
            <a:ext cx="4168080"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FFFFFF">
                    <a:alpha val="42000"/>
                  </a:srgbClr>
                </a:solidFill>
                <a:latin typeface="JetBrains Mono" pitchFamily="34" charset="0"/>
                <a:ea typeface="JetBrains Mono" pitchFamily="34" charset="-122"/>
                <a:cs typeface="JetBrains Mono" pitchFamily="34" charset="-120"/>
              </a:rPr>
              <a:t>ENTELGY · PRESENTACIÓN CORPORATIVA 2026</a:t>
            </a:r>
            <a:endParaRPr lang="en-US" sz="1125" dirty="0"/>
          </a:p>
        </p:txBody>
      </p:sp>
      <p:sp>
        <p:nvSpPr>
          <p:cNvPr id="21" name="Text 15"/>
          <p:cNvSpPr/>
          <p:nvPr/>
        </p:nvSpPr>
        <p:spPr>
          <a:xfrm>
            <a:off x="16541055" y="9906000"/>
            <a:ext cx="756345" cy="228600"/>
          </a:xfrm>
          <a:prstGeom prst="rect">
            <a:avLst/>
          </a:prstGeom>
          <a:noFill/>
          <a:ln/>
        </p:spPr>
        <p:txBody>
          <a:bodyPr wrap="square" lIns="25400" tIns="25400" rIns="25400" bIns="25400" rtlCol="0" anchor="t">
            <a:normAutofit/>
          </a:bodyPr>
          <a:lstStyle/>
          <a:p>
            <a:pPr marL="0" indent="0" algn="l">
              <a:buNone/>
            </a:pPr>
            <a:r>
              <a:rPr lang="en-US" sz="1125" kern="0" spc="90" dirty="0">
                <a:solidFill>
                  <a:srgbClr val="FFFFFF">
                    <a:alpha val="42000"/>
                  </a:srgbClr>
                </a:solidFill>
                <a:latin typeface="JetBrains Mono" pitchFamily="34" charset="0"/>
                <a:ea typeface="JetBrains Mono" pitchFamily="34" charset="-122"/>
                <a:cs typeface="JetBrains Mono" pitchFamily="34" charset="-120"/>
              </a:rPr>
              <a:t>24 / 24</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7256</Words>
  <Application>Microsoft Office PowerPoint</Application>
  <PresentationFormat>Custom</PresentationFormat>
  <Paragraphs>685</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Barlow</vt:lpstr>
      <vt:lpstr>JetBrains Mono</vt:lpstr>
      <vt:lpstr>JetBrains Mono Medium</vt:lpstr>
      <vt:lpstr>Roboto</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Susana Juan</cp:lastModifiedBy>
  <cp:revision>3</cp:revision>
  <dcterms:created xsi:type="dcterms:W3CDTF">2026-07-16T08:36:52Z</dcterms:created>
  <dcterms:modified xsi:type="dcterms:W3CDTF">2026-07-16T09:00:43Z</dcterms:modified>
</cp:coreProperties>
</file>