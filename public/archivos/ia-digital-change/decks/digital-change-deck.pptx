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07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2743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3149">
                  <a:alpha val="100000"/>
                </a:srgbClr>
              </a:gs>
              <a:gs pos="36000">
                <a:srgbClr val="072639">
                  <a:alpha val="100000"/>
                </a:srgbClr>
              </a:gs>
              <a:gs pos="72000">
                <a:srgbClr val="041C2C">
                  <a:alpha val="100000"/>
                </a:srgbClr>
              </a:gs>
            </a:gsLst>
            <a:path path="circle">
              <a:fillToRect l="84000" r="16000" b="100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95300" y="419100"/>
            <a:ext cx="52983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234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GESTIÓN DEL CAMBIO · ADOPCIÓN · GOBIERNO DE LA IA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4575" y="1333500"/>
            <a:ext cx="1762125" cy="7143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5300" y="2857500"/>
            <a:ext cx="285750" cy="1905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914400" y="2781300"/>
            <a:ext cx="48210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15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OFICIO QUE HACE RENDIR LA TECNOLOGÍA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47675" y="3200400"/>
            <a:ext cx="9429750" cy="914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3636"/>
              </a:lnSpc>
              <a:buNone/>
            </a:pPr>
            <a:r>
              <a:rPr lang="en-US" sz="6900" kern="0" spc="-138" dirty="0">
                <a:solidFill>
                  <a:srgbClr val="EAF1F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Digital</a:t>
            </a:r>
            <a:r>
              <a:rPr lang="en-US" sz="6900" b="1" kern="0" spc="-13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Change</a:t>
            </a:r>
            <a:r>
              <a:rPr lang="en-US" sz="6900" b="1" kern="0" spc="-138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6900" dirty="0"/>
          </a:p>
        </p:txBody>
      </p:sp>
      <p:sp>
        <p:nvSpPr>
          <p:cNvPr id="11" name="Text 7"/>
          <p:cNvSpPr/>
          <p:nvPr/>
        </p:nvSpPr>
        <p:spPr>
          <a:xfrm>
            <a:off x="495300" y="4514850"/>
            <a:ext cx="6496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Hacemos que la tecnología llegue al negocio.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95300" y="4876800"/>
            <a:ext cx="608266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950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cambio y la adopción que hacen rendir la inversión.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0001250" y="2857500"/>
            <a:ext cx="13555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98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LOS TRES RETOS</a:t>
            </a:r>
            <a:endParaRPr lang="en-US" sz="825" dirty="0"/>
          </a:p>
        </p:txBody>
      </p:sp>
      <p:sp>
        <p:nvSpPr>
          <p:cNvPr id="14" name="Shape 10"/>
          <p:cNvSpPr/>
          <p:nvPr/>
        </p:nvSpPr>
        <p:spPr>
          <a:xfrm>
            <a:off x="9791700" y="3162300"/>
            <a:ext cx="9525" cy="200025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9744075" y="3324225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10001250" y="3238500"/>
            <a:ext cx="6546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Cultura</a:t>
            </a:r>
            <a:endParaRPr lang="en-US" sz="1425" dirty="0"/>
          </a:p>
        </p:txBody>
      </p:sp>
      <p:sp>
        <p:nvSpPr>
          <p:cNvPr id="17" name="Text 13"/>
          <p:cNvSpPr/>
          <p:nvPr/>
        </p:nvSpPr>
        <p:spPr>
          <a:xfrm>
            <a:off x="10001250" y="3495675"/>
            <a:ext cx="20792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24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 la gente use la IA, y bien</a:t>
            </a:r>
            <a:endParaRPr lang="en-US" sz="788" dirty="0"/>
          </a:p>
        </p:txBody>
      </p:sp>
      <p:sp>
        <p:nvSpPr>
          <p:cNvPr id="18" name="Shape 14"/>
          <p:cNvSpPr/>
          <p:nvPr/>
        </p:nvSpPr>
        <p:spPr>
          <a:xfrm>
            <a:off x="10001250" y="3800475"/>
            <a:ext cx="17716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5"/>
          <p:cNvSpPr/>
          <p:nvPr/>
        </p:nvSpPr>
        <p:spPr>
          <a:xfrm>
            <a:off x="9744075" y="4010025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6"/>
          <p:cNvSpPr/>
          <p:nvPr/>
        </p:nvSpPr>
        <p:spPr>
          <a:xfrm>
            <a:off x="10001250" y="3924300"/>
            <a:ext cx="11863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Conocimiento</a:t>
            </a:r>
            <a:endParaRPr lang="en-US" sz="1425" dirty="0"/>
          </a:p>
        </p:txBody>
      </p:sp>
      <p:sp>
        <p:nvSpPr>
          <p:cNvPr id="21" name="Text 17"/>
          <p:cNvSpPr/>
          <p:nvPr/>
        </p:nvSpPr>
        <p:spPr>
          <a:xfrm>
            <a:off x="10001250" y="4181475"/>
            <a:ext cx="173271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24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 el saber no se marche</a:t>
            </a:r>
            <a:endParaRPr lang="en-US" sz="788" dirty="0"/>
          </a:p>
        </p:txBody>
      </p:sp>
      <p:sp>
        <p:nvSpPr>
          <p:cNvPr id="22" name="Shape 18"/>
          <p:cNvSpPr/>
          <p:nvPr/>
        </p:nvSpPr>
        <p:spPr>
          <a:xfrm>
            <a:off x="10001250" y="4486275"/>
            <a:ext cx="17716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19"/>
          <p:cNvSpPr/>
          <p:nvPr/>
        </p:nvSpPr>
        <p:spPr>
          <a:xfrm>
            <a:off x="9744075" y="4695825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0"/>
          <p:cNvSpPr/>
          <p:nvPr/>
        </p:nvSpPr>
        <p:spPr>
          <a:xfrm>
            <a:off x="10001250" y="4610100"/>
            <a:ext cx="79920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Gobierno</a:t>
            </a:r>
            <a:endParaRPr lang="en-US" sz="1425" dirty="0"/>
          </a:p>
        </p:txBody>
      </p:sp>
      <p:sp>
        <p:nvSpPr>
          <p:cNvPr id="25" name="Text 21"/>
          <p:cNvSpPr/>
          <p:nvPr/>
        </p:nvSpPr>
        <p:spPr>
          <a:xfrm>
            <a:off x="10001250" y="4867275"/>
            <a:ext cx="20100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24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 alguien responda de la IA</a:t>
            </a:r>
            <a:endParaRPr lang="en-US" sz="788" dirty="0"/>
          </a:p>
        </p:txBody>
      </p:sp>
      <p:sp>
        <p:nvSpPr>
          <p:cNvPr id="26" name="Shape 22"/>
          <p:cNvSpPr/>
          <p:nvPr/>
        </p:nvSpPr>
        <p:spPr>
          <a:xfrm>
            <a:off x="381000" y="6400800"/>
            <a:ext cx="11430000" cy="342900"/>
          </a:xfrm>
          <a:prstGeom prst="rect">
            <a:avLst/>
          </a:prstGeom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590550" y="6505575"/>
            <a:ext cx="402925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ACT · ISO 42001 | ADKAR · PROSCI · HCMBOK</a:t>
            </a:r>
            <a:endParaRPr lang="en-US" sz="825" dirty="0"/>
          </a:p>
        </p:txBody>
      </p:sp>
      <p:sp>
        <p:nvSpPr>
          <p:cNvPr id="28" name="Text 24"/>
          <p:cNvSpPr/>
          <p:nvPr/>
        </p:nvSpPr>
        <p:spPr>
          <a:xfrm>
            <a:off x="10092630" y="6505575"/>
            <a:ext cx="165970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99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JULIO 2026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041C2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1257300"/>
            <a:ext cx="28195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CUENTA DE RESULTADOS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76250" y="1581150"/>
            <a:ext cx="6082665" cy="1127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258"/>
              </a:lnSpc>
              <a:buNone/>
            </a:pPr>
            <a:r>
              <a:rPr lang="en-US" sz="3900" b="1" kern="0" spc="-5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Compras la tecnología. El resultado no llega.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7935218" y="1143000"/>
            <a:ext cx="4095720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22500" b="1" kern="0" spc="-67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5%</a:t>
            </a:r>
            <a:endParaRPr lang="en-US" sz="22500" dirty="0"/>
          </a:p>
        </p:txBody>
      </p:sp>
      <p:sp>
        <p:nvSpPr>
          <p:cNvPr id="9" name="Text 6"/>
          <p:cNvSpPr/>
          <p:nvPr/>
        </p:nvSpPr>
        <p:spPr>
          <a:xfrm>
            <a:off x="6971348" y="4305300"/>
            <a:ext cx="4611052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2222"/>
              </a:lnSpc>
              <a:buNone/>
            </a:pPr>
            <a:r>
              <a:rPr lang="en-US" sz="165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los pilotos de IA generativa llega a producción con impacto real. El otro 95% es presupuesto que no vuelve.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95300" y="3543300"/>
            <a:ext cx="1131838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450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78%</a:t>
            </a:r>
            <a:endParaRPr lang="en-US" sz="4500" dirty="0"/>
          </a:p>
        </p:txBody>
      </p:sp>
      <p:sp>
        <p:nvSpPr>
          <p:cNvPr id="11" name="Text 8"/>
          <p:cNvSpPr/>
          <p:nvPr/>
        </p:nvSpPr>
        <p:spPr>
          <a:xfrm>
            <a:off x="1771650" y="3695700"/>
            <a:ext cx="3237548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350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las empresas ya usa IA en alguna función. El gasto está hecho; el valor, no.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5300" y="4476750"/>
            <a:ext cx="18394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98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PREGUNTA DEL CFO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95300" y="4686300"/>
            <a:ext cx="529780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813"/>
              </a:lnSpc>
              <a:buNone/>
            </a:pPr>
            <a:r>
              <a:rPr lang="en-US" sz="1950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Steinway de 250.000 € no te hace pianista. ¿Cuánto de lo que ya pagas se está usando?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495300" y="5810250"/>
            <a:ext cx="11201400" cy="133350"/>
          </a:xfrm>
          <a:prstGeom prst="roundRect">
            <a:avLst>
              <a:gd name="adj" fmla="val 14286"/>
            </a:avLst>
          </a:prstGeom>
          <a:solidFill>
            <a:srgbClr val="DBE2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95300" y="5810250"/>
            <a:ext cx="560040" cy="133350"/>
          </a:xfrm>
          <a:prstGeom prst="roundRect">
            <a:avLst>
              <a:gd name="adj" fmla="val 14286"/>
            </a:avLst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95300" y="6019800"/>
            <a:ext cx="11659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5% en producción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0675144" y="6019800"/>
            <a:ext cx="10977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95% sin retorno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95300" y="6343650"/>
            <a:ext cx="457670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32" dirty="0">
                <a:solidFill>
                  <a:srgbClr val="84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McKinsey · The State of AI · 2025 · MIT · The GenAI Divide · 2025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4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11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3049">
                  <a:alpha val="100000"/>
                </a:srgbClr>
              </a:gs>
              <a:gs pos="40000">
                <a:srgbClr val="072639">
                  <a:alpha val="100000"/>
                </a:srgbClr>
              </a:gs>
              <a:gs pos="74000">
                <a:srgbClr val="041C2C">
                  <a:alpha val="100000"/>
                </a:srgbClr>
              </a:gs>
            </a:gsLst>
            <a:path path="circle">
              <a:fillToRect l="90000" t="100000" r="10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876300"/>
            <a:ext cx="17163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7CAA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DIAGNÓSTICO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76250" y="1143000"/>
            <a:ext cx="10477500" cy="470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720"/>
              </a:lnSpc>
              <a:buNone/>
            </a:pPr>
            <a:r>
              <a:rPr lang="en-US" sz="3150" b="1" kern="0" spc="-47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Hay cuatro formas de tirar el dinero en tecnología.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143250" y="1866900"/>
            <a:ext cx="10443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98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 ARRANCAR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7620000" y="1866900"/>
            <a:ext cx="10443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98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 SOSTENER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2762250"/>
            <a:ext cx="1123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PERSONAS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4476750"/>
            <a:ext cx="11239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PROCESOS</a:t>
            </a:r>
            <a:endParaRPr lang="en-US" sz="825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4950" y="2133600"/>
            <a:ext cx="7810500" cy="33528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504950" y="2133600"/>
            <a:ext cx="3848100" cy="1485900"/>
          </a:xfrm>
          <a:prstGeom prst="rect">
            <a:avLst/>
          </a:prstGeom>
          <a:ln w="9525">
            <a:solidFill>
              <a:srgbClr val="FFFFFF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1704975" y="2314575"/>
            <a:ext cx="3792855" cy="283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Tecnología sin adopción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1704975" y="2636044"/>
            <a:ext cx="3551492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112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Compras la herramienta; la gente no la usa. La gestión del cambio multiplica por 7 el éxito.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1704975" y="3343275"/>
            <a:ext cx="30496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24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Prosci · Best Practices in Change Management</a:t>
            </a:r>
            <a:endParaRPr lang="en-US" sz="788" dirty="0"/>
          </a:p>
        </p:txBody>
      </p:sp>
      <p:sp>
        <p:nvSpPr>
          <p:cNvPr id="17" name="Shape 13"/>
          <p:cNvSpPr/>
          <p:nvPr/>
        </p:nvSpPr>
        <p:spPr>
          <a:xfrm>
            <a:off x="5467350" y="2133600"/>
            <a:ext cx="3848100" cy="1485900"/>
          </a:xfrm>
          <a:prstGeom prst="rect">
            <a:avLst/>
          </a:prstGeom>
          <a:ln w="9525">
            <a:solidFill>
              <a:srgbClr val="FFFFFF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5667375" y="2314575"/>
            <a:ext cx="3792855" cy="283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Estrategia sin ejecución</a:t>
            </a:r>
            <a:endParaRPr lang="en-US" sz="1725" dirty="0"/>
          </a:p>
        </p:txBody>
      </p:sp>
      <p:sp>
        <p:nvSpPr>
          <p:cNvPr id="19" name="Text 15"/>
          <p:cNvSpPr/>
          <p:nvPr/>
        </p:nvSpPr>
        <p:spPr>
          <a:xfrm>
            <a:off x="5667375" y="2636044"/>
            <a:ext cx="3551492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112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plan existe; nadie lo lleva al día a día. Solo una de cada tres culmina.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5667375" y="3343275"/>
            <a:ext cx="159421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24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BCG · Flipping the Odds</a:t>
            </a:r>
            <a:endParaRPr lang="en-US" sz="788" dirty="0"/>
          </a:p>
        </p:txBody>
      </p:sp>
      <p:sp>
        <p:nvSpPr>
          <p:cNvPr id="21" name="Shape 17"/>
          <p:cNvSpPr/>
          <p:nvPr/>
        </p:nvSpPr>
        <p:spPr>
          <a:xfrm>
            <a:off x="1504950" y="3810000"/>
            <a:ext cx="3848100" cy="1485900"/>
          </a:xfrm>
          <a:prstGeom prst="rect">
            <a:avLst/>
          </a:prstGeom>
          <a:ln w="9525">
            <a:solidFill>
              <a:srgbClr val="FFFFFF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/>
          <p:nvPr/>
        </p:nvSpPr>
        <p:spPr>
          <a:xfrm>
            <a:off x="1704975" y="3990975"/>
            <a:ext cx="3792855" cy="283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Automatización sin rediseño</a:t>
            </a:r>
            <a:endParaRPr lang="en-US" sz="1725" dirty="0"/>
          </a:p>
        </p:txBody>
      </p:sp>
      <p:sp>
        <p:nvSpPr>
          <p:cNvPr id="23" name="Text 19"/>
          <p:cNvSpPr/>
          <p:nvPr/>
        </p:nvSpPr>
        <p:spPr>
          <a:xfrm>
            <a:off x="1704975" y="4312444"/>
            <a:ext cx="3551492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112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Automatizas el proceso roto y lo escalas. La mitad de los programas de RPA fracasa.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1704975" y="5019675"/>
            <a:ext cx="102140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24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 · RPA Survey</a:t>
            </a:r>
            <a:endParaRPr lang="en-US" sz="788" dirty="0"/>
          </a:p>
        </p:txBody>
      </p:sp>
      <p:sp>
        <p:nvSpPr>
          <p:cNvPr id="25" name="Shape 21"/>
          <p:cNvSpPr/>
          <p:nvPr/>
        </p:nvSpPr>
        <p:spPr>
          <a:xfrm>
            <a:off x="5467350" y="3810000"/>
            <a:ext cx="3848100" cy="1485900"/>
          </a:xfrm>
          <a:prstGeom prst="rect">
            <a:avLst/>
          </a:prstGeom>
          <a:ln w="9525">
            <a:solidFill>
              <a:srgbClr val="FFFFFF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/>
          <p:nvPr/>
        </p:nvSpPr>
        <p:spPr>
          <a:xfrm>
            <a:off x="5667375" y="3990975"/>
            <a:ext cx="3792855" cy="2833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Proyecto sin operación</a:t>
            </a:r>
            <a:endParaRPr lang="en-US" sz="1725" dirty="0"/>
          </a:p>
        </p:txBody>
      </p:sp>
      <p:sp>
        <p:nvSpPr>
          <p:cNvPr id="27" name="Text 23"/>
          <p:cNvSpPr/>
          <p:nvPr/>
        </p:nvSpPr>
        <p:spPr>
          <a:xfrm>
            <a:off x="5667375" y="4312444"/>
            <a:ext cx="3551492" cy="443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33"/>
              </a:lnSpc>
              <a:buNone/>
            </a:pPr>
            <a:r>
              <a:rPr lang="en-US" sz="112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entrega y se degrada sin quien lo opere. Un tercio de IT tiene éxito sostenido.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5667375" y="5019675"/>
            <a:ext cx="201004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24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Standish Group · CHAOS Report</a:t>
            </a:r>
            <a:endParaRPr lang="en-US" sz="788" dirty="0"/>
          </a:p>
        </p:txBody>
      </p:sp>
      <p:sp>
        <p:nvSpPr>
          <p:cNvPr id="29" name="Text 25"/>
          <p:cNvSpPr/>
          <p:nvPr/>
        </p:nvSpPr>
        <p:spPr>
          <a:xfrm>
            <a:off x="495300" y="5391150"/>
            <a:ext cx="5470074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652"/>
              </a:lnSpc>
              <a:buNone/>
            </a:pPr>
            <a:r>
              <a:rPr lang="en-US" sz="142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cuatro comparten el mismo hueco: </a:t>
            </a:r>
            <a:r>
              <a:rPr lang="en-US" sz="1425" b="1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gestión del cambio.</a:t>
            </a:r>
            <a:endParaRPr lang="en-US" sz="1425" dirty="0"/>
          </a:p>
        </p:txBody>
      </p:sp>
      <p:sp>
        <p:nvSpPr>
          <p:cNvPr id="30" name="Text 26"/>
          <p:cNvSpPr/>
          <p:nvPr/>
        </p:nvSpPr>
        <p:spPr>
          <a:xfrm>
            <a:off x="495300" y="6343650"/>
            <a:ext cx="22128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DIGITAL CHANGE</a:t>
            </a:r>
            <a:endParaRPr lang="en-US" sz="825" dirty="0"/>
          </a:p>
        </p:txBody>
      </p:sp>
      <p:sp>
        <p:nvSpPr>
          <p:cNvPr id="31" name="Text 27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11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33850" cy="6858000"/>
          </a:xfrm>
          <a:prstGeom prst="rect">
            <a:avLst/>
          </a:prstGeom>
          <a:gradFill rotWithShape="1">
            <a:gsLst>
              <a:gs pos="0">
                <a:srgbClr val="0A3049">
                  <a:alpha val="100000"/>
                </a:srgbClr>
              </a:gs>
              <a:gs pos="46000">
                <a:srgbClr val="06263A">
                  <a:alpha val="100000"/>
                </a:srgbClr>
              </a:gs>
              <a:gs pos="82000">
                <a:srgbClr val="041C2C">
                  <a:alpha val="100000"/>
                </a:srgbClr>
              </a:gs>
            </a:gsLst>
            <a:path path="circle">
              <a:fillToRect l="12000" t="20000" r="88000" b="80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041C2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" y="5695950"/>
            <a:ext cx="11430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5300" y="2381250"/>
            <a:ext cx="245173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7CAA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OFICIO DE ENTELGY</a:t>
            </a:r>
            <a:endParaRPr lang="en-US" sz="975" dirty="0"/>
          </a:p>
        </p:txBody>
      </p:sp>
      <p:sp>
        <p:nvSpPr>
          <p:cNvPr id="9" name="Text 5"/>
          <p:cNvSpPr/>
          <p:nvPr/>
        </p:nvSpPr>
        <p:spPr>
          <a:xfrm>
            <a:off x="457200" y="2705100"/>
            <a:ext cx="37719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582"/>
              </a:lnSpc>
              <a:buNone/>
            </a:pPr>
            <a:r>
              <a:rPr lang="en-US" sz="4200" b="1" kern="0" spc="-42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Prêt-à-porter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495300" y="3429000"/>
            <a:ext cx="236709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un traje a medida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95300" y="4514850"/>
            <a:ext cx="319830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12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qué, el cómo y buena parte del contenido, ya resueltos.</a:t>
            </a:r>
            <a:endParaRPr lang="en-US" sz="1275" dirty="0"/>
          </a:p>
        </p:txBody>
      </p:sp>
      <p:sp>
        <p:nvSpPr>
          <p:cNvPr id="12" name="Text 8"/>
          <p:cNvSpPr/>
          <p:nvPr/>
        </p:nvSpPr>
        <p:spPr>
          <a:xfrm>
            <a:off x="4705350" y="1257300"/>
            <a:ext cx="35551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 QUE CAMBIA PARA TU NEGOCIO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4686300" y="1581150"/>
            <a:ext cx="6926390" cy="841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864"/>
              </a:lnSpc>
              <a:buNone/>
            </a:pPr>
            <a:r>
              <a:rPr lang="en-US" sz="2775" b="1" kern="0" spc="-42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Aceleras porque no empiezas de cero. Y rinde el presupuesto que ya has gastado.</a:t>
            </a:r>
            <a:endParaRPr lang="en-US" sz="2775" dirty="0"/>
          </a:p>
        </p:txBody>
      </p:sp>
      <p:sp>
        <p:nvSpPr>
          <p:cNvPr id="14" name="Text 10"/>
          <p:cNvSpPr/>
          <p:nvPr/>
        </p:nvSpPr>
        <p:spPr>
          <a:xfrm>
            <a:off x="4705350" y="3067050"/>
            <a:ext cx="6867525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463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Gestionar el cambio es un oficio que cualquier consultora hace a medida, y algunas muy bien. Nosotros lo tenemos productizado: soluciones con el método y el contenido dentro, que suben el porcentaje de éxito y aprovechan lo ya invertido.</a:t>
            </a:r>
            <a:endParaRPr lang="en-US" sz="1463" dirty="0"/>
          </a:p>
        </p:txBody>
      </p:sp>
      <p:sp>
        <p:nvSpPr>
          <p:cNvPr id="15" name="Text 11"/>
          <p:cNvSpPr/>
          <p:nvPr/>
        </p:nvSpPr>
        <p:spPr>
          <a:xfrm>
            <a:off x="4705350" y="4305300"/>
            <a:ext cx="135552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98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DIFERENCIAL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4686300" y="4514850"/>
            <a:ext cx="297511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activos, no las horas.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4705350" y="4953000"/>
            <a:ext cx="6867525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875"/>
              </a:lnSpc>
              <a:buNone/>
            </a:pPr>
            <a:r>
              <a:rPr lang="en-US" sz="1463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serie tipo Netflix para adoptar la IA con criterio, sobre un método certificado. Producirlo lleva años; tú puedes tenerla mañana.</a:t>
            </a:r>
            <a:endParaRPr lang="en-US" sz="1463" dirty="0"/>
          </a:p>
        </p:txBody>
      </p:sp>
      <p:sp>
        <p:nvSpPr>
          <p:cNvPr id="18" name="Text 14"/>
          <p:cNvSpPr/>
          <p:nvPr/>
        </p:nvSpPr>
        <p:spPr>
          <a:xfrm>
            <a:off x="495300" y="6343650"/>
            <a:ext cx="22128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DIGITAL CHANGE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4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11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3049">
                  <a:alpha val="100000"/>
                </a:srgbClr>
              </a:gs>
              <a:gs pos="44000">
                <a:srgbClr val="072639">
                  <a:alpha val="100000"/>
                </a:srgbClr>
              </a:gs>
              <a:gs pos="78000">
                <a:srgbClr val="041C2C">
                  <a:alpha val="100000"/>
                </a:srgbClr>
              </a:gs>
            </a:gsLst>
            <a:path path="circle">
              <a:fillToRect l="22000" t="40000" r="78000" b="60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876300"/>
            <a:ext cx="14711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7CAA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RECORRIDO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76250" y="1143000"/>
            <a:ext cx="10477500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400"/>
              </a:lnSpc>
              <a:buNone/>
            </a:pPr>
            <a:r>
              <a:rPr lang="en-US" sz="3150" b="1" kern="0" spc="-47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cada reto, una solución que ya existe.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1114425" y="3048000"/>
            <a:ext cx="19050" cy="2514600"/>
          </a:xfrm>
          <a:prstGeom prst="rect">
            <a:avLst/>
          </a:prstGeom>
          <a:gradFill rotWithShape="1">
            <a:gsLst>
              <a:gs pos="0">
                <a:srgbClr val="FE5000">
                  <a:alpha val="25000"/>
                </a:srgbClr>
              </a:gs>
              <a:gs pos="50000">
                <a:srgbClr val="FE5000">
                  <a:alpha val="100000"/>
                </a:srgbClr>
              </a:gs>
              <a:gs pos="100000">
                <a:srgbClr val="FE5000">
                  <a:alpha val="25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1057275" y="2971800"/>
            <a:ext cx="133350" cy="133350"/>
          </a:xfrm>
          <a:prstGeom prst="ellipse">
            <a:avLst/>
          </a:prstGeom>
          <a:solidFill>
            <a:srgbClr val="7CAAD6"/>
          </a:solidFill>
          <a:ln/>
          <a:effectLst>
            <a:outerShdw blurRad="101600" dist="50800" dir="16200000" algn="bl" rotWithShape="0">
              <a:srgbClr val="041C2C">
                <a:alpha val="9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057275" y="4229100"/>
            <a:ext cx="133350" cy="133350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041C2C">
                <a:alpha val="9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1057275" y="5486400"/>
            <a:ext cx="133350" cy="133350"/>
          </a:xfrm>
          <a:prstGeom prst="ellipse">
            <a:avLst/>
          </a:prstGeom>
          <a:solidFill>
            <a:srgbClr val="855AC6"/>
          </a:solidFill>
          <a:ln/>
          <a:effectLst>
            <a:outerShdw blurRad="101600" dist="50800" dir="16200000" algn="bl" rotWithShape="0">
              <a:srgbClr val="041C2C">
                <a:alpha val="9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428750" y="2609850"/>
            <a:ext cx="2352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113" dirty="0">
                <a:solidFill>
                  <a:srgbClr val="8095A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1771650" y="2743200"/>
            <a:ext cx="18394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RETO DE LA CULTURA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771650" y="2971800"/>
            <a:ext cx="35623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gente usa la IA a su aire.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295900" y="2781300"/>
            <a:ext cx="4572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172200" y="2800350"/>
            <a:ext cx="1015305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895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IAbility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172200" y="3105150"/>
            <a:ext cx="586740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684"/>
              </a:lnSpc>
              <a:buNone/>
            </a:pPr>
            <a:r>
              <a:rPr lang="en-US" sz="12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convierte en cultura que se usa.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28750" y="3867150"/>
            <a:ext cx="2662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113" dirty="0">
                <a:solidFill>
                  <a:srgbClr val="8095A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1771650" y="4000500"/>
            <a:ext cx="210221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RETO DEL CONOCIMIENTO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1771650" y="4229100"/>
            <a:ext cx="35623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saber crítico se jubila.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295900" y="4038600"/>
            <a:ext cx="4572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172200" y="4057650"/>
            <a:ext cx="1453589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895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PreservIA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172200" y="4362450"/>
            <a:ext cx="586740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684"/>
              </a:lnSpc>
              <a:buNone/>
            </a:pPr>
            <a:r>
              <a:rPr lang="en-US" sz="12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captura antes de que salga por la puerta.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28750" y="5124450"/>
            <a:ext cx="26342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113" dirty="0">
                <a:solidFill>
                  <a:srgbClr val="8095A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1771650" y="5257800"/>
            <a:ext cx="175187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32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RETO DEL GOBIERNO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1771650" y="5486400"/>
            <a:ext cx="35623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IA se dispersa y nadie responde.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295900" y="5295900"/>
            <a:ext cx="4572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→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6172200" y="5200650"/>
            <a:ext cx="1047006" cy="34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5895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OGH-IA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6172200" y="5524500"/>
            <a:ext cx="264393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7" dirty="0">
                <a:solidFill>
                  <a:srgbClr val="57B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Oficina de Gobernanza Humana de la IA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6172200" y="5734050"/>
            <a:ext cx="586740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684"/>
              </a:lnSpc>
              <a:buNone/>
            </a:pPr>
            <a:r>
              <a:rPr lang="en-US" sz="12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Decide qué avanza y qué se frena.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5300" y="6343650"/>
            <a:ext cx="22128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DIGITAL CHANGE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11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3049">
                  <a:alpha val="100000"/>
                </a:srgbClr>
              </a:gs>
              <a:gs pos="40000">
                <a:srgbClr val="072639">
                  <a:alpha val="100000"/>
                </a:srgbClr>
              </a:gs>
              <a:gs pos="74000">
                <a:srgbClr val="041C2C">
                  <a:alpha val="100000"/>
                </a:srgbClr>
              </a:gs>
            </a:gsLst>
            <a:path path="circle">
              <a:fillToRect l="88000" t="8000" r="12000" b="92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876300"/>
            <a:ext cx="39159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7CAA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RETO DE LA CULTURA → IABILITY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76250" y="1143000"/>
            <a:ext cx="6278880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22"/>
              </a:lnSpc>
              <a:buNone/>
            </a:pPr>
            <a:r>
              <a:rPr lang="en-US" sz="2850" b="1" kern="0" spc="-43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gente ya usa IA. A su aire, y sin tocar las licencias que pagas.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495300" y="2857500"/>
            <a:ext cx="17957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PUNTO DE PARTIDA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95300" y="3067050"/>
            <a:ext cx="58864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13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de la mitad de los empleados oculta que usa IA en el trabajo, y la mayoría trae la suya, fuera de control.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495300" y="4114800"/>
            <a:ext cx="58864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12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IAbility lo convierte en cultura de IA: método de lluvia fina (10 minutos a la semana), narrativa inmersiva y labs que sacan prototipos en días. No un curso.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495300" y="4953000"/>
            <a:ext cx="6286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25" dirty="0">
                <a:solidFill>
                  <a:srgbClr val="6F85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WEF · Future of Jobs: la IA cambiará el 23% de los empleos en 5 años.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95300" y="5391150"/>
            <a:ext cx="628650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809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de paso cubre el </a:t>
            </a:r>
            <a:r>
              <a:rPr lang="en-US" sz="1125" b="1" dirty="0">
                <a:solidFill>
                  <a:srgbClr val="57BE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artículo 4 del AI Act</a:t>
            </a:r>
            <a:r>
              <a:rPr lang="en-US" sz="1125" dirty="0">
                <a:solidFill>
                  <a:srgbClr val="809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hasta 35 M€ o el 7% de la facturación.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6724650" y="1866900"/>
            <a:ext cx="3321204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en-US" sz="13500" b="1" kern="0" spc="-40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75%</a:t>
            </a:r>
            <a:endParaRPr lang="en-US" sz="13500" dirty="0"/>
          </a:p>
        </p:txBody>
      </p:sp>
      <p:sp>
        <p:nvSpPr>
          <p:cNvPr id="14" name="Text 11"/>
          <p:cNvSpPr/>
          <p:nvPr/>
        </p:nvSpPr>
        <p:spPr>
          <a:xfrm>
            <a:off x="6762750" y="3733800"/>
            <a:ext cx="4905375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35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uso de las licencias que ya pagas tras IAbility, desde el 15-20% de partida.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762750" y="4476750"/>
            <a:ext cx="109492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857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73%</a:t>
            </a:r>
            <a:endParaRPr lang="en-US" sz="4350" dirty="0"/>
          </a:p>
        </p:txBody>
      </p:sp>
      <p:sp>
        <p:nvSpPr>
          <p:cNvPr id="16" name="Text 13"/>
          <p:cNvSpPr/>
          <p:nvPr/>
        </p:nvSpPr>
        <p:spPr>
          <a:xfrm>
            <a:off x="6762750" y="5143500"/>
            <a:ext cx="207645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809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retención al uso, frente al 10-20% del microaprendizaje suelto.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144000" y="4476750"/>
            <a:ext cx="180245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857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150→9</a:t>
            </a:r>
            <a:endParaRPr lang="en-US" sz="4350" dirty="0"/>
          </a:p>
        </p:txBody>
      </p:sp>
      <p:sp>
        <p:nvSpPr>
          <p:cNvPr id="18" name="Text 15"/>
          <p:cNvSpPr/>
          <p:nvPr/>
        </p:nvSpPr>
        <p:spPr>
          <a:xfrm>
            <a:off x="9144000" y="5143500"/>
            <a:ext cx="2457450" cy="5979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94"/>
              </a:lnSpc>
              <a:buNone/>
            </a:pPr>
            <a:r>
              <a:rPr lang="en-US" sz="1050" dirty="0">
                <a:solidFill>
                  <a:srgbClr val="809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propuestas internas y 9 prototipos en producción: Entelgy en su propia casa (2025).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5300" y="6343650"/>
            <a:ext cx="107022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32" dirty="0">
                <a:solidFill>
                  <a:srgbClr val="6F85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Ocultación y BYOAI: Microsoft · Work Trend Index · 2024 · Uso, retención y autoaplicación: datos Entelgy · 1.ª referencia: Bahía de Bizkaia Electricidad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11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543300" cy="6858000"/>
          </a:xfrm>
          <a:prstGeom prst="rect">
            <a:avLst/>
          </a:prstGeom>
          <a:gradFill rotWithShape="1">
            <a:gsLst>
              <a:gs pos="0">
                <a:srgbClr val="0A3049">
                  <a:alpha val="100000"/>
                </a:srgbClr>
              </a:gs>
              <a:gs pos="48000">
                <a:srgbClr val="06263A">
                  <a:alpha val="100000"/>
                </a:srgbClr>
              </a:gs>
              <a:gs pos="84000">
                <a:srgbClr val="041C2C">
                  <a:alpha val="100000"/>
                </a:srgbClr>
              </a:gs>
            </a:gsLst>
            <a:path path="circle">
              <a:fillToRect l="20000" t="24000" r="80000" b="76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041C2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5300" y="2381250"/>
            <a:ext cx="122039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98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FUNCIONA</a:t>
            </a:r>
            <a:endParaRPr lang="en-US" sz="825" dirty="0"/>
          </a:p>
        </p:txBody>
      </p:sp>
      <p:sp>
        <p:nvSpPr>
          <p:cNvPr id="8" name="Shape 5"/>
          <p:cNvSpPr/>
          <p:nvPr/>
        </p:nvSpPr>
        <p:spPr>
          <a:xfrm>
            <a:off x="552450" y="2743200"/>
            <a:ext cx="9525" cy="20002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504825" y="2819400"/>
            <a:ext cx="104775" cy="104775"/>
          </a:xfrm>
          <a:prstGeom prst="ellipse">
            <a:avLst/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62000" y="2743200"/>
            <a:ext cx="8140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Capturar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2000" y="2990850"/>
            <a:ext cx="188791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25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Entrevistas guiadas por IA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504825" y="3486150"/>
            <a:ext cx="104775" cy="104775"/>
          </a:xfrm>
          <a:prstGeom prst="ellipse">
            <a:avLst/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762000" y="3409950"/>
            <a:ext cx="10459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Estructurar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62000" y="3657600"/>
            <a:ext cx="167001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25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Corpus vivo y navegable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>
            <a:off x="504825" y="4152900"/>
            <a:ext cx="104775" cy="104775"/>
          </a:xfrm>
          <a:prstGeom prst="ellipse">
            <a:avLst/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762000" y="4076700"/>
            <a:ext cx="6805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Activar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2000" y="4324350"/>
            <a:ext cx="21058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25" dirty="0">
                <a:solidFill>
                  <a:srgbClr val="8EA3B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GenAI y agentes que responden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095750" y="1143000"/>
            <a:ext cx="44062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RETO DEL CONOCIMIENTO → PRESERVIA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4076700" y="1428750"/>
            <a:ext cx="7554278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22"/>
              </a:lnSpc>
              <a:buNone/>
            </a:pPr>
            <a:r>
              <a:rPr lang="en-US" sz="2850" b="1" kern="0" spc="-4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conocimiento crítico se jubila. Tu IA se queda con documentos muertos.</a:t>
            </a:r>
            <a:endParaRPr lang="en-US" sz="2850" dirty="0"/>
          </a:p>
        </p:txBody>
      </p:sp>
      <p:sp>
        <p:nvSpPr>
          <p:cNvPr id="20" name="Text 17"/>
          <p:cNvSpPr/>
          <p:nvPr/>
        </p:nvSpPr>
        <p:spPr>
          <a:xfrm>
            <a:off x="4095750" y="2914650"/>
            <a:ext cx="7456170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13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80% de lo que sabe la casa no está escrito: vive en la cabeza de los expertos, y se van —hasta un 30% de la plantilla se jubila en cinco años—. Una IA alimentada solo de documentos es cara y mediocre.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4057650" y="3848100"/>
            <a:ext cx="3219703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190"/>
              </a:lnSpc>
              <a:buNone/>
            </a:pPr>
            <a:r>
              <a:rPr lang="en-US" sz="9900" b="1" kern="0" spc="-198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−82%</a:t>
            </a:r>
            <a:endParaRPr lang="en-US" sz="9900" dirty="0"/>
          </a:p>
        </p:txBody>
      </p:sp>
      <p:sp>
        <p:nvSpPr>
          <p:cNvPr id="22" name="Text 19"/>
          <p:cNvSpPr/>
          <p:nvPr/>
        </p:nvSpPr>
        <p:spPr>
          <a:xfrm>
            <a:off x="7505700" y="4095750"/>
            <a:ext cx="3335655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636"/>
              </a:lnSpc>
              <a:buNone/>
            </a:pPr>
            <a:r>
              <a:rPr lang="en-US" sz="1350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apertura de tickets en MAPFRE, con el conocimiento tácito capturado y activo.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095750" y="5391150"/>
            <a:ext cx="7456170" cy="50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250"/>
              </a:lnSpc>
              <a:buNone/>
            </a:pPr>
            <a:r>
              <a:rPr lang="en-US" sz="12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PreservIA lo captura antes de que salga por la puerta y lo pone a trabajar. </a:t>
            </a:r>
            <a:r>
              <a:rPr lang="en-US" sz="12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 2× más rápido.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4095750" y="6343650"/>
            <a:ext cx="64777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32" dirty="0">
                <a:solidFill>
                  <a:srgbClr val="84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Datos MAPFRE · Entelgy · referencia autorizada · 80% conocimiento tácito: [fuente por fijar]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4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11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3049">
                  <a:alpha val="100000"/>
                </a:srgbClr>
              </a:gs>
              <a:gs pos="42000">
                <a:srgbClr val="072639">
                  <a:alpha val="100000"/>
                </a:srgbClr>
              </a:gs>
              <a:gs pos="76000">
                <a:srgbClr val="041C2C">
                  <a:alpha val="100000"/>
                </a:srgbClr>
              </a:gs>
            </a:gsLst>
            <a:path path="circle">
              <a:fillToRect l="16000" t="12000" r="84000" b="88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876300"/>
            <a:ext cx="354827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7CAA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RETO DEL GOBIERNO → OGH-IA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76250" y="1162050"/>
            <a:ext cx="5297805" cy="819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442"/>
              </a:lnSpc>
              <a:buNone/>
            </a:pPr>
            <a:r>
              <a:rPr lang="en-US" sz="2700" b="1" kern="0" spc="-4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78% ya usa IA. Solo el 5% pasa del piloto.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495300" y="2838450"/>
            <a:ext cx="37594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57B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OGH-IA · Oficina de Gobernanza Humana de la 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5300" y="3200400"/>
            <a:ext cx="5199698" cy="766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12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cuello de botella no es técnico: </a:t>
            </a:r>
            <a:r>
              <a:rPr lang="en-US" sz="12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falta quién gobierne </a:t>
            </a:r>
            <a:r>
              <a:rPr lang="en-US" sz="12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La "H" es de Humana: decide tu comité de dirección, no una herramienta, con autoridad para parar.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476250" y="4305300"/>
            <a:ext cx="279372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4500" b="1" kern="0" spc="-90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 M€ / 3%</a:t>
            </a:r>
            <a:endParaRPr lang="en-US" sz="4500" dirty="0"/>
          </a:p>
        </p:txBody>
      </p:sp>
      <p:sp>
        <p:nvSpPr>
          <p:cNvPr id="11" name="Text 8"/>
          <p:cNvSpPr/>
          <p:nvPr/>
        </p:nvSpPr>
        <p:spPr>
          <a:xfrm>
            <a:off x="495300" y="5048250"/>
            <a:ext cx="5448300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833"/>
              </a:lnSpc>
              <a:buNone/>
            </a:pPr>
            <a:r>
              <a:rPr lang="en-US" sz="1125" dirty="0">
                <a:solidFill>
                  <a:srgbClr val="8095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sanción del AI Act por no gobernar la IA de alto riesgo.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495300" y="5619750"/>
            <a:ext cx="3541961" cy="228600"/>
          </a:xfrm>
          <a:prstGeom prst="roundRect">
            <a:avLst>
              <a:gd name="adj" fmla="val 16667"/>
            </a:avLst>
          </a:prstGeom>
          <a:ln w="9525">
            <a:solidFill>
              <a:srgbClr val="FFFFFF">
                <a:alpha val="22000"/>
              </a:srgbClr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00075" y="5667375"/>
            <a:ext cx="343866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63" dirty="0">
                <a:solidFill>
                  <a:srgbClr val="7D6A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cliente OGH-IA · [pendiente de autorización]</a:t>
            </a:r>
            <a:endParaRPr lang="en-US" sz="788" dirty="0"/>
          </a:p>
        </p:txBody>
      </p:sp>
      <p:sp>
        <p:nvSpPr>
          <p:cNvPr id="14" name="Text 11"/>
          <p:cNvSpPr/>
          <p:nvPr/>
        </p:nvSpPr>
        <p:spPr>
          <a:xfrm>
            <a:off x="495300" y="5962650"/>
            <a:ext cx="54155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938" dirty="0">
                <a:solidFill>
                  <a:srgbClr val="6F859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Adopción: McKinsey · State of AI · 2025 · Paso a producción: MIT · GenAI Divide · 2025. Entelgy lo aplica en su propia casa: comité de gobernanza constituido.</a:t>
            </a:r>
            <a:endParaRPr lang="en-US" sz="938" dirty="0"/>
          </a:p>
        </p:txBody>
      </p:sp>
      <p:sp>
        <p:nvSpPr>
          <p:cNvPr id="15" name="Text 12"/>
          <p:cNvSpPr/>
          <p:nvPr/>
        </p:nvSpPr>
        <p:spPr>
          <a:xfrm>
            <a:off x="6115050" y="1143000"/>
            <a:ext cx="217375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DOS PIEZAS, UNA OFICINA</a:t>
            </a:r>
            <a:endParaRPr lang="en-US" sz="825" dirty="0"/>
          </a:p>
        </p:txBody>
      </p:sp>
      <p:sp>
        <p:nvSpPr>
          <p:cNvPr id="16" name="Shape 13"/>
          <p:cNvSpPr/>
          <p:nvPr/>
        </p:nvSpPr>
        <p:spPr>
          <a:xfrm>
            <a:off x="5981700" y="1504950"/>
            <a:ext cx="9525" cy="3028950"/>
          </a:xfrm>
          <a:prstGeom prst="rect">
            <a:avLst/>
          </a:prstGeom>
          <a:solidFill>
            <a:srgbClr val="855AC6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6286500" y="1485900"/>
            <a:ext cx="5391150" cy="1162050"/>
          </a:xfrm>
          <a:prstGeom prst="roundRect">
            <a:avLst>
              <a:gd name="adj" fmla="val 737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10946011" y="1685925"/>
            <a:ext cx="5697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PIEZA 1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43675" y="1685925"/>
            <a:ext cx="5364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comité que decide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543675" y="2019300"/>
            <a:ext cx="502310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Autoridad formal para autorizar, condicionar, limitar o retirar. El cliente mantiene el mando.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6286500" y="3067050"/>
            <a:ext cx="5391150" cy="1162050"/>
          </a:xfrm>
          <a:prstGeom prst="roundRect">
            <a:avLst>
              <a:gd name="adj" fmla="val 737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10946011" y="3267075"/>
            <a:ext cx="56971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kern="0" spc="105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PIEZA 2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543675" y="3267075"/>
            <a:ext cx="53644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oficina que orquesta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6543675" y="3600450"/>
            <a:ext cx="502310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Reúne evidencias, traduce la norma y deja rastro: lo que se aprueba aguanta una auditoría.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6286500" y="4876800"/>
            <a:ext cx="525446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kern="0" spc="38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ISO/IEC 42001 · </a:t>
            </a:r>
            <a:r>
              <a:rPr lang="en-US" sz="938" kern="0" spc="38" dirty="0">
                <a:solidFill>
                  <a:srgbClr val="C8D2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Ordenar → Decidir → Escalar → </a:t>
            </a:r>
            <a:r>
              <a:rPr lang="en-US" sz="938" kern="0" spc="38" dirty="0">
                <a:solidFill>
                  <a:srgbClr val="57B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Frenar </a:t>
            </a:r>
            <a:r>
              <a:rPr lang="en-US" sz="938" kern="0" spc="38" dirty="0">
                <a:solidFill>
                  <a:srgbClr val="C8D2D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Aprender</a:t>
            </a:r>
            <a:endParaRPr lang="en-US" sz="938" dirty="0"/>
          </a:p>
        </p:txBody>
      </p:sp>
      <p:sp>
        <p:nvSpPr>
          <p:cNvPr id="26" name="Text 23"/>
          <p:cNvSpPr/>
          <p:nvPr/>
        </p:nvSpPr>
        <p:spPr>
          <a:xfrm>
            <a:off x="495300" y="6343650"/>
            <a:ext cx="22128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DIGITAL CHANGE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11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041C2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876300"/>
            <a:ext cx="15937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QUÉ AHORA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76250" y="1143000"/>
            <a:ext cx="1059561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3333"/>
              </a:lnSpc>
              <a:buNone/>
            </a:pPr>
            <a:r>
              <a:rPr lang="en-US" sz="3000" b="1" kern="0" spc="-4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Quien empieza hoy llega con 18 meses de margen. Quien espera, con semanas.</a:t>
            </a:r>
            <a:endParaRPr lang="en-US" sz="3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2381250"/>
            <a:ext cx="11049000" cy="2857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2571750"/>
            <a:ext cx="18451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18 meses de margen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09700" y="3352800"/>
            <a:ext cx="6798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FEB 2025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409700" y="3543300"/>
            <a:ext cx="2095500" cy="23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091"/>
              </a:lnSpc>
              <a:buNone/>
            </a:pPr>
            <a:r>
              <a:rPr lang="en-US" sz="13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Alfabetización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409700" y="3781425"/>
            <a:ext cx="20955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938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Artículo 4 · ya exigible</a:t>
            </a:r>
            <a:endParaRPr lang="en-US" sz="938" dirty="0"/>
          </a:p>
        </p:txBody>
      </p:sp>
      <p:sp>
        <p:nvSpPr>
          <p:cNvPr id="13" name="Text 9"/>
          <p:cNvSpPr/>
          <p:nvPr/>
        </p:nvSpPr>
        <p:spPr>
          <a:xfrm>
            <a:off x="4457700" y="3352800"/>
            <a:ext cx="6798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AGO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457700" y="3543300"/>
            <a:ext cx="1571625" cy="23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091"/>
              </a:lnSpc>
              <a:buNone/>
            </a:pPr>
            <a:r>
              <a:rPr lang="en-US" sz="13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Transparencia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457700" y="3781425"/>
            <a:ext cx="15716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938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deployers</a:t>
            </a:r>
            <a:endParaRPr lang="en-US" sz="938" dirty="0"/>
          </a:p>
        </p:txBody>
      </p:sp>
      <p:sp>
        <p:nvSpPr>
          <p:cNvPr id="16" name="Text 12"/>
          <p:cNvSpPr/>
          <p:nvPr/>
        </p:nvSpPr>
        <p:spPr>
          <a:xfrm>
            <a:off x="6210300" y="3352800"/>
            <a:ext cx="6798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 2026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210300" y="3543300"/>
            <a:ext cx="1571625" cy="23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091"/>
              </a:lnSpc>
              <a:buNone/>
            </a:pPr>
            <a:r>
              <a:rPr lang="en-US" sz="13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Watermarking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9563100" y="3352800"/>
            <a:ext cx="6798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54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 2027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9563100" y="3543300"/>
            <a:ext cx="2095500" cy="23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091"/>
              </a:lnSpc>
              <a:buNone/>
            </a:pPr>
            <a:r>
              <a:rPr lang="en-US" sz="13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Alto riesgo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563100" y="3781425"/>
            <a:ext cx="220027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938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Anexo III · aplazado desde ago 2026</a:t>
            </a:r>
            <a:endParaRPr lang="en-US" sz="938" dirty="0"/>
          </a:p>
        </p:txBody>
      </p:sp>
      <p:sp>
        <p:nvSpPr>
          <p:cNvPr id="21" name="Text 17"/>
          <p:cNvSpPr/>
          <p:nvPr/>
        </p:nvSpPr>
        <p:spPr>
          <a:xfrm>
            <a:off x="2914650" y="4705350"/>
            <a:ext cx="140824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HOY · JUL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95300" y="5962650"/>
            <a:ext cx="1204912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argumento no es la fecha. inventariar y clasificar los sistemas de IA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lleva meses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y ese trabajo no se acelera esperando.</a:t>
            </a:r>
            <a:endParaRPr lang="en-US" sz="1425" dirty="0"/>
          </a:p>
        </p:txBody>
      </p:sp>
      <p:sp>
        <p:nvSpPr>
          <p:cNvPr id="23" name="Text 19"/>
          <p:cNvSpPr/>
          <p:nvPr/>
        </p:nvSpPr>
        <p:spPr>
          <a:xfrm>
            <a:off x="495300" y="6343650"/>
            <a:ext cx="32388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88" kern="0" spc="32" dirty="0">
                <a:solidFill>
                  <a:srgbClr val="84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EU AI Act · Digital Omnibus · textos oficiales</a:t>
            </a:r>
            <a:endParaRPr lang="en-US" sz="788" dirty="0"/>
          </a:p>
        </p:txBody>
      </p:sp>
      <p:sp>
        <p:nvSpPr>
          <p:cNvPr id="24" name="Text 20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4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11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3049">
                  <a:alpha val="100000"/>
                </a:srgbClr>
              </a:gs>
              <a:gs pos="42000">
                <a:srgbClr val="072639">
                  <a:alpha val="100000"/>
                </a:srgbClr>
              </a:gs>
              <a:gs pos="76000">
                <a:srgbClr val="041C2C">
                  <a:alpha val="100000"/>
                </a:srgbClr>
              </a:gs>
            </a:gsLst>
            <a:path path="circle">
              <a:fillToRect l="80000" t="6000" r="20000" b="94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876300"/>
            <a:ext cx="183880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7CAA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QUÉ ENTELGY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76250" y="1181100"/>
            <a:ext cx="5494020" cy="928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388"/>
              </a:lnSpc>
              <a:buNone/>
            </a:pPr>
            <a:r>
              <a:rPr lang="en-US" sz="3075" b="1" kern="0" spc="-4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 que te proponemos, ya lo hemos hecho en </a:t>
            </a:r>
            <a:r>
              <a:rPr lang="en-US" sz="3075" b="1" kern="0" spc="-4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nuestra casa</a:t>
            </a:r>
            <a:r>
              <a:rPr lang="en-US" sz="3075" b="1" kern="0" spc="-4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3075" dirty="0"/>
          </a:p>
        </p:txBody>
      </p:sp>
      <p:sp>
        <p:nvSpPr>
          <p:cNvPr id="8" name="Text 5"/>
          <p:cNvSpPr/>
          <p:nvPr/>
        </p:nvSpPr>
        <p:spPr>
          <a:xfrm>
            <a:off x="495300" y="3733800"/>
            <a:ext cx="529780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mercado te da una herramienta, o te vende horas que se van. Nosotros traemos </a:t>
            </a: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solución con el cambio y el gobierno dentro </a:t>
            </a:r>
            <a:r>
              <a:rPr lang="en-US" sz="15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0" y="1123950"/>
            <a:ext cx="170128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82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ESTO NO SE COPIA</a:t>
            </a:r>
            <a:endParaRPr lang="en-US" sz="825" dirty="0"/>
          </a:p>
        </p:txBody>
      </p:sp>
      <p:sp>
        <p:nvSpPr>
          <p:cNvPr id="10" name="Shape 7"/>
          <p:cNvSpPr/>
          <p:nvPr/>
        </p:nvSpPr>
        <p:spPr>
          <a:xfrm>
            <a:off x="6400800" y="1638300"/>
            <a:ext cx="104775" cy="10477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6667500" y="1562100"/>
            <a:ext cx="29512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Probado en nosotros primero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667500" y="1885950"/>
            <a:ext cx="5199698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05"/>
              </a:lnSpc>
              <a:buNone/>
            </a:pPr>
            <a:r>
              <a:rPr lang="en-US" sz="12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Comité de gobernanza propio y 150 propuestas internas, 9 ya en producción. No eres el experimento.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2743200"/>
            <a:ext cx="53149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6400800" y="3048000"/>
            <a:ext cx="104775" cy="10477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667500" y="2971800"/>
            <a:ext cx="23564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Activos que llevan años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667500" y="3295650"/>
            <a:ext cx="5199698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05"/>
              </a:lnSpc>
              <a:buNone/>
            </a:pPr>
            <a:r>
              <a:rPr lang="en-US" sz="12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serie propia para adoptar la IA, metodologías basadas en ADKAR · Prosci · HCMBOK. Llegas antes y pagas una vez.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0" y="4267200"/>
            <a:ext cx="53149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6400800" y="4572000"/>
            <a:ext cx="104775" cy="10477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667500" y="4495800"/>
            <a:ext cx="17111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Escala de verdad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667500" y="4819650"/>
            <a:ext cx="5199698" cy="479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05"/>
              </a:lnSpc>
              <a:buNone/>
            </a:pPr>
            <a:r>
              <a:rPr lang="en-US" sz="1200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32.000 personas en medio mundo, con TFWM (+140.000) como prueba de método. Lo que aguanta en piloto, aguanta en producción.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5300" y="6343650"/>
            <a:ext cx="22128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DIGITAL CHANGE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11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3149">
                  <a:alpha val="100000"/>
                </a:srgbClr>
              </a:gs>
              <a:gs pos="40000">
                <a:srgbClr val="072639">
                  <a:alpha val="100000"/>
                </a:srgbClr>
              </a:gs>
              <a:gs pos="74000">
                <a:srgbClr val="041C2C">
                  <a:alpha val="100000"/>
                </a:srgbClr>
              </a:gs>
            </a:gsLst>
            <a:path path="circle">
              <a:fillToRect l="20000" t="100000" r="80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1600200"/>
            <a:ext cx="14845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336" dirty="0">
                <a:solidFill>
                  <a:srgbClr val="7CAA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DECISIÓN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47675" y="1962150"/>
            <a:ext cx="10693717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50" b="1" kern="0" spc="-10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tecnología ya está comprada. </a:t>
            </a:r>
            <a:r>
              <a:rPr lang="en-US" sz="5250" b="1" kern="0" spc="-10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retorno, no.</a:t>
            </a:r>
            <a:endParaRPr lang="en-US" sz="5250" dirty="0"/>
          </a:p>
        </p:txBody>
      </p:sp>
      <p:sp>
        <p:nvSpPr>
          <p:cNvPr id="8" name="Text 5"/>
          <p:cNvSpPr/>
          <p:nvPr/>
        </p:nvSpPr>
        <p:spPr>
          <a:xfrm>
            <a:off x="495300" y="4267200"/>
            <a:ext cx="843724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compran las mismas herramientas. La ventaja está en </a:t>
            </a:r>
            <a:r>
              <a:rPr lang="en-US" sz="18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que tu organización hace con ellas </a:t>
            </a:r>
            <a:r>
              <a:rPr lang="en-US" sz="18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y eso no viene en la licencia.</a:t>
            </a:r>
            <a:endParaRPr lang="en-US" sz="1875" dirty="0"/>
          </a:p>
        </p:txBody>
      </p:sp>
      <p:sp>
        <p:nvSpPr>
          <p:cNvPr id="9" name="Shape 6"/>
          <p:cNvSpPr/>
          <p:nvPr/>
        </p:nvSpPr>
        <p:spPr>
          <a:xfrm>
            <a:off x="476250" y="5257800"/>
            <a:ext cx="4749552" cy="571500"/>
          </a:xfrm>
          <a:prstGeom prst="roundRect">
            <a:avLst>
              <a:gd name="adj" fmla="val 50000"/>
            </a:avLst>
          </a:prstGeom>
          <a:solidFill>
            <a:srgbClr val="FE5000">
              <a:alpha val="10000"/>
            </a:srgbClr>
          </a:solidFill>
          <a:ln w="9525">
            <a:solidFill>
              <a:srgbClr val="FE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52475" y="5410200"/>
            <a:ext cx="39305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Empieza por un diagnóstico de madurez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4701927" y="5419725"/>
            <a:ext cx="323850" cy="285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83871"/>
              </a:lnSpc>
              <a:buNone/>
            </a:pPr>
            <a:r>
              <a:rPr lang="en-US" sz="195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33400" y="5962650"/>
            <a:ext cx="859155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75" dirty="0">
                <a:solidFill>
                  <a:srgbClr val="C8D2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Arranque de 3-4 meses a precio cerrado. Decides con los resultados delante.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495300" y="6343650"/>
            <a:ext cx="31948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98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CULTURA · CONOCIMIENTO · GOBIERNO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1183243" y="6343650"/>
            <a:ext cx="58965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0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11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393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209550" y="209550"/>
            <a:ext cx="11772900" cy="6438900"/>
          </a:xfrm>
          <a:prstGeom prst="rect">
            <a:avLst/>
          </a:prstGeom>
          <a:ln w="9525">
            <a:solidFill>
              <a:srgbClr val="041C2C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7550" y="361950"/>
            <a:ext cx="838200" cy="209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5300" y="876300"/>
            <a:ext cx="171634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93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ANEXO · EQUIPO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476250" y="1143000"/>
            <a:ext cx="110013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3000" b="1" kern="0" spc="-4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equipo dedicado al cambio y la adopción.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71500" y="2362200"/>
            <a:ext cx="514350" cy="514350"/>
          </a:xfrm>
          <a:prstGeom prst="ellipse">
            <a:avLst/>
          </a:prstGeom>
          <a:solidFill>
            <a:srgbClr val="EAF1F4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52450" y="238125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AZ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1238250" y="2400300"/>
            <a:ext cx="1173212" cy="23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70"/>
              </a:lnSpc>
              <a:buNone/>
            </a:pPr>
            <a:r>
              <a:rPr lang="en-US" sz="142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Alfredo Zurdo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1238250" y="2628900"/>
            <a:ext cx="31432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013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 of Digital Change</a:t>
            </a:r>
            <a:endParaRPr lang="en-US" sz="1013" dirty="0"/>
          </a:p>
        </p:txBody>
      </p:sp>
      <p:sp>
        <p:nvSpPr>
          <p:cNvPr id="12" name="Shape 9"/>
          <p:cNvSpPr/>
          <p:nvPr/>
        </p:nvSpPr>
        <p:spPr>
          <a:xfrm>
            <a:off x="4476750" y="2362200"/>
            <a:ext cx="514350" cy="514350"/>
          </a:xfrm>
          <a:prstGeom prst="ellipse">
            <a:avLst/>
          </a:prstGeom>
          <a:solidFill>
            <a:srgbClr val="EAF1F4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457700" y="238125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5143500" y="2400300"/>
            <a:ext cx="1191964" cy="23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70"/>
              </a:lnSpc>
              <a:buNone/>
            </a:pPr>
            <a:r>
              <a:rPr lang="en-US" sz="142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Abraham Rojo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5143500" y="2628900"/>
            <a:ext cx="31432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013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BizDev &amp; Growth Lead</a:t>
            </a:r>
            <a:endParaRPr lang="en-US" sz="1013" dirty="0"/>
          </a:p>
        </p:txBody>
      </p:sp>
      <p:sp>
        <p:nvSpPr>
          <p:cNvPr id="16" name="Shape 13"/>
          <p:cNvSpPr/>
          <p:nvPr/>
        </p:nvSpPr>
        <p:spPr>
          <a:xfrm>
            <a:off x="8382000" y="2362200"/>
            <a:ext cx="514350" cy="514350"/>
          </a:xfrm>
          <a:prstGeom prst="ellipse">
            <a:avLst/>
          </a:prstGeom>
          <a:solidFill>
            <a:srgbClr val="EAF1F4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362950" y="238125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DS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9048750" y="2400300"/>
            <a:ext cx="1623194" cy="23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70"/>
              </a:lnSpc>
              <a:buNone/>
            </a:pPr>
            <a:r>
              <a:rPr lang="en-US" sz="142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Dolores Santayana</a:t>
            </a:r>
            <a:endParaRPr lang="en-US" sz="1425" dirty="0"/>
          </a:p>
        </p:txBody>
      </p:sp>
      <p:sp>
        <p:nvSpPr>
          <p:cNvPr id="19" name="Text 16"/>
          <p:cNvSpPr/>
          <p:nvPr/>
        </p:nvSpPr>
        <p:spPr>
          <a:xfrm>
            <a:off x="9048750" y="2628900"/>
            <a:ext cx="31432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013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Adoption Team Leader</a:t>
            </a:r>
            <a:endParaRPr lang="en-US" sz="1013" dirty="0"/>
          </a:p>
        </p:txBody>
      </p:sp>
      <p:sp>
        <p:nvSpPr>
          <p:cNvPr id="20" name="Shape 17"/>
          <p:cNvSpPr/>
          <p:nvPr/>
        </p:nvSpPr>
        <p:spPr>
          <a:xfrm>
            <a:off x="571500" y="3619500"/>
            <a:ext cx="514350" cy="514350"/>
          </a:xfrm>
          <a:prstGeom prst="ellipse">
            <a:avLst/>
          </a:prstGeom>
          <a:solidFill>
            <a:srgbClr val="EAF1F4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552450" y="363855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</a:t>
            </a:r>
            <a:endParaRPr lang="en-US" sz="1275" dirty="0"/>
          </a:p>
        </p:txBody>
      </p:sp>
      <p:sp>
        <p:nvSpPr>
          <p:cNvPr id="22" name="Text 19"/>
          <p:cNvSpPr/>
          <p:nvPr/>
        </p:nvSpPr>
        <p:spPr>
          <a:xfrm>
            <a:off x="1238250" y="3657600"/>
            <a:ext cx="1459647" cy="23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70"/>
              </a:lnSpc>
              <a:buNone/>
            </a:pPr>
            <a:r>
              <a:rPr lang="en-US" sz="142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Cristina Aparicio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1238250" y="3886200"/>
            <a:ext cx="31432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013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Agile Transformation Team Leader</a:t>
            </a:r>
            <a:endParaRPr lang="en-US" sz="1013" dirty="0"/>
          </a:p>
        </p:txBody>
      </p:sp>
      <p:sp>
        <p:nvSpPr>
          <p:cNvPr id="24" name="Shape 21"/>
          <p:cNvSpPr/>
          <p:nvPr/>
        </p:nvSpPr>
        <p:spPr>
          <a:xfrm>
            <a:off x="4476750" y="3619500"/>
            <a:ext cx="514350" cy="514350"/>
          </a:xfrm>
          <a:prstGeom prst="ellipse">
            <a:avLst/>
          </a:prstGeom>
          <a:solidFill>
            <a:srgbClr val="EAF1F4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4457700" y="363855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VV</a:t>
            </a:r>
            <a:endParaRPr lang="en-US" sz="1275" dirty="0"/>
          </a:p>
        </p:txBody>
      </p:sp>
      <p:sp>
        <p:nvSpPr>
          <p:cNvPr id="26" name="Text 23"/>
          <p:cNvSpPr/>
          <p:nvPr/>
        </p:nvSpPr>
        <p:spPr>
          <a:xfrm>
            <a:off x="5143500" y="3657600"/>
            <a:ext cx="1394981" cy="23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70"/>
              </a:lnSpc>
              <a:buNone/>
            </a:pPr>
            <a:r>
              <a:rPr lang="en-US" sz="142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Vanesa Vaquero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5143500" y="3886200"/>
            <a:ext cx="31432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013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Awareness Team Leader</a:t>
            </a:r>
            <a:endParaRPr lang="en-US" sz="1013" dirty="0"/>
          </a:p>
        </p:txBody>
      </p:sp>
      <p:sp>
        <p:nvSpPr>
          <p:cNvPr id="28" name="Shape 25"/>
          <p:cNvSpPr/>
          <p:nvPr/>
        </p:nvSpPr>
        <p:spPr>
          <a:xfrm>
            <a:off x="8382000" y="3619500"/>
            <a:ext cx="514350" cy="514350"/>
          </a:xfrm>
          <a:prstGeom prst="ellipse">
            <a:avLst/>
          </a:prstGeom>
          <a:solidFill>
            <a:srgbClr val="EAF1F4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8362950" y="363855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AB</a:t>
            </a:r>
            <a:endParaRPr lang="en-US" sz="1275" dirty="0"/>
          </a:p>
        </p:txBody>
      </p:sp>
      <p:sp>
        <p:nvSpPr>
          <p:cNvPr id="30" name="Text 27"/>
          <p:cNvSpPr/>
          <p:nvPr/>
        </p:nvSpPr>
        <p:spPr>
          <a:xfrm>
            <a:off x="9048750" y="3657600"/>
            <a:ext cx="1720602" cy="23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70"/>
              </a:lnSpc>
              <a:buNone/>
            </a:pPr>
            <a:r>
              <a:rPr lang="en-US" sz="142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Antonio Barco Juan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9048750" y="3886200"/>
            <a:ext cx="31432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013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Technologies Practice Leader</a:t>
            </a:r>
            <a:endParaRPr lang="en-US" sz="1013" dirty="0"/>
          </a:p>
        </p:txBody>
      </p:sp>
      <p:sp>
        <p:nvSpPr>
          <p:cNvPr id="32" name="Shape 29"/>
          <p:cNvSpPr/>
          <p:nvPr/>
        </p:nvSpPr>
        <p:spPr>
          <a:xfrm>
            <a:off x="571500" y="4876800"/>
            <a:ext cx="514350" cy="514350"/>
          </a:xfrm>
          <a:prstGeom prst="ellipse">
            <a:avLst/>
          </a:prstGeom>
          <a:solidFill>
            <a:srgbClr val="EAF1F4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552450" y="489585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MP</a:t>
            </a:r>
            <a:endParaRPr lang="en-US" sz="1275" dirty="0"/>
          </a:p>
        </p:txBody>
      </p:sp>
      <p:sp>
        <p:nvSpPr>
          <p:cNvPr id="34" name="Text 31"/>
          <p:cNvSpPr/>
          <p:nvPr/>
        </p:nvSpPr>
        <p:spPr>
          <a:xfrm>
            <a:off x="1238250" y="4914900"/>
            <a:ext cx="1132433" cy="237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870"/>
              </a:lnSpc>
              <a:buNone/>
            </a:pPr>
            <a:r>
              <a:rPr lang="en-US" sz="1425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Marta Parrilla</a:t>
            </a:r>
            <a:endParaRPr lang="en-US" sz="1425" dirty="0"/>
          </a:p>
        </p:txBody>
      </p:sp>
      <p:sp>
        <p:nvSpPr>
          <p:cNvPr id="35" name="Text 32"/>
          <p:cNvSpPr/>
          <p:nvPr/>
        </p:nvSpPr>
        <p:spPr>
          <a:xfrm>
            <a:off x="1238250" y="5143500"/>
            <a:ext cx="31432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688"/>
              </a:lnSpc>
              <a:buNone/>
            </a:pPr>
            <a:r>
              <a:rPr lang="en-US" sz="1013" dirty="0">
                <a:solidFill>
                  <a:srgbClr val="5C71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Management Practice Leader</a:t>
            </a:r>
            <a:endParaRPr lang="en-US" sz="1013" dirty="0"/>
          </a:p>
        </p:txBody>
      </p:sp>
      <p:sp>
        <p:nvSpPr>
          <p:cNvPr id="36" name="Text 33"/>
          <p:cNvSpPr/>
          <p:nvPr/>
        </p:nvSpPr>
        <p:spPr>
          <a:xfrm>
            <a:off x="4476750" y="4838700"/>
            <a:ext cx="775335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500"/>
              </a:lnSpc>
              <a:buNone/>
            </a:pPr>
            <a:r>
              <a:rPr lang="en-US" sz="12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Consultores </a:t>
            </a:r>
            <a:r>
              <a:rPr lang="en-US" sz="12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dedicados </a:t>
            </a:r>
            <a:r>
              <a:rPr lang="en-US" sz="12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la gestión del cambio y la adopción de todas las personas.</a:t>
            </a:r>
            <a:endParaRPr lang="en-US" sz="1275" dirty="0"/>
          </a:p>
        </p:txBody>
      </p:sp>
      <p:sp>
        <p:nvSpPr>
          <p:cNvPr id="37" name="Shape 34"/>
          <p:cNvSpPr/>
          <p:nvPr/>
        </p:nvSpPr>
        <p:spPr>
          <a:xfrm>
            <a:off x="495300" y="5905500"/>
            <a:ext cx="11201400" cy="9525"/>
          </a:xfrm>
          <a:prstGeom prst="rect">
            <a:avLst/>
          </a:prstGeom>
          <a:solidFill>
            <a:srgbClr val="041C2C">
              <a:alpha val="1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495300" y="6048375"/>
            <a:ext cx="1153744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kern="0" spc="52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Ecosistema de partners: </a:t>
            </a:r>
            <a:r>
              <a:rPr lang="en-US" sz="863" kern="0" spc="52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tts · iMm · Knowledge Works · Aenor | </a:t>
            </a:r>
            <a:r>
              <a:rPr lang="en-US" sz="863" b="1" kern="0" spc="52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Métodos: </a:t>
            </a:r>
            <a:r>
              <a:rPr lang="en-US" sz="863" kern="0" spc="52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Prosci · HUCMI · LeanChange · ADKAR · HCMBOK</a:t>
            </a:r>
            <a:endParaRPr lang="en-US" sz="863" dirty="0"/>
          </a:p>
        </p:txBody>
      </p:sp>
      <p:sp>
        <p:nvSpPr>
          <p:cNvPr id="39" name="Text 36"/>
          <p:cNvSpPr/>
          <p:nvPr/>
        </p:nvSpPr>
        <p:spPr>
          <a:xfrm>
            <a:off x="495300" y="6343650"/>
            <a:ext cx="22128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165" dirty="0">
                <a:solidFill>
                  <a:srgbClr val="5C71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DIGITAL CHANGE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11329988" y="6343650"/>
            <a:ext cx="44291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8497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Anexo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1541</Words>
  <Application>Microsoft Office PowerPoint</Application>
  <PresentationFormat>Widescreen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Barlow</vt:lpstr>
      <vt:lpstr>JetBrains Mono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Susana Juan</cp:lastModifiedBy>
  <cp:revision>1</cp:revision>
  <dcterms:created xsi:type="dcterms:W3CDTF">2026-07-14T12:43:16Z</dcterms:created>
  <dcterms:modified xsi:type="dcterms:W3CDTF">2026-07-14T12:49:03Z</dcterms:modified>
</cp:coreProperties>
</file>