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3716000" cy="7715250"/>
  <p:notesSz cx="771525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5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431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-4209" b="-4209"/>
          <a:stretch/>
        </p:blipFill>
        <p:spPr>
          <a:xfrm>
            <a:off x="609600" y="685800"/>
            <a:ext cx="1066800" cy="3238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71650" y="705445"/>
            <a:ext cx="9525" cy="284559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876425" y="705445"/>
            <a:ext cx="1495425" cy="3226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75" kern="0" spc="20" dirty="0">
                <a:solidFill>
                  <a:srgbClr val="FFFFFF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driven technology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621045" y="2794322"/>
            <a:ext cx="657970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49" dirty="0">
                <a:solidFill>
                  <a:srgbClr val="FE5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SERVICIOS GESTIONADOS · DWP · INFRAESTRUCTURA · IA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609600" y="2960191"/>
            <a:ext cx="6579706" cy="1160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9300" b="1" kern="0" spc="-18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SmartOPS</a:t>
            </a:r>
            <a:r>
              <a:rPr lang="en-US" sz="9300" b="1" kern="0" spc="-186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9300" dirty="0"/>
          </a:p>
        </p:txBody>
      </p:sp>
      <p:sp>
        <p:nvSpPr>
          <p:cNvPr id="7" name="Text 4"/>
          <p:cNvSpPr/>
          <p:nvPr/>
        </p:nvSpPr>
        <p:spPr>
          <a:xfrm>
            <a:off x="609600" y="4348907"/>
            <a:ext cx="5101590" cy="882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FFFFFF">
                    <a:alpha val="7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modelo operativo que convierte la tecnología que </a:t>
            </a:r>
            <a:r>
              <a:rPr lang="en-US" sz="1575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ya tienes </a:t>
            </a:r>
            <a:r>
              <a:rPr lang="en-US" sz="1425" dirty="0">
                <a:solidFill>
                  <a:srgbClr val="FFFFFF">
                    <a:alpha val="7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valor que </a:t>
            </a:r>
            <a:r>
              <a:rPr lang="en-US" sz="1575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aún no estás </a:t>
            </a:r>
            <a:r>
              <a:rPr lang="en-US" sz="1425" dirty="0">
                <a:solidFill>
                  <a:srgbClr val="FFFFFF">
                    <a:alpha val="7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capturando.</a:t>
            </a:r>
            <a:endParaRPr lang="en-US" sz="1425" dirty="0"/>
          </a:p>
        </p:txBody>
      </p:sp>
      <p:sp>
        <p:nvSpPr>
          <p:cNvPr id="8" name="Text 5"/>
          <p:cNvSpPr/>
          <p:nvPr/>
        </p:nvSpPr>
        <p:spPr>
          <a:xfrm>
            <a:off x="609600" y="6905625"/>
            <a:ext cx="189642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E5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JUNIO 2026 · ENTELGY.COM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6437263" y="6905625"/>
            <a:ext cx="23008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FFFFF">
                    <a:alpha val="4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825" dirty="0"/>
          </a:p>
        </p:txBody>
      </p:sp>
      <p:sp>
        <p:nvSpPr>
          <p:cNvPr id="10" name="Shape 7"/>
          <p:cNvSpPr/>
          <p:nvPr/>
        </p:nvSpPr>
        <p:spPr>
          <a:xfrm>
            <a:off x="7200751" y="0"/>
            <a:ext cx="6515100" cy="7715250"/>
          </a:xfrm>
          <a:prstGeom prst="rect">
            <a:avLst/>
          </a:prstGeom>
          <a:gradFill rotWithShape="1">
            <a:gsLst>
              <a:gs pos="0">
                <a:srgbClr val="041C2C">
                  <a:alpha val="100000"/>
                </a:srgbClr>
              </a:gs>
              <a:gs pos="100000">
                <a:srgbClr val="0F3553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8301" y="609600"/>
            <a:ext cx="742950" cy="7429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432703" y="1447800"/>
            <a:ext cx="79399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kern="0" spc="105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14·OCT·2025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0529292" y="1628775"/>
            <a:ext cx="60081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675" kern="0" spc="81" dirty="0">
                <a:solidFill>
                  <a:srgbClr val="FFFFFF">
                    <a:alpha val="5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WIN10 EOL</a:t>
            </a:r>
            <a:endParaRPr lang="en-US" sz="675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10801" y="609600"/>
            <a:ext cx="742950" cy="7429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381184" y="1447800"/>
            <a:ext cx="80203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kern="0" spc="105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02·AGO·2026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11504116" y="1628775"/>
            <a:ext cx="55617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675" kern="0" spc="81" dirty="0">
                <a:solidFill>
                  <a:srgbClr val="FFFFFF">
                    <a:alpha val="5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 AI ACT</a:t>
            </a:r>
            <a:endParaRPr lang="en-US" sz="675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63301" y="609600"/>
            <a:ext cx="742950" cy="7429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560647" y="1447800"/>
            <a:ext cx="34825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750" b="1" kern="0" spc="105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12376845" y="1628775"/>
            <a:ext cx="71586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675" kern="0" spc="81" dirty="0">
                <a:solidFill>
                  <a:srgbClr val="FFFFFF">
                    <a:alpha val="5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NIS2 ESPAÑA</a:t>
            </a:r>
            <a:endParaRPr lang="en-US" sz="675" dirty="0"/>
          </a:p>
        </p:txBody>
      </p:sp>
      <p:sp>
        <p:nvSpPr>
          <p:cNvPr id="20" name="Shape 14"/>
          <p:cNvSpPr/>
          <p:nvPr/>
        </p:nvSpPr>
        <p:spPr>
          <a:xfrm>
            <a:off x="7772251" y="6534150"/>
            <a:ext cx="1238250" cy="381000"/>
          </a:xfrm>
          <a:prstGeom prst="rect">
            <a:avLst/>
          </a:prstGeom>
          <a:solidFill>
            <a:srgbClr val="D9C7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5"/>
          <p:cNvSpPr/>
          <p:nvPr/>
        </p:nvSpPr>
        <p:spPr>
          <a:xfrm>
            <a:off x="9010501" y="6057900"/>
            <a:ext cx="1238250" cy="85725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6"/>
          <p:cNvSpPr/>
          <p:nvPr/>
        </p:nvSpPr>
        <p:spPr>
          <a:xfrm>
            <a:off x="10248751" y="5391150"/>
            <a:ext cx="1238250" cy="15240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48073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14878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EL MERCADO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942975"/>
            <a:ext cx="11576685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mercado no tiene un problema de tecnología. Tiene un problema de </a:t>
            </a:r>
            <a:r>
              <a:rPr lang="en-US" sz="4200" b="1" kern="0" spc="-84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valor no entregado.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486275" y="2520255"/>
            <a:ext cx="9525" cy="458539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85800" y="2520255"/>
            <a:ext cx="3929063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800" b="1" kern="0" spc="-23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95%</a:t>
            </a:r>
            <a:endParaRPr lang="en-US" sz="7800" dirty="0"/>
          </a:p>
        </p:txBody>
      </p:sp>
      <p:sp>
        <p:nvSpPr>
          <p:cNvPr id="8" name="Text 6"/>
          <p:cNvSpPr/>
          <p:nvPr/>
        </p:nvSpPr>
        <p:spPr>
          <a:xfrm>
            <a:off x="685800" y="3583186"/>
            <a:ext cx="39290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4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RETORNO CERO DE LA IA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878461"/>
            <a:ext cx="3335655" cy="702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FFFFFF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las organizaciones obtiene retorno cero de su inversión en IA. La IA prometida no llegó a producción.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85800" y="6981825"/>
            <a:ext cx="39290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kern="0" spc="79" dirty="0">
                <a:solidFill>
                  <a:srgbClr val="FFFFFF">
                    <a:alpha val="4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NANDA · STATE OF AI IN BUSINESS · 2025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8753475" y="2520255"/>
            <a:ext cx="9525" cy="458539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953000" y="2520255"/>
            <a:ext cx="3929063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800" b="1" kern="0" spc="-23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14</a:t>
            </a:r>
            <a:r>
              <a:rPr lang="en-US" sz="3510" kern="0" spc="-234" dirty="0">
                <a:solidFill>
                  <a:srgbClr val="FFFFFF">
                    <a:alpha val="6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/sem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4953000" y="3583186"/>
            <a:ext cx="392906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4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FRICCIONES POR EMPLEADO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53000" y="3878461"/>
            <a:ext cx="3335655" cy="702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FFFFFF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Experiencias digitales negativas por empleado y semana. La fricción digital es sistémica — y no aparece en el informe de SLA.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4953000" y="6981825"/>
            <a:ext cx="392906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kern="0" spc="79" dirty="0">
                <a:solidFill>
                  <a:srgbClr val="FFFFFF">
                    <a:alpha val="4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NEXTHINK · 20M ENDPOINTS · 474 EMPRESAS · 2025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9220200" y="2520255"/>
            <a:ext cx="3939540" cy="92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7800" b="1" kern="0" spc="-23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38%</a:t>
            </a:r>
            <a:endParaRPr lang="en-US" sz="7800" dirty="0"/>
          </a:p>
        </p:txBody>
      </p:sp>
      <p:sp>
        <p:nvSpPr>
          <p:cNvPr id="17" name="Text 15"/>
          <p:cNvSpPr/>
          <p:nvPr/>
        </p:nvSpPr>
        <p:spPr>
          <a:xfrm>
            <a:off x="9220200" y="3583186"/>
            <a:ext cx="39395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47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PROVEEDOR QUE NO RETA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20200" y="3878461"/>
            <a:ext cx="333565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FFFFFF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los clientes europeos dice que su proveedor IT no les reta lo suficiente.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220200" y="6981825"/>
            <a:ext cx="39395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kern="0" spc="79" dirty="0">
                <a:solidFill>
                  <a:srgbClr val="FFFFFF">
                    <a:alpha val="4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WHITELANE RESEARCH · 7.000+ RELACIONES · 2025/2026</a:t>
            </a:r>
            <a:endParaRPr lang="en-US" sz="788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FFFFFF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FFFFFF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21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65263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32956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EL TERRITORIO DEL CIO EN 2026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942975"/>
            <a:ext cx="1157668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750" b="1" kern="0" spc="-7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Cinco fuerzas convergen en 2026. </a:t>
            </a:r>
            <a:r>
              <a:rPr lang="en-US" sz="3750" b="1" kern="0" spc="-75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Ninguna es nueva, </a:t>
            </a:r>
            <a:r>
              <a:rPr lang="en-US" sz="3750" b="1" kern="0" spc="-7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pero ahora llegan todas a la vez.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685800" y="2247900"/>
            <a:ext cx="3987701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85825" y="2428875"/>
            <a:ext cx="39464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 · PRESUPUESTO CONDICIONADO A IMPACTO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885825" y="2647950"/>
            <a:ext cx="39464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+2,79%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85825" y="3086100"/>
            <a:ext cx="3946416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Incremento medio real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885825" y="3359944"/>
            <a:ext cx="369528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"El 69% sube presupuesto, pero el comité aprueba lo que se justifica en euros, no en megabytes."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85825" y="3848100"/>
            <a:ext cx="39464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FOUNDRY / GARTNER 2026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864001" y="2247900"/>
            <a:ext cx="39878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5064026" y="2428875"/>
            <a:ext cx="39465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 · PRODUCTIVIDAD SOBRE COSTE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064026" y="2647950"/>
            <a:ext cx="39465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38%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5064026" y="3086100"/>
            <a:ext cx="394658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Optimización ya no es prioridad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064026" y="3359944"/>
            <a:ext cx="3695434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"El CIO de 2026 compra menos fricción para su gente, no más eficiencia técnica."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064026" y="3848100"/>
            <a:ext cx="39465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ATOMICWORK · STATE OF AI IN IT 2026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042350" y="2247900"/>
            <a:ext cx="3987701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9242375" y="2428875"/>
            <a:ext cx="39464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 · IA CENTRAL · GOBERNANZA COMO AGUJERO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9242375" y="2647950"/>
            <a:ext cx="39464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76%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242375" y="3086100"/>
            <a:ext cx="3946416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Preocupado por IA descontrolada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9242375" y="3359944"/>
            <a:ext cx="369528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"94% aumenta inversión. 62% ha transigido en gobernanza por falta de conocimiento."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9242375" y="3848100"/>
            <a:ext cx="39464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LOGICALIS CIO REPORT 2026 · ESPAÑA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85800" y="4343400"/>
            <a:ext cx="3987701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885825" y="4524375"/>
            <a:ext cx="39464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 · TRIPLE PRESIÓN REGULATORIA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885825" y="4743450"/>
            <a:ext cx="394641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×3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85825" y="5181600"/>
            <a:ext cx="3946416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Regulaciones a la vez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885825" y="5455444"/>
            <a:ext cx="369528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"NIS2, EU AI Act (2·ago·2026) y DORA. Primera vez que se solapan así sobre el puesto de trabajo."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885825" y="5943600"/>
            <a:ext cx="394641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 · DIARIO UE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64001" y="4343400"/>
            <a:ext cx="3987850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5064026" y="4524375"/>
            <a:ext cx="39465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 · WINDOWS 10 FUERA DE SOPORTE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5064026" y="4743450"/>
            <a:ext cx="394658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kern="0" spc="-5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42,6%</a:t>
            </a:r>
            <a:endParaRPr lang="en-US" sz="2700" dirty="0"/>
          </a:p>
        </p:txBody>
      </p:sp>
      <p:sp>
        <p:nvSpPr>
          <p:cNvPr id="33" name="Text 31"/>
          <p:cNvSpPr/>
          <p:nvPr/>
        </p:nvSpPr>
        <p:spPr>
          <a:xfrm>
            <a:off x="5064026" y="5181600"/>
            <a:ext cx="394658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Puestos mundiales aún en Win10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5064026" y="5455444"/>
            <a:ext cx="3695434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75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"ESU: $61→$122→$244 por dispositivo. 5.000 dispositivos = ~2,1M$ en tres años."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5064026" y="5943600"/>
            <a:ext cx="39465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STATCOUNTER · MICROSOFT · NOV 2025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042350" y="4343400"/>
            <a:ext cx="3987701" cy="1905000"/>
          </a:xfrm>
          <a:prstGeom prst="rect">
            <a:avLst/>
          </a:prstGeom>
          <a:solidFill>
            <a:srgbClr val="F7F5F2"/>
          </a:solidFill>
          <a:ln w="9525">
            <a:solidFill>
              <a:srgbClr val="EDE3F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9242375" y="4850309"/>
            <a:ext cx="3695280" cy="9292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"El puesto de trabajo ya no es un coste de soporte: es una condición directa de productividad, retención y continuidad operativa."</a:t>
            </a:r>
            <a:endParaRPr lang="en-US" sz="135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21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96294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URGENCIA REGULATORIA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942975"/>
            <a:ext cx="1236345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Tres relojes corriendo a la vez.</a:t>
            </a:r>
            <a:endParaRPr lang="en-US" sz="4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1650" y="1769715"/>
            <a:ext cx="1714500" cy="1714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33476" y="3655665"/>
            <a:ext cx="66689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E5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RELOJ 01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2014835" y="3950940"/>
            <a:ext cx="1350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10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324100" y="4455765"/>
            <a:ext cx="60960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80085" y="4693890"/>
            <a:ext cx="389763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14·oct·2025 </a:t>
            </a:r>
            <a:r>
              <a:rPr lang="en-US" sz="1013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soporte estándar terminado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680085" y="4950023"/>
            <a:ext cx="389763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ESU: </a:t>
            </a:r>
            <a:r>
              <a:rPr lang="en-US" sz="10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$61 → $122 → $244</a:t>
            </a:r>
            <a:endParaRPr lang="en-US" sz="1013" dirty="0"/>
          </a:p>
        </p:txBody>
      </p:sp>
      <p:sp>
        <p:nvSpPr>
          <p:cNvPr id="12" name="Text 9"/>
          <p:cNvSpPr/>
          <p:nvPr/>
        </p:nvSpPr>
        <p:spPr>
          <a:xfrm>
            <a:off x="680085" y="5206157"/>
            <a:ext cx="389763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5.000 dispositivos = </a:t>
            </a:r>
            <a:r>
              <a:rPr lang="en-US" sz="10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~2,1M$ en tres años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680085" y="5462290"/>
            <a:ext cx="389763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CVE-2025-62215 con explotación activa</a:t>
            </a:r>
            <a:endParaRPr lang="en-US" sz="1013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0750" y="1769715"/>
            <a:ext cx="1714500" cy="17145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62576" y="3655665"/>
            <a:ext cx="66689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E5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RELOJ 02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6386513" y="3950940"/>
            <a:ext cx="10191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 AI Act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553200" y="4455765"/>
            <a:ext cx="60960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/>
          <p:nvPr/>
        </p:nvSpPr>
        <p:spPr>
          <a:xfrm>
            <a:off x="4909185" y="4693890"/>
            <a:ext cx="389763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2·ago·2026 </a:t>
            </a:r>
            <a:r>
              <a:rPr lang="en-US" sz="1013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entrada en vigor high-risk</a:t>
            </a:r>
            <a:endParaRPr lang="en-US" sz="1013" dirty="0"/>
          </a:p>
        </p:txBody>
      </p:sp>
      <p:sp>
        <p:nvSpPr>
          <p:cNvPr id="19" name="Text 15"/>
          <p:cNvSpPr/>
          <p:nvPr/>
        </p:nvSpPr>
        <p:spPr>
          <a:xfrm>
            <a:off x="4909185" y="4950023"/>
            <a:ext cx="389763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Multas: </a:t>
            </a:r>
            <a:r>
              <a:rPr lang="en-US" sz="10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15M€ o 3% facturación global</a:t>
            </a:r>
            <a:endParaRPr lang="en-US" sz="1013" dirty="0"/>
          </a:p>
        </p:txBody>
      </p:sp>
      <p:sp>
        <p:nvSpPr>
          <p:cNvPr id="20" name="Text 16"/>
          <p:cNvSpPr/>
          <p:nvPr/>
        </p:nvSpPr>
        <p:spPr>
          <a:xfrm>
            <a:off x="4909185" y="5206157"/>
            <a:ext cx="389763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Aplicabilidad extraterritorial</a:t>
            </a:r>
            <a:endParaRPr lang="en-US" sz="1013" dirty="0"/>
          </a:p>
        </p:txBody>
      </p:sp>
      <p:sp>
        <p:nvSpPr>
          <p:cNvPr id="21" name="Text 17"/>
          <p:cNvSpPr/>
          <p:nvPr/>
        </p:nvSpPr>
        <p:spPr>
          <a:xfrm>
            <a:off x="4909185" y="5462290"/>
            <a:ext cx="389763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Empleo · biometría · infraestructura crítica</a:t>
            </a:r>
            <a:endParaRPr lang="en-US" sz="1013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9850" y="1769715"/>
            <a:ext cx="1714500" cy="17145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791676" y="3655665"/>
            <a:ext cx="66689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FE5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RELOJ 03</a:t>
            </a:r>
            <a:endParaRPr lang="en-US" sz="825" dirty="0"/>
          </a:p>
        </p:txBody>
      </p:sp>
      <p:sp>
        <p:nvSpPr>
          <p:cNvPr id="24" name="Text 19"/>
          <p:cNvSpPr/>
          <p:nvPr/>
        </p:nvSpPr>
        <p:spPr>
          <a:xfrm>
            <a:off x="10447437" y="3950940"/>
            <a:ext cx="14070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NIS2 España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10782300" y="4455765"/>
            <a:ext cx="60960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1"/>
          <p:cNvSpPr/>
          <p:nvPr/>
        </p:nvSpPr>
        <p:spPr>
          <a:xfrm>
            <a:off x="9138285" y="4693890"/>
            <a:ext cx="389763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Transposición pendiente · inspecciones 2026</a:t>
            </a:r>
            <a:endParaRPr lang="en-US" sz="1013" dirty="0"/>
          </a:p>
        </p:txBody>
      </p:sp>
      <p:sp>
        <p:nvSpPr>
          <p:cNvPr id="27" name="Text 22"/>
          <p:cNvSpPr/>
          <p:nvPr/>
        </p:nvSpPr>
        <p:spPr>
          <a:xfrm>
            <a:off x="9138285" y="4950023"/>
            <a:ext cx="389763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Multas: </a:t>
            </a:r>
            <a:r>
              <a:rPr lang="en-US" sz="10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10M€ o 2% facturación global</a:t>
            </a:r>
            <a:endParaRPr lang="en-US" sz="1013" dirty="0"/>
          </a:p>
        </p:txBody>
      </p:sp>
      <p:sp>
        <p:nvSpPr>
          <p:cNvPr id="28" name="Text 23"/>
          <p:cNvSpPr/>
          <p:nvPr/>
        </p:nvSpPr>
        <p:spPr>
          <a:xfrm>
            <a:off x="9138285" y="5206157"/>
            <a:ext cx="389763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Inhabilitación temporal del CEO</a:t>
            </a:r>
            <a:endParaRPr lang="en-US" sz="1013" dirty="0"/>
          </a:p>
        </p:txBody>
      </p:sp>
      <p:sp>
        <p:nvSpPr>
          <p:cNvPr id="29" name="Text 24"/>
          <p:cNvSpPr/>
          <p:nvPr/>
        </p:nvSpPr>
        <p:spPr>
          <a:xfrm>
            <a:off x="9138285" y="5462290"/>
            <a:ext cx="3897630" cy="21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13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24h alerta · 72h notif. · 30d informe</a:t>
            </a:r>
            <a:endParaRPr lang="en-US" sz="1013" dirty="0"/>
          </a:p>
        </p:txBody>
      </p:sp>
      <p:sp>
        <p:nvSpPr>
          <p:cNvPr id="30" name="Text 25"/>
          <p:cNvSpPr/>
          <p:nvPr/>
        </p:nvSpPr>
        <p:spPr>
          <a:xfrm>
            <a:off x="161925" y="6858000"/>
            <a:ext cx="115252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SmartOPS te los para con un solo proveedor — y empezamos por el que más te duela.</a:t>
            </a:r>
            <a:endParaRPr lang="en-US" sz="15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FFFFFF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33" name="Text 27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FFFFFF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21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13484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20524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FRICCIÓN DIGITAL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942975"/>
            <a:ext cx="11576685" cy="153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750" b="1" kern="0" spc="-7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Una empresa media pierde 470.000 horas al año por fricción digital. = </a:t>
            </a:r>
            <a:r>
              <a:rPr lang="en-US" sz="3750" b="1" kern="0" spc="-75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226 personas-año </a:t>
            </a:r>
            <a:r>
              <a:rPr lang="en-US" sz="3750" b="1" kern="0" spc="-7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trabajando en nada.</a:t>
            </a:r>
            <a:endParaRPr lang="en-US" sz="3750" dirty="0"/>
          </a:p>
        </p:txBody>
      </p:sp>
      <p:sp>
        <p:nvSpPr>
          <p:cNvPr id="6" name="Shape 4"/>
          <p:cNvSpPr/>
          <p:nvPr/>
        </p:nvSpPr>
        <p:spPr>
          <a:xfrm>
            <a:off x="685800" y="26146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896987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108323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319659" y="26146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530846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742182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953518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164854" y="26146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2376041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587377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798713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010049" y="26146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221236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432572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3643908" y="26146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855095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066431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1"/>
          <p:cNvSpPr/>
          <p:nvPr/>
        </p:nvSpPr>
        <p:spPr>
          <a:xfrm>
            <a:off x="4277767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4489103" y="26146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4700290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911626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5122962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5334298" y="26146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5545485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5756821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5968157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6179493" y="26146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6390680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6602016" y="26146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Shape 33"/>
          <p:cNvSpPr/>
          <p:nvPr/>
        </p:nvSpPr>
        <p:spPr>
          <a:xfrm>
            <a:off x="6813352" y="26146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Shape 34"/>
          <p:cNvSpPr/>
          <p:nvPr/>
        </p:nvSpPr>
        <p:spPr>
          <a:xfrm>
            <a:off x="685800" y="27860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896987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1108323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Shape 37"/>
          <p:cNvSpPr/>
          <p:nvPr/>
        </p:nvSpPr>
        <p:spPr>
          <a:xfrm>
            <a:off x="1319659" y="27860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Shape 38"/>
          <p:cNvSpPr/>
          <p:nvPr/>
        </p:nvSpPr>
        <p:spPr>
          <a:xfrm>
            <a:off x="1530846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1742182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1953518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2164854" y="27860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2376041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2587377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2798713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3010049" y="27860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3221236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3432572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3643908" y="27860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Shape 49"/>
          <p:cNvSpPr/>
          <p:nvPr/>
        </p:nvSpPr>
        <p:spPr>
          <a:xfrm>
            <a:off x="3855095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Shape 50"/>
          <p:cNvSpPr/>
          <p:nvPr/>
        </p:nvSpPr>
        <p:spPr>
          <a:xfrm>
            <a:off x="4066431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4277767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4489103" y="27860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4700290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Shape 54"/>
          <p:cNvSpPr/>
          <p:nvPr/>
        </p:nvSpPr>
        <p:spPr>
          <a:xfrm>
            <a:off x="4911626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Shape 55"/>
          <p:cNvSpPr/>
          <p:nvPr/>
        </p:nvSpPr>
        <p:spPr>
          <a:xfrm>
            <a:off x="5122962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8" name="Shape 56"/>
          <p:cNvSpPr/>
          <p:nvPr/>
        </p:nvSpPr>
        <p:spPr>
          <a:xfrm>
            <a:off x="5334298" y="27860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Shape 57"/>
          <p:cNvSpPr/>
          <p:nvPr/>
        </p:nvSpPr>
        <p:spPr>
          <a:xfrm>
            <a:off x="5545485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Shape 58"/>
          <p:cNvSpPr/>
          <p:nvPr/>
        </p:nvSpPr>
        <p:spPr>
          <a:xfrm>
            <a:off x="5756821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Shape 59"/>
          <p:cNvSpPr/>
          <p:nvPr/>
        </p:nvSpPr>
        <p:spPr>
          <a:xfrm>
            <a:off x="5968157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Shape 60"/>
          <p:cNvSpPr/>
          <p:nvPr/>
        </p:nvSpPr>
        <p:spPr>
          <a:xfrm>
            <a:off x="6179493" y="27860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Shape 61"/>
          <p:cNvSpPr/>
          <p:nvPr/>
        </p:nvSpPr>
        <p:spPr>
          <a:xfrm>
            <a:off x="6390680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4" name="Shape 62"/>
          <p:cNvSpPr/>
          <p:nvPr/>
        </p:nvSpPr>
        <p:spPr>
          <a:xfrm>
            <a:off x="6602016" y="27860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5" name="Shape 63"/>
          <p:cNvSpPr/>
          <p:nvPr/>
        </p:nvSpPr>
        <p:spPr>
          <a:xfrm>
            <a:off x="6813352" y="27860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6" name="Shape 64"/>
          <p:cNvSpPr/>
          <p:nvPr/>
        </p:nvSpPr>
        <p:spPr>
          <a:xfrm>
            <a:off x="685800" y="29575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7" name="Shape 65"/>
          <p:cNvSpPr/>
          <p:nvPr/>
        </p:nvSpPr>
        <p:spPr>
          <a:xfrm>
            <a:off x="896987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8" name="Shape 66"/>
          <p:cNvSpPr/>
          <p:nvPr/>
        </p:nvSpPr>
        <p:spPr>
          <a:xfrm>
            <a:off x="1108323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9" name="Shape 67"/>
          <p:cNvSpPr/>
          <p:nvPr/>
        </p:nvSpPr>
        <p:spPr>
          <a:xfrm>
            <a:off x="1319659" y="29575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0" name="Shape 68"/>
          <p:cNvSpPr/>
          <p:nvPr/>
        </p:nvSpPr>
        <p:spPr>
          <a:xfrm>
            <a:off x="1530846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1" name="Shape 69"/>
          <p:cNvSpPr/>
          <p:nvPr/>
        </p:nvSpPr>
        <p:spPr>
          <a:xfrm>
            <a:off x="1742182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Shape 70"/>
          <p:cNvSpPr/>
          <p:nvPr/>
        </p:nvSpPr>
        <p:spPr>
          <a:xfrm>
            <a:off x="1953518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3" name="Shape 71"/>
          <p:cNvSpPr/>
          <p:nvPr/>
        </p:nvSpPr>
        <p:spPr>
          <a:xfrm>
            <a:off x="2164854" y="29575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4" name="Shape 72"/>
          <p:cNvSpPr/>
          <p:nvPr/>
        </p:nvSpPr>
        <p:spPr>
          <a:xfrm>
            <a:off x="2376041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Shape 73"/>
          <p:cNvSpPr/>
          <p:nvPr/>
        </p:nvSpPr>
        <p:spPr>
          <a:xfrm>
            <a:off x="2587377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6" name="Shape 74"/>
          <p:cNvSpPr/>
          <p:nvPr/>
        </p:nvSpPr>
        <p:spPr>
          <a:xfrm>
            <a:off x="2798713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7" name="Shape 75"/>
          <p:cNvSpPr/>
          <p:nvPr/>
        </p:nvSpPr>
        <p:spPr>
          <a:xfrm>
            <a:off x="3010049" y="29575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8" name="Shape 76"/>
          <p:cNvSpPr/>
          <p:nvPr/>
        </p:nvSpPr>
        <p:spPr>
          <a:xfrm>
            <a:off x="3221236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9" name="Shape 77"/>
          <p:cNvSpPr/>
          <p:nvPr/>
        </p:nvSpPr>
        <p:spPr>
          <a:xfrm>
            <a:off x="3432572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0" name="Shape 78"/>
          <p:cNvSpPr/>
          <p:nvPr/>
        </p:nvSpPr>
        <p:spPr>
          <a:xfrm>
            <a:off x="3643908" y="29575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1" name="Shape 79"/>
          <p:cNvSpPr/>
          <p:nvPr/>
        </p:nvSpPr>
        <p:spPr>
          <a:xfrm>
            <a:off x="3855095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2" name="Shape 80"/>
          <p:cNvSpPr/>
          <p:nvPr/>
        </p:nvSpPr>
        <p:spPr>
          <a:xfrm>
            <a:off x="4066431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3" name="Shape 81"/>
          <p:cNvSpPr/>
          <p:nvPr/>
        </p:nvSpPr>
        <p:spPr>
          <a:xfrm>
            <a:off x="4277767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4" name="Shape 82"/>
          <p:cNvSpPr/>
          <p:nvPr/>
        </p:nvSpPr>
        <p:spPr>
          <a:xfrm>
            <a:off x="4489103" y="29575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5" name="Shape 83"/>
          <p:cNvSpPr/>
          <p:nvPr/>
        </p:nvSpPr>
        <p:spPr>
          <a:xfrm>
            <a:off x="4700290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6" name="Shape 84"/>
          <p:cNvSpPr/>
          <p:nvPr/>
        </p:nvSpPr>
        <p:spPr>
          <a:xfrm>
            <a:off x="4911626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7" name="Shape 85"/>
          <p:cNvSpPr/>
          <p:nvPr/>
        </p:nvSpPr>
        <p:spPr>
          <a:xfrm>
            <a:off x="5122962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8" name="Shape 86"/>
          <p:cNvSpPr/>
          <p:nvPr/>
        </p:nvSpPr>
        <p:spPr>
          <a:xfrm>
            <a:off x="5334298" y="29575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9" name="Shape 87"/>
          <p:cNvSpPr/>
          <p:nvPr/>
        </p:nvSpPr>
        <p:spPr>
          <a:xfrm>
            <a:off x="5545485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0" name="Shape 88"/>
          <p:cNvSpPr/>
          <p:nvPr/>
        </p:nvSpPr>
        <p:spPr>
          <a:xfrm>
            <a:off x="5756821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Shape 89"/>
          <p:cNvSpPr/>
          <p:nvPr/>
        </p:nvSpPr>
        <p:spPr>
          <a:xfrm>
            <a:off x="5968157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2" name="Shape 90"/>
          <p:cNvSpPr/>
          <p:nvPr/>
        </p:nvSpPr>
        <p:spPr>
          <a:xfrm>
            <a:off x="6179493" y="29575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3" name="Shape 91"/>
          <p:cNvSpPr/>
          <p:nvPr/>
        </p:nvSpPr>
        <p:spPr>
          <a:xfrm>
            <a:off x="6390680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4" name="Shape 92"/>
          <p:cNvSpPr/>
          <p:nvPr/>
        </p:nvSpPr>
        <p:spPr>
          <a:xfrm>
            <a:off x="6602016" y="29575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5" name="Shape 93"/>
          <p:cNvSpPr/>
          <p:nvPr/>
        </p:nvSpPr>
        <p:spPr>
          <a:xfrm>
            <a:off x="6813352" y="29575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6" name="Shape 94"/>
          <p:cNvSpPr/>
          <p:nvPr/>
        </p:nvSpPr>
        <p:spPr>
          <a:xfrm>
            <a:off x="685800" y="31289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7" name="Shape 95"/>
          <p:cNvSpPr/>
          <p:nvPr/>
        </p:nvSpPr>
        <p:spPr>
          <a:xfrm>
            <a:off x="896987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8" name="Shape 96"/>
          <p:cNvSpPr/>
          <p:nvPr/>
        </p:nvSpPr>
        <p:spPr>
          <a:xfrm>
            <a:off x="1108323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9" name="Shape 97"/>
          <p:cNvSpPr/>
          <p:nvPr/>
        </p:nvSpPr>
        <p:spPr>
          <a:xfrm>
            <a:off x="1319659" y="31289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0" name="Shape 98"/>
          <p:cNvSpPr/>
          <p:nvPr/>
        </p:nvSpPr>
        <p:spPr>
          <a:xfrm>
            <a:off x="1530846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Shape 99"/>
          <p:cNvSpPr/>
          <p:nvPr/>
        </p:nvSpPr>
        <p:spPr>
          <a:xfrm>
            <a:off x="1742182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2" name="Shape 100"/>
          <p:cNvSpPr/>
          <p:nvPr/>
        </p:nvSpPr>
        <p:spPr>
          <a:xfrm>
            <a:off x="1953518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3" name="Shape 101"/>
          <p:cNvSpPr/>
          <p:nvPr/>
        </p:nvSpPr>
        <p:spPr>
          <a:xfrm>
            <a:off x="2164854" y="31289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Shape 102"/>
          <p:cNvSpPr/>
          <p:nvPr/>
        </p:nvSpPr>
        <p:spPr>
          <a:xfrm>
            <a:off x="2376041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5" name="Shape 103"/>
          <p:cNvSpPr/>
          <p:nvPr/>
        </p:nvSpPr>
        <p:spPr>
          <a:xfrm>
            <a:off x="2587377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6" name="Shape 104"/>
          <p:cNvSpPr/>
          <p:nvPr/>
        </p:nvSpPr>
        <p:spPr>
          <a:xfrm>
            <a:off x="2798713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Shape 105"/>
          <p:cNvSpPr/>
          <p:nvPr/>
        </p:nvSpPr>
        <p:spPr>
          <a:xfrm>
            <a:off x="3010049" y="31289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8" name="Shape 106"/>
          <p:cNvSpPr/>
          <p:nvPr/>
        </p:nvSpPr>
        <p:spPr>
          <a:xfrm>
            <a:off x="3221236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9" name="Shape 107"/>
          <p:cNvSpPr/>
          <p:nvPr/>
        </p:nvSpPr>
        <p:spPr>
          <a:xfrm>
            <a:off x="3432572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Shape 108"/>
          <p:cNvSpPr/>
          <p:nvPr/>
        </p:nvSpPr>
        <p:spPr>
          <a:xfrm>
            <a:off x="3643908" y="31289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1" name="Shape 109"/>
          <p:cNvSpPr/>
          <p:nvPr/>
        </p:nvSpPr>
        <p:spPr>
          <a:xfrm>
            <a:off x="3855095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2" name="Shape 110"/>
          <p:cNvSpPr/>
          <p:nvPr/>
        </p:nvSpPr>
        <p:spPr>
          <a:xfrm>
            <a:off x="4066431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3" name="Shape 111"/>
          <p:cNvSpPr/>
          <p:nvPr/>
        </p:nvSpPr>
        <p:spPr>
          <a:xfrm>
            <a:off x="4277767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4" name="Shape 112"/>
          <p:cNvSpPr/>
          <p:nvPr/>
        </p:nvSpPr>
        <p:spPr>
          <a:xfrm>
            <a:off x="4489103" y="31289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5" name="Shape 113"/>
          <p:cNvSpPr/>
          <p:nvPr/>
        </p:nvSpPr>
        <p:spPr>
          <a:xfrm>
            <a:off x="4700290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6" name="Shape 114"/>
          <p:cNvSpPr/>
          <p:nvPr/>
        </p:nvSpPr>
        <p:spPr>
          <a:xfrm>
            <a:off x="4911626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7" name="Shape 115"/>
          <p:cNvSpPr/>
          <p:nvPr/>
        </p:nvSpPr>
        <p:spPr>
          <a:xfrm>
            <a:off x="5122962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8" name="Shape 116"/>
          <p:cNvSpPr/>
          <p:nvPr/>
        </p:nvSpPr>
        <p:spPr>
          <a:xfrm>
            <a:off x="5334298" y="31289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9" name="Shape 117"/>
          <p:cNvSpPr/>
          <p:nvPr/>
        </p:nvSpPr>
        <p:spPr>
          <a:xfrm>
            <a:off x="5545485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0" name="Shape 118"/>
          <p:cNvSpPr/>
          <p:nvPr/>
        </p:nvSpPr>
        <p:spPr>
          <a:xfrm>
            <a:off x="5756821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1" name="Shape 119"/>
          <p:cNvSpPr/>
          <p:nvPr/>
        </p:nvSpPr>
        <p:spPr>
          <a:xfrm>
            <a:off x="5968157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2" name="Shape 120"/>
          <p:cNvSpPr/>
          <p:nvPr/>
        </p:nvSpPr>
        <p:spPr>
          <a:xfrm>
            <a:off x="6179493" y="31289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3" name="Shape 121"/>
          <p:cNvSpPr/>
          <p:nvPr/>
        </p:nvSpPr>
        <p:spPr>
          <a:xfrm>
            <a:off x="6390680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4" name="Shape 122"/>
          <p:cNvSpPr/>
          <p:nvPr/>
        </p:nvSpPr>
        <p:spPr>
          <a:xfrm>
            <a:off x="6602016" y="31289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5" name="Shape 123"/>
          <p:cNvSpPr/>
          <p:nvPr/>
        </p:nvSpPr>
        <p:spPr>
          <a:xfrm>
            <a:off x="6813352" y="31289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6" name="Shape 124"/>
          <p:cNvSpPr/>
          <p:nvPr/>
        </p:nvSpPr>
        <p:spPr>
          <a:xfrm>
            <a:off x="685800" y="33004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7" name="Shape 125"/>
          <p:cNvSpPr/>
          <p:nvPr/>
        </p:nvSpPr>
        <p:spPr>
          <a:xfrm>
            <a:off x="896987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8" name="Shape 126"/>
          <p:cNvSpPr/>
          <p:nvPr/>
        </p:nvSpPr>
        <p:spPr>
          <a:xfrm>
            <a:off x="1108323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9" name="Shape 127"/>
          <p:cNvSpPr/>
          <p:nvPr/>
        </p:nvSpPr>
        <p:spPr>
          <a:xfrm>
            <a:off x="1319659" y="33004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0" name="Shape 128"/>
          <p:cNvSpPr/>
          <p:nvPr/>
        </p:nvSpPr>
        <p:spPr>
          <a:xfrm>
            <a:off x="1530846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1" name="Shape 129"/>
          <p:cNvSpPr/>
          <p:nvPr/>
        </p:nvSpPr>
        <p:spPr>
          <a:xfrm>
            <a:off x="1742182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2" name="Shape 130"/>
          <p:cNvSpPr/>
          <p:nvPr/>
        </p:nvSpPr>
        <p:spPr>
          <a:xfrm>
            <a:off x="1953518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3" name="Shape 131"/>
          <p:cNvSpPr/>
          <p:nvPr/>
        </p:nvSpPr>
        <p:spPr>
          <a:xfrm>
            <a:off x="2164854" y="33004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4" name="Shape 132"/>
          <p:cNvSpPr/>
          <p:nvPr/>
        </p:nvSpPr>
        <p:spPr>
          <a:xfrm>
            <a:off x="2376041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5" name="Shape 133"/>
          <p:cNvSpPr/>
          <p:nvPr/>
        </p:nvSpPr>
        <p:spPr>
          <a:xfrm>
            <a:off x="2587377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6" name="Shape 134"/>
          <p:cNvSpPr/>
          <p:nvPr/>
        </p:nvSpPr>
        <p:spPr>
          <a:xfrm>
            <a:off x="2798713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7" name="Shape 135"/>
          <p:cNvSpPr/>
          <p:nvPr/>
        </p:nvSpPr>
        <p:spPr>
          <a:xfrm>
            <a:off x="3010049" y="33004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8" name="Shape 136"/>
          <p:cNvSpPr/>
          <p:nvPr/>
        </p:nvSpPr>
        <p:spPr>
          <a:xfrm>
            <a:off x="3221236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9" name="Shape 137"/>
          <p:cNvSpPr/>
          <p:nvPr/>
        </p:nvSpPr>
        <p:spPr>
          <a:xfrm>
            <a:off x="3432572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0" name="Shape 138"/>
          <p:cNvSpPr/>
          <p:nvPr/>
        </p:nvSpPr>
        <p:spPr>
          <a:xfrm>
            <a:off x="3643908" y="33004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1" name="Shape 139"/>
          <p:cNvSpPr/>
          <p:nvPr/>
        </p:nvSpPr>
        <p:spPr>
          <a:xfrm>
            <a:off x="3855095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2" name="Shape 140"/>
          <p:cNvSpPr/>
          <p:nvPr/>
        </p:nvSpPr>
        <p:spPr>
          <a:xfrm>
            <a:off x="4066431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3" name="Shape 141"/>
          <p:cNvSpPr/>
          <p:nvPr/>
        </p:nvSpPr>
        <p:spPr>
          <a:xfrm>
            <a:off x="4277767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4" name="Shape 142"/>
          <p:cNvSpPr/>
          <p:nvPr/>
        </p:nvSpPr>
        <p:spPr>
          <a:xfrm>
            <a:off x="4489103" y="33004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5" name="Shape 143"/>
          <p:cNvSpPr/>
          <p:nvPr/>
        </p:nvSpPr>
        <p:spPr>
          <a:xfrm>
            <a:off x="4700290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6" name="Shape 144"/>
          <p:cNvSpPr/>
          <p:nvPr/>
        </p:nvSpPr>
        <p:spPr>
          <a:xfrm>
            <a:off x="4911626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7" name="Shape 145"/>
          <p:cNvSpPr/>
          <p:nvPr/>
        </p:nvSpPr>
        <p:spPr>
          <a:xfrm>
            <a:off x="5122962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8" name="Shape 146"/>
          <p:cNvSpPr/>
          <p:nvPr/>
        </p:nvSpPr>
        <p:spPr>
          <a:xfrm>
            <a:off x="5334298" y="33004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9" name="Shape 147"/>
          <p:cNvSpPr/>
          <p:nvPr/>
        </p:nvSpPr>
        <p:spPr>
          <a:xfrm>
            <a:off x="5545485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0" name="Shape 148"/>
          <p:cNvSpPr/>
          <p:nvPr/>
        </p:nvSpPr>
        <p:spPr>
          <a:xfrm>
            <a:off x="5756821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1" name="Shape 149"/>
          <p:cNvSpPr/>
          <p:nvPr/>
        </p:nvSpPr>
        <p:spPr>
          <a:xfrm>
            <a:off x="5968157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2" name="Shape 150"/>
          <p:cNvSpPr/>
          <p:nvPr/>
        </p:nvSpPr>
        <p:spPr>
          <a:xfrm>
            <a:off x="6179493" y="33004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3" name="Shape 151"/>
          <p:cNvSpPr/>
          <p:nvPr/>
        </p:nvSpPr>
        <p:spPr>
          <a:xfrm>
            <a:off x="6390680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4" name="Shape 152"/>
          <p:cNvSpPr/>
          <p:nvPr/>
        </p:nvSpPr>
        <p:spPr>
          <a:xfrm>
            <a:off x="6602016" y="33004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5" name="Shape 153"/>
          <p:cNvSpPr/>
          <p:nvPr/>
        </p:nvSpPr>
        <p:spPr>
          <a:xfrm>
            <a:off x="6813352" y="33004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6" name="Shape 154"/>
          <p:cNvSpPr/>
          <p:nvPr/>
        </p:nvSpPr>
        <p:spPr>
          <a:xfrm>
            <a:off x="685800" y="34718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7" name="Shape 155"/>
          <p:cNvSpPr/>
          <p:nvPr/>
        </p:nvSpPr>
        <p:spPr>
          <a:xfrm>
            <a:off x="896987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8" name="Shape 156"/>
          <p:cNvSpPr/>
          <p:nvPr/>
        </p:nvSpPr>
        <p:spPr>
          <a:xfrm>
            <a:off x="1108323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9" name="Shape 157"/>
          <p:cNvSpPr/>
          <p:nvPr/>
        </p:nvSpPr>
        <p:spPr>
          <a:xfrm>
            <a:off x="1319659" y="34718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0" name="Shape 158"/>
          <p:cNvSpPr/>
          <p:nvPr/>
        </p:nvSpPr>
        <p:spPr>
          <a:xfrm>
            <a:off x="1530846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1" name="Shape 159"/>
          <p:cNvSpPr/>
          <p:nvPr/>
        </p:nvSpPr>
        <p:spPr>
          <a:xfrm>
            <a:off x="1742182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2" name="Shape 160"/>
          <p:cNvSpPr/>
          <p:nvPr/>
        </p:nvSpPr>
        <p:spPr>
          <a:xfrm>
            <a:off x="1953518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3" name="Shape 161"/>
          <p:cNvSpPr/>
          <p:nvPr/>
        </p:nvSpPr>
        <p:spPr>
          <a:xfrm>
            <a:off x="2164854" y="34718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4" name="Shape 162"/>
          <p:cNvSpPr/>
          <p:nvPr/>
        </p:nvSpPr>
        <p:spPr>
          <a:xfrm>
            <a:off x="2376041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5" name="Shape 163"/>
          <p:cNvSpPr/>
          <p:nvPr/>
        </p:nvSpPr>
        <p:spPr>
          <a:xfrm>
            <a:off x="2587377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6" name="Shape 164"/>
          <p:cNvSpPr/>
          <p:nvPr/>
        </p:nvSpPr>
        <p:spPr>
          <a:xfrm>
            <a:off x="2798713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7" name="Shape 165"/>
          <p:cNvSpPr/>
          <p:nvPr/>
        </p:nvSpPr>
        <p:spPr>
          <a:xfrm>
            <a:off x="3010049" y="34718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8" name="Shape 166"/>
          <p:cNvSpPr/>
          <p:nvPr/>
        </p:nvSpPr>
        <p:spPr>
          <a:xfrm>
            <a:off x="3221236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9" name="Shape 167"/>
          <p:cNvSpPr/>
          <p:nvPr/>
        </p:nvSpPr>
        <p:spPr>
          <a:xfrm>
            <a:off x="3432572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0" name="Shape 168"/>
          <p:cNvSpPr/>
          <p:nvPr/>
        </p:nvSpPr>
        <p:spPr>
          <a:xfrm>
            <a:off x="3643908" y="34718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1" name="Shape 169"/>
          <p:cNvSpPr/>
          <p:nvPr/>
        </p:nvSpPr>
        <p:spPr>
          <a:xfrm>
            <a:off x="3855095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2" name="Shape 170"/>
          <p:cNvSpPr/>
          <p:nvPr/>
        </p:nvSpPr>
        <p:spPr>
          <a:xfrm>
            <a:off x="4066431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3" name="Shape 171"/>
          <p:cNvSpPr/>
          <p:nvPr/>
        </p:nvSpPr>
        <p:spPr>
          <a:xfrm>
            <a:off x="4277767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4" name="Shape 172"/>
          <p:cNvSpPr/>
          <p:nvPr/>
        </p:nvSpPr>
        <p:spPr>
          <a:xfrm>
            <a:off x="4489103" y="34718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5" name="Shape 173"/>
          <p:cNvSpPr/>
          <p:nvPr/>
        </p:nvSpPr>
        <p:spPr>
          <a:xfrm>
            <a:off x="4700290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6" name="Shape 174"/>
          <p:cNvSpPr/>
          <p:nvPr/>
        </p:nvSpPr>
        <p:spPr>
          <a:xfrm>
            <a:off x="4911626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7" name="Shape 175"/>
          <p:cNvSpPr/>
          <p:nvPr/>
        </p:nvSpPr>
        <p:spPr>
          <a:xfrm>
            <a:off x="5122962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8" name="Shape 176"/>
          <p:cNvSpPr/>
          <p:nvPr/>
        </p:nvSpPr>
        <p:spPr>
          <a:xfrm>
            <a:off x="5334298" y="34718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9" name="Shape 177"/>
          <p:cNvSpPr/>
          <p:nvPr/>
        </p:nvSpPr>
        <p:spPr>
          <a:xfrm>
            <a:off x="5545485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0" name="Shape 178"/>
          <p:cNvSpPr/>
          <p:nvPr/>
        </p:nvSpPr>
        <p:spPr>
          <a:xfrm>
            <a:off x="5756821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1" name="Shape 179"/>
          <p:cNvSpPr/>
          <p:nvPr/>
        </p:nvSpPr>
        <p:spPr>
          <a:xfrm>
            <a:off x="5968157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2" name="Shape 180"/>
          <p:cNvSpPr/>
          <p:nvPr/>
        </p:nvSpPr>
        <p:spPr>
          <a:xfrm>
            <a:off x="6179493" y="34718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3" name="Shape 181"/>
          <p:cNvSpPr/>
          <p:nvPr/>
        </p:nvSpPr>
        <p:spPr>
          <a:xfrm>
            <a:off x="6390680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4" name="Shape 182"/>
          <p:cNvSpPr/>
          <p:nvPr/>
        </p:nvSpPr>
        <p:spPr>
          <a:xfrm>
            <a:off x="6602016" y="34718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5" name="Shape 183"/>
          <p:cNvSpPr/>
          <p:nvPr/>
        </p:nvSpPr>
        <p:spPr>
          <a:xfrm>
            <a:off x="6813352" y="34718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6" name="Shape 184"/>
          <p:cNvSpPr/>
          <p:nvPr/>
        </p:nvSpPr>
        <p:spPr>
          <a:xfrm>
            <a:off x="685800" y="36433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7" name="Shape 185"/>
          <p:cNvSpPr/>
          <p:nvPr/>
        </p:nvSpPr>
        <p:spPr>
          <a:xfrm>
            <a:off x="896987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8" name="Shape 186"/>
          <p:cNvSpPr/>
          <p:nvPr/>
        </p:nvSpPr>
        <p:spPr>
          <a:xfrm>
            <a:off x="1108323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9" name="Shape 187"/>
          <p:cNvSpPr/>
          <p:nvPr/>
        </p:nvSpPr>
        <p:spPr>
          <a:xfrm>
            <a:off x="1319659" y="36433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0" name="Shape 188"/>
          <p:cNvSpPr/>
          <p:nvPr/>
        </p:nvSpPr>
        <p:spPr>
          <a:xfrm>
            <a:off x="1530846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1" name="Shape 189"/>
          <p:cNvSpPr/>
          <p:nvPr/>
        </p:nvSpPr>
        <p:spPr>
          <a:xfrm>
            <a:off x="1742182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2" name="Shape 190"/>
          <p:cNvSpPr/>
          <p:nvPr/>
        </p:nvSpPr>
        <p:spPr>
          <a:xfrm>
            <a:off x="1953518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3" name="Shape 191"/>
          <p:cNvSpPr/>
          <p:nvPr/>
        </p:nvSpPr>
        <p:spPr>
          <a:xfrm>
            <a:off x="2164854" y="36433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4" name="Shape 192"/>
          <p:cNvSpPr/>
          <p:nvPr/>
        </p:nvSpPr>
        <p:spPr>
          <a:xfrm>
            <a:off x="2376041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5" name="Shape 193"/>
          <p:cNvSpPr/>
          <p:nvPr/>
        </p:nvSpPr>
        <p:spPr>
          <a:xfrm>
            <a:off x="2587377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6" name="Shape 194"/>
          <p:cNvSpPr/>
          <p:nvPr/>
        </p:nvSpPr>
        <p:spPr>
          <a:xfrm>
            <a:off x="2798713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7" name="Shape 195"/>
          <p:cNvSpPr/>
          <p:nvPr/>
        </p:nvSpPr>
        <p:spPr>
          <a:xfrm>
            <a:off x="3010049" y="36433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8" name="Shape 196"/>
          <p:cNvSpPr/>
          <p:nvPr/>
        </p:nvSpPr>
        <p:spPr>
          <a:xfrm>
            <a:off x="3221236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9" name="Shape 197"/>
          <p:cNvSpPr/>
          <p:nvPr/>
        </p:nvSpPr>
        <p:spPr>
          <a:xfrm>
            <a:off x="3432572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0" name="Shape 198"/>
          <p:cNvSpPr/>
          <p:nvPr/>
        </p:nvSpPr>
        <p:spPr>
          <a:xfrm>
            <a:off x="3643908" y="36433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1" name="Shape 199"/>
          <p:cNvSpPr/>
          <p:nvPr/>
        </p:nvSpPr>
        <p:spPr>
          <a:xfrm>
            <a:off x="3855095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2" name="Shape 200"/>
          <p:cNvSpPr/>
          <p:nvPr/>
        </p:nvSpPr>
        <p:spPr>
          <a:xfrm>
            <a:off x="4066431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3" name="Shape 201"/>
          <p:cNvSpPr/>
          <p:nvPr/>
        </p:nvSpPr>
        <p:spPr>
          <a:xfrm>
            <a:off x="4277767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4" name="Shape 202"/>
          <p:cNvSpPr/>
          <p:nvPr/>
        </p:nvSpPr>
        <p:spPr>
          <a:xfrm>
            <a:off x="4489103" y="36433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5" name="Shape 203"/>
          <p:cNvSpPr/>
          <p:nvPr/>
        </p:nvSpPr>
        <p:spPr>
          <a:xfrm>
            <a:off x="4700290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6" name="Shape 204"/>
          <p:cNvSpPr/>
          <p:nvPr/>
        </p:nvSpPr>
        <p:spPr>
          <a:xfrm>
            <a:off x="4911626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7" name="Shape 205"/>
          <p:cNvSpPr/>
          <p:nvPr/>
        </p:nvSpPr>
        <p:spPr>
          <a:xfrm>
            <a:off x="5122962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8" name="Shape 206"/>
          <p:cNvSpPr/>
          <p:nvPr/>
        </p:nvSpPr>
        <p:spPr>
          <a:xfrm>
            <a:off x="5334298" y="36433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9" name="Shape 207"/>
          <p:cNvSpPr/>
          <p:nvPr/>
        </p:nvSpPr>
        <p:spPr>
          <a:xfrm>
            <a:off x="5545485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0" name="Shape 208"/>
          <p:cNvSpPr/>
          <p:nvPr/>
        </p:nvSpPr>
        <p:spPr>
          <a:xfrm>
            <a:off x="5756821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1" name="Shape 209"/>
          <p:cNvSpPr/>
          <p:nvPr/>
        </p:nvSpPr>
        <p:spPr>
          <a:xfrm>
            <a:off x="5968157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2" name="Shape 210"/>
          <p:cNvSpPr/>
          <p:nvPr/>
        </p:nvSpPr>
        <p:spPr>
          <a:xfrm>
            <a:off x="6179493" y="36433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3" name="Shape 211"/>
          <p:cNvSpPr/>
          <p:nvPr/>
        </p:nvSpPr>
        <p:spPr>
          <a:xfrm>
            <a:off x="6390680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4" name="Shape 212"/>
          <p:cNvSpPr/>
          <p:nvPr/>
        </p:nvSpPr>
        <p:spPr>
          <a:xfrm>
            <a:off x="6602016" y="36433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5" name="Shape 213"/>
          <p:cNvSpPr/>
          <p:nvPr/>
        </p:nvSpPr>
        <p:spPr>
          <a:xfrm>
            <a:off x="6813352" y="36433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6" name="Shape 214"/>
          <p:cNvSpPr/>
          <p:nvPr/>
        </p:nvSpPr>
        <p:spPr>
          <a:xfrm>
            <a:off x="685800" y="38147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7" name="Shape 215"/>
          <p:cNvSpPr/>
          <p:nvPr/>
        </p:nvSpPr>
        <p:spPr>
          <a:xfrm>
            <a:off x="896987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8" name="Shape 216"/>
          <p:cNvSpPr/>
          <p:nvPr/>
        </p:nvSpPr>
        <p:spPr>
          <a:xfrm>
            <a:off x="1108323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9" name="Shape 217"/>
          <p:cNvSpPr/>
          <p:nvPr/>
        </p:nvSpPr>
        <p:spPr>
          <a:xfrm>
            <a:off x="1319659" y="38147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0" name="Shape 218"/>
          <p:cNvSpPr/>
          <p:nvPr/>
        </p:nvSpPr>
        <p:spPr>
          <a:xfrm>
            <a:off x="1530846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1" name="Shape 219"/>
          <p:cNvSpPr/>
          <p:nvPr/>
        </p:nvSpPr>
        <p:spPr>
          <a:xfrm>
            <a:off x="1742182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2" name="Shape 220"/>
          <p:cNvSpPr/>
          <p:nvPr/>
        </p:nvSpPr>
        <p:spPr>
          <a:xfrm>
            <a:off x="1953518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3" name="Shape 221"/>
          <p:cNvSpPr/>
          <p:nvPr/>
        </p:nvSpPr>
        <p:spPr>
          <a:xfrm>
            <a:off x="2164854" y="38147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4" name="Shape 222"/>
          <p:cNvSpPr/>
          <p:nvPr/>
        </p:nvSpPr>
        <p:spPr>
          <a:xfrm>
            <a:off x="2376041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5" name="Shape 223"/>
          <p:cNvSpPr/>
          <p:nvPr/>
        </p:nvSpPr>
        <p:spPr>
          <a:xfrm>
            <a:off x="2587377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6" name="Shape 224"/>
          <p:cNvSpPr/>
          <p:nvPr/>
        </p:nvSpPr>
        <p:spPr>
          <a:xfrm>
            <a:off x="2798713" y="3814763"/>
            <a:ext cx="173236" cy="133350"/>
          </a:xfrm>
          <a:prstGeom prst="rect">
            <a:avLst/>
          </a:prstGeom>
          <a:solidFill>
            <a:srgbClr val="B696DC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7" name="Shape 225"/>
          <p:cNvSpPr/>
          <p:nvPr/>
        </p:nvSpPr>
        <p:spPr>
          <a:xfrm>
            <a:off x="3010049" y="3814763"/>
            <a:ext cx="173087" cy="133350"/>
          </a:xfrm>
          <a:prstGeom prst="rect">
            <a:avLst/>
          </a:prstGeom>
          <a:solidFill>
            <a:srgbClr val="B696DC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8" name="Shape 226"/>
          <p:cNvSpPr/>
          <p:nvPr/>
        </p:nvSpPr>
        <p:spPr>
          <a:xfrm>
            <a:off x="3221236" y="3814763"/>
            <a:ext cx="173236" cy="133350"/>
          </a:xfrm>
          <a:prstGeom prst="rect">
            <a:avLst/>
          </a:prstGeom>
          <a:solidFill>
            <a:srgbClr val="B696DC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9" name="Shape 227"/>
          <p:cNvSpPr/>
          <p:nvPr/>
        </p:nvSpPr>
        <p:spPr>
          <a:xfrm>
            <a:off x="3432572" y="3814763"/>
            <a:ext cx="173236" cy="133350"/>
          </a:xfrm>
          <a:prstGeom prst="rect">
            <a:avLst/>
          </a:prstGeom>
          <a:solidFill>
            <a:srgbClr val="B696DC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0" name="Shape 228"/>
          <p:cNvSpPr/>
          <p:nvPr/>
        </p:nvSpPr>
        <p:spPr>
          <a:xfrm>
            <a:off x="3643908" y="3814763"/>
            <a:ext cx="173087" cy="133350"/>
          </a:xfrm>
          <a:prstGeom prst="rect">
            <a:avLst/>
          </a:prstGeom>
          <a:solidFill>
            <a:srgbClr val="B696DC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1" name="Shape 229"/>
          <p:cNvSpPr/>
          <p:nvPr/>
        </p:nvSpPr>
        <p:spPr>
          <a:xfrm>
            <a:off x="3855095" y="3814763"/>
            <a:ext cx="173236" cy="133350"/>
          </a:xfrm>
          <a:prstGeom prst="rect">
            <a:avLst/>
          </a:prstGeom>
          <a:solidFill>
            <a:srgbClr val="B696DC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2" name="Shape 230"/>
          <p:cNvSpPr/>
          <p:nvPr/>
        </p:nvSpPr>
        <p:spPr>
          <a:xfrm>
            <a:off x="4066431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3" name="Shape 231"/>
          <p:cNvSpPr/>
          <p:nvPr/>
        </p:nvSpPr>
        <p:spPr>
          <a:xfrm>
            <a:off x="4277767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4" name="Shape 232"/>
          <p:cNvSpPr/>
          <p:nvPr/>
        </p:nvSpPr>
        <p:spPr>
          <a:xfrm>
            <a:off x="4489103" y="38147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5" name="Shape 233"/>
          <p:cNvSpPr/>
          <p:nvPr/>
        </p:nvSpPr>
        <p:spPr>
          <a:xfrm>
            <a:off x="4700290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6" name="Shape 234"/>
          <p:cNvSpPr/>
          <p:nvPr/>
        </p:nvSpPr>
        <p:spPr>
          <a:xfrm>
            <a:off x="4911626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7" name="Shape 235"/>
          <p:cNvSpPr/>
          <p:nvPr/>
        </p:nvSpPr>
        <p:spPr>
          <a:xfrm>
            <a:off x="5122962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8" name="Shape 236"/>
          <p:cNvSpPr/>
          <p:nvPr/>
        </p:nvSpPr>
        <p:spPr>
          <a:xfrm>
            <a:off x="5334298" y="38147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9" name="Shape 237"/>
          <p:cNvSpPr/>
          <p:nvPr/>
        </p:nvSpPr>
        <p:spPr>
          <a:xfrm>
            <a:off x="5545485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0" name="Shape 238"/>
          <p:cNvSpPr/>
          <p:nvPr/>
        </p:nvSpPr>
        <p:spPr>
          <a:xfrm>
            <a:off x="5756821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1" name="Shape 239"/>
          <p:cNvSpPr/>
          <p:nvPr/>
        </p:nvSpPr>
        <p:spPr>
          <a:xfrm>
            <a:off x="5968157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2" name="Shape 240"/>
          <p:cNvSpPr/>
          <p:nvPr/>
        </p:nvSpPr>
        <p:spPr>
          <a:xfrm>
            <a:off x="6179493" y="38147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3" name="Shape 241"/>
          <p:cNvSpPr/>
          <p:nvPr/>
        </p:nvSpPr>
        <p:spPr>
          <a:xfrm>
            <a:off x="6390680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4" name="Shape 242"/>
          <p:cNvSpPr/>
          <p:nvPr/>
        </p:nvSpPr>
        <p:spPr>
          <a:xfrm>
            <a:off x="6602016" y="38147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5" name="Shape 243"/>
          <p:cNvSpPr/>
          <p:nvPr/>
        </p:nvSpPr>
        <p:spPr>
          <a:xfrm>
            <a:off x="6813352" y="38147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6" name="Shape 244"/>
          <p:cNvSpPr/>
          <p:nvPr/>
        </p:nvSpPr>
        <p:spPr>
          <a:xfrm>
            <a:off x="685800" y="39862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7" name="Shape 245"/>
          <p:cNvSpPr/>
          <p:nvPr/>
        </p:nvSpPr>
        <p:spPr>
          <a:xfrm>
            <a:off x="896987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8" name="Shape 246"/>
          <p:cNvSpPr/>
          <p:nvPr/>
        </p:nvSpPr>
        <p:spPr>
          <a:xfrm>
            <a:off x="1108323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9" name="Shape 247"/>
          <p:cNvSpPr/>
          <p:nvPr/>
        </p:nvSpPr>
        <p:spPr>
          <a:xfrm>
            <a:off x="1319659" y="39862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0" name="Shape 248"/>
          <p:cNvSpPr/>
          <p:nvPr/>
        </p:nvSpPr>
        <p:spPr>
          <a:xfrm>
            <a:off x="1530846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1" name="Shape 249"/>
          <p:cNvSpPr/>
          <p:nvPr/>
        </p:nvSpPr>
        <p:spPr>
          <a:xfrm>
            <a:off x="1742182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2" name="Shape 250"/>
          <p:cNvSpPr/>
          <p:nvPr/>
        </p:nvSpPr>
        <p:spPr>
          <a:xfrm>
            <a:off x="1953518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3" name="Shape 251"/>
          <p:cNvSpPr/>
          <p:nvPr/>
        </p:nvSpPr>
        <p:spPr>
          <a:xfrm>
            <a:off x="2164854" y="39862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4" name="Shape 252"/>
          <p:cNvSpPr/>
          <p:nvPr/>
        </p:nvSpPr>
        <p:spPr>
          <a:xfrm>
            <a:off x="2376041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5" name="Shape 253"/>
          <p:cNvSpPr/>
          <p:nvPr/>
        </p:nvSpPr>
        <p:spPr>
          <a:xfrm>
            <a:off x="2587377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6" name="Shape 254"/>
          <p:cNvSpPr/>
          <p:nvPr/>
        </p:nvSpPr>
        <p:spPr>
          <a:xfrm>
            <a:off x="2798713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7" name="Shape 255"/>
          <p:cNvSpPr/>
          <p:nvPr/>
        </p:nvSpPr>
        <p:spPr>
          <a:xfrm>
            <a:off x="3010049" y="39862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8" name="Shape 256"/>
          <p:cNvSpPr/>
          <p:nvPr/>
        </p:nvSpPr>
        <p:spPr>
          <a:xfrm>
            <a:off x="3221236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9" name="Shape 257"/>
          <p:cNvSpPr/>
          <p:nvPr/>
        </p:nvSpPr>
        <p:spPr>
          <a:xfrm>
            <a:off x="3432572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0" name="Shape 258"/>
          <p:cNvSpPr/>
          <p:nvPr/>
        </p:nvSpPr>
        <p:spPr>
          <a:xfrm>
            <a:off x="3643908" y="39862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1" name="Shape 259"/>
          <p:cNvSpPr/>
          <p:nvPr/>
        </p:nvSpPr>
        <p:spPr>
          <a:xfrm>
            <a:off x="3855095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2" name="Shape 260"/>
          <p:cNvSpPr/>
          <p:nvPr/>
        </p:nvSpPr>
        <p:spPr>
          <a:xfrm>
            <a:off x="4066431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3" name="Shape 261"/>
          <p:cNvSpPr/>
          <p:nvPr/>
        </p:nvSpPr>
        <p:spPr>
          <a:xfrm>
            <a:off x="4277767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4" name="Shape 262"/>
          <p:cNvSpPr/>
          <p:nvPr/>
        </p:nvSpPr>
        <p:spPr>
          <a:xfrm>
            <a:off x="4489103" y="39862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5" name="Shape 263"/>
          <p:cNvSpPr/>
          <p:nvPr/>
        </p:nvSpPr>
        <p:spPr>
          <a:xfrm>
            <a:off x="4700290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6" name="Shape 264"/>
          <p:cNvSpPr/>
          <p:nvPr/>
        </p:nvSpPr>
        <p:spPr>
          <a:xfrm>
            <a:off x="4911626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7" name="Shape 265"/>
          <p:cNvSpPr/>
          <p:nvPr/>
        </p:nvSpPr>
        <p:spPr>
          <a:xfrm>
            <a:off x="5122962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8" name="Shape 266"/>
          <p:cNvSpPr/>
          <p:nvPr/>
        </p:nvSpPr>
        <p:spPr>
          <a:xfrm>
            <a:off x="5334298" y="39862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9" name="Shape 267"/>
          <p:cNvSpPr/>
          <p:nvPr/>
        </p:nvSpPr>
        <p:spPr>
          <a:xfrm>
            <a:off x="5545485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0" name="Shape 268"/>
          <p:cNvSpPr/>
          <p:nvPr/>
        </p:nvSpPr>
        <p:spPr>
          <a:xfrm>
            <a:off x="5756821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1" name="Shape 269"/>
          <p:cNvSpPr/>
          <p:nvPr/>
        </p:nvSpPr>
        <p:spPr>
          <a:xfrm>
            <a:off x="5968157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2" name="Shape 270"/>
          <p:cNvSpPr/>
          <p:nvPr/>
        </p:nvSpPr>
        <p:spPr>
          <a:xfrm>
            <a:off x="6179493" y="39862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3" name="Shape 271"/>
          <p:cNvSpPr/>
          <p:nvPr/>
        </p:nvSpPr>
        <p:spPr>
          <a:xfrm>
            <a:off x="6390680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4" name="Shape 272"/>
          <p:cNvSpPr/>
          <p:nvPr/>
        </p:nvSpPr>
        <p:spPr>
          <a:xfrm>
            <a:off x="6602016" y="39862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5" name="Shape 273"/>
          <p:cNvSpPr/>
          <p:nvPr/>
        </p:nvSpPr>
        <p:spPr>
          <a:xfrm>
            <a:off x="6813352" y="39862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6" name="Shape 274"/>
          <p:cNvSpPr/>
          <p:nvPr/>
        </p:nvSpPr>
        <p:spPr>
          <a:xfrm>
            <a:off x="685800" y="41576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7" name="Shape 275"/>
          <p:cNvSpPr/>
          <p:nvPr/>
        </p:nvSpPr>
        <p:spPr>
          <a:xfrm>
            <a:off x="896987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8" name="Shape 276"/>
          <p:cNvSpPr/>
          <p:nvPr/>
        </p:nvSpPr>
        <p:spPr>
          <a:xfrm>
            <a:off x="1108323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9" name="Shape 277"/>
          <p:cNvSpPr/>
          <p:nvPr/>
        </p:nvSpPr>
        <p:spPr>
          <a:xfrm>
            <a:off x="1319659" y="41576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0" name="Shape 278"/>
          <p:cNvSpPr/>
          <p:nvPr/>
        </p:nvSpPr>
        <p:spPr>
          <a:xfrm>
            <a:off x="1530846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1" name="Shape 279"/>
          <p:cNvSpPr/>
          <p:nvPr/>
        </p:nvSpPr>
        <p:spPr>
          <a:xfrm>
            <a:off x="1742182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2" name="Shape 280"/>
          <p:cNvSpPr/>
          <p:nvPr/>
        </p:nvSpPr>
        <p:spPr>
          <a:xfrm>
            <a:off x="1953518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3" name="Shape 281"/>
          <p:cNvSpPr/>
          <p:nvPr/>
        </p:nvSpPr>
        <p:spPr>
          <a:xfrm>
            <a:off x="2164854" y="41576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4" name="Shape 282"/>
          <p:cNvSpPr/>
          <p:nvPr/>
        </p:nvSpPr>
        <p:spPr>
          <a:xfrm>
            <a:off x="2376041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5" name="Shape 283"/>
          <p:cNvSpPr/>
          <p:nvPr/>
        </p:nvSpPr>
        <p:spPr>
          <a:xfrm>
            <a:off x="2587377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6" name="Shape 284"/>
          <p:cNvSpPr/>
          <p:nvPr/>
        </p:nvSpPr>
        <p:spPr>
          <a:xfrm>
            <a:off x="2798713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7" name="Shape 285"/>
          <p:cNvSpPr/>
          <p:nvPr/>
        </p:nvSpPr>
        <p:spPr>
          <a:xfrm>
            <a:off x="3010049" y="41576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8" name="Shape 286"/>
          <p:cNvSpPr/>
          <p:nvPr/>
        </p:nvSpPr>
        <p:spPr>
          <a:xfrm>
            <a:off x="3221236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9" name="Shape 287"/>
          <p:cNvSpPr/>
          <p:nvPr/>
        </p:nvSpPr>
        <p:spPr>
          <a:xfrm>
            <a:off x="3432572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0" name="Shape 288"/>
          <p:cNvSpPr/>
          <p:nvPr/>
        </p:nvSpPr>
        <p:spPr>
          <a:xfrm>
            <a:off x="3643908" y="41576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1" name="Shape 289"/>
          <p:cNvSpPr/>
          <p:nvPr/>
        </p:nvSpPr>
        <p:spPr>
          <a:xfrm>
            <a:off x="3855095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2" name="Shape 290"/>
          <p:cNvSpPr/>
          <p:nvPr/>
        </p:nvSpPr>
        <p:spPr>
          <a:xfrm>
            <a:off x="4066431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3" name="Shape 291"/>
          <p:cNvSpPr/>
          <p:nvPr/>
        </p:nvSpPr>
        <p:spPr>
          <a:xfrm>
            <a:off x="4277767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4" name="Shape 292"/>
          <p:cNvSpPr/>
          <p:nvPr/>
        </p:nvSpPr>
        <p:spPr>
          <a:xfrm>
            <a:off x="4489103" y="41576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5" name="Shape 293"/>
          <p:cNvSpPr/>
          <p:nvPr/>
        </p:nvSpPr>
        <p:spPr>
          <a:xfrm>
            <a:off x="4700290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6" name="Shape 294"/>
          <p:cNvSpPr/>
          <p:nvPr/>
        </p:nvSpPr>
        <p:spPr>
          <a:xfrm>
            <a:off x="4911626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7" name="Shape 295"/>
          <p:cNvSpPr/>
          <p:nvPr/>
        </p:nvSpPr>
        <p:spPr>
          <a:xfrm>
            <a:off x="5122962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8" name="Shape 296"/>
          <p:cNvSpPr/>
          <p:nvPr/>
        </p:nvSpPr>
        <p:spPr>
          <a:xfrm>
            <a:off x="5334298" y="41576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9" name="Shape 297"/>
          <p:cNvSpPr/>
          <p:nvPr/>
        </p:nvSpPr>
        <p:spPr>
          <a:xfrm>
            <a:off x="5545485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0" name="Shape 298"/>
          <p:cNvSpPr/>
          <p:nvPr/>
        </p:nvSpPr>
        <p:spPr>
          <a:xfrm>
            <a:off x="5756821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1" name="Shape 299"/>
          <p:cNvSpPr/>
          <p:nvPr/>
        </p:nvSpPr>
        <p:spPr>
          <a:xfrm>
            <a:off x="5968157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2" name="Shape 300"/>
          <p:cNvSpPr/>
          <p:nvPr/>
        </p:nvSpPr>
        <p:spPr>
          <a:xfrm>
            <a:off x="6179493" y="41576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3" name="Shape 301"/>
          <p:cNvSpPr/>
          <p:nvPr/>
        </p:nvSpPr>
        <p:spPr>
          <a:xfrm>
            <a:off x="6390680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4" name="Shape 302"/>
          <p:cNvSpPr/>
          <p:nvPr/>
        </p:nvSpPr>
        <p:spPr>
          <a:xfrm>
            <a:off x="6602016" y="41576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5" name="Shape 303"/>
          <p:cNvSpPr/>
          <p:nvPr/>
        </p:nvSpPr>
        <p:spPr>
          <a:xfrm>
            <a:off x="6813352" y="41576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6" name="Shape 304"/>
          <p:cNvSpPr/>
          <p:nvPr/>
        </p:nvSpPr>
        <p:spPr>
          <a:xfrm>
            <a:off x="685800" y="43291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7" name="Shape 305"/>
          <p:cNvSpPr/>
          <p:nvPr/>
        </p:nvSpPr>
        <p:spPr>
          <a:xfrm>
            <a:off x="896987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8" name="Shape 306"/>
          <p:cNvSpPr/>
          <p:nvPr/>
        </p:nvSpPr>
        <p:spPr>
          <a:xfrm>
            <a:off x="1108323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9" name="Shape 307"/>
          <p:cNvSpPr/>
          <p:nvPr/>
        </p:nvSpPr>
        <p:spPr>
          <a:xfrm>
            <a:off x="1319659" y="43291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0" name="Shape 308"/>
          <p:cNvSpPr/>
          <p:nvPr/>
        </p:nvSpPr>
        <p:spPr>
          <a:xfrm>
            <a:off x="1530846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1" name="Shape 309"/>
          <p:cNvSpPr/>
          <p:nvPr/>
        </p:nvSpPr>
        <p:spPr>
          <a:xfrm>
            <a:off x="1742182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2" name="Shape 310"/>
          <p:cNvSpPr/>
          <p:nvPr/>
        </p:nvSpPr>
        <p:spPr>
          <a:xfrm>
            <a:off x="1953518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3" name="Shape 311"/>
          <p:cNvSpPr/>
          <p:nvPr/>
        </p:nvSpPr>
        <p:spPr>
          <a:xfrm>
            <a:off x="2164854" y="43291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4" name="Shape 312"/>
          <p:cNvSpPr/>
          <p:nvPr/>
        </p:nvSpPr>
        <p:spPr>
          <a:xfrm>
            <a:off x="2376041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5" name="Shape 313"/>
          <p:cNvSpPr/>
          <p:nvPr/>
        </p:nvSpPr>
        <p:spPr>
          <a:xfrm>
            <a:off x="2587377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6" name="Shape 314"/>
          <p:cNvSpPr/>
          <p:nvPr/>
        </p:nvSpPr>
        <p:spPr>
          <a:xfrm>
            <a:off x="2798713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7" name="Shape 315"/>
          <p:cNvSpPr/>
          <p:nvPr/>
        </p:nvSpPr>
        <p:spPr>
          <a:xfrm>
            <a:off x="3010049" y="43291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8" name="Shape 316"/>
          <p:cNvSpPr/>
          <p:nvPr/>
        </p:nvSpPr>
        <p:spPr>
          <a:xfrm>
            <a:off x="3221236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9" name="Shape 317"/>
          <p:cNvSpPr/>
          <p:nvPr/>
        </p:nvSpPr>
        <p:spPr>
          <a:xfrm>
            <a:off x="3432572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0" name="Shape 318"/>
          <p:cNvSpPr/>
          <p:nvPr/>
        </p:nvSpPr>
        <p:spPr>
          <a:xfrm>
            <a:off x="3643908" y="43291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1" name="Shape 319"/>
          <p:cNvSpPr/>
          <p:nvPr/>
        </p:nvSpPr>
        <p:spPr>
          <a:xfrm>
            <a:off x="3855095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2" name="Shape 320"/>
          <p:cNvSpPr/>
          <p:nvPr/>
        </p:nvSpPr>
        <p:spPr>
          <a:xfrm>
            <a:off x="4066431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3" name="Shape 321"/>
          <p:cNvSpPr/>
          <p:nvPr/>
        </p:nvSpPr>
        <p:spPr>
          <a:xfrm>
            <a:off x="4277767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4" name="Shape 322"/>
          <p:cNvSpPr/>
          <p:nvPr/>
        </p:nvSpPr>
        <p:spPr>
          <a:xfrm>
            <a:off x="4489103" y="43291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5" name="Shape 323"/>
          <p:cNvSpPr/>
          <p:nvPr/>
        </p:nvSpPr>
        <p:spPr>
          <a:xfrm>
            <a:off x="4700290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6" name="Shape 324"/>
          <p:cNvSpPr/>
          <p:nvPr/>
        </p:nvSpPr>
        <p:spPr>
          <a:xfrm>
            <a:off x="4911626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7" name="Shape 325"/>
          <p:cNvSpPr/>
          <p:nvPr/>
        </p:nvSpPr>
        <p:spPr>
          <a:xfrm>
            <a:off x="5122962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8" name="Shape 326"/>
          <p:cNvSpPr/>
          <p:nvPr/>
        </p:nvSpPr>
        <p:spPr>
          <a:xfrm>
            <a:off x="5334298" y="43291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9" name="Shape 327"/>
          <p:cNvSpPr/>
          <p:nvPr/>
        </p:nvSpPr>
        <p:spPr>
          <a:xfrm>
            <a:off x="5545485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0" name="Shape 328"/>
          <p:cNvSpPr/>
          <p:nvPr/>
        </p:nvSpPr>
        <p:spPr>
          <a:xfrm>
            <a:off x="5756821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1" name="Shape 329"/>
          <p:cNvSpPr/>
          <p:nvPr/>
        </p:nvSpPr>
        <p:spPr>
          <a:xfrm>
            <a:off x="5968157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2" name="Shape 330"/>
          <p:cNvSpPr/>
          <p:nvPr/>
        </p:nvSpPr>
        <p:spPr>
          <a:xfrm>
            <a:off x="6179493" y="43291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3" name="Shape 331"/>
          <p:cNvSpPr/>
          <p:nvPr/>
        </p:nvSpPr>
        <p:spPr>
          <a:xfrm>
            <a:off x="6390680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4" name="Shape 332"/>
          <p:cNvSpPr/>
          <p:nvPr/>
        </p:nvSpPr>
        <p:spPr>
          <a:xfrm>
            <a:off x="6602016" y="43291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5" name="Shape 333"/>
          <p:cNvSpPr/>
          <p:nvPr/>
        </p:nvSpPr>
        <p:spPr>
          <a:xfrm>
            <a:off x="6813352" y="43291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6" name="Shape 334"/>
          <p:cNvSpPr/>
          <p:nvPr/>
        </p:nvSpPr>
        <p:spPr>
          <a:xfrm>
            <a:off x="685800" y="45005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7" name="Shape 335"/>
          <p:cNvSpPr/>
          <p:nvPr/>
        </p:nvSpPr>
        <p:spPr>
          <a:xfrm>
            <a:off x="896987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8" name="Shape 336"/>
          <p:cNvSpPr/>
          <p:nvPr/>
        </p:nvSpPr>
        <p:spPr>
          <a:xfrm>
            <a:off x="1108323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9" name="Shape 337"/>
          <p:cNvSpPr/>
          <p:nvPr/>
        </p:nvSpPr>
        <p:spPr>
          <a:xfrm>
            <a:off x="1319659" y="45005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0" name="Shape 338"/>
          <p:cNvSpPr/>
          <p:nvPr/>
        </p:nvSpPr>
        <p:spPr>
          <a:xfrm>
            <a:off x="1530846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1" name="Shape 339"/>
          <p:cNvSpPr/>
          <p:nvPr/>
        </p:nvSpPr>
        <p:spPr>
          <a:xfrm>
            <a:off x="1742182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2" name="Shape 340"/>
          <p:cNvSpPr/>
          <p:nvPr/>
        </p:nvSpPr>
        <p:spPr>
          <a:xfrm>
            <a:off x="1953518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3" name="Shape 341"/>
          <p:cNvSpPr/>
          <p:nvPr/>
        </p:nvSpPr>
        <p:spPr>
          <a:xfrm>
            <a:off x="2164854" y="45005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4" name="Shape 342"/>
          <p:cNvSpPr/>
          <p:nvPr/>
        </p:nvSpPr>
        <p:spPr>
          <a:xfrm>
            <a:off x="2376041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5" name="Shape 343"/>
          <p:cNvSpPr/>
          <p:nvPr/>
        </p:nvSpPr>
        <p:spPr>
          <a:xfrm>
            <a:off x="2587377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6" name="Shape 344"/>
          <p:cNvSpPr/>
          <p:nvPr/>
        </p:nvSpPr>
        <p:spPr>
          <a:xfrm>
            <a:off x="2798713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7" name="Shape 345"/>
          <p:cNvSpPr/>
          <p:nvPr/>
        </p:nvSpPr>
        <p:spPr>
          <a:xfrm>
            <a:off x="3010049" y="45005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8" name="Shape 346"/>
          <p:cNvSpPr/>
          <p:nvPr/>
        </p:nvSpPr>
        <p:spPr>
          <a:xfrm>
            <a:off x="3221236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9" name="Shape 347"/>
          <p:cNvSpPr/>
          <p:nvPr/>
        </p:nvSpPr>
        <p:spPr>
          <a:xfrm>
            <a:off x="3432572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0" name="Shape 348"/>
          <p:cNvSpPr/>
          <p:nvPr/>
        </p:nvSpPr>
        <p:spPr>
          <a:xfrm>
            <a:off x="3643908" y="45005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1" name="Shape 349"/>
          <p:cNvSpPr/>
          <p:nvPr/>
        </p:nvSpPr>
        <p:spPr>
          <a:xfrm>
            <a:off x="3855095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2" name="Shape 350"/>
          <p:cNvSpPr/>
          <p:nvPr/>
        </p:nvSpPr>
        <p:spPr>
          <a:xfrm>
            <a:off x="4066431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3" name="Shape 351"/>
          <p:cNvSpPr/>
          <p:nvPr/>
        </p:nvSpPr>
        <p:spPr>
          <a:xfrm>
            <a:off x="4277767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4" name="Shape 352"/>
          <p:cNvSpPr/>
          <p:nvPr/>
        </p:nvSpPr>
        <p:spPr>
          <a:xfrm>
            <a:off x="4489103" y="45005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5" name="Shape 353"/>
          <p:cNvSpPr/>
          <p:nvPr/>
        </p:nvSpPr>
        <p:spPr>
          <a:xfrm>
            <a:off x="4700290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6" name="Shape 354"/>
          <p:cNvSpPr/>
          <p:nvPr/>
        </p:nvSpPr>
        <p:spPr>
          <a:xfrm>
            <a:off x="4911626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7" name="Shape 355"/>
          <p:cNvSpPr/>
          <p:nvPr/>
        </p:nvSpPr>
        <p:spPr>
          <a:xfrm>
            <a:off x="5122962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8" name="Shape 356"/>
          <p:cNvSpPr/>
          <p:nvPr/>
        </p:nvSpPr>
        <p:spPr>
          <a:xfrm>
            <a:off x="5334298" y="45005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9" name="Shape 357"/>
          <p:cNvSpPr/>
          <p:nvPr/>
        </p:nvSpPr>
        <p:spPr>
          <a:xfrm>
            <a:off x="5545485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0" name="Shape 358"/>
          <p:cNvSpPr/>
          <p:nvPr/>
        </p:nvSpPr>
        <p:spPr>
          <a:xfrm>
            <a:off x="5756821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1" name="Shape 359"/>
          <p:cNvSpPr/>
          <p:nvPr/>
        </p:nvSpPr>
        <p:spPr>
          <a:xfrm>
            <a:off x="5968157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2" name="Shape 360"/>
          <p:cNvSpPr/>
          <p:nvPr/>
        </p:nvSpPr>
        <p:spPr>
          <a:xfrm>
            <a:off x="6179493" y="45005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3" name="Shape 361"/>
          <p:cNvSpPr/>
          <p:nvPr/>
        </p:nvSpPr>
        <p:spPr>
          <a:xfrm>
            <a:off x="6390680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4" name="Shape 362"/>
          <p:cNvSpPr/>
          <p:nvPr/>
        </p:nvSpPr>
        <p:spPr>
          <a:xfrm>
            <a:off x="6602016" y="45005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5" name="Shape 363"/>
          <p:cNvSpPr/>
          <p:nvPr/>
        </p:nvSpPr>
        <p:spPr>
          <a:xfrm>
            <a:off x="6813352" y="45005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6" name="Shape 364"/>
          <p:cNvSpPr/>
          <p:nvPr/>
        </p:nvSpPr>
        <p:spPr>
          <a:xfrm>
            <a:off x="685800" y="46720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7" name="Shape 365"/>
          <p:cNvSpPr/>
          <p:nvPr/>
        </p:nvSpPr>
        <p:spPr>
          <a:xfrm>
            <a:off x="896987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8" name="Shape 366"/>
          <p:cNvSpPr/>
          <p:nvPr/>
        </p:nvSpPr>
        <p:spPr>
          <a:xfrm>
            <a:off x="1108323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9" name="Shape 367"/>
          <p:cNvSpPr/>
          <p:nvPr/>
        </p:nvSpPr>
        <p:spPr>
          <a:xfrm>
            <a:off x="1319659" y="46720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0" name="Shape 368"/>
          <p:cNvSpPr/>
          <p:nvPr/>
        </p:nvSpPr>
        <p:spPr>
          <a:xfrm>
            <a:off x="1530846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1" name="Shape 369"/>
          <p:cNvSpPr/>
          <p:nvPr/>
        </p:nvSpPr>
        <p:spPr>
          <a:xfrm>
            <a:off x="1742182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2" name="Shape 370"/>
          <p:cNvSpPr/>
          <p:nvPr/>
        </p:nvSpPr>
        <p:spPr>
          <a:xfrm>
            <a:off x="1953518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3" name="Shape 371"/>
          <p:cNvSpPr/>
          <p:nvPr/>
        </p:nvSpPr>
        <p:spPr>
          <a:xfrm>
            <a:off x="2164854" y="46720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4" name="Shape 372"/>
          <p:cNvSpPr/>
          <p:nvPr/>
        </p:nvSpPr>
        <p:spPr>
          <a:xfrm>
            <a:off x="2376041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5" name="Shape 373"/>
          <p:cNvSpPr/>
          <p:nvPr/>
        </p:nvSpPr>
        <p:spPr>
          <a:xfrm>
            <a:off x="2587377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6" name="Shape 374"/>
          <p:cNvSpPr/>
          <p:nvPr/>
        </p:nvSpPr>
        <p:spPr>
          <a:xfrm>
            <a:off x="2798713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7" name="Shape 375"/>
          <p:cNvSpPr/>
          <p:nvPr/>
        </p:nvSpPr>
        <p:spPr>
          <a:xfrm>
            <a:off x="3010049" y="46720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8" name="Shape 376"/>
          <p:cNvSpPr/>
          <p:nvPr/>
        </p:nvSpPr>
        <p:spPr>
          <a:xfrm>
            <a:off x="3221236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9" name="Shape 377"/>
          <p:cNvSpPr/>
          <p:nvPr/>
        </p:nvSpPr>
        <p:spPr>
          <a:xfrm>
            <a:off x="3432572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0" name="Shape 378"/>
          <p:cNvSpPr/>
          <p:nvPr/>
        </p:nvSpPr>
        <p:spPr>
          <a:xfrm>
            <a:off x="3643908" y="46720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1" name="Shape 379"/>
          <p:cNvSpPr/>
          <p:nvPr/>
        </p:nvSpPr>
        <p:spPr>
          <a:xfrm>
            <a:off x="3855095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2" name="Shape 380"/>
          <p:cNvSpPr/>
          <p:nvPr/>
        </p:nvSpPr>
        <p:spPr>
          <a:xfrm>
            <a:off x="4066431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3" name="Shape 381"/>
          <p:cNvSpPr/>
          <p:nvPr/>
        </p:nvSpPr>
        <p:spPr>
          <a:xfrm>
            <a:off x="4277767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4" name="Shape 382"/>
          <p:cNvSpPr/>
          <p:nvPr/>
        </p:nvSpPr>
        <p:spPr>
          <a:xfrm>
            <a:off x="4489103" y="46720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5" name="Shape 383"/>
          <p:cNvSpPr/>
          <p:nvPr/>
        </p:nvSpPr>
        <p:spPr>
          <a:xfrm>
            <a:off x="4700290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6" name="Shape 384"/>
          <p:cNvSpPr/>
          <p:nvPr/>
        </p:nvSpPr>
        <p:spPr>
          <a:xfrm>
            <a:off x="4911626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7" name="Shape 385"/>
          <p:cNvSpPr/>
          <p:nvPr/>
        </p:nvSpPr>
        <p:spPr>
          <a:xfrm>
            <a:off x="5122962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8" name="Shape 386"/>
          <p:cNvSpPr/>
          <p:nvPr/>
        </p:nvSpPr>
        <p:spPr>
          <a:xfrm>
            <a:off x="5334298" y="46720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9" name="Shape 387"/>
          <p:cNvSpPr/>
          <p:nvPr/>
        </p:nvSpPr>
        <p:spPr>
          <a:xfrm>
            <a:off x="5545485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0" name="Shape 388"/>
          <p:cNvSpPr/>
          <p:nvPr/>
        </p:nvSpPr>
        <p:spPr>
          <a:xfrm>
            <a:off x="5756821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1" name="Shape 389"/>
          <p:cNvSpPr/>
          <p:nvPr/>
        </p:nvSpPr>
        <p:spPr>
          <a:xfrm>
            <a:off x="5968157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2" name="Shape 390"/>
          <p:cNvSpPr/>
          <p:nvPr/>
        </p:nvSpPr>
        <p:spPr>
          <a:xfrm>
            <a:off x="6179493" y="46720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3" name="Shape 391"/>
          <p:cNvSpPr/>
          <p:nvPr/>
        </p:nvSpPr>
        <p:spPr>
          <a:xfrm>
            <a:off x="6390680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4" name="Shape 392"/>
          <p:cNvSpPr/>
          <p:nvPr/>
        </p:nvSpPr>
        <p:spPr>
          <a:xfrm>
            <a:off x="6602016" y="46720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5" name="Shape 393"/>
          <p:cNvSpPr/>
          <p:nvPr/>
        </p:nvSpPr>
        <p:spPr>
          <a:xfrm>
            <a:off x="6813352" y="46720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6" name="Shape 394"/>
          <p:cNvSpPr/>
          <p:nvPr/>
        </p:nvSpPr>
        <p:spPr>
          <a:xfrm>
            <a:off x="685800" y="48434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7" name="Shape 395"/>
          <p:cNvSpPr/>
          <p:nvPr/>
        </p:nvSpPr>
        <p:spPr>
          <a:xfrm>
            <a:off x="896987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8" name="Shape 396"/>
          <p:cNvSpPr/>
          <p:nvPr/>
        </p:nvSpPr>
        <p:spPr>
          <a:xfrm>
            <a:off x="1108323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9" name="Shape 397"/>
          <p:cNvSpPr/>
          <p:nvPr/>
        </p:nvSpPr>
        <p:spPr>
          <a:xfrm>
            <a:off x="1319659" y="48434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0" name="Shape 398"/>
          <p:cNvSpPr/>
          <p:nvPr/>
        </p:nvSpPr>
        <p:spPr>
          <a:xfrm>
            <a:off x="1530846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1" name="Shape 399"/>
          <p:cNvSpPr/>
          <p:nvPr/>
        </p:nvSpPr>
        <p:spPr>
          <a:xfrm>
            <a:off x="1742182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2" name="Shape 400"/>
          <p:cNvSpPr/>
          <p:nvPr/>
        </p:nvSpPr>
        <p:spPr>
          <a:xfrm>
            <a:off x="1953518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3" name="Shape 401"/>
          <p:cNvSpPr/>
          <p:nvPr/>
        </p:nvSpPr>
        <p:spPr>
          <a:xfrm>
            <a:off x="2164854" y="48434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4" name="Shape 402"/>
          <p:cNvSpPr/>
          <p:nvPr/>
        </p:nvSpPr>
        <p:spPr>
          <a:xfrm>
            <a:off x="2376041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5" name="Shape 403"/>
          <p:cNvSpPr/>
          <p:nvPr/>
        </p:nvSpPr>
        <p:spPr>
          <a:xfrm>
            <a:off x="2587377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6" name="Shape 404"/>
          <p:cNvSpPr/>
          <p:nvPr/>
        </p:nvSpPr>
        <p:spPr>
          <a:xfrm>
            <a:off x="2798713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7" name="Shape 405"/>
          <p:cNvSpPr/>
          <p:nvPr/>
        </p:nvSpPr>
        <p:spPr>
          <a:xfrm>
            <a:off x="3010049" y="48434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8" name="Shape 406"/>
          <p:cNvSpPr/>
          <p:nvPr/>
        </p:nvSpPr>
        <p:spPr>
          <a:xfrm>
            <a:off x="3221236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9" name="Shape 407"/>
          <p:cNvSpPr/>
          <p:nvPr/>
        </p:nvSpPr>
        <p:spPr>
          <a:xfrm>
            <a:off x="3432572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0" name="Shape 408"/>
          <p:cNvSpPr/>
          <p:nvPr/>
        </p:nvSpPr>
        <p:spPr>
          <a:xfrm>
            <a:off x="3643908" y="48434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1" name="Shape 409"/>
          <p:cNvSpPr/>
          <p:nvPr/>
        </p:nvSpPr>
        <p:spPr>
          <a:xfrm>
            <a:off x="3855095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2" name="Shape 410"/>
          <p:cNvSpPr/>
          <p:nvPr/>
        </p:nvSpPr>
        <p:spPr>
          <a:xfrm>
            <a:off x="4066431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3" name="Shape 411"/>
          <p:cNvSpPr/>
          <p:nvPr/>
        </p:nvSpPr>
        <p:spPr>
          <a:xfrm>
            <a:off x="4277767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4" name="Shape 412"/>
          <p:cNvSpPr/>
          <p:nvPr/>
        </p:nvSpPr>
        <p:spPr>
          <a:xfrm>
            <a:off x="4489103" y="48434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5" name="Shape 413"/>
          <p:cNvSpPr/>
          <p:nvPr/>
        </p:nvSpPr>
        <p:spPr>
          <a:xfrm>
            <a:off x="4700290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6" name="Shape 414"/>
          <p:cNvSpPr/>
          <p:nvPr/>
        </p:nvSpPr>
        <p:spPr>
          <a:xfrm>
            <a:off x="4911626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7" name="Shape 415"/>
          <p:cNvSpPr/>
          <p:nvPr/>
        </p:nvSpPr>
        <p:spPr>
          <a:xfrm>
            <a:off x="5122962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8" name="Shape 416"/>
          <p:cNvSpPr/>
          <p:nvPr/>
        </p:nvSpPr>
        <p:spPr>
          <a:xfrm>
            <a:off x="5334298" y="48434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9" name="Shape 417"/>
          <p:cNvSpPr/>
          <p:nvPr/>
        </p:nvSpPr>
        <p:spPr>
          <a:xfrm>
            <a:off x="5545485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0" name="Shape 418"/>
          <p:cNvSpPr/>
          <p:nvPr/>
        </p:nvSpPr>
        <p:spPr>
          <a:xfrm>
            <a:off x="5756821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1" name="Shape 419"/>
          <p:cNvSpPr/>
          <p:nvPr/>
        </p:nvSpPr>
        <p:spPr>
          <a:xfrm>
            <a:off x="5968157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2" name="Shape 420"/>
          <p:cNvSpPr/>
          <p:nvPr/>
        </p:nvSpPr>
        <p:spPr>
          <a:xfrm>
            <a:off x="6179493" y="48434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3" name="Shape 421"/>
          <p:cNvSpPr/>
          <p:nvPr/>
        </p:nvSpPr>
        <p:spPr>
          <a:xfrm>
            <a:off x="6390680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4" name="Shape 422"/>
          <p:cNvSpPr/>
          <p:nvPr/>
        </p:nvSpPr>
        <p:spPr>
          <a:xfrm>
            <a:off x="6602016" y="484346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5" name="Shape 423"/>
          <p:cNvSpPr/>
          <p:nvPr/>
        </p:nvSpPr>
        <p:spPr>
          <a:xfrm>
            <a:off x="6813352" y="484346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6" name="Shape 424"/>
          <p:cNvSpPr/>
          <p:nvPr/>
        </p:nvSpPr>
        <p:spPr>
          <a:xfrm>
            <a:off x="685800" y="50149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7" name="Shape 425"/>
          <p:cNvSpPr/>
          <p:nvPr/>
        </p:nvSpPr>
        <p:spPr>
          <a:xfrm>
            <a:off x="896987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8" name="Shape 426"/>
          <p:cNvSpPr/>
          <p:nvPr/>
        </p:nvSpPr>
        <p:spPr>
          <a:xfrm>
            <a:off x="1108323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9" name="Shape 427"/>
          <p:cNvSpPr/>
          <p:nvPr/>
        </p:nvSpPr>
        <p:spPr>
          <a:xfrm>
            <a:off x="1319659" y="50149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0" name="Shape 428"/>
          <p:cNvSpPr/>
          <p:nvPr/>
        </p:nvSpPr>
        <p:spPr>
          <a:xfrm>
            <a:off x="1530846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1" name="Shape 429"/>
          <p:cNvSpPr/>
          <p:nvPr/>
        </p:nvSpPr>
        <p:spPr>
          <a:xfrm>
            <a:off x="1742182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2" name="Shape 430"/>
          <p:cNvSpPr/>
          <p:nvPr/>
        </p:nvSpPr>
        <p:spPr>
          <a:xfrm>
            <a:off x="1953518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3" name="Shape 431"/>
          <p:cNvSpPr/>
          <p:nvPr/>
        </p:nvSpPr>
        <p:spPr>
          <a:xfrm>
            <a:off x="2164854" y="50149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4" name="Shape 432"/>
          <p:cNvSpPr/>
          <p:nvPr/>
        </p:nvSpPr>
        <p:spPr>
          <a:xfrm>
            <a:off x="2376041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5" name="Shape 433"/>
          <p:cNvSpPr/>
          <p:nvPr/>
        </p:nvSpPr>
        <p:spPr>
          <a:xfrm>
            <a:off x="2587377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6" name="Shape 434"/>
          <p:cNvSpPr/>
          <p:nvPr/>
        </p:nvSpPr>
        <p:spPr>
          <a:xfrm>
            <a:off x="2798713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7" name="Shape 435"/>
          <p:cNvSpPr/>
          <p:nvPr/>
        </p:nvSpPr>
        <p:spPr>
          <a:xfrm>
            <a:off x="3010049" y="50149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8" name="Shape 436"/>
          <p:cNvSpPr/>
          <p:nvPr/>
        </p:nvSpPr>
        <p:spPr>
          <a:xfrm>
            <a:off x="3221236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9" name="Shape 437"/>
          <p:cNvSpPr/>
          <p:nvPr/>
        </p:nvSpPr>
        <p:spPr>
          <a:xfrm>
            <a:off x="3432572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0" name="Shape 438"/>
          <p:cNvSpPr/>
          <p:nvPr/>
        </p:nvSpPr>
        <p:spPr>
          <a:xfrm>
            <a:off x="3643908" y="50149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1" name="Shape 439"/>
          <p:cNvSpPr/>
          <p:nvPr/>
        </p:nvSpPr>
        <p:spPr>
          <a:xfrm>
            <a:off x="3855095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2" name="Shape 440"/>
          <p:cNvSpPr/>
          <p:nvPr/>
        </p:nvSpPr>
        <p:spPr>
          <a:xfrm>
            <a:off x="4066431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3" name="Shape 441"/>
          <p:cNvSpPr/>
          <p:nvPr/>
        </p:nvSpPr>
        <p:spPr>
          <a:xfrm>
            <a:off x="4277767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4" name="Shape 442"/>
          <p:cNvSpPr/>
          <p:nvPr/>
        </p:nvSpPr>
        <p:spPr>
          <a:xfrm>
            <a:off x="4489103" y="50149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5" name="Shape 443"/>
          <p:cNvSpPr/>
          <p:nvPr/>
        </p:nvSpPr>
        <p:spPr>
          <a:xfrm>
            <a:off x="4700290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6" name="Shape 444"/>
          <p:cNvSpPr/>
          <p:nvPr/>
        </p:nvSpPr>
        <p:spPr>
          <a:xfrm>
            <a:off x="4911626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7" name="Shape 445"/>
          <p:cNvSpPr/>
          <p:nvPr/>
        </p:nvSpPr>
        <p:spPr>
          <a:xfrm>
            <a:off x="5122962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8" name="Shape 446"/>
          <p:cNvSpPr/>
          <p:nvPr/>
        </p:nvSpPr>
        <p:spPr>
          <a:xfrm>
            <a:off x="5334298" y="5014913"/>
            <a:ext cx="173087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9" name="Shape 447"/>
          <p:cNvSpPr/>
          <p:nvPr/>
        </p:nvSpPr>
        <p:spPr>
          <a:xfrm>
            <a:off x="5545485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0" name="Shape 448"/>
          <p:cNvSpPr/>
          <p:nvPr/>
        </p:nvSpPr>
        <p:spPr>
          <a:xfrm>
            <a:off x="5756821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1" name="Shape 449"/>
          <p:cNvSpPr/>
          <p:nvPr/>
        </p:nvSpPr>
        <p:spPr>
          <a:xfrm>
            <a:off x="5968157" y="5014913"/>
            <a:ext cx="173236" cy="133350"/>
          </a:xfrm>
          <a:prstGeom prst="rect">
            <a:avLst/>
          </a:prstGeom>
          <a:solidFill>
            <a:srgbClr val="855AC6">
              <a:alpha val="8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2" name="Shape 450"/>
          <p:cNvSpPr/>
          <p:nvPr/>
        </p:nvSpPr>
        <p:spPr>
          <a:xfrm>
            <a:off x="6179493" y="5014913"/>
            <a:ext cx="173087" cy="133350"/>
          </a:xfrm>
          <a:prstGeom prst="rect">
            <a:avLst/>
          </a:prstGeom>
          <a:solidFill>
            <a:srgbClr val="B696DC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3" name="Shape 451"/>
          <p:cNvSpPr/>
          <p:nvPr/>
        </p:nvSpPr>
        <p:spPr>
          <a:xfrm>
            <a:off x="6390680" y="5014913"/>
            <a:ext cx="173236" cy="133350"/>
          </a:xfrm>
          <a:prstGeom prst="rect">
            <a:avLst/>
          </a:prstGeom>
          <a:solidFill>
            <a:srgbClr val="B696DC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4" name="Shape 452"/>
          <p:cNvSpPr/>
          <p:nvPr/>
        </p:nvSpPr>
        <p:spPr>
          <a:xfrm>
            <a:off x="6602016" y="5014913"/>
            <a:ext cx="173236" cy="133350"/>
          </a:xfrm>
          <a:prstGeom prst="rect">
            <a:avLst/>
          </a:prstGeom>
          <a:solidFill>
            <a:srgbClr val="B696DC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5" name="Shape 453"/>
          <p:cNvSpPr/>
          <p:nvPr/>
        </p:nvSpPr>
        <p:spPr>
          <a:xfrm>
            <a:off x="6813352" y="5014913"/>
            <a:ext cx="173087" cy="133350"/>
          </a:xfrm>
          <a:prstGeom prst="rect">
            <a:avLst/>
          </a:prstGeom>
          <a:solidFill>
            <a:srgbClr val="B696DC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6" name="Shape 454"/>
          <p:cNvSpPr/>
          <p:nvPr/>
        </p:nvSpPr>
        <p:spPr>
          <a:xfrm>
            <a:off x="685800" y="5186363"/>
            <a:ext cx="173087" cy="133350"/>
          </a:xfrm>
          <a:prstGeom prst="rect">
            <a:avLst/>
          </a:prstGeom>
          <a:solidFill>
            <a:srgbClr val="B696DC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7" name="Shape 455"/>
          <p:cNvSpPr/>
          <p:nvPr/>
        </p:nvSpPr>
        <p:spPr>
          <a:xfrm>
            <a:off x="896987" y="5186363"/>
            <a:ext cx="173236" cy="133350"/>
          </a:xfrm>
          <a:prstGeom prst="rect">
            <a:avLst/>
          </a:prstGeom>
          <a:solidFill>
            <a:srgbClr val="B696DC">
              <a:alpha val="4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8" name="Text 456"/>
          <p:cNvSpPr/>
          <p:nvPr/>
        </p:nvSpPr>
        <p:spPr>
          <a:xfrm>
            <a:off x="685800" y="5529902"/>
            <a:ext cx="648981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 punto = </a:t>
            </a:r>
            <a:r>
              <a:rPr lang="en-US" sz="1350" i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 persona-año perdido </a:t>
            </a:r>
            <a:r>
              <a:rPr lang="en-US" sz="135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 fricción que no entra en el informe.</a:t>
            </a:r>
            <a:endParaRPr lang="en-US" sz="1350" dirty="0"/>
          </a:p>
        </p:txBody>
      </p:sp>
      <p:sp>
        <p:nvSpPr>
          <p:cNvPr id="459" name="Shape 457"/>
          <p:cNvSpPr/>
          <p:nvPr/>
        </p:nvSpPr>
        <p:spPr>
          <a:xfrm>
            <a:off x="7329488" y="2614613"/>
            <a:ext cx="2802731" cy="108227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0" name="Text 458"/>
          <p:cNvSpPr/>
          <p:nvPr/>
        </p:nvSpPr>
        <p:spPr>
          <a:xfrm>
            <a:off x="7491413" y="2757488"/>
            <a:ext cx="272676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9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14</a:t>
            </a:r>
            <a:endParaRPr lang="en-US" sz="3000" dirty="0"/>
          </a:p>
        </p:txBody>
      </p:sp>
      <p:sp>
        <p:nvSpPr>
          <p:cNvPr id="461" name="Text 459"/>
          <p:cNvSpPr/>
          <p:nvPr/>
        </p:nvSpPr>
        <p:spPr>
          <a:xfrm>
            <a:off x="7491413" y="3195638"/>
            <a:ext cx="2726769" cy="175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63" b="1" kern="0" spc="12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FRICCIONES / EMPLEADO / SEMANA</a:t>
            </a:r>
            <a:endParaRPr lang="en-US" sz="863" dirty="0"/>
          </a:p>
        </p:txBody>
      </p:sp>
      <p:sp>
        <p:nvSpPr>
          <p:cNvPr id="462" name="Text 460"/>
          <p:cNvSpPr/>
          <p:nvPr/>
        </p:nvSpPr>
        <p:spPr>
          <a:xfrm>
            <a:off x="7491413" y="3389709"/>
            <a:ext cx="2726769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63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Nexthink, 20M endpoints</a:t>
            </a:r>
            <a:endParaRPr lang="en-US" sz="863" dirty="0"/>
          </a:p>
        </p:txBody>
      </p:sp>
      <p:sp>
        <p:nvSpPr>
          <p:cNvPr id="463" name="Shape 461"/>
          <p:cNvSpPr/>
          <p:nvPr/>
        </p:nvSpPr>
        <p:spPr>
          <a:xfrm>
            <a:off x="10227469" y="2614613"/>
            <a:ext cx="2802731" cy="1082278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4" name="Text 462"/>
          <p:cNvSpPr/>
          <p:nvPr/>
        </p:nvSpPr>
        <p:spPr>
          <a:xfrm>
            <a:off x="10389394" y="2757488"/>
            <a:ext cx="272676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9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3.2/5</a:t>
            </a:r>
            <a:endParaRPr lang="en-US" sz="3000" dirty="0"/>
          </a:p>
        </p:txBody>
      </p:sp>
      <p:sp>
        <p:nvSpPr>
          <p:cNvPr id="465" name="Text 463"/>
          <p:cNvSpPr/>
          <p:nvPr/>
        </p:nvSpPr>
        <p:spPr>
          <a:xfrm>
            <a:off x="10389394" y="3195638"/>
            <a:ext cx="2726769" cy="175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63" b="1" kern="0" spc="12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NOTA MEDIA A SUS HERRAMIENTAS IT</a:t>
            </a:r>
            <a:endParaRPr lang="en-US" sz="863" dirty="0"/>
          </a:p>
        </p:txBody>
      </p:sp>
      <p:sp>
        <p:nvSpPr>
          <p:cNvPr id="466" name="Text 464"/>
          <p:cNvSpPr/>
          <p:nvPr/>
        </p:nvSpPr>
        <p:spPr>
          <a:xfrm>
            <a:off x="10389394" y="3389709"/>
            <a:ext cx="2726769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63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Ivanti 2025</a:t>
            </a:r>
            <a:endParaRPr lang="en-US" sz="863" dirty="0"/>
          </a:p>
        </p:txBody>
      </p:sp>
      <p:sp>
        <p:nvSpPr>
          <p:cNvPr id="467" name="Shape 465"/>
          <p:cNvSpPr/>
          <p:nvPr/>
        </p:nvSpPr>
        <p:spPr>
          <a:xfrm>
            <a:off x="7329488" y="3792141"/>
            <a:ext cx="2802731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8" name="Text 466"/>
          <p:cNvSpPr/>
          <p:nvPr/>
        </p:nvSpPr>
        <p:spPr>
          <a:xfrm>
            <a:off x="7491413" y="3935016"/>
            <a:ext cx="272676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9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46%</a:t>
            </a:r>
            <a:endParaRPr lang="en-US" sz="3000" dirty="0"/>
          </a:p>
        </p:txBody>
      </p:sp>
      <p:sp>
        <p:nvSpPr>
          <p:cNvPr id="469" name="Text 467"/>
          <p:cNvSpPr/>
          <p:nvPr/>
        </p:nvSpPr>
        <p:spPr>
          <a:xfrm>
            <a:off x="7491413" y="4373166"/>
            <a:ext cx="2555081" cy="311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63" b="1" kern="0" spc="12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 POR DETRÁS EN TECNOLOGÍA MODERNA</a:t>
            </a:r>
            <a:endParaRPr lang="en-US" sz="863" dirty="0"/>
          </a:p>
        </p:txBody>
      </p:sp>
      <p:sp>
        <p:nvSpPr>
          <p:cNvPr id="470" name="Text 468"/>
          <p:cNvSpPr/>
          <p:nvPr/>
        </p:nvSpPr>
        <p:spPr>
          <a:xfrm>
            <a:off x="7491413" y="4704159"/>
            <a:ext cx="2726769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63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Ricoh Europe</a:t>
            </a:r>
            <a:endParaRPr lang="en-US" sz="863" dirty="0"/>
          </a:p>
        </p:txBody>
      </p:sp>
      <p:sp>
        <p:nvSpPr>
          <p:cNvPr id="471" name="Shape 469"/>
          <p:cNvSpPr/>
          <p:nvPr/>
        </p:nvSpPr>
        <p:spPr>
          <a:xfrm>
            <a:off x="10227469" y="3792141"/>
            <a:ext cx="2802731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2" name="Text 470"/>
          <p:cNvSpPr/>
          <p:nvPr/>
        </p:nvSpPr>
        <p:spPr>
          <a:xfrm>
            <a:off x="10389394" y="3935016"/>
            <a:ext cx="272676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kern="0" spc="-9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20%</a:t>
            </a:r>
            <a:endParaRPr lang="en-US" sz="3000" dirty="0"/>
          </a:p>
        </p:txBody>
      </p:sp>
      <p:sp>
        <p:nvSpPr>
          <p:cNvPr id="473" name="Text 471"/>
          <p:cNvSpPr/>
          <p:nvPr/>
        </p:nvSpPr>
        <p:spPr>
          <a:xfrm>
            <a:off x="10389394" y="4373166"/>
            <a:ext cx="2726769" cy="175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63" b="1" kern="0" spc="12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EMPLEADOS GLOBALMENTE ENGAGED</a:t>
            </a:r>
            <a:endParaRPr lang="en-US" sz="863" dirty="0"/>
          </a:p>
        </p:txBody>
      </p:sp>
      <p:sp>
        <p:nvSpPr>
          <p:cNvPr id="474" name="Text 472"/>
          <p:cNvSpPr/>
          <p:nvPr/>
        </p:nvSpPr>
        <p:spPr>
          <a:xfrm>
            <a:off x="10389394" y="4567238"/>
            <a:ext cx="2726769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63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Gallup 2026</a:t>
            </a:r>
            <a:endParaRPr lang="en-US" sz="863" dirty="0"/>
          </a:p>
        </p:txBody>
      </p:sp>
      <p:sp>
        <p:nvSpPr>
          <p:cNvPr id="475" name="Shape 473"/>
          <p:cNvSpPr/>
          <p:nvPr/>
        </p:nvSpPr>
        <p:spPr>
          <a:xfrm>
            <a:off x="7329488" y="5163741"/>
            <a:ext cx="5700713" cy="8191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6" name="Text 474"/>
          <p:cNvSpPr/>
          <p:nvPr/>
        </p:nvSpPr>
        <p:spPr>
          <a:xfrm>
            <a:off x="7481887" y="5278041"/>
            <a:ext cx="593550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13% de los tickets = 80% del tiempo perdido</a:t>
            </a:r>
            <a:endParaRPr lang="en-US" sz="1500" dirty="0"/>
          </a:p>
        </p:txBody>
      </p:sp>
      <p:sp>
        <p:nvSpPr>
          <p:cNvPr id="477" name="Text 475"/>
          <p:cNvSpPr/>
          <p:nvPr/>
        </p:nvSpPr>
        <p:spPr>
          <a:xfrm>
            <a:off x="7481887" y="5544741"/>
            <a:ext cx="59355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concentras IA en ese 13%, el ROI no es lineal — es exponencial.</a:t>
            </a:r>
            <a:endParaRPr lang="en-US" sz="938" dirty="0"/>
          </a:p>
        </p:txBody>
      </p:sp>
      <p:sp>
        <p:nvSpPr>
          <p:cNvPr id="478" name="Text 476"/>
          <p:cNvSpPr/>
          <p:nvPr/>
        </p:nvSpPr>
        <p:spPr>
          <a:xfrm>
            <a:off x="7481887" y="5744766"/>
            <a:ext cx="593550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FFFFFF">
                    <a:alpha val="7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HAPPYSIGNALS 2025</a:t>
            </a:r>
            <a:endParaRPr lang="en-US" sz="750" dirty="0"/>
          </a:p>
        </p:txBody>
      </p:sp>
      <p:sp>
        <p:nvSpPr>
          <p:cNvPr id="479" name="Shape 477"/>
          <p:cNvSpPr/>
          <p:nvPr/>
        </p:nvSpPr>
        <p:spPr>
          <a:xfrm>
            <a:off x="7329488" y="6135291"/>
            <a:ext cx="5700713" cy="535186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0" name="Shape 478"/>
          <p:cNvSpPr/>
          <p:nvPr/>
        </p:nvSpPr>
        <p:spPr>
          <a:xfrm>
            <a:off x="7329488" y="6135291"/>
            <a:ext cx="28575" cy="535186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1" name="Text 479"/>
          <p:cNvSpPr/>
          <p:nvPr/>
        </p:nvSpPr>
        <p:spPr>
          <a:xfrm>
            <a:off x="7491413" y="6230541"/>
            <a:ext cx="5945981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 resuelto en N1: media </a:t>
            </a:r>
            <a:r>
              <a:rPr lang="en-US" sz="863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2h </a:t>
            </a:r>
            <a:r>
              <a:rPr lang="en-US" sz="863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Ticket escalado a especialista: </a:t>
            </a:r>
            <a:r>
              <a:rPr lang="en-US" sz="863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9h 28'</a:t>
            </a:r>
            <a:endParaRPr lang="en-US" sz="863" dirty="0"/>
          </a:p>
        </p:txBody>
      </p:sp>
      <p:sp>
        <p:nvSpPr>
          <p:cNvPr id="482" name="Text 480"/>
          <p:cNvSpPr/>
          <p:nvPr/>
        </p:nvSpPr>
        <p:spPr>
          <a:xfrm>
            <a:off x="7491413" y="6421934"/>
            <a:ext cx="5945981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reasignación innecesaria: </a:t>
            </a:r>
            <a:r>
              <a:rPr lang="en-US" sz="863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−7,5h </a:t>
            </a:r>
            <a:r>
              <a:rPr lang="en-US" sz="863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productividad.</a:t>
            </a:r>
            <a:endParaRPr lang="en-US" sz="863" dirty="0"/>
          </a:p>
        </p:txBody>
      </p:sp>
      <p:pic>
        <p:nvPicPr>
          <p:cNvPr id="483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484" name="Text 481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485" name="Text 482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21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4367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858000" cy="7715250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533400" y="609600"/>
            <a:ext cx="63703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b="1" kern="0" spc="126" dirty="0">
                <a:solidFill>
                  <a:srgbClr val="FE5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 · EL COMPRADOR YA NO ES EL MISMO</a:t>
            </a:r>
            <a:endParaRPr lang="en-US" sz="788" dirty="0"/>
          </a:p>
        </p:txBody>
      </p:sp>
      <p:sp>
        <p:nvSpPr>
          <p:cNvPr id="5" name="Text 3"/>
          <p:cNvSpPr/>
          <p:nvPr/>
        </p:nvSpPr>
        <p:spPr>
          <a:xfrm>
            <a:off x="533400" y="904875"/>
            <a:ext cx="6370320" cy="418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Mismo proveedor. Mismo trimestre.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533400" y="1456283"/>
            <a:ext cx="5791200" cy="21717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3425" y="1637258"/>
            <a:ext cx="59302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BOLETÍN 01 · COMPRADOR: OPERACIONES IT · SLA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33425" y="2275433"/>
            <a:ext cx="539115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3425" y="2037308"/>
            <a:ext cx="85710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Disponibilidad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501729" y="1970633"/>
            <a:ext cx="69904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99,9% ✓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3425" y="2665958"/>
            <a:ext cx="539115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733425" y="2427833"/>
            <a:ext cx="13506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MTTR vs trim. anterior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583585" y="2361158"/>
            <a:ext cx="6171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−18% ✓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3425" y="3056483"/>
            <a:ext cx="539115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3425" y="2818358"/>
            <a:ext cx="11194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Cumplimiento ANS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644307" y="2751683"/>
            <a:ext cx="55646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97% ✓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3425" y="3208883"/>
            <a:ext cx="99104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Tickets cerrados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5464522" y="3142208"/>
            <a:ext cx="73625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12.480 ✓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33400" y="3875633"/>
            <a:ext cx="637032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"La operación funciona, pero interrumpe."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0" y="0"/>
            <a:ext cx="6858000" cy="7715250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7391400" y="609600"/>
            <a:ext cx="63703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b="1" kern="0" spc="126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XLA · OPERATIVO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7391400" y="904875"/>
            <a:ext cx="5964936" cy="7980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50" b="1" kern="0" spc="-29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Dos boletines </a:t>
            </a:r>
            <a:r>
              <a:rPr lang="en-US" sz="2850" b="1" kern="0" spc="-29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completamente distintos.</a:t>
            </a:r>
            <a:endParaRPr lang="en-US" sz="2850" dirty="0"/>
          </a:p>
        </p:txBody>
      </p:sp>
      <p:sp>
        <p:nvSpPr>
          <p:cNvPr id="23" name="Shape 21"/>
          <p:cNvSpPr/>
          <p:nvPr/>
        </p:nvSpPr>
        <p:spPr>
          <a:xfrm>
            <a:off x="7391400" y="1836241"/>
            <a:ext cx="5791200" cy="2095500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7591425" y="2017216"/>
            <a:ext cx="593026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FFFFFF">
                    <a:alpha val="5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BOLETÍN 02 · COMPRADOR: COO · CIO · CHRO · XLA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591425" y="2636341"/>
            <a:ext cx="53911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591425" y="2407741"/>
            <a:ext cx="117827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Sentimiento usuario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2506325" y="2350591"/>
            <a:ext cx="5524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3,2 / 5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591425" y="3007816"/>
            <a:ext cx="53911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591425" y="2779216"/>
            <a:ext cx="101649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Effort Score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12506325" y="2722066"/>
            <a:ext cx="5524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3,2 / 5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591425" y="3379291"/>
            <a:ext cx="539115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7591425" y="3150691"/>
            <a:ext cx="173075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Reasignaciones (−8pts NPS)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2652325" y="3093541"/>
            <a:ext cx="4064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28%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591425" y="3522166"/>
            <a:ext cx="15933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Fricciones digitales / sem.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12818120" y="3465016"/>
            <a:ext cx="2406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14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391400" y="4179391"/>
            <a:ext cx="1376363" cy="1128713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5"/>
          <p:cNvSpPr/>
          <p:nvPr/>
        </p:nvSpPr>
        <p:spPr>
          <a:xfrm>
            <a:off x="7534275" y="4303216"/>
            <a:ext cx="116681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FFFFFF">
                    <a:alpha val="5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SOPORTE REACTIVO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7534275" y="4608016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→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7534275" y="4874716"/>
            <a:ext cx="116681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Ejecución inteligente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8863013" y="4179391"/>
            <a:ext cx="1376363" cy="1128713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9005888" y="4303216"/>
            <a:ext cx="11494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FFFFFF">
                    <a:alpha val="5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RESOLVER TICKETS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9005888" y="4484191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→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9005888" y="4750891"/>
            <a:ext cx="55959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Evitarlos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10334625" y="4179391"/>
            <a:ext cx="1376363" cy="1128713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10477500" y="4303216"/>
            <a:ext cx="107453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FFFFFF">
                    <a:alpha val="5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MEDIR ACTIVIDAD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0477500" y="4484191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→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0477500" y="4750891"/>
            <a:ext cx="95473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Medir resultado</a:t>
            </a:r>
            <a:endParaRPr lang="en-US" sz="975" dirty="0"/>
          </a:p>
        </p:txBody>
      </p:sp>
      <p:sp>
        <p:nvSpPr>
          <p:cNvPr id="48" name="Shape 46"/>
          <p:cNvSpPr/>
          <p:nvPr/>
        </p:nvSpPr>
        <p:spPr>
          <a:xfrm>
            <a:off x="11806238" y="4179391"/>
            <a:ext cx="1376363" cy="1128713"/>
          </a:xfrm>
          <a:prstGeom prst="rect">
            <a:avLst/>
          </a:prstGeom>
          <a:solidFill>
            <a:srgbClr val="FFFFFF">
              <a:alpha val="2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11949113" y="4303216"/>
            <a:ext cx="81007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FFFFFF">
                    <a:alpha val="5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 QUE PASÓ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11949113" y="4484191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→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1949113" y="4750891"/>
            <a:ext cx="58013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Anticipar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7391400" y="5865539"/>
            <a:ext cx="6370320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"Y cada interrupción invisible erosiona productividad, confianza y control."</a:t>
            </a:r>
            <a:endParaRPr lang="en-US" sz="1350" dirty="0"/>
          </a:p>
        </p:txBody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rcRect t="-3571" b="-3571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55" name="Text 52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FFFFFF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21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61557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29079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LOS SEIS FRENTES ABIERTOS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942975"/>
            <a:ext cx="11576685" cy="16381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kern="0" spc="-72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Seis frentes abiertos en tu operación IT. Tu organización probablemente sufre al menos </a:t>
            </a:r>
            <a:r>
              <a:rPr lang="en-US" sz="4200" b="1" kern="0" spc="-72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cuatro a la vez.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85800" y="2714476"/>
            <a:ext cx="4025801" cy="184070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7" name="Text 5"/>
          <p:cNvSpPr/>
          <p:nvPr/>
        </p:nvSpPr>
        <p:spPr>
          <a:xfrm>
            <a:off x="885825" y="2895451"/>
            <a:ext cx="39883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-4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85825" y="3305026"/>
            <a:ext cx="398832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Productividad bloqueada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5825" y="3533626"/>
            <a:ext cx="39883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85825" y="3857476"/>
            <a:ext cx="373452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Tickets que bloquean trabajo. Empleados parados cobrando mientras IT resuelve.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5825" y="4269432"/>
            <a:ext cx="398832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71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FIXIFY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4951" y="2714476"/>
            <a:ext cx="4025950" cy="184070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13" name="Text 11"/>
          <p:cNvSpPr/>
          <p:nvPr/>
        </p:nvSpPr>
        <p:spPr>
          <a:xfrm>
            <a:off x="5044976" y="2895451"/>
            <a:ext cx="3988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-4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44976" y="3305026"/>
            <a:ext cx="3988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Experiencia y fuga de tiempo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44976" y="3533626"/>
            <a:ext cx="39884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226 p·a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44976" y="3857476"/>
            <a:ext cx="3988490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Personas-año perdidas. Que no aparecen en el informe de SLA.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44976" y="4269432"/>
            <a:ext cx="398849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71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NEXTHINK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04250" y="2714476"/>
            <a:ext cx="4025801" cy="184070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19" name="Text 17"/>
          <p:cNvSpPr/>
          <p:nvPr/>
        </p:nvSpPr>
        <p:spPr>
          <a:xfrm>
            <a:off x="9204275" y="2895451"/>
            <a:ext cx="39883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-4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204275" y="3305026"/>
            <a:ext cx="398832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Coste opaco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04275" y="3533626"/>
            <a:ext cx="39883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3×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204275" y="3857476"/>
            <a:ext cx="373452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Facturas en paralelo sin control. ESU Win10, SaaS sprawl, ROI no medido.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04275" y="4269432"/>
            <a:ext cx="398832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71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MULTI-FUENTE · 2025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4688532"/>
            <a:ext cx="4025801" cy="184070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25" name="Text 23"/>
          <p:cNvSpPr/>
          <p:nvPr/>
        </p:nvSpPr>
        <p:spPr>
          <a:xfrm>
            <a:off x="885825" y="4869507"/>
            <a:ext cx="39883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-4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85825" y="5279082"/>
            <a:ext cx="398832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Regulación en cascada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5825" y="5507682"/>
            <a:ext cx="39883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35M€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85825" y="5831532"/>
            <a:ext cx="373452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Tope de multa combinado. NIS2 · EU AI Act · DORA. Plazos cerrándose.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5825" y="6243489"/>
            <a:ext cx="398832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71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BOE · DIARIO UE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4951" y="4688532"/>
            <a:ext cx="4025950" cy="184070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31" name="Text 29"/>
          <p:cNvSpPr/>
          <p:nvPr/>
        </p:nvSpPr>
        <p:spPr>
          <a:xfrm>
            <a:off x="5044976" y="4869507"/>
            <a:ext cx="3988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-4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044976" y="5279082"/>
            <a:ext cx="398849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 sin retorno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44976" y="5507682"/>
            <a:ext cx="39884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044976" y="5831532"/>
            <a:ext cx="3734677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Pilotos enterprise sin ROI medible. Shadow AI usándose igual, fuera del perímetro.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44976" y="6243489"/>
            <a:ext cx="398849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71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NANDA 2025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004250" y="4688532"/>
            <a:ext cx="4025801" cy="184070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37" name="Text 35"/>
          <p:cNvSpPr/>
          <p:nvPr/>
        </p:nvSpPr>
        <p:spPr>
          <a:xfrm>
            <a:off x="9204275" y="4869507"/>
            <a:ext cx="398832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kern="0" spc="-4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06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204275" y="5279082"/>
            <a:ext cx="398832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Proveedor que no reta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204275" y="5507682"/>
            <a:ext cx="398832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38%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9204275" y="5831532"/>
            <a:ext cx="3734523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Clientes europeos piden más partner que proveedor. Uno de cada tres echa en falta criterio.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04275" y="6243489"/>
            <a:ext cx="398832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71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WHITELANE 2025/26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-548640" y="6681639"/>
            <a:ext cx="135788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35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SmartOPS responde a los seis en sus dos verticales.</a:t>
            </a:r>
            <a:endParaRPr lang="en-US" sz="135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21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92588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43619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LA FORMA EN QUE ENTELGY OPERA TECNOLOGÍA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942975"/>
            <a:ext cx="11576685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Entelgy opera tecnología </a:t>
            </a:r>
            <a:r>
              <a:rPr lang="en-US" sz="4200" b="1" kern="0" spc="-8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 el cambio y los procesos dentro </a:t>
            </a:r>
            <a:r>
              <a:rPr lang="en-US" sz="4200" b="1" kern="0" spc="-84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2196405"/>
            <a:ext cx="135788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Cuatro áreas tecnológicas. Dos capas que siempre van con ellas.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777430"/>
            <a:ext cx="1234440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8" name="Shape 6"/>
          <p:cNvSpPr/>
          <p:nvPr/>
        </p:nvSpPr>
        <p:spPr>
          <a:xfrm>
            <a:off x="685800" y="3358455"/>
            <a:ext cx="123444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9" name="Shape 7"/>
          <p:cNvSpPr/>
          <p:nvPr/>
        </p:nvSpPr>
        <p:spPr>
          <a:xfrm>
            <a:off x="685800" y="2777430"/>
            <a:ext cx="123444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0" name="Shape 8"/>
          <p:cNvSpPr/>
          <p:nvPr/>
        </p:nvSpPr>
        <p:spPr>
          <a:xfrm>
            <a:off x="685800" y="2777430"/>
            <a:ext cx="28575" cy="59055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1" name="Shape 9"/>
          <p:cNvSpPr/>
          <p:nvPr/>
        </p:nvSpPr>
        <p:spPr>
          <a:xfrm>
            <a:off x="13020675" y="2777430"/>
            <a:ext cx="9525" cy="590550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2" name="Text 10"/>
          <p:cNvSpPr/>
          <p:nvPr/>
        </p:nvSpPr>
        <p:spPr>
          <a:xfrm>
            <a:off x="923925" y="2891731"/>
            <a:ext cx="13924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32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CHANGE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23924" y="3101280"/>
            <a:ext cx="340213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 TRANSVERSAL · GESTIÓN DEL CAMBIO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958" y="2959298"/>
            <a:ext cx="1010031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75" dirty="0">
                <a:solidFill>
                  <a:srgbClr val="3A3A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Cualquier decisión tecnológica impacta en personas y cultura.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685800" y="3463230"/>
            <a:ext cx="12344400" cy="590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6" name="Shape 14"/>
          <p:cNvSpPr/>
          <p:nvPr/>
        </p:nvSpPr>
        <p:spPr>
          <a:xfrm>
            <a:off x="685800" y="4044255"/>
            <a:ext cx="123444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7" name="Shape 15"/>
          <p:cNvSpPr/>
          <p:nvPr/>
        </p:nvSpPr>
        <p:spPr>
          <a:xfrm>
            <a:off x="685800" y="3463230"/>
            <a:ext cx="123444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8" name="Shape 16"/>
          <p:cNvSpPr/>
          <p:nvPr/>
        </p:nvSpPr>
        <p:spPr>
          <a:xfrm>
            <a:off x="685800" y="3463230"/>
            <a:ext cx="28575" cy="59055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9" name="Shape 17"/>
          <p:cNvSpPr/>
          <p:nvPr/>
        </p:nvSpPr>
        <p:spPr>
          <a:xfrm>
            <a:off x="13020675" y="3463230"/>
            <a:ext cx="9525" cy="590550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20" name="Text 18"/>
          <p:cNvSpPr/>
          <p:nvPr/>
        </p:nvSpPr>
        <p:spPr>
          <a:xfrm>
            <a:off x="923925" y="3614589"/>
            <a:ext cx="2776538" cy="172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32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INTELIGENCIA DE PROCESOS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3924" y="3787080"/>
            <a:ext cx="355602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00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 TRANSVERSAL · ANÁLISIS Y REDISEÑO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958" y="3645098"/>
            <a:ext cx="10100310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75" dirty="0">
                <a:solidFill>
                  <a:srgbClr val="3A3A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Cualquier decisión tecnológica afecta a procesos antes que a sistemas.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685800" y="4244280"/>
            <a:ext cx="3014663" cy="251847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200"/>
          </a:p>
        </p:txBody>
      </p:sp>
      <p:sp>
        <p:nvSpPr>
          <p:cNvPr id="24" name="Text 22"/>
          <p:cNvSpPr/>
          <p:nvPr/>
        </p:nvSpPr>
        <p:spPr>
          <a:xfrm>
            <a:off x="866775" y="4444305"/>
            <a:ext cx="291798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ÁREA 01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6775" y="4625280"/>
            <a:ext cx="2917984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&amp; AI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66775" y="5098783"/>
            <a:ext cx="2732294" cy="369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Datasets, modelos en producción, copilots verticales.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95713" y="4244280"/>
            <a:ext cx="3014663" cy="251847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200"/>
          </a:p>
        </p:txBody>
      </p:sp>
      <p:sp>
        <p:nvSpPr>
          <p:cNvPr id="28" name="Text 26"/>
          <p:cNvSpPr/>
          <p:nvPr/>
        </p:nvSpPr>
        <p:spPr>
          <a:xfrm>
            <a:off x="3976687" y="4444305"/>
            <a:ext cx="291798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ÁREA 02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976687" y="4625280"/>
            <a:ext cx="2917984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 Engineering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976687" y="5098783"/>
            <a:ext cx="2917984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Plataformas a medida, integración y modernización.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05625" y="4244280"/>
            <a:ext cx="3014663" cy="2518470"/>
          </a:xfrm>
          <a:prstGeom prst="rect">
            <a:avLst/>
          </a:prstGeom>
          <a:solidFill>
            <a:srgbClr val="EDE3F7"/>
          </a:solidFill>
          <a:ln w="19050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 sz="3200"/>
          </a:p>
        </p:txBody>
      </p:sp>
      <p:sp>
        <p:nvSpPr>
          <p:cNvPr id="32" name="Text 30"/>
          <p:cNvSpPr/>
          <p:nvPr/>
        </p:nvSpPr>
        <p:spPr>
          <a:xfrm>
            <a:off x="7096125" y="4453830"/>
            <a:ext cx="28970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ÁREA 03 · SmartOPS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096125" y="4634805"/>
            <a:ext cx="2897029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Workplace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096125" y="5108308"/>
            <a:ext cx="2712672" cy="369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Puesto de trabajo gestionado · DWP · soporte 24×7 con IA.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24675" y="6715125"/>
            <a:ext cx="2976563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36" name="Shape 34"/>
          <p:cNvSpPr/>
          <p:nvPr/>
        </p:nvSpPr>
        <p:spPr>
          <a:xfrm>
            <a:off x="10015538" y="4244280"/>
            <a:ext cx="3014663" cy="2518470"/>
          </a:xfrm>
          <a:prstGeom prst="rect">
            <a:avLst/>
          </a:prstGeom>
          <a:solidFill>
            <a:srgbClr val="EDE3F7"/>
          </a:solidFill>
          <a:ln w="19050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 sz="3200"/>
          </a:p>
        </p:txBody>
      </p:sp>
      <p:sp>
        <p:nvSpPr>
          <p:cNvPr id="37" name="Text 35"/>
          <p:cNvSpPr/>
          <p:nvPr/>
        </p:nvSpPr>
        <p:spPr>
          <a:xfrm>
            <a:off x="10206038" y="4453830"/>
            <a:ext cx="28970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20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ÁREA 04 · SmartOPS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206038" y="4634805"/>
            <a:ext cx="2897029" cy="220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Operations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0206038" y="5108308"/>
            <a:ext cx="2897029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Infraestructura, cloud, observabilidad y AIOps.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0034588" y="6715125"/>
            <a:ext cx="2976563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41" name="Text 39"/>
          <p:cNvSpPr/>
          <p:nvPr/>
        </p:nvSpPr>
        <p:spPr>
          <a:xfrm>
            <a:off x="68580" y="6896100"/>
            <a:ext cx="135788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 que ves a partir de aquí es ese método aplicado al puesto de trabajo y la infraestructura.</a:t>
            </a:r>
            <a:endParaRPr lang="en-US" sz="135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21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09779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25230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ARQUITECTURA SMARTOPS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942975"/>
            <a:ext cx="11576685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SmartOPS no es un servicio. Es un </a:t>
            </a:r>
            <a:r>
              <a:rPr lang="en-US" sz="4200" b="1" kern="0" spc="-8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motor </a:t>
            </a:r>
            <a:r>
              <a:rPr lang="en-US" sz="4200" b="1" kern="0" spc="-84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servido a dos territorios.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85800" y="2291655"/>
            <a:ext cx="12344400" cy="9048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52500" y="2501205"/>
            <a:ext cx="21118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kern="0" spc="-2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SMARTOPS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52500" y="2844105"/>
            <a:ext cx="23393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9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motor industrializado de Entelgy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94441" y="2610743"/>
            <a:ext cx="24690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900" b="1" kern="0" spc="90" dirty="0">
                <a:solidFill>
                  <a:srgbClr val="FFFFFF">
                    <a:alpha val="9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AÑOS · +3.000 CLIENTES OPERADOS MULTI-GEOGRAFÍA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3329880"/>
            <a:ext cx="12344400" cy="493295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11" name="Text 9"/>
          <p:cNvSpPr/>
          <p:nvPr/>
        </p:nvSpPr>
        <p:spPr>
          <a:xfrm>
            <a:off x="857250" y="3463230"/>
            <a:ext cx="134734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N0–N1–N2–N3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75037" y="3463230"/>
            <a:ext cx="171208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Dimensionamiento Data Driven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24413" y="3463230"/>
            <a:ext cx="923032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Quality Records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64325" y="3463230"/>
            <a:ext cx="174695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 Power BI + Data Lake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45401" y="3463230"/>
            <a:ext cx="138188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20000 · 27001 · ENS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94590" y="3463230"/>
            <a:ext cx="114195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+174 cert. Microsoft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953280" y="3463230"/>
            <a:ext cx="98167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95%+ renovación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" y="3853755"/>
            <a:ext cx="6105525" cy="1931045"/>
          </a:xfrm>
          <a:prstGeom prst="rect">
            <a:avLst/>
          </a:prstGeom>
          <a:solidFill>
            <a:srgbClr val="855AC6">
              <a:alpha val="6000"/>
            </a:srgbClr>
          </a:solidFill>
          <a:ln w="19050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952500" y="4101405"/>
            <a:ext cx="612933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VERTICAL 01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952500" y="4301430"/>
            <a:ext cx="612933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SmartOPS for </a:t>
            </a:r>
            <a:r>
              <a:rPr lang="en-US" sz="24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Workplace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52500" y="4697611"/>
            <a:ext cx="612933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puesto de trabajo del empleado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2500" y="4954786"/>
            <a:ext cx="6129338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CAU base · Workplace · DaaS · Servicios de valor · SmartHelp embebido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52500" y="5279975"/>
            <a:ext cx="3172123" cy="2571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1066800" y="5337125"/>
            <a:ext cx="303868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▶ AQUÍ CENTRAMOS LA CONVERSACIÓN DE HOY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6924675" y="3853755"/>
            <a:ext cx="6105525" cy="1931045"/>
          </a:xfrm>
          <a:prstGeom prst="rect">
            <a:avLst/>
          </a:prstGeom>
          <a:solidFill>
            <a:srgbClr val="F0EFEC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7181850" y="4091880"/>
            <a:ext cx="615029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VERTICAL 02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181850" y="4291905"/>
            <a:ext cx="615029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3A3A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SmartOPS for </a:t>
            </a:r>
            <a:r>
              <a:rPr lang="en-US" sz="2400" b="1" dirty="0">
                <a:solidFill>
                  <a:srgbClr val="6A6A6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Infra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181850" y="4688086"/>
            <a:ext cx="615029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Redes, servidores, cloud — con FinOps como palanca al CFO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81850" y="4945261"/>
            <a:ext cx="6150293" cy="229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Operación 24×7 · Assessment + migración cloud · FinOps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81850" y="5270450"/>
            <a:ext cx="3031182" cy="276225"/>
          </a:xfrm>
          <a:prstGeom prst="rect">
            <a:avLst/>
          </a:prstGeom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7305675" y="5337125"/>
            <a:ext cx="28744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▶ SOLICÍTANOS LA CONVERSACIÓN DE INFRA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685800" y="5994350"/>
            <a:ext cx="135788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Hoy te contamos cómo se opera el puesto. La infraestructura se opera con el mismo motor.</a:t>
            </a:r>
            <a:endParaRPr lang="en-US" sz="12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21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40661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29079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IA OPERATIVA Y GOBERNABLE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942975"/>
            <a:ext cx="11576685" cy="17182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IA no sustituye el gobierno del servicio. Lo hace </a:t>
            </a:r>
            <a:r>
              <a:rPr lang="en-US" sz="4200" b="1" kern="0" spc="-8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más auditable, más preventivo </a:t>
            </a:r>
            <a:r>
              <a:rPr lang="en-US" sz="4200" b="1" kern="0" spc="-84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 menos dependiente de personas.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2851696"/>
            <a:ext cx="62110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3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PARETO DEL SOPORTE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3127921"/>
            <a:ext cx="762000" cy="3048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8" name="Text 6"/>
          <p:cNvSpPr/>
          <p:nvPr/>
        </p:nvSpPr>
        <p:spPr>
          <a:xfrm>
            <a:off x="800100" y="3127921"/>
            <a:ext cx="609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4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62100" y="3127921"/>
            <a:ext cx="13639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los tickets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547021"/>
            <a:ext cx="4517082" cy="30480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11" name="Text 9"/>
          <p:cNvSpPr/>
          <p:nvPr/>
        </p:nvSpPr>
        <p:spPr>
          <a:xfrm>
            <a:off x="800100" y="3547021"/>
            <a:ext cx="44239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4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17182" y="3632745"/>
            <a:ext cx="135790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 tiempo perdido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985171"/>
            <a:ext cx="5815782" cy="586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 concentras IA en ese 13%, el ROI no es lineal — </a:t>
            </a:r>
            <a:r>
              <a:rPr lang="en-US" sz="1800" i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 exponencial.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4705201"/>
            <a:ext cx="62110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kern="0" spc="79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HAPPYSIGNALS 2025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89390" y="2851696"/>
            <a:ext cx="686472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A3A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Antes: escalado humano. </a:t>
            </a:r>
            <a:r>
              <a:rPr lang="en-US" sz="135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Ahora: escalado inteligente.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789390" y="3213646"/>
            <a:ext cx="6240661" cy="1009650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17" name="Shape 15"/>
          <p:cNvSpPr/>
          <p:nvPr/>
        </p:nvSpPr>
        <p:spPr>
          <a:xfrm>
            <a:off x="6789390" y="3213646"/>
            <a:ext cx="28575" cy="10096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18" name="Text 16"/>
          <p:cNvSpPr/>
          <p:nvPr/>
        </p:nvSpPr>
        <p:spPr>
          <a:xfrm>
            <a:off x="7008464" y="3366046"/>
            <a:ext cx="84906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4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N2 · BASE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10322" y="3370808"/>
            <a:ext cx="234162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Detección y resolución masiva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08465" y="3727996"/>
            <a:ext cx="51584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Clasificación 80–98% fiabilidad · runbooks automatizados · cierre sin tocar humano · cambio contraseña 90%.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57024" y="3585121"/>
            <a:ext cx="10587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kern="0" spc="-2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~80%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6789390" y="4337596"/>
            <a:ext cx="6240661" cy="1009650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23" name="Shape 21"/>
          <p:cNvSpPr/>
          <p:nvPr/>
        </p:nvSpPr>
        <p:spPr>
          <a:xfrm>
            <a:off x="6789390" y="4337596"/>
            <a:ext cx="28575" cy="10096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24" name="Text 22"/>
          <p:cNvSpPr/>
          <p:nvPr/>
        </p:nvSpPr>
        <p:spPr>
          <a:xfrm>
            <a:off x="7008464" y="4489996"/>
            <a:ext cx="15251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4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N1</a:t>
            </a:r>
            <a:r>
              <a:rPr lang="en-US" sz="1400" b="1" kern="0" spc="4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200" b="1" kern="0" spc="4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RESOLUCIÓN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45038" y="4475709"/>
            <a:ext cx="123795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Casos complejos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08466" y="4851946"/>
            <a:ext cx="497628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Resolución técnica humana. Incidentes escalados con propuesta IA. Coordinación con equipos del cliente.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57024" y="4709071"/>
            <a:ext cx="105872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 kern="0" spc="-2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~15%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6789390" y="5461546"/>
            <a:ext cx="6240661" cy="1162050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29" name="Shape 27"/>
          <p:cNvSpPr/>
          <p:nvPr/>
        </p:nvSpPr>
        <p:spPr>
          <a:xfrm>
            <a:off x="6789390" y="5461546"/>
            <a:ext cx="28575" cy="1162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30" name="Text 28"/>
          <p:cNvSpPr/>
          <p:nvPr/>
        </p:nvSpPr>
        <p:spPr>
          <a:xfrm>
            <a:off x="7008465" y="5613946"/>
            <a:ext cx="14789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4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N0 · INTELIGENCIA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45038" y="5623471"/>
            <a:ext cx="20280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nivel que casi nadie compra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08464" y="5975895"/>
            <a:ext cx="34850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Comités de innovación · FinOps · XLAs · Compliance.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319641" y="5833020"/>
            <a:ext cx="1643810" cy="380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b="1" kern="0" spc="-2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~5% ·</a:t>
            </a:r>
            <a:r>
              <a:rPr lang="en-US" sz="2400" b="1" kern="0" spc="-2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80%</a:t>
            </a:r>
            <a:r>
              <a:rPr lang="en-US" sz="1100" b="1" kern="0" spc="-21" dirty="0">
                <a:solidFill>
                  <a:srgbClr val="FFFFFF">
                    <a:alpha val="5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valor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7008465" y="6233071"/>
            <a:ext cx="5831086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35" name="Text 33"/>
          <p:cNvSpPr/>
          <p:nvPr/>
        </p:nvSpPr>
        <p:spPr>
          <a:xfrm>
            <a:off x="7008465" y="6318796"/>
            <a:ext cx="60060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"El 38% echa en falta un proveedor que les rete — N0 es la respuesta operativa a ese dato."</a:t>
            </a:r>
            <a:endParaRPr lang="en-US" sz="110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21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20524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IA EN PRODUCCIÓN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942975"/>
            <a:ext cx="11576685" cy="878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150" b="1" kern="0" spc="-63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IA en cada fase del ticket. No en una demo. </a:t>
            </a:r>
            <a:r>
              <a:rPr lang="en-US" sz="3150" b="1" kern="0" spc="-63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 la operación de hoy.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685800" y="2011561"/>
            <a:ext cx="12344400" cy="4779764"/>
          </a:xfrm>
          <a:prstGeom prst="rect">
            <a:avLst/>
          </a:prstGeom>
          <a:solidFill>
            <a:srgbClr val="0A2F47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794200" y="2021086"/>
            <a:ext cx="9525" cy="476071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923925" y="2249686"/>
            <a:ext cx="400584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b="1" kern="0" spc="142" dirty="0">
                <a:solidFill>
                  <a:srgbClr val="FE5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APERTURA · TICKET ENTRA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923925" y="2487811"/>
            <a:ext cx="400584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Clasificar, preasignar, deduplicar.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23925" y="3196382"/>
            <a:ext cx="364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923925" y="2964061"/>
            <a:ext cx="1873999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Clasificación automática de tickets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78064" y="2925961"/>
            <a:ext cx="3637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3925" y="3320207"/>
            <a:ext cx="3641675" cy="33709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923925" y="3647777"/>
            <a:ext cx="364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23925" y="3415457"/>
            <a:ext cx="1832253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Contextualización y preasignación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78064" y="3377357"/>
            <a:ext cx="3637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3925" y="4099173"/>
            <a:ext cx="364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923925" y="3866852"/>
            <a:ext cx="2001530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Identificación de duplicados (masiva)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78064" y="3828752"/>
            <a:ext cx="3637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925" y="4222998"/>
            <a:ext cx="3641675" cy="33709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923925" y="4550569"/>
            <a:ext cx="364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923925" y="4318248"/>
            <a:ext cx="1938992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Extrapolación tickets poco definidos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78064" y="4280148"/>
            <a:ext cx="3637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3925" y="5001964"/>
            <a:ext cx="364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923925" y="4769644"/>
            <a:ext cx="1847478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Cambio automático de contraseña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78064" y="4731544"/>
            <a:ext cx="3637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3925" y="5125789"/>
            <a:ext cx="3641675" cy="33709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s-ES" sz="2000"/>
          </a:p>
        </p:txBody>
      </p:sp>
      <p:sp>
        <p:nvSpPr>
          <p:cNvPr id="28" name="Shape 26"/>
          <p:cNvSpPr/>
          <p:nvPr/>
        </p:nvSpPr>
        <p:spPr>
          <a:xfrm>
            <a:off x="923925" y="5453360"/>
            <a:ext cx="364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923925" y="5221039"/>
            <a:ext cx="1783794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63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Predicción tiempos de resolución</a:t>
            </a:r>
            <a:endParaRPr lang="en-US" sz="863" dirty="0"/>
          </a:p>
        </p:txBody>
      </p:sp>
      <p:sp>
        <p:nvSpPr>
          <p:cNvPr id="30" name="Text 28"/>
          <p:cNvSpPr/>
          <p:nvPr/>
        </p:nvSpPr>
        <p:spPr>
          <a:xfrm>
            <a:off x="4050506" y="5182939"/>
            <a:ext cx="591294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Calidad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3925" y="5672435"/>
            <a:ext cx="1832089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Sugerir propuestas anti-reapertura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50506" y="5634335"/>
            <a:ext cx="591294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Calidad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3725" y="2021086"/>
            <a:ext cx="4108400" cy="4760714"/>
          </a:xfrm>
          <a:prstGeom prst="rect">
            <a:avLst/>
          </a:prstGeom>
          <a:solidFill>
            <a:srgbClr val="0F355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8902601" y="2021086"/>
            <a:ext cx="9525" cy="476071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5032325" y="2249686"/>
            <a:ext cx="400584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b="1" kern="0" spc="142" dirty="0">
                <a:solidFill>
                  <a:srgbClr val="FE5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RESOLUCIÓN · TICKET VIVE</a:t>
            </a:r>
            <a:endParaRPr lang="en-US" sz="788" dirty="0"/>
          </a:p>
        </p:txBody>
      </p:sp>
      <p:sp>
        <p:nvSpPr>
          <p:cNvPr id="36" name="Text 34"/>
          <p:cNvSpPr/>
          <p:nvPr/>
        </p:nvSpPr>
        <p:spPr>
          <a:xfrm>
            <a:off x="5032325" y="2487811"/>
            <a:ext cx="400584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Acompañar, sugerir, escalar bien.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032325" y="3196382"/>
            <a:ext cx="364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5032325" y="2964061"/>
            <a:ext cx="2325514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Notificaciones automáticas de seguimiento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386465" y="2925961"/>
            <a:ext cx="3637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32325" y="3320207"/>
            <a:ext cx="3641675" cy="33709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5032325" y="3647777"/>
            <a:ext cx="364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5032325" y="3415457"/>
            <a:ext cx="1911325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Sugerencia procedimiento aplicable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386465" y="3377357"/>
            <a:ext cx="3637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10%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32325" y="4099173"/>
            <a:ext cx="364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3"/>
          <p:cNvSpPr/>
          <p:nvPr/>
        </p:nvSpPr>
        <p:spPr>
          <a:xfrm>
            <a:off x="5032325" y="3866852"/>
            <a:ext cx="1830452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Identificación tickets relacionados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86465" y="3828752"/>
            <a:ext cx="3637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20%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32325" y="4222998"/>
            <a:ext cx="3641675" cy="33709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5032325" y="4550569"/>
            <a:ext cx="364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5032325" y="4318248"/>
            <a:ext cx="2261175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Escalado inteligente por contextualización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386465" y="4280148"/>
            <a:ext cx="3637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20%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32325" y="5001964"/>
            <a:ext cx="364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5032325" y="4769644"/>
            <a:ext cx="2038037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Actualización automática información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386465" y="4731544"/>
            <a:ext cx="3637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15%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032325" y="5125789"/>
            <a:ext cx="3641675" cy="33709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5" name="Shape 53"/>
          <p:cNvSpPr/>
          <p:nvPr/>
        </p:nvSpPr>
        <p:spPr>
          <a:xfrm>
            <a:off x="5032325" y="5453360"/>
            <a:ext cx="3641675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5032325" y="5221039"/>
            <a:ext cx="1995309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Generación consultas SQL complejas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473827" y="5182939"/>
            <a:ext cx="276374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5%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32325" y="5672435"/>
            <a:ext cx="1900029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sentimiento tickets críticos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158907" y="5634335"/>
            <a:ext cx="591294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Calidad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8912126" y="2021086"/>
            <a:ext cx="4108549" cy="4760714"/>
          </a:xfrm>
          <a:prstGeom prst="rect">
            <a:avLst/>
          </a:prstGeom>
          <a:solidFill>
            <a:srgbClr val="19191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ext 59"/>
          <p:cNvSpPr/>
          <p:nvPr/>
        </p:nvSpPr>
        <p:spPr>
          <a:xfrm>
            <a:off x="9140726" y="2249686"/>
            <a:ext cx="401648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b="1" kern="0" spc="142" dirty="0">
                <a:solidFill>
                  <a:srgbClr val="FE5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CIERRE · SERVICIO APRENDE</a:t>
            </a:r>
            <a:endParaRPr lang="en-US" sz="788" dirty="0"/>
          </a:p>
        </p:txBody>
      </p:sp>
      <p:sp>
        <p:nvSpPr>
          <p:cNvPr id="62" name="Text 60"/>
          <p:cNvSpPr/>
          <p:nvPr/>
        </p:nvSpPr>
        <p:spPr>
          <a:xfrm>
            <a:off x="9140726" y="2487811"/>
            <a:ext cx="401648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Resumir, encuestar, detectar patrones.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9140726" y="3196382"/>
            <a:ext cx="365134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4" name="Text 62"/>
          <p:cNvSpPr/>
          <p:nvPr/>
        </p:nvSpPr>
        <p:spPr>
          <a:xfrm>
            <a:off x="9140726" y="2964061"/>
            <a:ext cx="2076673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Respuestas de resolución automáticas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2504539" y="2925961"/>
            <a:ext cx="3637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9140726" y="3320207"/>
            <a:ext cx="3651349" cy="337096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7" name="Shape 65"/>
          <p:cNvSpPr/>
          <p:nvPr/>
        </p:nvSpPr>
        <p:spPr>
          <a:xfrm>
            <a:off x="9140726" y="3647777"/>
            <a:ext cx="365134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9140726" y="3415457"/>
            <a:ext cx="1862703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Resumen automático de actuación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2504539" y="3377357"/>
            <a:ext cx="3637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9140726" y="4099173"/>
            <a:ext cx="3651349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1" name="Text 69"/>
          <p:cNvSpPr/>
          <p:nvPr/>
        </p:nvSpPr>
        <p:spPr>
          <a:xfrm>
            <a:off x="9140726" y="3866852"/>
            <a:ext cx="1981393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Encuesta de satisfacción automática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2504539" y="3828752"/>
            <a:ext cx="3637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60%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9140726" y="4222998"/>
            <a:ext cx="3651349" cy="32757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4" name="Text 72"/>
          <p:cNvSpPr/>
          <p:nvPr/>
        </p:nvSpPr>
        <p:spPr>
          <a:xfrm>
            <a:off x="9140726" y="4318248"/>
            <a:ext cx="1841748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Detección de patrones recurrentes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2504539" y="4280148"/>
            <a:ext cx="363736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30%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8580" y="6924675"/>
            <a:ext cx="1357884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"Todas las métricas son de servicios en producción, no de escenarios de laboratorio."</a:t>
            </a:r>
            <a:endParaRPr lang="en-US" sz="1200" dirty="0"/>
          </a:p>
        </p:txBody>
      </p:sp>
      <p:pic>
        <p:nvPicPr>
          <p:cNvPr id="77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78" name="Text 75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FFFFFF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79" name="Text 76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FFFFFF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21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475190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4652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SMARTHELP COPILOT · SEIS AÑOS EN PRODUCCIÓN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942975"/>
            <a:ext cx="11576685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3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SmartHelp añade contexto </a:t>
            </a:r>
            <a:r>
              <a:rPr lang="en-US" sz="3300" b="1" kern="0" spc="-66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sin invadir el dato. </a:t>
            </a:r>
            <a:r>
              <a:rPr lang="en-US" sz="3300" b="1" kern="0" spc="-6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es una IA genérica conectada a todo.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2051447"/>
            <a:ext cx="5943526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3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PRINCIPIO DE DISEÑO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685800" y="2308622"/>
            <a:ext cx="594352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"Contexto operativo, no exposición indiscriminada de datos."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637234"/>
            <a:ext cx="5403205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000"/>
          </a:p>
        </p:txBody>
      </p:sp>
      <p:sp>
        <p:nvSpPr>
          <p:cNvPr id="9" name="Text 7"/>
          <p:cNvSpPr/>
          <p:nvPr/>
        </p:nvSpPr>
        <p:spPr>
          <a:xfrm>
            <a:off x="685800" y="2761059"/>
            <a:ext cx="419100" cy="401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6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1100" y="2761059"/>
            <a:ext cx="47387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Usuario en tarea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81100" y="2951559"/>
            <a:ext cx="4738777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empleado trabaja dentro de un proceso, aplicación o flujo corporativo concreto.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3238500"/>
            <a:ext cx="5403205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000"/>
          </a:p>
        </p:txBody>
      </p:sp>
      <p:sp>
        <p:nvSpPr>
          <p:cNvPr id="13" name="Text 11"/>
          <p:cNvSpPr/>
          <p:nvPr/>
        </p:nvSpPr>
        <p:spPr>
          <a:xfrm>
            <a:off x="685800" y="3362325"/>
            <a:ext cx="419100" cy="401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6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1100" y="3362325"/>
            <a:ext cx="52842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SmartHelp lee contexto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1181100" y="3552825"/>
            <a:ext cx="5284262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938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 situación y paso operativo mediante APIs de accesibilidad y señales controladas.</a:t>
            </a:r>
            <a:endParaRPr lang="en-US" sz="938" dirty="0"/>
          </a:p>
        </p:txBody>
      </p:sp>
      <p:sp>
        <p:nvSpPr>
          <p:cNvPr id="16" name="Shape 14"/>
          <p:cNvSpPr/>
          <p:nvPr/>
        </p:nvSpPr>
        <p:spPr>
          <a:xfrm>
            <a:off x="685800" y="3839766"/>
            <a:ext cx="5403205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000"/>
          </a:p>
        </p:txBody>
      </p:sp>
      <p:sp>
        <p:nvSpPr>
          <p:cNvPr id="17" name="Text 15"/>
          <p:cNvSpPr/>
          <p:nvPr/>
        </p:nvSpPr>
        <p:spPr>
          <a:xfrm>
            <a:off x="685800" y="3963591"/>
            <a:ext cx="419100" cy="401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6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1100" y="3963591"/>
            <a:ext cx="492409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Conocimiento e IA corporativa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81100" y="4154091"/>
            <a:ext cx="4924098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Recupera procedimiento, circular o respuesta validada y la ajusta al caso del usuario.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441031"/>
            <a:ext cx="5403205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000"/>
          </a:p>
        </p:txBody>
      </p:sp>
      <p:sp>
        <p:nvSpPr>
          <p:cNvPr id="21" name="Text 19"/>
          <p:cNvSpPr/>
          <p:nvPr/>
        </p:nvSpPr>
        <p:spPr>
          <a:xfrm>
            <a:off x="685800" y="4564856"/>
            <a:ext cx="419100" cy="401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6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1100" y="4564856"/>
            <a:ext cx="509091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Menos ticket, más precisión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81100" y="4755356"/>
            <a:ext cx="5090919" cy="210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Entrega ayuda proactiva. Si escala, el CAU recibe contexto útil desde el primer contacto.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5175647"/>
            <a:ext cx="5403205" cy="639961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25" name="Shape 23"/>
          <p:cNvSpPr/>
          <p:nvPr/>
        </p:nvSpPr>
        <p:spPr>
          <a:xfrm>
            <a:off x="685800" y="5175647"/>
            <a:ext cx="28575" cy="639961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2000"/>
          </a:p>
        </p:txBody>
      </p:sp>
      <p:sp>
        <p:nvSpPr>
          <p:cNvPr id="26" name="Text 24"/>
          <p:cNvSpPr/>
          <p:nvPr/>
        </p:nvSpPr>
        <p:spPr>
          <a:xfrm>
            <a:off x="866775" y="5308997"/>
            <a:ext cx="5231926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3A3A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"La capa se diseña para limitar acceso a contexto de uso, no para abrir contenido sensible sin gobierno."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46205" y="2051447"/>
            <a:ext cx="713239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SMARTHELP COPILOT · CASO REAL EN MAPFRE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6546205" y="2270522"/>
            <a:ext cx="6483995" cy="3489722"/>
          </a:xfrm>
          <a:prstGeom prst="rect">
            <a:avLst/>
          </a:prstGeom>
          <a:ln w="9525">
            <a:solidFill>
              <a:srgbClr val="E4E4E4"/>
            </a:solidFill>
            <a:prstDash val="solid"/>
          </a:ln>
          <a:effectLst>
            <a:outerShdw blurRad="228600" dist="76200" dir="5400000" algn="bl" rotWithShape="0">
              <a:srgbClr val="041C2C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6205" y="2270522"/>
            <a:ext cx="6483995" cy="348972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546205" y="5874544"/>
            <a:ext cx="6678515" cy="331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panel lateral lee el contexto operativo del empleado (vacaciones, calendario, tarea en curso) y entrega procedimiento + IA conversacional sin invadir el dato corporativo.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85800" y="6429375"/>
            <a:ext cx="12344400" cy="676275"/>
          </a:xfrm>
          <a:prstGeom prst="rect">
            <a:avLst/>
          </a:prstGeom>
          <a:solidFill>
            <a:srgbClr val="041C2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857250" y="6581775"/>
            <a:ext cx="94758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57BE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 años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857250" y="6829425"/>
            <a:ext cx="9475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FFFFFF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PRODUCCIÓN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2951262" y="6581775"/>
            <a:ext cx="106218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57BE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25.000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2951262" y="6829425"/>
            <a:ext cx="10621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FFFFFF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PUESTOS ACTIVOS</a:t>
            </a:r>
            <a:endParaRPr lang="en-US" sz="825" dirty="0"/>
          </a:p>
        </p:txBody>
      </p:sp>
      <p:sp>
        <p:nvSpPr>
          <p:cNvPr id="36" name="Text 33"/>
          <p:cNvSpPr/>
          <p:nvPr/>
        </p:nvSpPr>
        <p:spPr>
          <a:xfrm>
            <a:off x="5159722" y="6581775"/>
            <a:ext cx="85873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57BE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700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5159722" y="6829425"/>
            <a:ext cx="8587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FFFFFF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APLICACIONES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7164884" y="6581775"/>
            <a:ext cx="140202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57BE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3.500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7164884" y="6829425"/>
            <a:ext cx="13507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FFFFFF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TICKETS/MES EVITADOS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9661922" y="6562725"/>
            <a:ext cx="12160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57BE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5'30"→1'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9661922" y="6848475"/>
            <a:ext cx="12160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FFFFFF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APERTURA DE TICKET</a:t>
            </a:r>
            <a:endParaRPr lang="en-US" sz="825" dirty="0"/>
          </a:p>
        </p:txBody>
      </p:sp>
      <p:sp>
        <p:nvSpPr>
          <p:cNvPr id="42" name="Text 39"/>
          <p:cNvSpPr/>
          <p:nvPr/>
        </p:nvSpPr>
        <p:spPr>
          <a:xfrm>
            <a:off x="12024420" y="6581775"/>
            <a:ext cx="91053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57BE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~157.500€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12024420" y="6829425"/>
            <a:ext cx="8255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3" dirty="0">
                <a:solidFill>
                  <a:srgbClr val="FFFFFF">
                    <a:alpha val="6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/MES AHORRO</a:t>
            </a:r>
            <a:endParaRPr lang="en-US" sz="825" dirty="0"/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46" name="Text 42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21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62050" y="609600"/>
            <a:ext cx="2428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· EL STACK DE SMARTOPS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942975"/>
            <a:ext cx="11576685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stack que opera SmartOPS. </a:t>
            </a:r>
            <a:r>
              <a:rPr lang="en-US" sz="4200" b="1" kern="0" spc="-8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Cuatro capas. Sin caja negra.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85800" y="2291655"/>
            <a:ext cx="6105525" cy="231070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6" name="Text 4"/>
          <p:cNvSpPr/>
          <p:nvPr/>
        </p:nvSpPr>
        <p:spPr>
          <a:xfrm>
            <a:off x="904875" y="2472630"/>
            <a:ext cx="62341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42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 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04875" y="2703340"/>
            <a:ext cx="623411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6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MODELOS · MLOPS · ORQUESTACIÓN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3275" y="2891730"/>
            <a:ext cx="5845175" cy="1066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SmartHelp Copilot (producto Entelgy · 6 años)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 Support (clasificador NLP · dataset propio)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OpenAI · OpenAI (LLMs base · Enterprise)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Vector DBs (RAG sobre KB del cliente)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MLflow · audit logs (trazabilidad AI Act)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24675" y="2291655"/>
            <a:ext cx="6105525" cy="231070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10" name="Text 8"/>
          <p:cNvSpPr/>
          <p:nvPr/>
        </p:nvSpPr>
        <p:spPr>
          <a:xfrm>
            <a:off x="7143750" y="2472630"/>
            <a:ext cx="62341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42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 PLATAFORMA RUN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43750" y="2703340"/>
            <a:ext cx="623411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6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ITSM · OBSERVABILIDAD · AUTOMATIZACIÓN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2150" y="2891730"/>
            <a:ext cx="5845175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ServiceNow (ITSM · ITOM · workflow)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Splunk · Datadog · Dynatrace (observabilidad)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Ansible · Terraform (IaC · runbooks)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Automate · UiPath (RPA donde aplica)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735711"/>
            <a:ext cx="6105525" cy="209371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14" name="Text 12"/>
          <p:cNvSpPr/>
          <p:nvPr/>
        </p:nvSpPr>
        <p:spPr>
          <a:xfrm>
            <a:off x="904875" y="4916686"/>
            <a:ext cx="62341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42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 WORKPLACE · UEM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4875" y="5116711"/>
            <a:ext cx="623411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6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DISPOSITIVO · IDENTIDAD · SEGURIDAD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3275" y="5335786"/>
            <a:ext cx="5845175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Intune · Autopilot (UEM principal · zero-touch)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365 · Entra ID (identidad · adopción)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JAMF (Apple en parque mixto)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Defender for Endpoint (EDR convergente)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24675" y="4735711"/>
            <a:ext cx="6105525" cy="2093714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18" name="Text 16"/>
          <p:cNvSpPr/>
          <p:nvPr/>
        </p:nvSpPr>
        <p:spPr>
          <a:xfrm>
            <a:off x="7143750" y="4916686"/>
            <a:ext cx="623411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42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 CLOUD · INFRA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43750" y="5116711"/>
            <a:ext cx="6234113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6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HYPERSCALERS · NETWORKING · HARDWARE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042150" y="5335786"/>
            <a:ext cx="5845175" cy="849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· AWS · GCP (multi-cloud según cliente)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Cisco · Fortinet (networking · seguridad)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HPE · Dell (hardware · DaaS)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VMware · Citrix (virtualización legada)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" y="6943725"/>
            <a:ext cx="1357884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A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herramienta se sustituye; el modelo entrenado y los datasets son la barrera de entrada.</a:t>
            </a:r>
            <a:endParaRPr lang="en-US" sz="105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21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723263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26171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SMARTOPS FOR WORKPLACE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942975"/>
            <a:ext cx="11576685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puesto de trabajo en cuatro piezas. Tu CIO </a:t>
            </a:r>
            <a:r>
              <a:rPr lang="en-US" sz="4200" b="1" kern="0" spc="-8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las arma a la carta.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85800" y="2291655"/>
            <a:ext cx="2986088" cy="4047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904875" y="2653605"/>
            <a:ext cx="342900" cy="85725"/>
          </a:xfrm>
          <a:prstGeom prst="rect">
            <a:avLst/>
          </a:prstGeom>
          <a:solidFill>
            <a:srgbClr val="D9C7EE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8" name="Shape 6"/>
          <p:cNvSpPr/>
          <p:nvPr/>
        </p:nvSpPr>
        <p:spPr>
          <a:xfrm>
            <a:off x="1247775" y="2586930"/>
            <a:ext cx="34290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9" name="Shape 7"/>
          <p:cNvSpPr/>
          <p:nvPr/>
        </p:nvSpPr>
        <p:spPr>
          <a:xfrm>
            <a:off x="1590675" y="2510730"/>
            <a:ext cx="342900" cy="2286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0" name="Text 8"/>
          <p:cNvSpPr/>
          <p:nvPr/>
        </p:nvSpPr>
        <p:spPr>
          <a:xfrm>
            <a:off x="904875" y="2929830"/>
            <a:ext cx="28027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T·01 · CAU BASE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4875" y="3206055"/>
            <a:ext cx="280273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-1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CAU base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04875" y="3712864"/>
            <a:ext cx="26243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Atención al usuario · N0–N1–N2–N3 · IA en clasificación y enrutado.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4875" y="4790038"/>
            <a:ext cx="2624376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Empleado bloqueado · cadena de escalado · backlog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4875" y="5805488"/>
            <a:ext cx="2547938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904875" y="5910262"/>
            <a:ext cx="2624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15–25 €/usuario/mes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805237" y="2291655"/>
            <a:ext cx="2986088" cy="4047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024313" y="2929830"/>
            <a:ext cx="28027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T·02 · WORKPLACE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24313" y="3206055"/>
            <a:ext cx="280273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-1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Workplace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024313" y="3712864"/>
            <a:ext cx="26243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Puesto digital · MDM · UEM · ciclo de vida · seguridad endpoint.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3490" y="4790038"/>
            <a:ext cx="2624376" cy="344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Parque ingobernable · compliance NIS2 · endpoint seguro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4313" y="5805488"/>
            <a:ext cx="2547938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024313" y="5910262"/>
            <a:ext cx="2624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10–20 €/usuario/mes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24675" y="2267843"/>
            <a:ext cx="2986088" cy="4047232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7143750" y="2929830"/>
            <a:ext cx="28027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T·03 · DAAS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43750" y="3206055"/>
            <a:ext cx="280273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-1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DaaS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143750" y="3712864"/>
            <a:ext cx="26243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 como servicio · refresh continuo · sostenibilidad ITAD.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74707" y="4790038"/>
            <a:ext cx="2802731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Reloj Win10 · CAPEX → OPEX · sostenibilidad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43750" y="5805488"/>
            <a:ext cx="2547938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143750" y="5910262"/>
            <a:ext cx="262437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30–60 €/dispositivo/mes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0044113" y="2291655"/>
            <a:ext cx="2986088" cy="4047232"/>
          </a:xfrm>
          <a:prstGeom prst="rect">
            <a:avLst/>
          </a:prstGeom>
          <a:solidFill>
            <a:srgbClr val="855AC6"/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10263188" y="2929830"/>
            <a:ext cx="280273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FFFFFF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T·04 · SERVICIOS DE VALOR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263188" y="3206055"/>
            <a:ext cx="280273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6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Servicios de valor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0263188" y="3712864"/>
            <a:ext cx="262437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>
                    <a:alpha val="9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DEX · XLAs · SmartHelp Copilot embebido · adopción IA · automatización.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245329" y="4790038"/>
            <a:ext cx="2802731" cy="191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→ Fricción digital · adopción IA · SLA → XLA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263188" y="5595938"/>
            <a:ext cx="2547938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36" name="Text 34"/>
          <p:cNvSpPr/>
          <p:nvPr/>
        </p:nvSpPr>
        <p:spPr>
          <a:xfrm>
            <a:off x="10263188" y="5700713"/>
            <a:ext cx="2624376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medida · diagnóstico fixed-price 10 días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85800" y="6472238"/>
            <a:ext cx="12344400" cy="385763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838200" y="6586538"/>
            <a:ext cx="1240993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kern="0" spc="33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Operación 24×7 con IA · Reporting Power BI + Data Lake · N0–N3 talento certificado · ISO 20000 · ISO 27001 · ENS · +174 cert. Microsoft · Tarificación €/usuario/mes con horquillas publicadas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-548640" y="6934200"/>
            <a:ext cx="135788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125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Combinables a la carta. Sin paquetes cerrados forzosos.</a:t>
            </a:r>
            <a:endParaRPr lang="en-US" sz="1125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42" name="Text 39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21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354294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19584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· LA VENTAJA REAL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942975"/>
            <a:ext cx="12714732" cy="84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850" b="1" kern="0" spc="-5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mercado sabe hablar de workplace, IA y experiencia. La diferencia está en </a:t>
            </a:r>
            <a:r>
              <a:rPr lang="en-US" sz="2850" b="1" kern="0" spc="-57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reducir el riesgo ejecutivo de la implantación.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85800" y="1963043"/>
            <a:ext cx="135788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b="1" kern="0" spc="12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COMITÉ DEJA DE LEER INCIDENCIAS Y DECIDE MEJORA</a:t>
            </a:r>
            <a:endParaRPr lang="en-US" sz="788" dirty="0"/>
          </a:p>
        </p:txBody>
      </p:sp>
      <p:sp>
        <p:nvSpPr>
          <p:cNvPr id="7" name="Shape 5"/>
          <p:cNvSpPr/>
          <p:nvPr/>
        </p:nvSpPr>
        <p:spPr>
          <a:xfrm>
            <a:off x="685800" y="2182118"/>
            <a:ext cx="4038600" cy="9667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8" name="Shape 6"/>
          <p:cNvSpPr/>
          <p:nvPr/>
        </p:nvSpPr>
        <p:spPr>
          <a:xfrm>
            <a:off x="685800" y="3139380"/>
            <a:ext cx="40386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9" name="Shape 7"/>
          <p:cNvSpPr/>
          <p:nvPr/>
        </p:nvSpPr>
        <p:spPr>
          <a:xfrm>
            <a:off x="685800" y="2182118"/>
            <a:ext cx="40386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0" name="Shape 8"/>
          <p:cNvSpPr/>
          <p:nvPr/>
        </p:nvSpPr>
        <p:spPr>
          <a:xfrm>
            <a:off x="685800" y="2182118"/>
            <a:ext cx="9525" cy="96678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1" name="Shape 9"/>
          <p:cNvSpPr/>
          <p:nvPr/>
        </p:nvSpPr>
        <p:spPr>
          <a:xfrm>
            <a:off x="4714875" y="2182118"/>
            <a:ext cx="9525" cy="96678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2" name="Text 10"/>
          <p:cNvSpPr/>
          <p:nvPr/>
        </p:nvSpPr>
        <p:spPr>
          <a:xfrm>
            <a:off x="866775" y="2363093"/>
            <a:ext cx="40443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-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Qué automatizar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6775" y="2629793"/>
            <a:ext cx="37869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Detectar patrones repetitivos, duplicados y solicitudes aptas para autoservicio.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38700" y="2182118"/>
            <a:ext cx="4038600" cy="9667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5" name="Shape 13"/>
          <p:cNvSpPr/>
          <p:nvPr/>
        </p:nvSpPr>
        <p:spPr>
          <a:xfrm>
            <a:off x="4838700" y="3139380"/>
            <a:ext cx="40386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6" name="Shape 14"/>
          <p:cNvSpPr/>
          <p:nvPr/>
        </p:nvSpPr>
        <p:spPr>
          <a:xfrm>
            <a:off x="4838700" y="2182118"/>
            <a:ext cx="40386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7" name="Shape 15"/>
          <p:cNvSpPr/>
          <p:nvPr/>
        </p:nvSpPr>
        <p:spPr>
          <a:xfrm>
            <a:off x="4838700" y="2182118"/>
            <a:ext cx="9525" cy="96678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8" name="Shape 16"/>
          <p:cNvSpPr/>
          <p:nvPr/>
        </p:nvSpPr>
        <p:spPr>
          <a:xfrm>
            <a:off x="8867775" y="2182118"/>
            <a:ext cx="9525" cy="96678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19" name="Text 17"/>
          <p:cNvSpPr/>
          <p:nvPr/>
        </p:nvSpPr>
        <p:spPr>
          <a:xfrm>
            <a:off x="5019675" y="2363093"/>
            <a:ext cx="40443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-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Qué conocimiento reforzar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19675" y="2629793"/>
            <a:ext cx="37869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Actualizar procedimientos y contexto para reducir escalados evitables.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91600" y="2182118"/>
            <a:ext cx="4038600" cy="9667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22" name="Shape 20"/>
          <p:cNvSpPr/>
          <p:nvPr/>
        </p:nvSpPr>
        <p:spPr>
          <a:xfrm>
            <a:off x="8991600" y="3139380"/>
            <a:ext cx="40386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23" name="Shape 21"/>
          <p:cNvSpPr/>
          <p:nvPr/>
        </p:nvSpPr>
        <p:spPr>
          <a:xfrm>
            <a:off x="8991600" y="2182118"/>
            <a:ext cx="40386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24" name="Shape 22"/>
          <p:cNvSpPr/>
          <p:nvPr/>
        </p:nvSpPr>
        <p:spPr>
          <a:xfrm>
            <a:off x="8991600" y="2182118"/>
            <a:ext cx="9525" cy="96678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25" name="Shape 23"/>
          <p:cNvSpPr/>
          <p:nvPr/>
        </p:nvSpPr>
        <p:spPr>
          <a:xfrm>
            <a:off x="13020675" y="2182118"/>
            <a:ext cx="9525" cy="96678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26" name="Text 24"/>
          <p:cNvSpPr/>
          <p:nvPr/>
        </p:nvSpPr>
        <p:spPr>
          <a:xfrm>
            <a:off x="9172575" y="2363093"/>
            <a:ext cx="40443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b="1" kern="0" spc="-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Qué causa raíz eliminar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72575" y="2629793"/>
            <a:ext cx="378695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Priorizar problemas recurrentes por impacto en negocio, no por volumen de tickets.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3320355"/>
            <a:ext cx="135788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88" b="1" kern="0" spc="12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DÓNDE ESTÁ LA DIFERENCIA</a:t>
            </a:r>
            <a:endParaRPr lang="en-US" sz="788" dirty="0"/>
          </a:p>
        </p:txBody>
      </p:sp>
      <p:sp>
        <p:nvSpPr>
          <p:cNvPr id="29" name="Shape 27"/>
          <p:cNvSpPr/>
          <p:nvPr/>
        </p:nvSpPr>
        <p:spPr>
          <a:xfrm>
            <a:off x="685800" y="3539430"/>
            <a:ext cx="123444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30" name="Text 28"/>
          <p:cNvSpPr/>
          <p:nvPr/>
        </p:nvSpPr>
        <p:spPr>
          <a:xfrm>
            <a:off x="685800" y="3663255"/>
            <a:ext cx="2362200" cy="314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kern="0" spc="95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INTEGRADORES GLOBALES </a:t>
            </a:r>
            <a:r>
              <a:rPr lang="en-US" sz="900" kern="0" spc="95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ESCALA, MENSAJE GENÉRICO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143250" y="3663255"/>
            <a:ext cx="500348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Gran capacidad y reconocimiento, aunque la conversación se diluye en portfolios complejos.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72450" y="3663255"/>
            <a:ext cx="534352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63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ENTELGY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72449" y="3841848"/>
            <a:ext cx="5044441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Responde con casos locales, cercanía operativa y arquitectura fácil de decidir.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5800" y="4134743"/>
            <a:ext cx="123444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35" name="Text 33"/>
          <p:cNvSpPr/>
          <p:nvPr/>
        </p:nvSpPr>
        <p:spPr>
          <a:xfrm>
            <a:off x="685800" y="4258568"/>
            <a:ext cx="2362200" cy="314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kern="0" spc="95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PLATAFORMAS DAP / IA </a:t>
            </a:r>
            <a:r>
              <a:rPr lang="en-US" sz="900" kern="0" spc="95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PRODUCTO FUERTE, OPERACIÓN LIMITADA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143250" y="4258568"/>
            <a:ext cx="500348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Buenos asistentes y analítica, pero el software aislado no absorbe gobierno, soporte ni responsabilidad diaria.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72450" y="4258568"/>
            <a:ext cx="534352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63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ENTELGY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72450" y="4437162"/>
            <a:ext cx="493395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vende solo tecnología: opera el servicio y convierte IA en práctica gobernada.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85800" y="5325368"/>
            <a:ext cx="123444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40" name="Shape 38"/>
          <p:cNvSpPr/>
          <p:nvPr/>
        </p:nvSpPr>
        <p:spPr>
          <a:xfrm>
            <a:off x="685800" y="4730055"/>
            <a:ext cx="123444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41" name="Text 39"/>
          <p:cNvSpPr/>
          <p:nvPr/>
        </p:nvSpPr>
        <p:spPr>
          <a:xfrm>
            <a:off x="685800" y="4853880"/>
            <a:ext cx="2362200" cy="314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b="1" kern="0" spc="95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OUTSOURCING TRADICIONAL </a:t>
            </a:r>
            <a:r>
              <a:rPr lang="en-US" sz="900" kern="0" spc="95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CAPACIDAD, POCA EVOLUCIÓN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143250" y="4853880"/>
            <a:ext cx="500348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de personas, horarios y niveles. Útil para continuidad, insuficiente para reducir fricción estructural.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172450" y="4853880"/>
            <a:ext cx="534352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63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ENTELGY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172450" y="5032475"/>
            <a:ext cx="4933950" cy="13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Desplaza capacidad hacia N0/N1 con datos, conocimiento y automatización.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85800" y="5506343"/>
            <a:ext cx="12344400" cy="875258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2400"/>
          </a:p>
        </p:txBody>
      </p:sp>
      <p:sp>
        <p:nvSpPr>
          <p:cNvPr id="46" name="Text 44"/>
          <p:cNvSpPr/>
          <p:nvPr/>
        </p:nvSpPr>
        <p:spPr>
          <a:xfrm>
            <a:off x="952500" y="5696843"/>
            <a:ext cx="12992100" cy="2894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50" b="1" kern="0" spc="-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ventaja real: menor riesgo ejecutivo.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952500" y="6005364"/>
            <a:ext cx="129921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>
                    <a:alpha val="9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SmartOPS combina músculo de servicio, IA aplicada y gobierno modular. No compite contra todo el ecosistema del CIO; lo ordena, lo conecta y lo hace medible.</a:t>
            </a:r>
            <a:endParaRPr lang="en-US" sz="1050" dirty="0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50" name="Text 47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21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971484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19584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· POR QUÉ ENTELGY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942975"/>
            <a:ext cx="11576685" cy="12980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3150" b="1" kern="0" spc="-63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Hay muchos proveedores de servicios gestionados. Hay un proveedor que opera tecnología </a:t>
            </a:r>
            <a:r>
              <a:rPr lang="en-US" sz="3150" b="1" kern="0" spc="-6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 el cambio y los procesos dentro </a:t>
            </a:r>
            <a:r>
              <a:rPr lang="en-US" sz="3150" b="1" kern="0" spc="-63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3150" dirty="0"/>
          </a:p>
        </p:txBody>
      </p:sp>
      <p:sp>
        <p:nvSpPr>
          <p:cNvPr id="6" name="Shape 4"/>
          <p:cNvSpPr/>
          <p:nvPr/>
        </p:nvSpPr>
        <p:spPr>
          <a:xfrm>
            <a:off x="685800" y="2612529"/>
            <a:ext cx="5881688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7" name="Text 5"/>
          <p:cNvSpPr/>
          <p:nvPr/>
        </p:nvSpPr>
        <p:spPr>
          <a:xfrm>
            <a:off x="685800" y="2431554"/>
            <a:ext cx="605813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32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COMO COMPAÑÍA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012579"/>
            <a:ext cx="6469856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kern="0" spc="-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Operamos tecnología </a:t>
            </a:r>
            <a:r>
              <a:rPr lang="en-US" kern="0" spc="-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 el cambio y los procesos dentro</a:t>
            </a:r>
            <a:r>
              <a:rPr lang="en-US" kern="0" spc="-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3300115"/>
            <a:ext cx="6058138" cy="573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Cuando un proyecto técnico no entrega el valor prometido, casi nunca es por la tecnología. Es por la adopción que nadie gestionó o por el proceso que nadie rediseñó. Por eso Entelgy no opera solo tecnología — sea data, software, puesto o infra. Opera también el cambio y el proceso. No como servicio adicional. Como condición.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4045446"/>
            <a:ext cx="5881688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1" name="Text 9"/>
          <p:cNvSpPr/>
          <p:nvPr/>
        </p:nvSpPr>
        <p:spPr>
          <a:xfrm>
            <a:off x="685800" y="4350246"/>
            <a:ext cx="6469856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kern="0" spc="-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vendemos estrategia. </a:t>
            </a:r>
            <a:r>
              <a:rPr lang="en-US" kern="0" spc="-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Hacemos que la tuya ocurra.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4637782"/>
            <a:ext cx="6058138" cy="573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estrategia tecnológica la decide el cliente. Entelgy la ejecuta — con su gente, con sus procesos, con su tecnología. Sin abrir expectativas que no podamos cumplir y sin escondernos detrás de un PowerPoint cuando hay que entregar.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3238" y="2431554"/>
            <a:ext cx="9525" cy="4369296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4" name="Shape 12"/>
          <p:cNvSpPr/>
          <p:nvPr/>
        </p:nvSpPr>
        <p:spPr>
          <a:xfrm>
            <a:off x="7148513" y="2612529"/>
            <a:ext cx="5881688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5" name="Text 13"/>
          <p:cNvSpPr/>
          <p:nvPr/>
        </p:nvSpPr>
        <p:spPr>
          <a:xfrm>
            <a:off x="7148513" y="2431554"/>
            <a:ext cx="6058138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32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SMARTOPS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48513" y="2717304"/>
            <a:ext cx="2893219" cy="1994148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7" name="Shape 15"/>
          <p:cNvSpPr/>
          <p:nvPr/>
        </p:nvSpPr>
        <p:spPr>
          <a:xfrm>
            <a:off x="7148513" y="4701927"/>
            <a:ext cx="2893219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8" name="Shape 16"/>
          <p:cNvSpPr/>
          <p:nvPr/>
        </p:nvSpPr>
        <p:spPr>
          <a:xfrm>
            <a:off x="7148513" y="2717304"/>
            <a:ext cx="2893219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19" name="Shape 17"/>
          <p:cNvSpPr/>
          <p:nvPr/>
        </p:nvSpPr>
        <p:spPr>
          <a:xfrm>
            <a:off x="7148513" y="2717304"/>
            <a:ext cx="28575" cy="1994148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20" name="Shape 18"/>
          <p:cNvSpPr/>
          <p:nvPr/>
        </p:nvSpPr>
        <p:spPr>
          <a:xfrm>
            <a:off x="10032206" y="2717304"/>
            <a:ext cx="9525" cy="199414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21" name="Text 19"/>
          <p:cNvSpPr/>
          <p:nvPr/>
        </p:nvSpPr>
        <p:spPr>
          <a:xfrm>
            <a:off x="7348538" y="2879229"/>
            <a:ext cx="27634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-3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348538" y="3357631"/>
            <a:ext cx="276344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AÑOS EN PRODUCCIÓN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48538" y="3529081"/>
            <a:ext cx="276344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 operada, no prometida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48538" y="4017657"/>
            <a:ext cx="2588419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SmartHelp en Mapfre desde 2018. Clasificador 80–98% sobre dataset real.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136981" y="2717304"/>
            <a:ext cx="2893219" cy="1994148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26" name="Shape 24"/>
          <p:cNvSpPr/>
          <p:nvPr/>
        </p:nvSpPr>
        <p:spPr>
          <a:xfrm>
            <a:off x="10136981" y="4701927"/>
            <a:ext cx="2893219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27" name="Shape 25"/>
          <p:cNvSpPr/>
          <p:nvPr/>
        </p:nvSpPr>
        <p:spPr>
          <a:xfrm>
            <a:off x="10136981" y="2717304"/>
            <a:ext cx="2893219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28" name="Shape 26"/>
          <p:cNvSpPr/>
          <p:nvPr/>
        </p:nvSpPr>
        <p:spPr>
          <a:xfrm>
            <a:off x="10136981" y="2717304"/>
            <a:ext cx="28575" cy="1994148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29" name="Shape 27"/>
          <p:cNvSpPr/>
          <p:nvPr/>
        </p:nvSpPr>
        <p:spPr>
          <a:xfrm>
            <a:off x="13020675" y="2717304"/>
            <a:ext cx="9525" cy="199414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30" name="Text 28"/>
          <p:cNvSpPr/>
          <p:nvPr/>
        </p:nvSpPr>
        <p:spPr>
          <a:xfrm>
            <a:off x="10337006" y="2879229"/>
            <a:ext cx="27634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-3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0337006" y="3357631"/>
            <a:ext cx="276344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+174 CERT · ISO · ENS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337006" y="3529081"/>
            <a:ext cx="276344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Regulación resuelta desde el diseño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337006" y="4017657"/>
            <a:ext cx="2588419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20000 · ISO 27001 · ENS. SmartHelp privacy-by-design, compatible con AI Act.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48513" y="4806702"/>
            <a:ext cx="2893219" cy="1994148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35" name="Shape 33"/>
          <p:cNvSpPr/>
          <p:nvPr/>
        </p:nvSpPr>
        <p:spPr>
          <a:xfrm>
            <a:off x="7148513" y="6791325"/>
            <a:ext cx="2893219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36" name="Shape 34"/>
          <p:cNvSpPr/>
          <p:nvPr/>
        </p:nvSpPr>
        <p:spPr>
          <a:xfrm>
            <a:off x="7148513" y="4806702"/>
            <a:ext cx="2893219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37" name="Shape 35"/>
          <p:cNvSpPr/>
          <p:nvPr/>
        </p:nvSpPr>
        <p:spPr>
          <a:xfrm>
            <a:off x="7148513" y="4806702"/>
            <a:ext cx="28575" cy="1994148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38" name="Shape 36"/>
          <p:cNvSpPr/>
          <p:nvPr/>
        </p:nvSpPr>
        <p:spPr>
          <a:xfrm>
            <a:off x="10032206" y="4806702"/>
            <a:ext cx="9525" cy="199414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39" name="Text 37"/>
          <p:cNvSpPr/>
          <p:nvPr/>
        </p:nvSpPr>
        <p:spPr>
          <a:xfrm>
            <a:off x="7348538" y="4968627"/>
            <a:ext cx="27634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-3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348538" y="5447029"/>
            <a:ext cx="276344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25.000 PUESTOS · 4 PAÍSES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48538" y="5618479"/>
            <a:ext cx="276344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tamaño que importa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48538" y="6107055"/>
            <a:ext cx="2588419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Grande para operar 25.000 puestos. Cercano para que el Director coja el teléfono.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136981" y="4806702"/>
            <a:ext cx="2893219" cy="1994148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44" name="Shape 42"/>
          <p:cNvSpPr/>
          <p:nvPr/>
        </p:nvSpPr>
        <p:spPr>
          <a:xfrm>
            <a:off x="10136981" y="6791325"/>
            <a:ext cx="2893219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45" name="Shape 43"/>
          <p:cNvSpPr/>
          <p:nvPr/>
        </p:nvSpPr>
        <p:spPr>
          <a:xfrm>
            <a:off x="10136981" y="4806702"/>
            <a:ext cx="2893219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46" name="Shape 44"/>
          <p:cNvSpPr/>
          <p:nvPr/>
        </p:nvSpPr>
        <p:spPr>
          <a:xfrm>
            <a:off x="10136981" y="4806702"/>
            <a:ext cx="28575" cy="1994148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47" name="Shape 45"/>
          <p:cNvSpPr/>
          <p:nvPr/>
        </p:nvSpPr>
        <p:spPr>
          <a:xfrm>
            <a:off x="13020675" y="4806702"/>
            <a:ext cx="9525" cy="1994148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3200"/>
          </a:p>
        </p:txBody>
      </p:sp>
      <p:sp>
        <p:nvSpPr>
          <p:cNvPr id="48" name="Text 46"/>
          <p:cNvSpPr/>
          <p:nvPr/>
        </p:nvSpPr>
        <p:spPr>
          <a:xfrm>
            <a:off x="10337006" y="4968627"/>
            <a:ext cx="276344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 kern="0" spc="-3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10337006" y="5447029"/>
            <a:ext cx="2763441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95%+ RENOVACIÓN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337006" y="5618479"/>
            <a:ext cx="2763441" cy="198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Transparencia de modelo y precio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337006" y="6107055"/>
            <a:ext cx="2588419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Pricing visible. Reporting orientado a valor. La métrica que decide el cliente.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580" y="6896100"/>
            <a:ext cx="135788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día más importante de un proyecto tecnológico no es el go-live. Es el lunes siguiente.</a:t>
            </a:r>
            <a:endParaRPr lang="en-US" sz="1350" dirty="0"/>
          </a:p>
        </p:txBody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55" name="Text 52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/ 21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62050" y="609600"/>
            <a:ext cx="16761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· CUMPLIMIENTO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942975"/>
            <a:ext cx="11576685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Regulación resuelta.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450" b="1" kern="0" spc="-8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como promesa — como arquitectura del servicio.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85800" y="2291655"/>
            <a:ext cx="4013150" cy="481399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4000"/>
          </a:p>
        </p:txBody>
      </p:sp>
      <p:sp>
        <p:nvSpPr>
          <p:cNvPr id="6" name="Shape 4"/>
          <p:cNvSpPr/>
          <p:nvPr/>
        </p:nvSpPr>
        <p:spPr>
          <a:xfrm>
            <a:off x="923925" y="2748855"/>
            <a:ext cx="3536900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4000"/>
          </a:p>
        </p:txBody>
      </p:sp>
      <p:sp>
        <p:nvSpPr>
          <p:cNvPr id="7" name="Text 5"/>
          <p:cNvSpPr/>
          <p:nvPr/>
        </p:nvSpPr>
        <p:spPr>
          <a:xfrm>
            <a:off x="923925" y="2392744"/>
            <a:ext cx="364300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42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REGULACIÓN 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23925" y="2939355"/>
            <a:ext cx="3643007" cy="369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NIS2 </a:t>
            </a: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cadena de suministro auditada · responsabilidad personal cubierta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23925" y="3427961"/>
            <a:ext cx="3890590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DORA </a:t>
            </a: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resiliencia operativa para servicios financieros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23925" y="3950025"/>
            <a:ext cx="3643007" cy="369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Act </a:t>
            </a: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sistemas high-risk identificados · documentación técnica completa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51350" y="2291655"/>
            <a:ext cx="4013150" cy="481399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4000"/>
          </a:p>
        </p:txBody>
      </p:sp>
      <p:sp>
        <p:nvSpPr>
          <p:cNvPr id="12" name="Shape 10"/>
          <p:cNvSpPr/>
          <p:nvPr/>
        </p:nvSpPr>
        <p:spPr>
          <a:xfrm>
            <a:off x="5089475" y="2748855"/>
            <a:ext cx="3536900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4000"/>
          </a:p>
        </p:txBody>
      </p:sp>
      <p:sp>
        <p:nvSpPr>
          <p:cNvPr id="13" name="Text 11"/>
          <p:cNvSpPr/>
          <p:nvPr/>
        </p:nvSpPr>
        <p:spPr>
          <a:xfrm>
            <a:off x="5089475" y="2392744"/>
            <a:ext cx="364300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42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CERTIFICACIONES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89475" y="2939355"/>
            <a:ext cx="3890590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20000 </a:t>
            </a: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gestión de servicios 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89475" y="3181201"/>
            <a:ext cx="3890590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 27001 </a:t>
            </a: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seguridad de la información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89475" y="3423047"/>
            <a:ext cx="3765501" cy="196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 </a:t>
            </a: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Esquema Nacional de Seguridad nivel alto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89475" y="3930366"/>
            <a:ext cx="3890590" cy="2037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en-US" sz="1400" b="1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+174 </a:t>
            </a: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certificaciones Microsoft activas · ver desglose 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89475" y="4452156"/>
            <a:ext cx="1140768" cy="814807"/>
          </a:xfrm>
          <a:prstGeom prst="rect">
            <a:avLst/>
          </a:prstGeom>
          <a:solidFill>
            <a:srgbClr val="855AC6">
              <a:alpha val="8000"/>
            </a:srgbClr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 sz="4000"/>
          </a:p>
        </p:txBody>
      </p:sp>
      <p:sp>
        <p:nvSpPr>
          <p:cNvPr id="19" name="Text 17"/>
          <p:cNvSpPr/>
          <p:nvPr/>
        </p:nvSpPr>
        <p:spPr>
          <a:xfrm>
            <a:off x="5194250" y="4537882"/>
            <a:ext cx="10074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194250" y="4855892"/>
            <a:ext cx="1007418" cy="286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&amp; App Innovation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87393" y="4452156"/>
            <a:ext cx="1140916" cy="814807"/>
          </a:xfrm>
          <a:prstGeom prst="rect">
            <a:avLst/>
          </a:prstGeom>
          <a:solidFill>
            <a:srgbClr val="855AC6">
              <a:alpha val="8000"/>
            </a:srgbClr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 sz="4000"/>
          </a:p>
        </p:txBody>
      </p:sp>
      <p:sp>
        <p:nvSpPr>
          <p:cNvPr id="22" name="Text 20"/>
          <p:cNvSpPr/>
          <p:nvPr/>
        </p:nvSpPr>
        <p:spPr>
          <a:xfrm>
            <a:off x="6392168" y="4537882"/>
            <a:ext cx="10075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92167" y="4855892"/>
            <a:ext cx="1044401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85459" y="4452156"/>
            <a:ext cx="1140768" cy="814807"/>
          </a:xfrm>
          <a:prstGeom prst="rect">
            <a:avLst/>
          </a:prstGeom>
          <a:solidFill>
            <a:srgbClr val="855AC6">
              <a:alpha val="8000"/>
            </a:srgbClr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 sz="4000"/>
          </a:p>
        </p:txBody>
      </p:sp>
      <p:sp>
        <p:nvSpPr>
          <p:cNvPr id="25" name="Text 23"/>
          <p:cNvSpPr/>
          <p:nvPr/>
        </p:nvSpPr>
        <p:spPr>
          <a:xfrm>
            <a:off x="7590234" y="4537882"/>
            <a:ext cx="10074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37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90234" y="4855892"/>
            <a:ext cx="1035993" cy="32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&amp; AI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82101" y="5352690"/>
            <a:ext cx="1140768" cy="576958"/>
          </a:xfrm>
          <a:prstGeom prst="rect">
            <a:avLst/>
          </a:prstGeom>
          <a:solidFill>
            <a:srgbClr val="855AC6">
              <a:alpha val="8000"/>
            </a:srgbClr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 sz="4000"/>
          </a:p>
        </p:txBody>
      </p:sp>
      <p:sp>
        <p:nvSpPr>
          <p:cNvPr id="28" name="Text 26"/>
          <p:cNvSpPr/>
          <p:nvPr/>
        </p:nvSpPr>
        <p:spPr>
          <a:xfrm>
            <a:off x="5194250" y="5393518"/>
            <a:ext cx="10074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32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194250" y="5674657"/>
            <a:ext cx="1169343" cy="296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80019" y="5352690"/>
            <a:ext cx="1140916" cy="576958"/>
          </a:xfrm>
          <a:prstGeom prst="rect">
            <a:avLst/>
          </a:prstGeom>
          <a:solidFill>
            <a:srgbClr val="855AC6">
              <a:alpha val="8000"/>
            </a:srgbClr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 sz="4000"/>
          </a:p>
        </p:txBody>
      </p:sp>
      <p:sp>
        <p:nvSpPr>
          <p:cNvPr id="31" name="Text 29"/>
          <p:cNvSpPr/>
          <p:nvPr/>
        </p:nvSpPr>
        <p:spPr>
          <a:xfrm>
            <a:off x="6392168" y="5393518"/>
            <a:ext cx="100756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14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392168" y="5674657"/>
            <a:ext cx="1036141" cy="401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Work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78085" y="5352690"/>
            <a:ext cx="1140768" cy="576958"/>
          </a:xfrm>
          <a:prstGeom prst="rect">
            <a:avLst/>
          </a:prstGeom>
          <a:solidFill>
            <a:srgbClr val="855AC6">
              <a:alpha val="8000"/>
            </a:srgbClr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 sz="4000"/>
          </a:p>
        </p:txBody>
      </p:sp>
      <p:sp>
        <p:nvSpPr>
          <p:cNvPr id="34" name="Text 32"/>
          <p:cNvSpPr/>
          <p:nvPr/>
        </p:nvSpPr>
        <p:spPr>
          <a:xfrm>
            <a:off x="7590234" y="5393518"/>
            <a:ext cx="10074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590233" y="5674657"/>
            <a:ext cx="10931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Apps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016901" y="2291655"/>
            <a:ext cx="4013299" cy="481399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4000"/>
          </a:p>
        </p:txBody>
      </p:sp>
      <p:sp>
        <p:nvSpPr>
          <p:cNvPr id="37" name="Shape 35"/>
          <p:cNvSpPr/>
          <p:nvPr/>
        </p:nvSpPr>
        <p:spPr>
          <a:xfrm>
            <a:off x="9255026" y="2748855"/>
            <a:ext cx="3537049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4000"/>
          </a:p>
        </p:txBody>
      </p:sp>
      <p:sp>
        <p:nvSpPr>
          <p:cNvPr id="38" name="Text 36"/>
          <p:cNvSpPr/>
          <p:nvPr/>
        </p:nvSpPr>
        <p:spPr>
          <a:xfrm>
            <a:off x="9255026" y="2392744"/>
            <a:ext cx="364316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42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GOBIERNO IA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153426" y="2939355"/>
            <a:ext cx="3714849" cy="1094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285750" indent="-285750" algn="l">
              <a:lnSpc>
                <a:spcPct val="110000"/>
              </a:lnSpc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A3A3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Audit logs de cada decisión del agente IA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 algn="l">
              <a:lnSpc>
                <a:spcPct val="110000"/>
              </a:lnSpc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A3A3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Explicabilidad AI Act high-risk · documentada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 algn="l">
              <a:lnSpc>
                <a:spcPct val="110000"/>
              </a:lnSpc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A3A3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Datasets propios · sin entrenamiento con datos del cliente sin consentimiento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 algn="l">
              <a:lnSpc>
                <a:spcPct val="110000"/>
              </a:lnSpc>
              <a:buClr>
                <a:srgbClr val="7030A0"/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rgbClr val="3A3A3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Comité de ética IA interno · revisión trimestral</a:t>
            </a:r>
            <a:endParaRPr lang="en-US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42" name="Text 39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/ 21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219557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34895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· +400.000 USUARIOS EN PRODUCCIÓN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1114425"/>
            <a:ext cx="299050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400" b="1" kern="0" spc="-162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+400.000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575893" y="1524000"/>
            <a:ext cx="450205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usuarios activos en contratos de soporte hoy.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85800" y="2066925"/>
            <a:ext cx="4013150" cy="3261717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904875" y="2171700"/>
            <a:ext cx="3932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 01 · EJIE · GOBIERNO VASCO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04874" y="2392617"/>
            <a:ext cx="2852573" cy="30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-1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CAU centros educativos N1 + N2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4875" y="2638425"/>
            <a:ext cx="1924258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+200K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4875" y="2861220"/>
            <a:ext cx="1512508" cy="512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usuarios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30401" y="2638425"/>
            <a:ext cx="1924422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855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30400" y="2861221"/>
            <a:ext cx="1426825" cy="432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sedes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4875" y="3079700"/>
            <a:ext cx="1924258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4875" y="3302495"/>
            <a:ext cx="979696" cy="26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vehículos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30401" y="3079700"/>
            <a:ext cx="1924422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+200K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30401" y="3302495"/>
            <a:ext cx="1206718" cy="26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dispositivos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4875" y="3520976"/>
            <a:ext cx="1924258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2.500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4875" y="3743770"/>
            <a:ext cx="1197225" cy="26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tickets/mes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4875" y="3981301"/>
            <a:ext cx="35750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4000"/>
          </a:p>
        </p:txBody>
      </p:sp>
      <p:sp>
        <p:nvSpPr>
          <p:cNvPr id="21" name="Text 19"/>
          <p:cNvSpPr/>
          <p:nvPr/>
        </p:nvSpPr>
        <p:spPr>
          <a:xfrm>
            <a:off x="904874" y="4229254"/>
            <a:ext cx="4013150" cy="2733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Eficiencia </a:t>
            </a:r>
            <a:r>
              <a:rPr lang="en-US" sz="1200" b="1" dirty="0">
                <a:solidFill>
                  <a:srgbClr val="3A8E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15% </a:t>
            </a: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año 1 · SLAs </a:t>
            </a:r>
            <a:r>
              <a:rPr lang="en-US" sz="1200" b="1" dirty="0">
                <a:solidFill>
                  <a:srgbClr val="3A8E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&lt;98% </a:t>
            </a: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Satisfacción </a:t>
            </a:r>
            <a:r>
              <a:rPr lang="en-US" sz="1200" b="1" dirty="0">
                <a:solidFill>
                  <a:srgbClr val="3A8E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4875" y="4488811"/>
            <a:ext cx="36822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A6A6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Soporte global hardware y software en más de 850 centros del País Vasco. Remoto y presencial.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51350" y="1971675"/>
            <a:ext cx="4013150" cy="3261717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070425" y="2171700"/>
            <a:ext cx="3932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 02 · TELEFÓNICA TECH · CLOUD 7×24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070424" y="2392617"/>
            <a:ext cx="2919860" cy="30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-1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infraestructuras cloud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0425" y="2638425"/>
            <a:ext cx="1924258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3.000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0425" y="2861220"/>
            <a:ext cx="830790" cy="26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95951" y="2638425"/>
            <a:ext cx="1924422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25K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95951" y="2861220"/>
            <a:ext cx="1994381" cy="26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elementos inventario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70425" y="3079700"/>
            <a:ext cx="1924258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27K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70425" y="3302495"/>
            <a:ext cx="1325248" cy="26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alarmas/mes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95951" y="3079700"/>
            <a:ext cx="1924422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95951" y="3302495"/>
            <a:ext cx="1197225" cy="26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tickets/mes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070425" y="4004597"/>
            <a:ext cx="35750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4000"/>
          </a:p>
        </p:txBody>
      </p:sp>
      <p:sp>
        <p:nvSpPr>
          <p:cNvPr id="35" name="Text 33"/>
          <p:cNvSpPr/>
          <p:nvPr/>
        </p:nvSpPr>
        <p:spPr>
          <a:xfrm>
            <a:off x="5070425" y="4193561"/>
            <a:ext cx="368225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Rotación &lt; </a:t>
            </a:r>
            <a:r>
              <a:rPr lang="en-US" sz="1400" b="1" dirty="0">
                <a:solidFill>
                  <a:srgbClr val="3A8E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5% </a:t>
            </a: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TMO </a:t>
            </a:r>
            <a:r>
              <a:rPr lang="en-US" sz="1400" b="1" dirty="0">
                <a:solidFill>
                  <a:srgbClr val="3A8E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−25% </a:t>
            </a: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SLAs </a:t>
            </a:r>
            <a:r>
              <a:rPr lang="en-US" sz="1400" b="1" dirty="0">
                <a:solidFill>
                  <a:srgbClr val="3A8E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98%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70425" y="4453117"/>
            <a:ext cx="39325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45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WINDOWS · UNIX · MIDDLEWARE · VDI · SAP · BBDD · CCPP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016901" y="1971675"/>
            <a:ext cx="4013299" cy="3261717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9235976" y="2171700"/>
            <a:ext cx="393266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b="1" kern="0" spc="105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 03 · VALORIZA · GESTIÓN MEDIOAMBIENTAL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9235976" y="2392617"/>
            <a:ext cx="3588172" cy="30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kern="0" spc="-13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 &amp; Service Desk · entorno distribuido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235976" y="2638425"/>
            <a:ext cx="1924422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1.800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235976" y="2861220"/>
            <a:ext cx="903750" cy="26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usuarios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061650" y="2638425"/>
            <a:ext cx="1924422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35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1061649" y="2861220"/>
            <a:ext cx="669405" cy="26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sedes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235976" y="3079700"/>
            <a:ext cx="1924422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5.000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235975" y="3302495"/>
            <a:ext cx="1145691" cy="26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tickets/año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1061650" y="3079700"/>
            <a:ext cx="1924422" cy="26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-13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5×12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061650" y="3302495"/>
            <a:ext cx="1113144" cy="260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front-office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235976" y="3540026"/>
            <a:ext cx="3575149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4000"/>
          </a:p>
        </p:txBody>
      </p:sp>
      <p:sp>
        <p:nvSpPr>
          <p:cNvPr id="49" name="Text 47"/>
          <p:cNvSpPr/>
          <p:nvPr/>
        </p:nvSpPr>
        <p:spPr>
          <a:xfrm>
            <a:off x="9235975" y="4171437"/>
            <a:ext cx="3808201" cy="241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Eficiencia</a:t>
            </a: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b="1" dirty="0">
                <a:solidFill>
                  <a:srgbClr val="3A8E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15% </a:t>
            </a: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año 1 · SLAs </a:t>
            </a:r>
            <a:r>
              <a:rPr lang="en-US" sz="1400" b="1" dirty="0">
                <a:solidFill>
                  <a:srgbClr val="3A8E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&lt;98% </a:t>
            </a:r>
            <a:r>
              <a:rPr lang="en-US" sz="14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· Satisfacción </a:t>
            </a:r>
            <a:r>
              <a:rPr lang="en-US" sz="1400" b="1" dirty="0">
                <a:solidFill>
                  <a:srgbClr val="3A8E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95%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9235976" y="4651772"/>
            <a:ext cx="3932664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45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SERVICENOW · MANAGEENGINE · INTUNE · ENTRAID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85800" y="5404842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52" name="Text 50"/>
          <p:cNvSpPr/>
          <p:nvPr/>
        </p:nvSpPr>
        <p:spPr>
          <a:xfrm>
            <a:off x="752475" y="5547717"/>
            <a:ext cx="156477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Telefónica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460129" y="5404842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54" name="Text 52"/>
          <p:cNvSpPr/>
          <p:nvPr/>
        </p:nvSpPr>
        <p:spPr>
          <a:xfrm>
            <a:off x="2526804" y="5547717"/>
            <a:ext cx="156477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BT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234458" y="5404842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56" name="Text 54"/>
          <p:cNvSpPr/>
          <p:nvPr/>
        </p:nvSpPr>
        <p:spPr>
          <a:xfrm>
            <a:off x="4301133" y="5547717"/>
            <a:ext cx="156477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Euskaltel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008787" y="5404842"/>
            <a:ext cx="1698278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58" name="Text 56"/>
          <p:cNvSpPr/>
          <p:nvPr/>
        </p:nvSpPr>
        <p:spPr>
          <a:xfrm>
            <a:off x="6716316" y="5538192"/>
            <a:ext cx="3592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 err="1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Eusko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07522" y="5653385"/>
            <a:ext cx="5768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 err="1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Jaurlaritza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783264" y="5404842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61" name="Text 59"/>
          <p:cNvSpPr/>
          <p:nvPr/>
        </p:nvSpPr>
        <p:spPr>
          <a:xfrm>
            <a:off x="7849939" y="5547717"/>
            <a:ext cx="156477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izfe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557593" y="5404842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63" name="Text 61"/>
          <p:cNvSpPr/>
          <p:nvPr/>
        </p:nvSpPr>
        <p:spPr>
          <a:xfrm>
            <a:off x="9624268" y="5547717"/>
            <a:ext cx="156477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itelazpi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11331922" y="5404842"/>
            <a:ext cx="1698278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65" name="Text 63"/>
          <p:cNvSpPr/>
          <p:nvPr/>
        </p:nvSpPr>
        <p:spPr>
          <a:xfrm>
            <a:off x="11398597" y="5547717"/>
            <a:ext cx="1564928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Veritas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85800" y="5997178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67" name="Text 65"/>
          <p:cNvSpPr/>
          <p:nvPr/>
        </p:nvSpPr>
        <p:spPr>
          <a:xfrm>
            <a:off x="752475" y="6140053"/>
            <a:ext cx="156477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Móstoles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460129" y="5997178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69" name="Text 67"/>
          <p:cNvSpPr/>
          <p:nvPr/>
        </p:nvSpPr>
        <p:spPr>
          <a:xfrm>
            <a:off x="2526804" y="6140053"/>
            <a:ext cx="156477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Cruz Roja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234458" y="5997178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71" name="Text 69"/>
          <p:cNvSpPr/>
          <p:nvPr/>
        </p:nvSpPr>
        <p:spPr>
          <a:xfrm>
            <a:off x="4301133" y="6140053"/>
            <a:ext cx="156477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izenpe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008787" y="5997178"/>
            <a:ext cx="1698278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73" name="Text 71"/>
          <p:cNvSpPr/>
          <p:nvPr/>
        </p:nvSpPr>
        <p:spPr>
          <a:xfrm>
            <a:off x="6677025" y="6130528"/>
            <a:ext cx="911020" cy="215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Athletic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6751886" y="6245721"/>
            <a:ext cx="2881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Club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7783264" y="5997178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76" name="Text 74"/>
          <p:cNvSpPr/>
          <p:nvPr/>
        </p:nvSpPr>
        <p:spPr>
          <a:xfrm>
            <a:off x="7849939" y="6140053"/>
            <a:ext cx="156477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Repsol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9557593" y="5997178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78" name="Text 76"/>
          <p:cNvSpPr/>
          <p:nvPr/>
        </p:nvSpPr>
        <p:spPr>
          <a:xfrm>
            <a:off x="9624268" y="6140053"/>
            <a:ext cx="156477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Admiral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11331922" y="5997178"/>
            <a:ext cx="1698278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80" name="Text 78"/>
          <p:cNvSpPr/>
          <p:nvPr/>
        </p:nvSpPr>
        <p:spPr>
          <a:xfrm>
            <a:off x="12010876" y="6130528"/>
            <a:ext cx="4164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Bizkaia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2037219" y="6245721"/>
            <a:ext cx="3637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Lantik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85800" y="6589514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83" name="Text 81"/>
          <p:cNvSpPr/>
          <p:nvPr/>
        </p:nvSpPr>
        <p:spPr>
          <a:xfrm>
            <a:off x="752475" y="6732389"/>
            <a:ext cx="156477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MEFP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2460129" y="6589514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85" name="Text 83"/>
          <p:cNvSpPr/>
          <p:nvPr/>
        </p:nvSpPr>
        <p:spPr>
          <a:xfrm>
            <a:off x="2526804" y="6732389"/>
            <a:ext cx="156477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EJIE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4234458" y="6589514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87" name="Text 85"/>
          <p:cNvSpPr/>
          <p:nvPr/>
        </p:nvSpPr>
        <p:spPr>
          <a:xfrm>
            <a:off x="4301133" y="6732389"/>
            <a:ext cx="156477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LaLiga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008787" y="6589514"/>
            <a:ext cx="1698278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89" name="Text 87"/>
          <p:cNvSpPr/>
          <p:nvPr/>
        </p:nvSpPr>
        <p:spPr>
          <a:xfrm>
            <a:off x="6075462" y="6732389"/>
            <a:ext cx="1564928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Finning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7783264" y="6589514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91" name="Text 89"/>
          <p:cNvSpPr/>
          <p:nvPr/>
        </p:nvSpPr>
        <p:spPr>
          <a:xfrm>
            <a:off x="7849939" y="6732389"/>
            <a:ext cx="156477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Valoriza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9557593" y="6589514"/>
            <a:ext cx="1698129" cy="516136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93" name="Text 91"/>
          <p:cNvSpPr/>
          <p:nvPr/>
        </p:nvSpPr>
        <p:spPr>
          <a:xfrm>
            <a:off x="10232082" y="6722864"/>
            <a:ext cx="4250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Cálculo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10206930" y="6838057"/>
            <a:ext cx="4755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Álava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11331922" y="6589514"/>
            <a:ext cx="1698278" cy="516136"/>
          </a:xfrm>
          <a:prstGeom prst="rect">
            <a:avLst/>
          </a:prstGeom>
          <a:solidFill>
            <a:srgbClr val="041C2C"/>
          </a:solidFill>
          <a:ln w="9525">
            <a:solidFill>
              <a:srgbClr val="041C2C"/>
            </a:solidFill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96" name="Text 94"/>
          <p:cNvSpPr/>
          <p:nvPr/>
        </p:nvSpPr>
        <p:spPr>
          <a:xfrm>
            <a:off x="11398597" y="6732389"/>
            <a:ext cx="1564928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kern="0" spc="-4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NDAs</a:t>
            </a:r>
            <a:endParaRPr lang="en-US" sz="1200" dirty="0"/>
          </a:p>
        </p:txBody>
      </p:sp>
      <p:pic>
        <p:nvPicPr>
          <p:cNvPr id="97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98" name="Text 95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99" name="Text 96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/ 21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162050" y="609600"/>
            <a:ext cx="34895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· CIFRAS VERIFICABLES POR CLIENTE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942975"/>
            <a:ext cx="11576685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 que ya operamos. </a:t>
            </a:r>
            <a:r>
              <a:rPr lang="en-US" sz="4200" b="1" kern="0" spc="-8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Cifras verificables, cliente a cliente.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685800" y="2291655"/>
            <a:ext cx="6057900" cy="481399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695325" y="2301180"/>
            <a:ext cx="6038850" cy="584775"/>
          </a:xfrm>
          <a:prstGeom prst="rect">
            <a:avLst/>
          </a:prstGeom>
          <a:solidFill>
            <a:srgbClr val="041C2C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7" name="Text 5"/>
          <p:cNvSpPr/>
          <p:nvPr/>
        </p:nvSpPr>
        <p:spPr>
          <a:xfrm>
            <a:off x="904875" y="2453580"/>
            <a:ext cx="2487254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4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EJIE · GOBIERNO VASCO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97711" y="2472630"/>
            <a:ext cx="2936316" cy="220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100" kern="0" spc="83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11.000 PUESTOS · 280 ORGANISMOS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5325" y="2767905"/>
            <a:ext cx="6038850" cy="584775"/>
          </a:xfrm>
          <a:prstGeom prst="rect">
            <a:avLst/>
          </a:prstGeom>
          <a:solidFill>
            <a:srgbClr val="E4E4E4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10" name="Text 8"/>
          <p:cNvSpPr/>
          <p:nvPr/>
        </p:nvSpPr>
        <p:spPr>
          <a:xfrm>
            <a:off x="904874" y="2882205"/>
            <a:ext cx="1740337" cy="235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Puestos gestionados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94078" y="2882205"/>
            <a:ext cx="466474" cy="2359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11.000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5325" y="3139380"/>
            <a:ext cx="6038850" cy="584775"/>
          </a:xfrm>
          <a:prstGeom prst="rect">
            <a:avLst/>
          </a:prstGeom>
          <a:solidFill>
            <a:srgbClr val="E4E4E4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13" name="Text 11"/>
          <p:cNvSpPr/>
          <p:nvPr/>
        </p:nvSpPr>
        <p:spPr>
          <a:xfrm>
            <a:off x="904875" y="3253680"/>
            <a:ext cx="1897112" cy="235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Organismos públicos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17605" y="3253680"/>
            <a:ext cx="309380" cy="2359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280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5325" y="3510855"/>
            <a:ext cx="6038850" cy="584775"/>
          </a:xfrm>
          <a:prstGeom prst="rect">
            <a:avLst/>
          </a:prstGeom>
          <a:solidFill>
            <a:srgbClr val="E4E4E4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16" name="Text 14"/>
          <p:cNvSpPr/>
          <p:nvPr/>
        </p:nvSpPr>
        <p:spPr>
          <a:xfrm>
            <a:off x="904874" y="3625155"/>
            <a:ext cx="1458307" cy="235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Tickets / 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0769" y="3625155"/>
            <a:ext cx="520976" cy="2359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~9.000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5325" y="3882330"/>
            <a:ext cx="6038850" cy="584775"/>
          </a:xfrm>
          <a:prstGeom prst="rect">
            <a:avLst/>
          </a:prstGeom>
          <a:solidFill>
            <a:srgbClr val="E4E4E4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19" name="Text 17"/>
          <p:cNvSpPr/>
          <p:nvPr/>
        </p:nvSpPr>
        <p:spPr>
          <a:xfrm>
            <a:off x="904875" y="3996630"/>
            <a:ext cx="2182356" cy="235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Aplicaciones bajo soporte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8251" y="3996630"/>
            <a:ext cx="395942" cy="2359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+400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5325" y="4253805"/>
            <a:ext cx="6038850" cy="584775"/>
          </a:xfrm>
          <a:prstGeom prst="rect">
            <a:avLst/>
          </a:prstGeom>
          <a:solidFill>
            <a:srgbClr val="E4E4E4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22" name="Text 20"/>
          <p:cNvSpPr/>
          <p:nvPr/>
        </p:nvSpPr>
        <p:spPr>
          <a:xfrm>
            <a:off x="904875" y="4368105"/>
            <a:ext cx="1963686" cy="235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Cumplimiento ENS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7387" y="4368105"/>
            <a:ext cx="408766" cy="2359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100%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5325" y="4625280"/>
            <a:ext cx="6038850" cy="584775"/>
          </a:xfrm>
          <a:prstGeom prst="rect">
            <a:avLst/>
          </a:prstGeom>
          <a:solidFill>
            <a:srgbClr val="E4E4E4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25" name="Text 23"/>
          <p:cNvSpPr/>
          <p:nvPr/>
        </p:nvSpPr>
        <p:spPr>
          <a:xfrm>
            <a:off x="904875" y="4739580"/>
            <a:ext cx="1740336" cy="235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Años en producción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97377" y="4739580"/>
            <a:ext cx="197170" cy="2205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+8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72300" y="2291655"/>
            <a:ext cx="6057900" cy="481399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6981825" y="2301180"/>
            <a:ext cx="6038850" cy="584775"/>
          </a:xfrm>
          <a:prstGeom prst="rect">
            <a:avLst/>
          </a:prstGeom>
          <a:solidFill>
            <a:srgbClr val="041C2C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29" name="Text 27"/>
          <p:cNvSpPr/>
          <p:nvPr/>
        </p:nvSpPr>
        <p:spPr>
          <a:xfrm>
            <a:off x="7191375" y="2453580"/>
            <a:ext cx="1672406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4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MAPFRE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670458" y="2472630"/>
            <a:ext cx="2306105" cy="220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100" kern="0" spc="83" dirty="0">
                <a:solidFill>
                  <a:srgbClr val="76767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25.000 PUESTOS · 6 AÑOS IA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81825" y="2767905"/>
            <a:ext cx="6038850" cy="584775"/>
          </a:xfrm>
          <a:prstGeom prst="rect">
            <a:avLst/>
          </a:prstGeom>
          <a:solidFill>
            <a:srgbClr val="E4E4E4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32" name="Text 30"/>
          <p:cNvSpPr/>
          <p:nvPr/>
        </p:nvSpPr>
        <p:spPr>
          <a:xfrm>
            <a:off x="7191374" y="2882205"/>
            <a:ext cx="2280335" cy="235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Puestos gestionados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432953" y="2882205"/>
            <a:ext cx="527388" cy="2359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25.000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81825" y="3139380"/>
            <a:ext cx="6038850" cy="584775"/>
          </a:xfrm>
          <a:prstGeom prst="rect">
            <a:avLst/>
          </a:prstGeom>
          <a:solidFill>
            <a:srgbClr val="E4E4E4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35" name="Text 33"/>
          <p:cNvSpPr/>
          <p:nvPr/>
        </p:nvSpPr>
        <p:spPr>
          <a:xfrm>
            <a:off x="7191375" y="3253680"/>
            <a:ext cx="2768772" cy="235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Aplicaciones soportadas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608421" y="3253680"/>
            <a:ext cx="304571" cy="2359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700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81825" y="3510855"/>
            <a:ext cx="6038850" cy="584775"/>
          </a:xfrm>
          <a:prstGeom prst="rect">
            <a:avLst/>
          </a:prstGeom>
          <a:solidFill>
            <a:srgbClr val="E4E4E4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38" name="Text 36"/>
          <p:cNvSpPr/>
          <p:nvPr/>
        </p:nvSpPr>
        <p:spPr>
          <a:xfrm>
            <a:off x="7191375" y="3625155"/>
            <a:ext cx="3583471" cy="235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SmartHelp en producción desde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2561689" y="3625155"/>
            <a:ext cx="363882" cy="2359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2018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981825" y="3882330"/>
            <a:ext cx="6038850" cy="584775"/>
          </a:xfrm>
          <a:prstGeom prst="rect">
            <a:avLst/>
          </a:prstGeom>
          <a:solidFill>
            <a:srgbClr val="E4E4E4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41" name="Text 39"/>
          <p:cNvSpPr/>
          <p:nvPr/>
        </p:nvSpPr>
        <p:spPr>
          <a:xfrm>
            <a:off x="7191375" y="3996630"/>
            <a:ext cx="2329436" cy="235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Tickets/mes evitados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2502902" y="3996630"/>
            <a:ext cx="436017" cy="2359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3.500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81825" y="4253805"/>
            <a:ext cx="6038850" cy="584775"/>
          </a:xfrm>
          <a:prstGeom prst="rect">
            <a:avLst/>
          </a:prstGeom>
          <a:solidFill>
            <a:srgbClr val="E4E4E4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44" name="Text 42"/>
          <p:cNvSpPr/>
          <p:nvPr/>
        </p:nvSpPr>
        <p:spPr>
          <a:xfrm>
            <a:off x="7191375" y="4368105"/>
            <a:ext cx="2526775" cy="235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Tiempo apertura ticket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2306449" y="4368105"/>
            <a:ext cx="678071" cy="2359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5'30'' → 1'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81825" y="4625280"/>
            <a:ext cx="6038850" cy="584775"/>
          </a:xfrm>
          <a:prstGeom prst="rect">
            <a:avLst/>
          </a:prstGeom>
          <a:solidFill>
            <a:srgbClr val="E4E4E4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47" name="Text 45"/>
          <p:cNvSpPr/>
          <p:nvPr/>
        </p:nvSpPr>
        <p:spPr>
          <a:xfrm>
            <a:off x="7191375" y="4739580"/>
            <a:ext cx="2969730" cy="235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Ahorro mensual calculable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2236500" y="4739580"/>
            <a:ext cx="777457" cy="23596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~157.500 €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981825" y="4996755"/>
            <a:ext cx="6038850" cy="584775"/>
          </a:xfrm>
          <a:prstGeom prst="rect">
            <a:avLst/>
          </a:prstGeom>
          <a:solidFill>
            <a:srgbClr val="E4E4E4"/>
          </a:solidFill>
          <a:ln/>
        </p:spPr>
        <p:txBody>
          <a:bodyPr>
            <a:spAutoFit/>
          </a:bodyPr>
          <a:lstStyle/>
          <a:p>
            <a:endParaRPr lang="es-ES" sz="3200"/>
          </a:p>
        </p:txBody>
      </p:sp>
      <p:sp>
        <p:nvSpPr>
          <p:cNvPr id="50" name="Text 48"/>
          <p:cNvSpPr/>
          <p:nvPr/>
        </p:nvSpPr>
        <p:spPr>
          <a:xfrm>
            <a:off x="7191375" y="5111055"/>
            <a:ext cx="2520438" cy="235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Años IA en producción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2684323" y="5111055"/>
            <a:ext cx="195566" cy="22057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6+</a:t>
            </a:r>
            <a:endParaRPr lang="en-US" sz="1100" dirty="0"/>
          </a:p>
        </p:txBody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54" name="Text 51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/ 21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50588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85800" y="676275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162050" y="609600"/>
            <a:ext cx="22407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 · MODELO DE RELACIÓN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685800" y="1171575"/>
            <a:ext cx="4013150" cy="519112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6" name="Shape 4"/>
          <p:cNvSpPr/>
          <p:nvPr/>
        </p:nvSpPr>
        <p:spPr>
          <a:xfrm>
            <a:off x="942975" y="1552575"/>
            <a:ext cx="342900" cy="85725"/>
          </a:xfrm>
          <a:prstGeom prst="rect">
            <a:avLst/>
          </a:prstGeom>
          <a:solidFill>
            <a:srgbClr val="D9C7EE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7" name="Shape 5"/>
          <p:cNvSpPr/>
          <p:nvPr/>
        </p:nvSpPr>
        <p:spPr>
          <a:xfrm>
            <a:off x="1285875" y="1485900"/>
            <a:ext cx="34290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8" name="Shape 6"/>
          <p:cNvSpPr/>
          <p:nvPr/>
        </p:nvSpPr>
        <p:spPr>
          <a:xfrm>
            <a:off x="1628775" y="1409700"/>
            <a:ext cx="342900" cy="2286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9" name="Text 7"/>
          <p:cNvSpPr/>
          <p:nvPr/>
        </p:nvSpPr>
        <p:spPr>
          <a:xfrm>
            <a:off x="942975" y="1828800"/>
            <a:ext cx="38486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3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F·01 · SEMANAS 1–4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42975" y="2066925"/>
            <a:ext cx="38486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1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Diagnóstico Data Driven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42975" y="2506915"/>
            <a:ext cx="3603764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Dimensionamiento basado en datos reales, no estimaciones. Análisis de parque, tickets, fricción y gaps regulatorios. Quick wins ejecutables en los primeros 90 días. Diseño del modelo objetivo SmartOPS.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42975" y="3889117"/>
            <a:ext cx="3498800" cy="282831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13" name="Text 11"/>
          <p:cNvSpPr/>
          <p:nvPr/>
        </p:nvSpPr>
        <p:spPr>
          <a:xfrm>
            <a:off x="1038225" y="3926141"/>
            <a:ext cx="3037850" cy="245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 PRICE · 10 DÍAS · SIN COMPROMISO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42975" y="5905500"/>
            <a:ext cx="34988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15" name="Text 13"/>
          <p:cNvSpPr/>
          <p:nvPr/>
        </p:nvSpPr>
        <p:spPr>
          <a:xfrm>
            <a:off x="942975" y="5991225"/>
            <a:ext cx="36037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Mapa priorizado de fricción y riesgo para decisión CIO.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51350" y="1171575"/>
            <a:ext cx="4013150" cy="5191125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17" name="Text 15"/>
          <p:cNvSpPr/>
          <p:nvPr/>
        </p:nvSpPr>
        <p:spPr>
          <a:xfrm>
            <a:off x="5108525" y="1828800"/>
            <a:ext cx="384868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32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F·02 · MESES 1–3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08525" y="2066925"/>
            <a:ext cx="38486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1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Piloto Operativo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08525" y="2506915"/>
            <a:ext cx="3603764" cy="591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A3A3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Seleccionar un dominio de alto impacto para activar automatización, conocimiento, medición XLA y reporting de negocio. Solapamiento garantizado con proveedor incumbente.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08524" y="3905248"/>
            <a:ext cx="3194818" cy="266700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21" name="Text 19"/>
          <p:cNvSpPr/>
          <p:nvPr/>
        </p:nvSpPr>
        <p:spPr>
          <a:xfrm>
            <a:off x="5203774" y="3910779"/>
            <a:ext cx="3099567" cy="261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DIRECTOR DE SERVICIO NOMBRADO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08525" y="5905500"/>
            <a:ext cx="3498800" cy="9525"/>
          </a:xfrm>
          <a:prstGeom prst="rect">
            <a:avLst/>
          </a:prstGeom>
          <a:solidFill>
            <a:srgbClr val="E4E4E4"/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23" name="Text 21"/>
          <p:cNvSpPr/>
          <p:nvPr/>
        </p:nvSpPr>
        <p:spPr>
          <a:xfrm>
            <a:off x="5108525" y="5991225"/>
            <a:ext cx="36037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Caso medible de reducción de fricción y mejora de gobierno.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16901" y="1171575"/>
            <a:ext cx="4013299" cy="5191125"/>
          </a:xfrm>
          <a:prstGeom prst="rect">
            <a:avLst/>
          </a:prstGeom>
          <a:solidFill>
            <a:srgbClr val="855AC6"/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 sz="2800"/>
          </a:p>
        </p:txBody>
      </p:sp>
      <p:sp>
        <p:nvSpPr>
          <p:cNvPr id="25" name="Text 23"/>
          <p:cNvSpPr/>
          <p:nvPr/>
        </p:nvSpPr>
        <p:spPr>
          <a:xfrm>
            <a:off x="9274076" y="1809750"/>
            <a:ext cx="384884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32" dirty="0">
                <a:solidFill>
                  <a:srgbClr val="FFFFFF">
                    <a:alpha val="8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F·03 · MES 4 →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274076" y="2066925"/>
            <a:ext cx="384884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-1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Operación con Mejora Continua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274076" y="2506915"/>
            <a:ext cx="3603918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Operación 24×7 con revisiones mensuales de valor. Reporting orientado a negocio, no a actividad. Comités de servicio con agenda de mejora. Evolución hacia DEX completo y XLAs contractuales.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74076" y="3905248"/>
            <a:ext cx="3603918" cy="2667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29" name="Text 27"/>
          <p:cNvSpPr/>
          <p:nvPr/>
        </p:nvSpPr>
        <p:spPr>
          <a:xfrm>
            <a:off x="9369326" y="3926140"/>
            <a:ext cx="3508668" cy="245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b="1" kern="0" spc="9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 CONTINUA · EVOLUTIVOS INTEGRADOS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274076" y="5905500"/>
            <a:ext cx="3498949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es-ES" sz="2800"/>
          </a:p>
        </p:txBody>
      </p:sp>
      <p:sp>
        <p:nvSpPr>
          <p:cNvPr id="31" name="Text 29"/>
          <p:cNvSpPr/>
          <p:nvPr/>
        </p:nvSpPr>
        <p:spPr>
          <a:xfrm>
            <a:off x="9274076" y="5991225"/>
            <a:ext cx="360391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Roadmap modular con métricas, alcance y comité de evolución.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0634" y="6496050"/>
            <a:ext cx="1271473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3A3A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compromiso que te pedimos es el de la </a:t>
            </a:r>
            <a:r>
              <a:rPr lang="en-US" sz="1400" i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Fase 1 </a:t>
            </a:r>
            <a:r>
              <a:rPr lang="en-US" sz="1400" dirty="0">
                <a:solidFill>
                  <a:srgbClr val="3A3A3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— diez días, fixed price, valor desde la primera semana. El resto se construye con datos en la mesa, no con promesas en el contrato.</a:t>
            </a:r>
            <a:endParaRPr lang="en-US" sz="1400" dirty="0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433572" y="7372350"/>
            <a:ext cx="100250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SMARTOPS 2026</a:t>
            </a:r>
            <a:endParaRPr lang="en-US" sz="825" dirty="0"/>
          </a:p>
        </p:txBody>
      </p:sp>
      <p:sp>
        <p:nvSpPr>
          <p:cNvPr id="35" name="Text 32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7676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/ 21</a:t>
            </a:r>
            <a:endParaRPr lang="en-US" sz="8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467779" cy="1905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0634" y="838200"/>
            <a:ext cx="12714732" cy="1775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200" b="1" kern="0" spc="-144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Esperar es </a:t>
            </a:r>
            <a:r>
              <a:rPr lang="en-US" sz="7200" b="1" kern="0" spc="-144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más caro </a:t>
            </a:r>
            <a:r>
              <a:rPr lang="en-US" sz="7200" b="1" kern="0" spc="-144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 actuar.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685800" y="2918222"/>
            <a:ext cx="4000500" cy="1743075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5" name="Text 3"/>
          <p:cNvSpPr/>
          <p:nvPr/>
        </p:nvSpPr>
        <p:spPr>
          <a:xfrm>
            <a:off x="923925" y="3137297"/>
            <a:ext cx="38766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FUERZA 01 · REGULATORIA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23925" y="3337322"/>
            <a:ext cx="38766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4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FECHAS FIJAS, NO NEGOCIABLES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3925" y="3584972"/>
            <a:ext cx="38766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EU AI Act high-risk · </a:t>
            </a:r>
            <a:r>
              <a:rPr lang="en-US" sz="1000" b="1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2·ago·2026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23925" y="3813572"/>
            <a:ext cx="38766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NIS2 España · ley 2026 · inspecciones empezando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23925" y="4042172"/>
            <a:ext cx="362997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mes sin preparar = multas hasta </a:t>
            </a:r>
            <a:r>
              <a:rPr lang="en-US" sz="1000" b="1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35M€ </a:t>
            </a:r>
            <a:r>
              <a:rPr lang="en-US" sz="10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responsabilidad personal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57750" y="2918222"/>
            <a:ext cx="4000500" cy="1743075"/>
          </a:xfrm>
          <a:prstGeom prst="rect">
            <a:avLst/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1" name="Text 9"/>
          <p:cNvSpPr/>
          <p:nvPr/>
        </p:nvSpPr>
        <p:spPr>
          <a:xfrm>
            <a:off x="5095875" y="3137297"/>
            <a:ext cx="38766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855A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FUERZA 02 · COMPETITIVA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95875" y="3337322"/>
            <a:ext cx="38766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4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CURVA IA SE COMPONE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95875" y="3584972"/>
            <a:ext cx="38766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empresas que adoptan IA hoy construyen ventaja operativa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95875" y="3813572"/>
            <a:ext cx="38766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95% </a:t>
            </a:r>
            <a:r>
              <a:rPr lang="en-US" sz="10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obtuvo retorno · </a:t>
            </a:r>
            <a:r>
              <a:rPr lang="en-US" sz="1000" b="1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5% </a:t>
            </a:r>
            <a:r>
              <a:rPr lang="en-US" sz="10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lleva ventaja estructural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95875" y="4042172"/>
            <a:ext cx="38766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Esperar = quedar en el </a:t>
            </a:r>
            <a:r>
              <a:rPr lang="en-US" sz="1000" b="1" dirty="0">
                <a:solidFill>
                  <a:srgbClr val="B696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29700" y="2918222"/>
            <a:ext cx="4000500" cy="1743075"/>
          </a:xfrm>
          <a:prstGeom prst="rect">
            <a:avLst/>
          </a:prstGeom>
          <a:solidFill>
            <a:srgbClr val="855AC6"/>
          </a:solidFill>
          <a:ln w="9525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 sz="2400"/>
          </a:p>
        </p:txBody>
      </p:sp>
      <p:sp>
        <p:nvSpPr>
          <p:cNvPr id="17" name="Text 15"/>
          <p:cNvSpPr/>
          <p:nvPr/>
        </p:nvSpPr>
        <p:spPr>
          <a:xfrm>
            <a:off x="9267825" y="3137297"/>
            <a:ext cx="38766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FFFFFF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FUERZA 03 · ECONÓMICA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267825" y="3337322"/>
            <a:ext cx="38766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4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INACCIÓN TIENE PRECIO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67825" y="3584972"/>
            <a:ext cx="38766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Año con proveedor que no reta = </a:t>
            </a: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38% </a:t>
            </a:r>
            <a:r>
              <a:rPr lang="en-US" sz="1000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 mercado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67825" y="3813572"/>
            <a:ext cx="38766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Año sin gobierno del puesto = </a:t>
            </a: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226 personas-año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267825" y="4042172"/>
            <a:ext cx="38766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Año más con Win10 = ESU se duplica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67825" y="4270772"/>
            <a:ext cx="387667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Año sin talento = brecha UE </a:t>
            </a:r>
            <a:r>
              <a:rPr lang="en-US" sz="9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+10M </a:t>
            </a:r>
            <a:r>
              <a:rPr lang="en-US" sz="900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amplía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" y="4870847"/>
            <a:ext cx="12344400" cy="84385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361950" y="5061347"/>
            <a:ext cx="12992100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Solicita un diagnóstico Data Driven de tu situación actual.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1950" y="5400377"/>
            <a:ext cx="129921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5" b="1" kern="0" spc="149" dirty="0">
                <a:solidFill>
                  <a:srgbClr val="FFFFFF">
                    <a:alpha val="95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DÍAS · FIXED PRICE · VALOR DESDE SEMANA 1 · SIN COMPROMISO POSTERIOR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500634" y="5905202"/>
            <a:ext cx="12714732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modernizar el workplace. </a:t>
            </a:r>
            <a:r>
              <a:rPr lang="en-US" sz="2250" i="1" dirty="0">
                <a:solidFill>
                  <a:srgbClr val="B696D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Hacer que el trabajo vuelva a fluir.</a:t>
            </a:r>
            <a:endParaRPr lang="en-US" sz="225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 t="-4113" b="-4113"/>
          <a:stretch/>
        </p:blipFill>
        <p:spPr>
          <a:xfrm>
            <a:off x="4788991" y="6733877"/>
            <a:ext cx="1885950" cy="5715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770191" y="6921103"/>
            <a:ext cx="9525" cy="197048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6767133" y="6921103"/>
            <a:ext cx="2267560" cy="235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kern="0" spc="27" dirty="0">
                <a:solidFill>
                  <a:srgbClr val="FFFFFF">
                    <a:alpha val="9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driven technology</a:t>
            </a:r>
            <a:endParaRPr lang="en-US" sz="135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rcRect r="-1449"/>
          <a:stretch/>
        </p:blipFill>
        <p:spPr>
          <a:xfrm>
            <a:off x="685800" y="7353300"/>
            <a:ext cx="571500" cy="17145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10079831" y="7372350"/>
            <a:ext cx="250805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FFFFFF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MAYO 2026 · CONTACTO@ENTELGY.COM</a:t>
            </a:r>
            <a:endParaRPr lang="en-US" sz="825" dirty="0"/>
          </a:p>
        </p:txBody>
      </p:sp>
      <p:sp>
        <p:nvSpPr>
          <p:cNvPr id="32" name="Text 28"/>
          <p:cNvSpPr/>
          <p:nvPr/>
        </p:nvSpPr>
        <p:spPr>
          <a:xfrm>
            <a:off x="12531328" y="7372350"/>
            <a:ext cx="57507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FFFFFF">
                    <a:alpha val="4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 / 21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3715</Words>
  <Application>Microsoft Office PowerPoint</Application>
  <PresentationFormat>Custom</PresentationFormat>
  <Paragraphs>635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Barlow</vt:lpstr>
      <vt:lpstr>JetBrains Mono</vt:lpstr>
      <vt:lpstr>Roboto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María Perellón</cp:lastModifiedBy>
  <cp:revision>2</cp:revision>
  <dcterms:created xsi:type="dcterms:W3CDTF">2026-06-22T16:11:24Z</dcterms:created>
  <dcterms:modified xsi:type="dcterms:W3CDTF">2026-06-22T16:53:13Z</dcterms:modified>
</cp:coreProperties>
</file>