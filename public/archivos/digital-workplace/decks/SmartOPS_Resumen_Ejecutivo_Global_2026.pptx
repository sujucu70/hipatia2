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Barlow"/>
      <p:regular r:id="rId21"/>
      <p:bold r:id="rId22"/>
      <p:italic r:id="rId23"/>
      <p:boldItalic r:id="rId24"/>
    </p:embeddedFont>
    <p:embeddedFont>
      <p:font typeface="JetBrains Mon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Barlow-bold.fntdata"/><Relationship Id="rId21" Type="http://schemas.openxmlformats.org/officeDocument/2006/relationships/font" Target="fonts/Barlow-regular.fntdata"/><Relationship Id="rId24" Type="http://schemas.openxmlformats.org/officeDocument/2006/relationships/font" Target="fonts/Barlow-boldItalic.fntdata"/><Relationship Id="rId23" Type="http://schemas.openxmlformats.org/officeDocument/2006/relationships/font" Target="fonts/Barlow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JetBrainsMono-bold.fntdata"/><Relationship Id="rId25" Type="http://schemas.openxmlformats.org/officeDocument/2006/relationships/font" Target="fonts/JetBrainsMono-regular.fntdata"/><Relationship Id="rId28" Type="http://schemas.openxmlformats.org/officeDocument/2006/relationships/font" Target="fonts/JetBrainsMono-boldItalic.fntdata"/><Relationship Id="rId27" Type="http://schemas.openxmlformats.org/officeDocument/2006/relationships/font" Target="fonts/JetBrainsMon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regular.fntdata"/><Relationship Id="rId16" Type="http://schemas.openxmlformats.org/officeDocument/2006/relationships/slide" Target="slides/slide10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c227c9f39_2_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ec227c9f39_2_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5" name="Google Shape;55;g3ec227c9f39_2_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c227c9f39_2_3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ec227c9f39_2_3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88" name="Google Shape;88;g3ec227c9f39_2_3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c227c9f39_2_9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3ec227c9f39_2_9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148" name="Google Shape;148;g3ec227c9f39_2_9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c227c9f39_2_18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ec227c9f39_2_18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37" name="Google Shape;237;g3ec227c9f39_2_18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c227c9f39_2_244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ec227c9f39_2_244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299" name="Google Shape;299;g3ec227c9f39_2_244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ec227c9f39_2_29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3ec227c9f39_2_29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347" name="Google Shape;347;g3ec227c9f39_2_29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ec227c9f39_2_35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3ec227c9f39_2_35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07" name="Google Shape;407;g3ec227c9f39_2_35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c227c9f39_2_42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g3ec227c9f39_2_42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478" name="Google Shape;478;g3ec227c9f39_2_42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ec227c9f39_2_47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g3ec227c9f39_2_47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536" name="Google Shape;536;g3ec227c9f39_2_47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3ec227c9f39_2_55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g3ec227c9f39_2_55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</p:txBody>
      </p:sp>
      <p:sp>
        <p:nvSpPr>
          <p:cNvPr id="611" name="Google Shape;611;g3ec227c9f39_2_55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4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5.png"/><Relationship Id="rId13" Type="http://schemas.openxmlformats.org/officeDocument/2006/relationships/image" Target="../media/image2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Relationship Id="rId5" Type="http://schemas.openxmlformats.org/officeDocument/2006/relationships/image" Target="../media/image30.png"/><Relationship Id="rId6" Type="http://schemas.openxmlformats.org/officeDocument/2006/relationships/image" Target="../media/image43.png"/><Relationship Id="rId7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36.png"/><Relationship Id="rId6" Type="http://schemas.openxmlformats.org/officeDocument/2006/relationships/image" Target="../media/image38.png"/><Relationship Id="rId7" Type="http://schemas.openxmlformats.org/officeDocument/2006/relationships/image" Target="../media/image33.png"/><Relationship Id="rId8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C2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73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5486400" y="668611"/>
            <a:ext cx="114300" cy="80963"/>
          </a:xfrm>
          <a:prstGeom prst="rect">
            <a:avLst/>
          </a:prstGeom>
          <a:solidFill>
            <a:srgbClr val="3A25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5600700" y="668611"/>
            <a:ext cx="114300" cy="80963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4206181" y="1182961"/>
            <a:ext cx="114300" cy="80963"/>
          </a:xfrm>
          <a:prstGeom prst="rect">
            <a:avLst/>
          </a:prstGeom>
          <a:solidFill>
            <a:srgbClr val="1F543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320481" y="1182961"/>
            <a:ext cx="114300" cy="80963"/>
          </a:xfrm>
          <a:prstGeom prst="rect">
            <a:avLst/>
          </a:prstGeom>
          <a:solidFill>
            <a:srgbClr val="3A8E6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434781" y="1182961"/>
            <a:ext cx="114300" cy="80963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6126436" y="977206"/>
            <a:ext cx="114300" cy="80963"/>
          </a:xfrm>
          <a:prstGeom prst="rect">
            <a:avLst/>
          </a:prstGeom>
          <a:solidFill>
            <a:srgbClr val="2A4A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6240736" y="977206"/>
            <a:ext cx="114300" cy="80963"/>
          </a:xfrm>
          <a:prstGeom prst="rect">
            <a:avLst/>
          </a:prstGeom>
          <a:solidFill>
            <a:srgbClr val="7CAAD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6126436" y="1058168"/>
            <a:ext cx="114300" cy="80963"/>
          </a:xfrm>
          <a:prstGeom prst="rect">
            <a:avLst/>
          </a:prstGeom>
          <a:solidFill>
            <a:srgbClr val="2A4A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6240736" y="1058168"/>
            <a:ext cx="114300" cy="80963"/>
          </a:xfrm>
          <a:prstGeom prst="rect">
            <a:avLst/>
          </a:prstGeom>
          <a:solidFill>
            <a:srgbClr val="7CAAD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7772400" y="1594470"/>
            <a:ext cx="114300" cy="80963"/>
          </a:xfrm>
          <a:prstGeom prst="rect">
            <a:avLst/>
          </a:prstGeom>
          <a:solidFill>
            <a:srgbClr val="5E1D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7886700" y="1594470"/>
            <a:ext cx="114300" cy="80963"/>
          </a:xfrm>
          <a:prstGeom prst="rect">
            <a:avLst/>
          </a:prstGeom>
          <a:solidFill>
            <a:srgbClr val="9E335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8001000" y="1594470"/>
            <a:ext cx="114300" cy="80963"/>
          </a:xfrm>
          <a:prstGeom prst="rect">
            <a:avLst/>
          </a:prstGeom>
          <a:solidFill>
            <a:srgbClr val="D04C8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6675090" y="2417415"/>
            <a:ext cx="114300" cy="80963"/>
          </a:xfrm>
          <a:prstGeom prst="rect">
            <a:avLst/>
          </a:prstGeom>
          <a:solidFill>
            <a:srgbClr val="1F543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6789390" y="2417415"/>
            <a:ext cx="114300" cy="80963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8229600" y="3086100"/>
            <a:ext cx="114300" cy="80963"/>
          </a:xfrm>
          <a:prstGeom prst="rect">
            <a:avLst/>
          </a:prstGeom>
          <a:solidFill>
            <a:srgbClr val="3A25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8343900" y="3086100"/>
            <a:ext cx="114300" cy="80963"/>
          </a:xfrm>
          <a:prstGeom prst="rect">
            <a:avLst/>
          </a:prstGeom>
          <a:solidFill>
            <a:srgbClr val="5E3D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8458200" y="3086100"/>
            <a:ext cx="114300" cy="80963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223745" y="3703290"/>
            <a:ext cx="114300" cy="80963"/>
          </a:xfrm>
          <a:prstGeom prst="rect">
            <a:avLst/>
          </a:prstGeom>
          <a:solidFill>
            <a:srgbClr val="7A26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7338045" y="3703290"/>
            <a:ext cx="114300" cy="80963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02431"/>
            <a:ext cx="1187375" cy="3324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6695894" y="266700"/>
            <a:ext cx="191470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PRESENTACIÓN EJECUTIVA </a:t>
            </a:r>
            <a:r>
              <a:rPr lang="en" sz="8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33400" y="2791644"/>
            <a:ext cx="133350" cy="14288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733425" y="2736875"/>
            <a:ext cx="4002786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JetBrains Mono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SERVICIOS GESTIONADOS · WORKPLACE · INFRAESTRUCTURA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533400" y="2994050"/>
            <a:ext cx="8319516" cy="69621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Arial"/>
              <a:buNone/>
            </a:pPr>
            <a:r>
              <a:rPr b="1" i="0" lang="en" sz="5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SmartOPS</a:t>
            </a:r>
            <a:r>
              <a:rPr b="1" i="0" lang="en" sz="5900" u="none" cap="none" strike="noStrike">
                <a:solidFill>
                  <a:srgbClr val="FE5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5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33400" y="3833150"/>
            <a:ext cx="5518200" cy="6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 mismo motor para tus dos territorios críticos — puesto de trabajo e infraestructura —, operados con IA en producción, gestión del cambio y gobierno regulatorio dentro.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533400" y="4643438"/>
            <a:ext cx="1502885" cy="1285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etBrains Mon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HUMAN DRIVEN TECHNOLOGY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0" name="Google Shape;9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7447582" y="266700"/>
            <a:ext cx="1163018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7519020" y="300038"/>
            <a:ext cx="1058243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QUIÉNES SOMOS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533400" y="581025"/>
            <a:ext cx="6063044" cy="2809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900"/>
              <a:buFont typeface="Barlow"/>
              <a:buNone/>
            </a:pPr>
            <a:r>
              <a:rPr b="1" i="0" lang="en" sz="1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Convertimos la tecnología en </a:t>
            </a:r>
            <a:r>
              <a:rPr b="1" i="0" lang="en" sz="19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resultados</a:t>
            </a:r>
            <a:r>
              <a:rPr b="1" i="0" lang="en" sz="1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33400" y="944538"/>
            <a:ext cx="52932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Consultoría tecnológica de negocio que integra la tecnología con tus procesos, personas y cultura. Operamos en organizaciones complejas con independencia de fabricante y 20 años de oficio: no recomendamos desde fuera — ejecutamos y respondemos del resultado.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" name="Google Shape;9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1406" y="622077"/>
            <a:ext cx="2815869" cy="14615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533400" y="2880196"/>
            <a:ext cx="8077200" cy="48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533400" y="2194620"/>
            <a:ext cx="8077200" cy="48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533400" y="2285107"/>
            <a:ext cx="19425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2000"/>
              <a:buFont typeface="Barlow"/>
              <a:buNone/>
            </a:pPr>
            <a:r>
              <a:rPr b="1" i="0" lang="en" sz="20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20+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33400" y="2550245"/>
            <a:ext cx="19425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años en organizaciones complejas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2552700" y="2285107"/>
            <a:ext cx="4800" cy="5094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2690813" y="2285107"/>
            <a:ext cx="1800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2000"/>
              <a:buFont typeface="Barlow"/>
              <a:buNone/>
            </a:pPr>
            <a:r>
              <a:rPr b="1" i="0" lang="en" sz="20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2.000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2690813" y="2550245"/>
            <a:ext cx="18003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profesionales delivery en España, LATAM y EEUU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4572000" y="2285107"/>
            <a:ext cx="4800" cy="5094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4710113" y="2285107"/>
            <a:ext cx="18003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2000"/>
              <a:buFont typeface="Barlow"/>
              <a:buNone/>
            </a:pPr>
            <a:r>
              <a:rPr b="1" i="0" lang="en" sz="20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100%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710113" y="2550245"/>
            <a:ext cx="18003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capital propio — independencia y visión a largo plazo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6591300" y="2285107"/>
            <a:ext cx="4800" cy="5094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6729413" y="2285107"/>
            <a:ext cx="19377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2000"/>
              <a:buFont typeface="Barlow"/>
              <a:buNone/>
            </a:pPr>
            <a:r>
              <a:rPr b="1" i="0" lang="en" sz="20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&gt;95%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6729413" y="2550245"/>
            <a:ext cx="19377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de clientes renuevan — confianza sostenida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533400" y="3094509"/>
            <a:ext cx="2183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CERTIFICACIONES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533400" y="3280246"/>
            <a:ext cx="219000" cy="219000"/>
          </a:xfrm>
          <a:prstGeom prst="ellipse">
            <a:avLst/>
          </a:prstGeom>
          <a:noFill/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3337396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814388" y="3330253"/>
            <a:ext cx="4599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ISO 27001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1631305" y="3280246"/>
            <a:ext cx="219000" cy="219000"/>
          </a:xfrm>
          <a:prstGeom prst="ellipse">
            <a:avLst/>
          </a:prstGeom>
          <a:noFill/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88455" y="3337396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/>
          <p:nvPr/>
        </p:nvSpPr>
        <p:spPr>
          <a:xfrm>
            <a:off x="1912293" y="3330253"/>
            <a:ext cx="4527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ISO 27701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33400" y="3585046"/>
            <a:ext cx="219000" cy="219000"/>
          </a:xfrm>
          <a:prstGeom prst="ellipse">
            <a:avLst/>
          </a:prstGeom>
          <a:noFill/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3642196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/>
          <p:nvPr/>
        </p:nvSpPr>
        <p:spPr>
          <a:xfrm>
            <a:off x="814388" y="3635053"/>
            <a:ext cx="4272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ENS 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1631305" y="3585046"/>
            <a:ext cx="219000" cy="219000"/>
          </a:xfrm>
          <a:prstGeom prst="ellipse">
            <a:avLst/>
          </a:prstGeom>
          <a:noFill/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88455" y="3642196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1912293" y="3635053"/>
            <a:ext cx="2964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SOC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2881685" y="3094509"/>
            <a:ext cx="4800" cy="12906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3115047" y="3094509"/>
            <a:ext cx="5660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MÁS DE 50 ALIANZAS ESTRATÉGICAS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115047" y="328024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Microsoft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4236988" y="328024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AWS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358929" y="328024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Google Cloud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480944" y="328024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Oracle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602885" y="328024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IBM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3115047" y="357552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SAP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236988" y="357552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Red Hat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5358929" y="357552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Cisco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480944" y="357552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Splunk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602885" y="357552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Palo Alto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115047" y="387079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Fortinet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236988" y="387079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Checkmarx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358929" y="387079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Tanium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480944" y="387079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UiPath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7602885" y="3870796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Celonis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115047" y="416607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TIBCO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236988" y="416607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Qlik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358929" y="416607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DOMO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6480944" y="4166071"/>
            <a:ext cx="10383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4A6273"/>
                </a:solidFill>
                <a:latin typeface="Barlow"/>
                <a:ea typeface="Barlow"/>
                <a:cs typeface="Barlow"/>
                <a:sym typeface="Barlow"/>
              </a:rPr>
              <a:t>Informatica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0" name="Google Shape;15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/>
          <p:nvPr/>
        </p:nvSpPr>
        <p:spPr>
          <a:xfrm>
            <a:off x="7390879" y="266700"/>
            <a:ext cx="1219721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7462316" y="300038"/>
            <a:ext cx="111494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LO QUE HACEMOS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533400" y="581025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Cinco prácticas.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Un solo método.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33400" y="951533"/>
            <a:ext cx="6312605" cy="41954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Cinco prácticas especializadas que cubren todo el portfolio de Entelgy. Todas comparten el mismo ciclo de transformación — del As-Is al impacto medido. SmartOPS es el motor de Smart Operations.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33400" y="1475854"/>
            <a:ext cx="1554436" cy="2396059"/>
          </a:xfrm>
          <a:prstGeom prst="roundRect">
            <a:avLst>
              <a:gd fmla="val 367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533400" y="3867150"/>
            <a:ext cx="1554436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33400" y="1475854"/>
            <a:ext cx="1554436" cy="14288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33400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2083073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17"/>
          <p:cNvPicPr preferRelativeResize="0"/>
          <p:nvPr/>
        </p:nvPicPr>
        <p:blipFill rotWithShape="1">
          <a:blip r:embed="rId4">
            <a:alphaModFix amt="13000"/>
          </a:blip>
          <a:srcRect b="0" l="0" r="0" t="0"/>
          <a:stretch/>
        </p:blipFill>
        <p:spPr>
          <a:xfrm>
            <a:off x="1125798" y="2865988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652463" y="1594917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65682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652463" y="1909242"/>
            <a:ext cx="1355800" cy="144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Process Intelligence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652463" y="2073027"/>
            <a:ext cx="135580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Process Mining y automatización de procesos.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652463" y="3402508"/>
            <a:ext cx="1355800" cy="378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Diagnóstico objetivo del proceso real, antes de proponer cualquier solución.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164035" y="1475854"/>
            <a:ext cx="1554510" cy="2396059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2164035" y="3867150"/>
            <a:ext cx="155451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2164035" y="1475854"/>
            <a:ext cx="1554510" cy="14288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2164036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3713782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1" name="Google Shape;171;p17"/>
          <p:cNvPicPr preferRelativeResize="0"/>
          <p:nvPr/>
        </p:nvPicPr>
        <p:blipFill rotWithShape="1">
          <a:blip r:embed="rId6">
            <a:alphaModFix amt="13000"/>
          </a:blip>
          <a:srcRect b="0" l="0" r="0" t="0"/>
          <a:stretch/>
        </p:blipFill>
        <p:spPr>
          <a:xfrm>
            <a:off x="2766708" y="2882650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/>
          <p:nvPr/>
        </p:nvSpPr>
        <p:spPr>
          <a:xfrm>
            <a:off x="2283098" y="1594917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CEAF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45011" y="165682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2283098" y="1909242"/>
            <a:ext cx="1355876" cy="144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Ciclo de Software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2283098" y="2073027"/>
            <a:ext cx="1355876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Del portfolio legacy al portfolio activo.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283098" y="3402508"/>
            <a:ext cx="1355876" cy="378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Mantenimiento evolutivo, modernización y desarrollo de alta productividad.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3794745" y="1475854"/>
            <a:ext cx="1554435" cy="2396059"/>
          </a:xfrm>
          <a:prstGeom prst="roundRect">
            <a:avLst>
              <a:gd fmla="val 367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7"/>
          <p:cNvSpPr/>
          <p:nvPr/>
        </p:nvSpPr>
        <p:spPr>
          <a:xfrm>
            <a:off x="3794745" y="3867150"/>
            <a:ext cx="155443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3794745" y="1475854"/>
            <a:ext cx="1554435" cy="14288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3794745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7"/>
          <p:cNvSpPr/>
          <p:nvPr/>
        </p:nvSpPr>
        <p:spPr>
          <a:xfrm>
            <a:off x="5344418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17"/>
          <p:cNvPicPr preferRelativeResize="0"/>
          <p:nvPr/>
        </p:nvPicPr>
        <p:blipFill rotWithShape="1">
          <a:blip r:embed="rId8">
            <a:alphaModFix amt="13000"/>
          </a:blip>
          <a:srcRect b="0" l="0" r="0" t="0"/>
          <a:stretch/>
        </p:blipFill>
        <p:spPr>
          <a:xfrm>
            <a:off x="4326618" y="2882650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/>
          <p:nvPr/>
        </p:nvSpPr>
        <p:spPr>
          <a:xfrm>
            <a:off x="3913808" y="1594917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975720" y="165682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7"/>
          <p:cNvSpPr/>
          <p:nvPr/>
        </p:nvSpPr>
        <p:spPr>
          <a:xfrm>
            <a:off x="3913808" y="1909242"/>
            <a:ext cx="1355800" cy="144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Data &amp; 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913808" y="2073027"/>
            <a:ext cx="135580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Modelos y agentes de IA en producción.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913808" y="3522464"/>
            <a:ext cx="1355800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La IA que funciona en el negocio real, no en el laboratorio.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5425381" y="1475854"/>
            <a:ext cx="1554510" cy="2396059"/>
          </a:xfrm>
          <a:prstGeom prst="roundRect">
            <a:avLst>
              <a:gd fmla="val 3676" name="adj"/>
            </a:avLst>
          </a:prstGeom>
          <a:solidFill>
            <a:srgbClr val="FFFFFF"/>
          </a:solidFill>
          <a:ln>
            <a:noFill/>
          </a:ln>
          <a:effectLst>
            <a:outerShdw blurRad="247650" rotWithShape="0" algn="bl" dir="5400000" dist="95250">
              <a:srgbClr val="C2477F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7"/>
          <p:cNvSpPr/>
          <p:nvPr/>
        </p:nvSpPr>
        <p:spPr>
          <a:xfrm>
            <a:off x="5425381" y="3867150"/>
            <a:ext cx="155451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7"/>
          <p:cNvSpPr/>
          <p:nvPr/>
        </p:nvSpPr>
        <p:spPr>
          <a:xfrm>
            <a:off x="5425381" y="1475854"/>
            <a:ext cx="1554510" cy="14288"/>
          </a:xfrm>
          <a:prstGeom prst="rect">
            <a:avLst/>
          </a:prstGeom>
          <a:solidFill>
            <a:srgbClr val="C2477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5425381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6975127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3" name="Google Shape;193;p17"/>
          <p:cNvPicPr preferRelativeResize="0"/>
          <p:nvPr/>
        </p:nvPicPr>
        <p:blipFill rotWithShape="1">
          <a:blip r:embed="rId10">
            <a:alphaModFix amt="13000"/>
          </a:blip>
          <a:srcRect b="0" l="0" r="0" t="0"/>
          <a:stretch/>
        </p:blipFill>
        <p:spPr>
          <a:xfrm>
            <a:off x="6028053" y="2865988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7"/>
          <p:cNvSpPr/>
          <p:nvPr/>
        </p:nvSpPr>
        <p:spPr>
          <a:xfrm>
            <a:off x="6177856" y="1566342"/>
            <a:ext cx="711547" cy="128588"/>
          </a:xfrm>
          <a:prstGeom prst="roundRect">
            <a:avLst>
              <a:gd fmla="val 50000" name="adj"/>
            </a:avLst>
          </a:prstGeom>
          <a:solidFill>
            <a:srgbClr val="041C2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6230243" y="1590154"/>
            <a:ext cx="644872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 FOCO DE HOY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5544443" y="1594917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F7DCE9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606356" y="165682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7"/>
          <p:cNvSpPr/>
          <p:nvPr/>
        </p:nvSpPr>
        <p:spPr>
          <a:xfrm>
            <a:off x="5544443" y="1909242"/>
            <a:ext cx="1355877" cy="144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Smart Operations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5544443" y="2073027"/>
            <a:ext cx="1355877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Cloud, Digital Workplace, AIOps, FinOps.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5544443" y="3522464"/>
            <a:ext cx="1355877" cy="25896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El entorno operativo que el negocio necesita para funcionar.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/>
          <p:nvPr/>
        </p:nvSpPr>
        <p:spPr>
          <a:xfrm>
            <a:off x="7056090" y="1475854"/>
            <a:ext cx="1554435" cy="2396059"/>
          </a:xfrm>
          <a:prstGeom prst="roundRect">
            <a:avLst>
              <a:gd fmla="val 367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7056090" y="3867150"/>
            <a:ext cx="155443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7"/>
          <p:cNvSpPr/>
          <p:nvPr/>
        </p:nvSpPr>
        <p:spPr>
          <a:xfrm>
            <a:off x="7056090" y="1475854"/>
            <a:ext cx="1554435" cy="14288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"/>
          <p:cNvSpPr/>
          <p:nvPr/>
        </p:nvSpPr>
        <p:spPr>
          <a:xfrm>
            <a:off x="7056090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"/>
          <p:cNvSpPr/>
          <p:nvPr/>
        </p:nvSpPr>
        <p:spPr>
          <a:xfrm>
            <a:off x="8605763" y="1475854"/>
            <a:ext cx="4763" cy="239605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7"/>
          <p:cNvPicPr preferRelativeResize="0"/>
          <p:nvPr/>
        </p:nvPicPr>
        <p:blipFill rotWithShape="1">
          <a:blip r:embed="rId12">
            <a:alphaModFix amt="13000"/>
          </a:blip>
          <a:srcRect b="0" l="0" r="0" t="0"/>
          <a:stretch/>
        </p:blipFill>
        <p:spPr>
          <a:xfrm>
            <a:off x="7587963" y="2937425"/>
            <a:ext cx="962025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7"/>
          <p:cNvSpPr/>
          <p:nvPr/>
        </p:nvSpPr>
        <p:spPr>
          <a:xfrm>
            <a:off x="7175152" y="1594917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37065" y="1656829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7"/>
          <p:cNvSpPr/>
          <p:nvPr/>
        </p:nvSpPr>
        <p:spPr>
          <a:xfrm>
            <a:off x="7175152" y="1909242"/>
            <a:ext cx="1355799" cy="14473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Digital Change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7175152" y="2073027"/>
            <a:ext cx="1355799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Adopción de IA en personas. Reskilling y cambio cultural.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7175152" y="3402508"/>
            <a:ext cx="1355799" cy="37891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La tecnología no llega al negocio si las personas no están preparadas.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33400" y="3986213"/>
            <a:ext cx="8077200" cy="871538"/>
          </a:xfrm>
          <a:prstGeom prst="roundRect">
            <a:avLst>
              <a:gd fmla="val 8743" name="adj"/>
            </a:avLst>
          </a:prstGeom>
          <a:solidFill>
            <a:srgbClr val="041C2C"/>
          </a:solidFill>
          <a:ln>
            <a:noFill/>
          </a:ln>
          <a:effectLst>
            <a:outerShdw blurRad="152400" rotWithShape="0" algn="bl" dir="5400000" dist="57150">
              <a:srgbClr val="041C2C">
                <a:alpha val="1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704850" y="4148138"/>
            <a:ext cx="79824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MÉTODO ENTELGY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1541207" y="4110050"/>
            <a:ext cx="21726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Incluido en cada práctica.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/>
          <p:nvPr/>
        </p:nvSpPr>
        <p:spPr>
          <a:xfrm>
            <a:off x="5396359" y="4138613"/>
            <a:ext cx="313407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 práctica activa una </a:t>
            </a:r>
            <a:r>
              <a:rPr b="1" i="0" lang="en" sz="700" u="none" cap="none" strike="noStrike">
                <a:solidFill>
                  <a:srgbClr val="FE5000"/>
                </a:solidFill>
                <a:latin typeface="Arial"/>
                <a:ea typeface="Arial"/>
                <a:cs typeface="Arial"/>
                <a:sym typeface="Arial"/>
              </a:rPr>
              <a:t>cobertura completa</a:t>
            </a: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del As-Is al impacto medido.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7"/>
          <p:cNvSpPr/>
          <p:nvPr/>
        </p:nvSpPr>
        <p:spPr>
          <a:xfrm>
            <a:off x="1400919" y="4391025"/>
            <a:ext cx="6342161" cy="9525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1440136" y="4357688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>
            <a:outerShdw blurRad="101600" rotWithShape="0" algn="bl" dir="16200000" dist="50800">
              <a:srgbClr val="FE5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7"/>
          <p:cNvSpPr/>
          <p:nvPr/>
        </p:nvSpPr>
        <p:spPr>
          <a:xfrm>
            <a:off x="1199034" y="4500563"/>
            <a:ext cx="558477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01 </a:t>
            </a:r>
            <a:r>
              <a:rPr b="1" i="0" lang="en" sz="8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Entender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1288257" y="4638675"/>
            <a:ext cx="380032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As-Is real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7"/>
          <p:cNvSpPr/>
          <p:nvPr/>
        </p:nvSpPr>
        <p:spPr>
          <a:xfrm>
            <a:off x="2986981" y="4357688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>
            <a:outerShdw blurRad="101600" rotWithShape="0" algn="bl" dir="16200000" dist="50800">
              <a:srgbClr val="FE5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2770510" y="4500563"/>
            <a:ext cx="509141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02 </a:t>
            </a:r>
            <a:r>
              <a:rPr b="1" i="0" lang="en" sz="8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Diseñar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2695426" y="4638675"/>
            <a:ext cx="65930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To-Be gobernado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4533826" y="4357688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>
            <a:outerShdw blurRad="101600" rotWithShape="0" algn="bl" dir="16200000" dist="50800">
              <a:srgbClr val="FE5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7"/>
          <p:cNvSpPr/>
          <p:nvPr/>
        </p:nvSpPr>
        <p:spPr>
          <a:xfrm>
            <a:off x="4273525" y="4500563"/>
            <a:ext cx="596801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03 </a:t>
            </a:r>
            <a:r>
              <a:rPr b="1" i="0" lang="en" sz="8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Implantar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4217566" y="4638675"/>
            <a:ext cx="708794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 integrada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/>
          <p:nvPr/>
        </p:nvSpPr>
        <p:spPr>
          <a:xfrm>
            <a:off x="6080671" y="4357688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>
            <a:outerShdw blurRad="101600" rotWithShape="0" algn="bl" dir="16200000" dist="50800">
              <a:srgbClr val="FE5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5849094" y="4500563"/>
            <a:ext cx="539353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04 </a:t>
            </a:r>
            <a:r>
              <a:rPr b="1" i="0" lang="en" sz="8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Adoptar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5712693" y="4638675"/>
            <a:ext cx="812229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Personas preparadas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7627516" y="4357688"/>
            <a:ext cx="76200" cy="76200"/>
          </a:xfrm>
          <a:prstGeom prst="ellipse">
            <a:avLst/>
          </a:prstGeom>
          <a:solidFill>
            <a:srgbClr val="FE5000"/>
          </a:solidFill>
          <a:ln>
            <a:noFill/>
          </a:ln>
          <a:effectLst>
            <a:outerShdw blurRad="101600" rotWithShape="0" algn="bl" dir="16200000" dist="50800">
              <a:srgbClr val="FE5000">
                <a:alpha val="18039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7457852" y="4500563"/>
            <a:ext cx="415602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05 </a:t>
            </a:r>
            <a:r>
              <a:rPr b="1" i="0" lang="en" sz="8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Medir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7318027" y="4638675"/>
            <a:ext cx="69517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Impacto sostenido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9" name="Google Shape;2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8"/>
          <p:cNvSpPr/>
          <p:nvPr/>
        </p:nvSpPr>
        <p:spPr>
          <a:xfrm>
            <a:off x="7107510" y="266700"/>
            <a:ext cx="1503090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7178948" y="300038"/>
            <a:ext cx="140530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LA REALIDAD DEL CIO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533400" y="581025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Seis fuerzas sobre el CIO.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Y cuatro relojes con fecha fija.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533400" y="942000"/>
            <a:ext cx="5413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Puesto e infraestructura, bajo presión simultánea — mientras los plazos regulatorios y de soporte se cierran y dejan de ser negociables.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533400" y="1657722"/>
            <a:ext cx="20841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LOS RELOJES · FECHAS FIJAS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33400" y="2194917"/>
            <a:ext cx="2023500" cy="48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533400" y="1895847"/>
            <a:ext cx="190500" cy="190500"/>
          </a:xfrm>
          <a:prstGeom prst="roundRect">
            <a:avLst>
              <a:gd fmla="val 25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1941091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8"/>
          <p:cNvSpPr/>
          <p:nvPr/>
        </p:nvSpPr>
        <p:spPr>
          <a:xfrm>
            <a:off x="790575" y="1895847"/>
            <a:ext cx="14286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Oct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790575" y="2024434"/>
            <a:ext cx="1428600" cy="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Win 10 / Server · fin de soporte · ESU ×4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533400" y="2570187"/>
            <a:ext cx="2023500" cy="48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533400" y="2271117"/>
            <a:ext cx="190500" cy="190500"/>
          </a:xfrm>
          <a:prstGeom prst="roundRect">
            <a:avLst>
              <a:gd fmla="val 25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2" name="Google Shape;2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2316361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8"/>
          <p:cNvSpPr/>
          <p:nvPr/>
        </p:nvSpPr>
        <p:spPr>
          <a:xfrm>
            <a:off x="790575" y="2271117"/>
            <a:ext cx="7155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02·dic 2027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/>
          <p:nvPr/>
        </p:nvSpPr>
        <p:spPr>
          <a:xfrm>
            <a:off x="790575" y="2399704"/>
            <a:ext cx="715500" cy="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EU AI Act · high-risk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533400" y="2945458"/>
            <a:ext cx="2023500" cy="4800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533400" y="2646387"/>
            <a:ext cx="190500" cy="190500"/>
          </a:xfrm>
          <a:prstGeom prst="roundRect">
            <a:avLst>
              <a:gd fmla="val 25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2691631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8"/>
          <p:cNvSpPr/>
          <p:nvPr/>
        </p:nvSpPr>
        <p:spPr>
          <a:xfrm>
            <a:off x="790575" y="2646387"/>
            <a:ext cx="1253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2026 · activo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790575" y="2774975"/>
            <a:ext cx="1253700" cy="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NIS2 España · inspecciones activas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533400" y="3021658"/>
            <a:ext cx="190500" cy="190500"/>
          </a:xfrm>
          <a:prstGeom prst="roundRect">
            <a:avLst>
              <a:gd fmla="val 25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44" y="3066901"/>
            <a:ext cx="100013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/>
          <p:nvPr/>
        </p:nvSpPr>
        <p:spPr>
          <a:xfrm>
            <a:off x="790575" y="3021658"/>
            <a:ext cx="12813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Ahora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790575" y="3150245"/>
            <a:ext cx="1281300" cy="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Broadcom-VMware · renovación ×10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2728317" y="1456804"/>
            <a:ext cx="1909800" cy="1662300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2847379" y="1556817"/>
            <a:ext cx="172194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· PUESTO DE TRABAJO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/>
          <p:nvPr/>
        </p:nvSpPr>
        <p:spPr>
          <a:xfrm>
            <a:off x="2847379" y="1685404"/>
            <a:ext cx="1721940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14</a:t>
            </a:r>
            <a:r>
              <a:rPr b="0" i="0" lang="en" sz="600" u="none" cap="none" strike="noStrike">
                <a:solidFill>
                  <a:srgbClr val="6E8493"/>
                </a:solidFill>
                <a:latin typeface="Barlow"/>
                <a:ea typeface="Barlow"/>
                <a:cs typeface="Barlow"/>
                <a:sym typeface="Barlow"/>
              </a:rPr>
              <a:t>/sem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2847379" y="1907456"/>
            <a:ext cx="1721940" cy="38539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Fricciones por empleado/semana, fuera del SLA —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470.000 h/año </a:t>
            </a: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en una empresa media.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2847379" y="2933403"/>
            <a:ext cx="172194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NEXTHINK · DEX REPORT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/>
          <p:nvPr/>
        </p:nvSpPr>
        <p:spPr>
          <a:xfrm>
            <a:off x="4714429" y="1456804"/>
            <a:ext cx="1909985" cy="1662336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4833491" y="1556817"/>
            <a:ext cx="172201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· COSTE CLOUD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/>
          <p:nvPr/>
        </p:nvSpPr>
        <p:spPr>
          <a:xfrm>
            <a:off x="4833491" y="1685404"/>
            <a:ext cx="1722017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29%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4833491" y="1907456"/>
            <a:ext cx="1722017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del gasto cloud es desperdicio recuperable, al alza empujado por la IA.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8"/>
          <p:cNvSpPr/>
          <p:nvPr/>
        </p:nvSpPr>
        <p:spPr>
          <a:xfrm>
            <a:off x="4833491" y="2933403"/>
            <a:ext cx="1722017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FLEXERA · STATE OF THE CLOUD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/>
          <p:nvPr/>
        </p:nvSpPr>
        <p:spPr>
          <a:xfrm>
            <a:off x="6700614" y="1456804"/>
            <a:ext cx="1909912" cy="1662336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6819677" y="1556817"/>
            <a:ext cx="172194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· DISPONIBILIDAD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/>
          <p:nvPr/>
        </p:nvSpPr>
        <p:spPr>
          <a:xfrm>
            <a:off x="6819677" y="1685404"/>
            <a:ext cx="1721940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54%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/>
          <p:nvPr/>
        </p:nvSpPr>
        <p:spPr>
          <a:xfrm>
            <a:off x="6819677" y="1907456"/>
            <a:ext cx="172194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de las caídas superan los 100.000 $. Un incidente es un evento financiero.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/>
          <p:nvPr/>
        </p:nvSpPr>
        <p:spPr>
          <a:xfrm>
            <a:off x="6819677" y="2847678"/>
            <a:ext cx="172194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UPTIME INSTITUTE · OUTAGE ANALYSIS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2728317" y="3195340"/>
            <a:ext cx="1909912" cy="1662410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2847379" y="3295353"/>
            <a:ext cx="172194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REGULACIÓN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2847379" y="3423940"/>
            <a:ext cx="1721940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35M€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2847379" y="3645992"/>
            <a:ext cx="172194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multa máxima del EU AI Act (7% de facturación), sumada a NIS2 y DORA.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2847379" y="4672013"/>
            <a:ext cx="172194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REGL. (UE) 2024/1689 · ART. 99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/>
        </p:nvSpPr>
        <p:spPr>
          <a:xfrm>
            <a:off x="4714429" y="3195340"/>
            <a:ext cx="1909985" cy="1662410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4833491" y="3295353"/>
            <a:ext cx="172201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VIRTUALIZACIÓN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4833491" y="3423940"/>
            <a:ext cx="1722017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×10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4833491" y="3645992"/>
            <a:ext cx="1722017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salto de precio en renovaciones VMware tras Broadcom. La ventana se cierra.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4833491" y="4672013"/>
            <a:ext cx="1722017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GARTNER · VMWARE TCO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6700614" y="3195340"/>
            <a:ext cx="1909912" cy="1662410"/>
          </a:xfrm>
          <a:prstGeom prst="roundRect">
            <a:avLst>
              <a:gd fmla="val 3438" name="adj"/>
            </a:avLst>
          </a:prstGeom>
          <a:solidFill>
            <a:srgbClr val="FFFFFF"/>
          </a:solidFill>
          <a:ln cap="flat" cmpd="sng" w="9525">
            <a:solidFill>
              <a:srgbClr val="C8D2DA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6819677" y="3295353"/>
            <a:ext cx="172194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IA SIN RETORNO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/>
          <p:nvPr/>
        </p:nvSpPr>
        <p:spPr>
          <a:xfrm>
            <a:off x="6819677" y="3423940"/>
            <a:ext cx="1721940" cy="20300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600"/>
              <a:buFont typeface="Barlow"/>
              <a:buNone/>
            </a:pPr>
            <a:r>
              <a:rPr b="1" i="0" lang="en" sz="16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80%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6819677" y="3645992"/>
            <a:ext cx="1721940" cy="26327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no ve impacto medible en EBIT de su IA. Sin datos ni gobierno, no escala.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6819677" y="4672013"/>
            <a:ext cx="1721940" cy="1047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MCKINSEY · STATE OF AI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1" name="Google Shape;30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9"/>
          <p:cNvSpPr/>
          <p:nvPr/>
        </p:nvSpPr>
        <p:spPr>
          <a:xfrm>
            <a:off x="6994177" y="266700"/>
            <a:ext cx="1616423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7065615" y="300038"/>
            <a:ext cx="152204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· ARQUITECTURA SMARTOPS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533400" y="581025"/>
            <a:ext cx="8319516" cy="62671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SmartOPS no es un catálogo de servicios. </a:t>
            </a:r>
            <a:endParaRPr b="1" i="0" sz="2200" u="none" cap="none" strike="noStrike">
              <a:solidFill>
                <a:srgbClr val="041C2C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Es el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plano de control </a:t>
            </a: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de tu operación.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533400" y="1331627"/>
            <a:ext cx="47346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Un mismo motor industrializado, servido a dos territorios con la misma disciplina, el mismo gobierno y el mismo reporting.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533400" y="1935371"/>
            <a:ext cx="3483600" cy="2902800"/>
          </a:xfrm>
          <a:prstGeom prst="roundRect">
            <a:avLst>
              <a:gd fmla="val 2180" name="adj"/>
            </a:avLst>
          </a:prstGeom>
          <a:solidFill>
            <a:srgbClr val="041C2C"/>
          </a:solidFill>
          <a:ln>
            <a:noFill/>
          </a:ln>
          <a:effectLst>
            <a:outerShdw blurRad="152400" rotWithShape="0" algn="bl" dir="5400000" dist="57150">
              <a:srgbClr val="041C2C">
                <a:alpha val="1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695325" y="2038796"/>
            <a:ext cx="3254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Barlow"/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SmartOPS.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/>
          <p:nvPr/>
        </p:nvSpPr>
        <p:spPr>
          <a:xfrm>
            <a:off x="695325" y="2251705"/>
            <a:ext cx="32547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 MOTOR OPERATIVO DE ENTELGY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695325" y="2500766"/>
            <a:ext cx="129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862974" y="2487210"/>
            <a:ext cx="20865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Modelo operativo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N0 · N1 · N2 · N3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5325" y="2672490"/>
            <a:ext cx="129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/>
          <p:nvPr/>
        </p:nvSpPr>
        <p:spPr>
          <a:xfrm>
            <a:off x="862972" y="2658934"/>
            <a:ext cx="21990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Dimensionamiento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Driven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/>
          <p:nvPr/>
        </p:nvSpPr>
        <p:spPr>
          <a:xfrm>
            <a:off x="695325" y="2844214"/>
            <a:ext cx="129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862972" y="2830658"/>
            <a:ext cx="23517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Reporting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Power BI + Data Lake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695325" y="3015938"/>
            <a:ext cx="129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862973" y="3002382"/>
            <a:ext cx="18453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operativa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 producción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695325" y="3187662"/>
            <a:ext cx="129600" cy="1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862974" y="3174106"/>
            <a:ext cx="20865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Gobierno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ISO 20000 · 27001 · ENS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95325" y="4367213"/>
            <a:ext cx="3159845" cy="4763"/>
          </a:xfrm>
          <a:prstGeom prst="rect">
            <a:avLst/>
          </a:prstGeom>
          <a:solidFill>
            <a:srgbClr val="FFFFFF">
              <a:alpha val="1411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695325" y="4476750"/>
            <a:ext cx="1059582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1000"/>
              <a:buFont typeface="Barlow"/>
              <a:buNone/>
            </a:pPr>
            <a:r>
              <a:rPr b="1" i="0" lang="en" sz="10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6 años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695325" y="4633913"/>
            <a:ext cx="1059582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IA producción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764432" y="4476750"/>
            <a:ext cx="1059657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1000"/>
              <a:buFont typeface="Barlow"/>
              <a:buNone/>
            </a:pPr>
            <a:r>
              <a:rPr b="1" i="0" lang="en" sz="10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+3.000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1764432" y="4633913"/>
            <a:ext cx="1059657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9"/>
          <p:cNvSpPr/>
          <p:nvPr/>
        </p:nvSpPr>
        <p:spPr>
          <a:xfrm>
            <a:off x="2833613" y="4476750"/>
            <a:ext cx="1059656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1000"/>
              <a:buFont typeface="Barlow"/>
              <a:buNone/>
            </a:pPr>
            <a:r>
              <a:rPr b="1" i="0" lang="en" sz="10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+174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2833613" y="4633913"/>
            <a:ext cx="1059656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cert. Microsoft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4131400" y="1927325"/>
            <a:ext cx="4479000" cy="1366200"/>
          </a:xfrm>
          <a:prstGeom prst="roundRect">
            <a:avLst>
              <a:gd fmla="val 3844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"/>
          <p:cNvSpPr/>
          <p:nvPr/>
        </p:nvSpPr>
        <p:spPr>
          <a:xfrm>
            <a:off x="4131394" y="3280618"/>
            <a:ext cx="4479132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"/>
          <p:cNvSpPr/>
          <p:nvPr/>
        </p:nvSpPr>
        <p:spPr>
          <a:xfrm>
            <a:off x="4131400" y="1927325"/>
            <a:ext cx="4479000" cy="17700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4131400" y="1927325"/>
            <a:ext cx="4800" cy="13662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"/>
          <p:cNvSpPr/>
          <p:nvPr/>
        </p:nvSpPr>
        <p:spPr>
          <a:xfrm>
            <a:off x="8605775" y="1927325"/>
            <a:ext cx="4800" cy="13662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9"/>
          <p:cNvSpPr/>
          <p:nvPr/>
        </p:nvSpPr>
        <p:spPr>
          <a:xfrm>
            <a:off x="4279038" y="2366674"/>
            <a:ext cx="13941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D9B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5E3D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TERRITORIO 01 · PERSONAS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4279038" y="2493610"/>
            <a:ext cx="4309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400"/>
              <a:buFont typeface="Barlow"/>
              <a:buNone/>
            </a:pPr>
            <a:r>
              <a:rPr b="1" i="0" lang="en" sz="14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SmartOPS </a:t>
            </a:r>
            <a:r>
              <a:rPr b="1" i="0" lang="en" sz="1400" u="none" cap="none" strike="noStrike">
                <a:solidFill>
                  <a:srgbClr val="5E3D9B"/>
                </a:solidFill>
                <a:latin typeface="Barlow"/>
                <a:ea typeface="Barlow"/>
                <a:cs typeface="Barlow"/>
                <a:sym typeface="Barlow"/>
              </a:rPr>
              <a:t>for Workplace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4279038" y="2738726"/>
            <a:ext cx="43095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CAU base · Puesto digital (MDM/UEM) · DaaS · SmartHelp Copilot embebido · DEX y XLAs.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4131400" y="3491650"/>
            <a:ext cx="4479000" cy="1366200"/>
          </a:xfrm>
          <a:prstGeom prst="roundRect">
            <a:avLst>
              <a:gd fmla="val 3844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9"/>
          <p:cNvSpPr/>
          <p:nvPr/>
        </p:nvSpPr>
        <p:spPr>
          <a:xfrm>
            <a:off x="4131394" y="4852988"/>
            <a:ext cx="4479132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4131394" y="3491657"/>
            <a:ext cx="4479000" cy="1920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4131395" y="3491657"/>
            <a:ext cx="4800" cy="14865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/>
          <p:nvPr/>
        </p:nvSpPr>
        <p:spPr>
          <a:xfrm>
            <a:off x="8605763" y="3491657"/>
            <a:ext cx="4800" cy="14865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4279032" y="3849142"/>
            <a:ext cx="139397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TERRITORIO 02 · SISTEMAS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4279032" y="3987255"/>
            <a:ext cx="430937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400"/>
              <a:buFont typeface="Barlow"/>
              <a:buNone/>
            </a:pPr>
            <a:r>
              <a:rPr b="1" i="0" lang="en" sz="14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SmartOPS </a:t>
            </a:r>
            <a:r>
              <a:rPr b="1" i="0" lang="en" sz="14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for Infra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279032" y="4253955"/>
            <a:ext cx="4309372" cy="15902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Operación 24×7 · Assessment + Migración Cloud · FinOps · AIOps · Resiliencia y gobierno.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9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9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9" name="Google Shape;34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0"/>
          <p:cNvSpPr/>
          <p:nvPr/>
        </p:nvSpPr>
        <p:spPr>
          <a:xfrm>
            <a:off x="6937474" y="266700"/>
            <a:ext cx="1673126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0"/>
          <p:cNvSpPr/>
          <p:nvPr/>
        </p:nvSpPr>
        <p:spPr>
          <a:xfrm>
            <a:off x="7008912" y="300038"/>
            <a:ext cx="1580444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· SMARTOPS FOR WORKPLACE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533400" y="1248668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El puesto de trabajo, operado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de punta a punta.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533400" y="1619176"/>
            <a:ext cx="4734454" cy="6197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Operamos soporte, dispositivo y experiencia del empleado, con una capa de IA que resuelve la incidencia antes de que llegue al técnico. Cuatro piezas combinables, una sola operación.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533400" y="2353271"/>
            <a:ext cx="1955007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0"/>
          <p:cNvSpPr/>
          <p:nvPr/>
        </p:nvSpPr>
        <p:spPr>
          <a:xfrm>
            <a:off x="533400" y="3666157"/>
            <a:ext cx="1955007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0"/>
          <p:cNvSpPr/>
          <p:nvPr/>
        </p:nvSpPr>
        <p:spPr>
          <a:xfrm>
            <a:off x="533400" y="2353271"/>
            <a:ext cx="1955007" cy="19050"/>
          </a:xfrm>
          <a:prstGeom prst="rect">
            <a:avLst/>
          </a:prstGeom>
          <a:solidFill>
            <a:srgbClr val="C73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0"/>
          <p:cNvSpPr/>
          <p:nvPr/>
        </p:nvSpPr>
        <p:spPr>
          <a:xfrm>
            <a:off x="533400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2483644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0"/>
          <p:cNvSpPr/>
          <p:nvPr/>
        </p:nvSpPr>
        <p:spPr>
          <a:xfrm>
            <a:off x="642938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0"/>
          <p:cNvSpPr/>
          <p:nvPr/>
        </p:nvSpPr>
        <p:spPr>
          <a:xfrm>
            <a:off x="642938" y="2800946"/>
            <a:ext cx="1788009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CAU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42938" y="2959522"/>
            <a:ext cx="1788009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Atención N1/N2/N3 omnicanal · resolución remota.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642938" y="3248993"/>
            <a:ext cx="1735931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642938" y="3320430"/>
            <a:ext cx="1788009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IA en clasificación y enrutado · monitorización de SLAs.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2574131" y="2353271"/>
            <a:ext cx="1955007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574131" y="3666157"/>
            <a:ext cx="1955007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0"/>
          <p:cNvSpPr/>
          <p:nvPr/>
        </p:nvSpPr>
        <p:spPr>
          <a:xfrm>
            <a:off x="2574131" y="2353271"/>
            <a:ext cx="1955007" cy="19050"/>
          </a:xfrm>
          <a:prstGeom prst="rect">
            <a:avLst/>
          </a:prstGeom>
          <a:solidFill>
            <a:srgbClr val="5E3D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0"/>
          <p:cNvSpPr/>
          <p:nvPr/>
        </p:nvSpPr>
        <p:spPr>
          <a:xfrm>
            <a:off x="2574132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0"/>
          <p:cNvSpPr/>
          <p:nvPr/>
        </p:nvSpPr>
        <p:spPr>
          <a:xfrm>
            <a:off x="4524375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0"/>
          <p:cNvSpPr/>
          <p:nvPr/>
        </p:nvSpPr>
        <p:spPr>
          <a:xfrm>
            <a:off x="2683669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45582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0"/>
          <p:cNvSpPr/>
          <p:nvPr/>
        </p:nvSpPr>
        <p:spPr>
          <a:xfrm>
            <a:off x="2683669" y="2800946"/>
            <a:ext cx="1788009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Puesto &amp; dispositivo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/>
          <p:nvPr/>
        </p:nvSpPr>
        <p:spPr>
          <a:xfrm>
            <a:off x="2683669" y="2959522"/>
            <a:ext cx="1788009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Gestión del parque y MDM · despliegue y parcheo.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683669" y="3248993"/>
            <a:ext cx="1735931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0"/>
          <p:cNvSpPr/>
          <p:nvPr/>
        </p:nvSpPr>
        <p:spPr>
          <a:xfrm>
            <a:off x="2683669" y="3320430"/>
            <a:ext cx="1788009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Seguridad del puesto y cumplimiento NIS2 del endpoint.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4614863" y="2353271"/>
            <a:ext cx="1955007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0"/>
          <p:cNvSpPr/>
          <p:nvPr/>
        </p:nvSpPr>
        <p:spPr>
          <a:xfrm>
            <a:off x="4614863" y="3666157"/>
            <a:ext cx="1955007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0"/>
          <p:cNvSpPr/>
          <p:nvPr/>
        </p:nvSpPr>
        <p:spPr>
          <a:xfrm>
            <a:off x="4614863" y="2353271"/>
            <a:ext cx="1955007" cy="19050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0"/>
          <p:cNvSpPr/>
          <p:nvPr/>
        </p:nvSpPr>
        <p:spPr>
          <a:xfrm>
            <a:off x="4614863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0"/>
          <p:cNvSpPr/>
          <p:nvPr/>
        </p:nvSpPr>
        <p:spPr>
          <a:xfrm>
            <a:off x="6565107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0"/>
          <p:cNvSpPr/>
          <p:nvPr/>
        </p:nvSpPr>
        <p:spPr>
          <a:xfrm>
            <a:off x="4724400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CEAF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2" name="Google Shape;38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20"/>
          <p:cNvSpPr/>
          <p:nvPr/>
        </p:nvSpPr>
        <p:spPr>
          <a:xfrm>
            <a:off x="4724400" y="2800946"/>
            <a:ext cx="1788009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DaaS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4724400" y="2959522"/>
            <a:ext cx="1788009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Dispositivo como servicio · financiación y renting.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4724400" y="3248993"/>
            <a:ext cx="1735932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"/>
          <p:cNvSpPr/>
          <p:nvPr/>
        </p:nvSpPr>
        <p:spPr>
          <a:xfrm>
            <a:off x="4724400" y="3320430"/>
            <a:ext cx="1788009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Ciclo de vida, renovación, logística y borrado seguro.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/>
          <p:nvPr/>
        </p:nvSpPr>
        <p:spPr>
          <a:xfrm>
            <a:off x="6655594" y="2353271"/>
            <a:ext cx="1955007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6655594" y="3666157"/>
            <a:ext cx="1955007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0"/>
          <p:cNvSpPr/>
          <p:nvPr/>
        </p:nvSpPr>
        <p:spPr>
          <a:xfrm>
            <a:off x="6655594" y="2353271"/>
            <a:ext cx="1955007" cy="19050"/>
          </a:xfrm>
          <a:prstGeom prst="rect">
            <a:avLst/>
          </a:prstGeom>
          <a:solidFill>
            <a:srgbClr val="3A8E6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"/>
          <p:cNvSpPr/>
          <p:nvPr/>
        </p:nvSpPr>
        <p:spPr>
          <a:xfrm>
            <a:off x="6655594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"/>
          <p:cNvSpPr/>
          <p:nvPr/>
        </p:nvSpPr>
        <p:spPr>
          <a:xfrm>
            <a:off x="8605838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0"/>
          <p:cNvSpPr/>
          <p:nvPr/>
        </p:nvSpPr>
        <p:spPr>
          <a:xfrm>
            <a:off x="6765132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27044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0"/>
          <p:cNvSpPr/>
          <p:nvPr/>
        </p:nvSpPr>
        <p:spPr>
          <a:xfrm>
            <a:off x="6765132" y="2800946"/>
            <a:ext cx="1788009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Servicios de valor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/>
          <p:nvPr/>
        </p:nvSpPr>
        <p:spPr>
          <a:xfrm>
            <a:off x="6765132" y="2959522"/>
            <a:ext cx="1788009" cy="13044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SmartHelp embebido · portal de autoservicio.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0"/>
          <p:cNvSpPr/>
          <p:nvPr/>
        </p:nvSpPr>
        <p:spPr>
          <a:xfrm>
            <a:off x="6765132" y="3137595"/>
            <a:ext cx="1735932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"/>
          <p:cNvSpPr/>
          <p:nvPr/>
        </p:nvSpPr>
        <p:spPr>
          <a:xfrm>
            <a:off x="6765132" y="3209032"/>
            <a:ext cx="1788009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Automatización · DEX y XLAs · analítica de experiencia.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0"/>
          <p:cNvSpPr/>
          <p:nvPr/>
        </p:nvSpPr>
        <p:spPr>
          <a:xfrm>
            <a:off x="533400" y="3794745"/>
            <a:ext cx="8077200" cy="395288"/>
          </a:xfrm>
          <a:prstGeom prst="roundRect">
            <a:avLst>
              <a:gd fmla="val 16867" name="adj"/>
            </a:avLst>
          </a:prstGeom>
          <a:solidFill>
            <a:srgbClr val="041C2C"/>
          </a:solidFill>
          <a:ln>
            <a:noFill/>
          </a:ln>
          <a:effectLst>
            <a:outerShdw blurRad="152400" rotWithShape="0" algn="bl" dir="5400000" dist="57150">
              <a:srgbClr val="041C2C">
                <a:alpha val="1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0"/>
          <p:cNvSpPr/>
          <p:nvPr/>
        </p:nvSpPr>
        <p:spPr>
          <a:xfrm>
            <a:off x="704850" y="3966195"/>
            <a:ext cx="870273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IA EN EL FLUJO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0"/>
          <p:cNvSpPr/>
          <p:nvPr/>
        </p:nvSpPr>
        <p:spPr>
          <a:xfrm>
            <a:off x="1622750" y="3918575"/>
            <a:ext cx="26013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Barlow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Smart Support resuelve. SmartHelp asiste.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0"/>
          <p:cNvSpPr/>
          <p:nvPr/>
        </p:nvSpPr>
        <p:spPr>
          <a:xfrm>
            <a:off x="4268662" y="3929286"/>
            <a:ext cx="41706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Automatización en </a:t>
            </a:r>
            <a:r>
              <a:rPr b="1" i="0" lang="en" sz="700" u="none" cap="none" strike="noStrike">
                <a:solidFill>
                  <a:srgbClr val="FE5000"/>
                </a:solidFill>
                <a:latin typeface="Arial"/>
                <a:ea typeface="Arial"/>
                <a:cs typeface="Arial"/>
                <a:sym typeface="Arial"/>
              </a:rPr>
              <a:t>N0 </a:t>
            </a: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filtra antes de crear el ticket — atraviesa las cuatro piezas, en producción.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0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9" name="Google Shape;4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1"/>
          <p:cNvSpPr/>
          <p:nvPr/>
        </p:nvSpPr>
        <p:spPr>
          <a:xfrm>
            <a:off x="7164214" y="266700"/>
            <a:ext cx="1446386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1"/>
          <p:cNvSpPr/>
          <p:nvPr/>
        </p:nvSpPr>
        <p:spPr>
          <a:xfrm>
            <a:off x="7235652" y="300038"/>
            <a:ext cx="134690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· SMARTOPS FOR INFRA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533400" y="1248668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La infraestructura, operada 24×7 y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optimizada.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533400" y="1619176"/>
            <a:ext cx="4734454" cy="61979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Mantenemos disponible y bajo control la infraestructura crítica —sistemas, redes y cloud— con un modelo preventivo que se anticipa al incidente y mantiene gasto y cumplimiento bajo control.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1"/>
          <p:cNvSpPr/>
          <p:nvPr/>
        </p:nvSpPr>
        <p:spPr>
          <a:xfrm>
            <a:off x="533400" y="2353271"/>
            <a:ext cx="1554436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1"/>
          <p:cNvSpPr/>
          <p:nvPr/>
        </p:nvSpPr>
        <p:spPr>
          <a:xfrm>
            <a:off x="533400" y="3666157"/>
            <a:ext cx="1554436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1"/>
          <p:cNvSpPr/>
          <p:nvPr/>
        </p:nvSpPr>
        <p:spPr>
          <a:xfrm>
            <a:off x="533400" y="2353271"/>
            <a:ext cx="1554436" cy="19050"/>
          </a:xfrm>
          <a:prstGeom prst="rect">
            <a:avLst/>
          </a:prstGeom>
          <a:solidFill>
            <a:srgbClr val="5E3D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"/>
          <p:cNvSpPr/>
          <p:nvPr/>
        </p:nvSpPr>
        <p:spPr>
          <a:xfrm>
            <a:off x="533400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1"/>
          <p:cNvSpPr/>
          <p:nvPr/>
        </p:nvSpPr>
        <p:spPr>
          <a:xfrm>
            <a:off x="2083073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21"/>
          <p:cNvSpPr/>
          <p:nvPr/>
        </p:nvSpPr>
        <p:spPr>
          <a:xfrm>
            <a:off x="642938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850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1"/>
          <p:cNvSpPr/>
          <p:nvPr/>
        </p:nvSpPr>
        <p:spPr>
          <a:xfrm>
            <a:off x="642938" y="2800946"/>
            <a:ext cx="1375421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Operación 24×7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/>
          <p:nvPr/>
        </p:nvSpPr>
        <p:spPr>
          <a:xfrm>
            <a:off x="642938" y="2959522"/>
            <a:ext cx="1375421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Sistemas clásicos y cloud · monitorización AIOps preventiva.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1"/>
          <p:cNvSpPr/>
          <p:nvPr/>
        </p:nvSpPr>
        <p:spPr>
          <a:xfrm>
            <a:off x="642938" y="3248993"/>
            <a:ext cx="1335361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>
            <a:off x="642938" y="3320430"/>
            <a:ext cx="1375421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Eventos al momento · alta disponibilidad.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2164035" y="2353271"/>
            <a:ext cx="1554510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2164035" y="3666157"/>
            <a:ext cx="155451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1"/>
          <p:cNvSpPr/>
          <p:nvPr/>
        </p:nvSpPr>
        <p:spPr>
          <a:xfrm>
            <a:off x="2164035" y="2353271"/>
            <a:ext cx="1554510" cy="19050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1"/>
          <p:cNvSpPr/>
          <p:nvPr/>
        </p:nvSpPr>
        <p:spPr>
          <a:xfrm>
            <a:off x="2164036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1"/>
          <p:cNvSpPr/>
          <p:nvPr/>
        </p:nvSpPr>
        <p:spPr>
          <a:xfrm>
            <a:off x="3713782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1"/>
          <p:cNvSpPr/>
          <p:nvPr/>
        </p:nvSpPr>
        <p:spPr>
          <a:xfrm>
            <a:off x="2273573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CEAF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5486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1"/>
          <p:cNvSpPr/>
          <p:nvPr/>
        </p:nvSpPr>
        <p:spPr>
          <a:xfrm>
            <a:off x="2273573" y="2800946"/>
            <a:ext cx="1375498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Redes y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2273573" y="2959522"/>
            <a:ext cx="1375498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Redes, SD-WAN y SASE · assessment y migración.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/>
          <p:nvPr/>
        </p:nvSpPr>
        <p:spPr>
          <a:xfrm>
            <a:off x="2273573" y="3248993"/>
            <a:ext cx="1335435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"/>
          <p:cNvSpPr/>
          <p:nvPr/>
        </p:nvSpPr>
        <p:spPr>
          <a:xfrm>
            <a:off x="2273573" y="3320430"/>
            <a:ext cx="1375498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Aterrizaje Broadcom-VMware con TCO por camino.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1"/>
          <p:cNvSpPr/>
          <p:nvPr/>
        </p:nvSpPr>
        <p:spPr>
          <a:xfrm>
            <a:off x="3794745" y="2353271"/>
            <a:ext cx="1554435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1"/>
          <p:cNvSpPr/>
          <p:nvPr/>
        </p:nvSpPr>
        <p:spPr>
          <a:xfrm>
            <a:off x="3794745" y="3666157"/>
            <a:ext cx="155443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1"/>
          <p:cNvSpPr/>
          <p:nvPr/>
        </p:nvSpPr>
        <p:spPr>
          <a:xfrm>
            <a:off x="3794745" y="2353271"/>
            <a:ext cx="1554435" cy="19050"/>
          </a:xfrm>
          <a:prstGeom prst="rect">
            <a:avLst/>
          </a:prstGeom>
          <a:solidFill>
            <a:srgbClr val="3A8E6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1"/>
          <p:cNvSpPr/>
          <p:nvPr/>
        </p:nvSpPr>
        <p:spPr>
          <a:xfrm>
            <a:off x="3794745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1"/>
          <p:cNvSpPr/>
          <p:nvPr/>
        </p:nvSpPr>
        <p:spPr>
          <a:xfrm>
            <a:off x="5344418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1"/>
          <p:cNvSpPr/>
          <p:nvPr/>
        </p:nvSpPr>
        <p:spPr>
          <a:xfrm>
            <a:off x="3904283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2" name="Google Shape;44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6195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21"/>
          <p:cNvSpPr/>
          <p:nvPr/>
        </p:nvSpPr>
        <p:spPr>
          <a:xfrm>
            <a:off x="3904283" y="2800946"/>
            <a:ext cx="1375421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FinOps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1"/>
          <p:cNvSpPr/>
          <p:nvPr/>
        </p:nvSpPr>
        <p:spPr>
          <a:xfrm>
            <a:off x="3904283" y="2959522"/>
            <a:ext cx="1375421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FinOps as a service · recuperación de cloud waste.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1"/>
          <p:cNvSpPr/>
          <p:nvPr/>
        </p:nvSpPr>
        <p:spPr>
          <a:xfrm>
            <a:off x="3904283" y="3248993"/>
            <a:ext cx="1335360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"/>
          <p:cNvSpPr/>
          <p:nvPr/>
        </p:nvSpPr>
        <p:spPr>
          <a:xfrm>
            <a:off x="3904283" y="3320430"/>
            <a:ext cx="1375421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Visibilidad de coste por servicio · TCO comparado.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1"/>
          <p:cNvSpPr/>
          <p:nvPr/>
        </p:nvSpPr>
        <p:spPr>
          <a:xfrm>
            <a:off x="5425381" y="2353271"/>
            <a:ext cx="1554510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1"/>
          <p:cNvSpPr/>
          <p:nvPr/>
        </p:nvSpPr>
        <p:spPr>
          <a:xfrm>
            <a:off x="5425381" y="3666157"/>
            <a:ext cx="155451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1"/>
          <p:cNvSpPr/>
          <p:nvPr/>
        </p:nvSpPr>
        <p:spPr>
          <a:xfrm>
            <a:off x="5425381" y="2353271"/>
            <a:ext cx="1554510" cy="19050"/>
          </a:xfrm>
          <a:prstGeom prst="rect">
            <a:avLst/>
          </a:prstGeom>
          <a:solidFill>
            <a:srgbClr val="C73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1"/>
          <p:cNvSpPr/>
          <p:nvPr/>
        </p:nvSpPr>
        <p:spPr>
          <a:xfrm>
            <a:off x="5425381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1"/>
          <p:cNvSpPr/>
          <p:nvPr/>
        </p:nvSpPr>
        <p:spPr>
          <a:xfrm>
            <a:off x="6975127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1"/>
          <p:cNvSpPr/>
          <p:nvPr/>
        </p:nvSpPr>
        <p:spPr>
          <a:xfrm>
            <a:off x="5534918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96831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21"/>
          <p:cNvSpPr/>
          <p:nvPr/>
        </p:nvSpPr>
        <p:spPr>
          <a:xfrm>
            <a:off x="5534918" y="2800946"/>
            <a:ext cx="1375498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AIOps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1"/>
          <p:cNvSpPr/>
          <p:nvPr/>
        </p:nvSpPr>
        <p:spPr>
          <a:xfrm>
            <a:off x="5534918" y="2959522"/>
            <a:ext cx="1375498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Correlación de eventos y monitorización preventiva.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1"/>
          <p:cNvSpPr/>
          <p:nvPr/>
        </p:nvSpPr>
        <p:spPr>
          <a:xfrm>
            <a:off x="5534918" y="3248993"/>
            <a:ext cx="1335435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1"/>
          <p:cNvSpPr/>
          <p:nvPr/>
        </p:nvSpPr>
        <p:spPr>
          <a:xfrm>
            <a:off x="5534918" y="3320430"/>
            <a:ext cx="1375498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−82% de alertas sin acción: el incidente real no queda enterrado.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1"/>
          <p:cNvSpPr/>
          <p:nvPr/>
        </p:nvSpPr>
        <p:spPr>
          <a:xfrm>
            <a:off x="7056090" y="2353271"/>
            <a:ext cx="1554435" cy="1317650"/>
          </a:xfrm>
          <a:prstGeom prst="roundRect">
            <a:avLst>
              <a:gd fmla="val 4337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1"/>
          <p:cNvSpPr/>
          <p:nvPr/>
        </p:nvSpPr>
        <p:spPr>
          <a:xfrm>
            <a:off x="7056090" y="3666157"/>
            <a:ext cx="155443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1"/>
          <p:cNvSpPr/>
          <p:nvPr/>
        </p:nvSpPr>
        <p:spPr>
          <a:xfrm>
            <a:off x="7056090" y="2353271"/>
            <a:ext cx="1554435" cy="19050"/>
          </a:xfrm>
          <a:prstGeom prst="rect">
            <a:avLst/>
          </a:prstGeom>
          <a:solidFill>
            <a:srgbClr val="9E335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1"/>
          <p:cNvSpPr/>
          <p:nvPr/>
        </p:nvSpPr>
        <p:spPr>
          <a:xfrm>
            <a:off x="7056090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1"/>
          <p:cNvSpPr/>
          <p:nvPr/>
        </p:nvSpPr>
        <p:spPr>
          <a:xfrm>
            <a:off x="8605763" y="2353271"/>
            <a:ext cx="4763" cy="131765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1"/>
          <p:cNvSpPr/>
          <p:nvPr/>
        </p:nvSpPr>
        <p:spPr>
          <a:xfrm>
            <a:off x="7165627" y="2486621"/>
            <a:ext cx="238125" cy="238125"/>
          </a:xfrm>
          <a:prstGeom prst="roundRect">
            <a:avLst>
              <a:gd fmla="val 24000" name="adj"/>
            </a:avLst>
          </a:prstGeom>
          <a:solidFill>
            <a:srgbClr val="F5D5E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27540" y="2548533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1"/>
          <p:cNvSpPr/>
          <p:nvPr/>
        </p:nvSpPr>
        <p:spPr>
          <a:xfrm>
            <a:off x="7165627" y="2800946"/>
            <a:ext cx="1375421" cy="13952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Resiliencia y gobierno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1"/>
          <p:cNvSpPr/>
          <p:nvPr/>
        </p:nvSpPr>
        <p:spPr>
          <a:xfrm>
            <a:off x="7165627" y="2959522"/>
            <a:ext cx="1375421" cy="241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NIS2 · DORA · AI Act como arquitectura.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1"/>
          <p:cNvSpPr/>
          <p:nvPr/>
        </p:nvSpPr>
        <p:spPr>
          <a:xfrm>
            <a:off x="7165627" y="3248993"/>
            <a:ext cx="1335360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1"/>
          <p:cNvSpPr/>
          <p:nvPr/>
        </p:nvSpPr>
        <p:spPr>
          <a:xfrm>
            <a:off x="7165627" y="3320430"/>
            <a:ext cx="1375421" cy="25047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No como capa de compliance añadida.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1"/>
          <p:cNvSpPr/>
          <p:nvPr/>
        </p:nvSpPr>
        <p:spPr>
          <a:xfrm>
            <a:off x="533400" y="3794745"/>
            <a:ext cx="8077200" cy="395288"/>
          </a:xfrm>
          <a:prstGeom prst="roundRect">
            <a:avLst>
              <a:gd fmla="val 16867" name="adj"/>
            </a:avLst>
          </a:prstGeom>
          <a:solidFill>
            <a:srgbClr val="041C2C"/>
          </a:solidFill>
          <a:ln>
            <a:noFill/>
          </a:ln>
          <a:effectLst>
            <a:outerShdw blurRad="152400" rotWithShape="0" algn="bl" dir="5400000" dist="57150">
              <a:srgbClr val="041C2C">
                <a:alpha val="1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1"/>
          <p:cNvSpPr/>
          <p:nvPr/>
        </p:nvSpPr>
        <p:spPr>
          <a:xfrm>
            <a:off x="704850" y="3966195"/>
            <a:ext cx="104856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MODELO PREVENTIVO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1"/>
          <p:cNvSpPr/>
          <p:nvPr/>
        </p:nvSpPr>
        <p:spPr>
          <a:xfrm>
            <a:off x="1801050" y="3918575"/>
            <a:ext cx="1917600" cy="1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Barlow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El AIOps se anticipa al incidente.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1"/>
          <p:cNvSpPr/>
          <p:nvPr/>
        </p:nvSpPr>
        <p:spPr>
          <a:xfrm>
            <a:off x="3620156" y="3945359"/>
            <a:ext cx="48189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E5000"/>
                </a:solidFill>
                <a:latin typeface="Arial"/>
                <a:ea typeface="Arial"/>
                <a:cs typeface="Arial"/>
                <a:sym typeface="Arial"/>
              </a:rPr>
              <a:t>−40% en MTTD </a:t>
            </a: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 </a:t>
            </a:r>
            <a:r>
              <a:rPr b="1" i="0" lang="en" sz="700" u="none" cap="none" strike="noStrike">
                <a:solidFill>
                  <a:srgbClr val="FE5000"/>
                </a:solidFill>
                <a:latin typeface="Arial"/>
                <a:ea typeface="Arial"/>
                <a:cs typeface="Arial"/>
                <a:sym typeface="Arial"/>
              </a:rPr>
              <a:t>−30% </a:t>
            </a: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inversión con dimensionamiento Data Driven · 25.000 elementos 7×24 (Telefónica Tech).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1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0" name="Google Shape;4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22"/>
          <p:cNvSpPr/>
          <p:nvPr/>
        </p:nvSpPr>
        <p:spPr>
          <a:xfrm>
            <a:off x="7334250" y="266700"/>
            <a:ext cx="1276350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2"/>
          <p:cNvSpPr/>
          <p:nvPr/>
        </p:nvSpPr>
        <p:spPr>
          <a:xfrm>
            <a:off x="7405688" y="300038"/>
            <a:ext cx="117176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· POR QUÉ ENTELGY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2"/>
          <p:cNvSpPr/>
          <p:nvPr/>
        </p:nvSpPr>
        <p:spPr>
          <a:xfrm>
            <a:off x="533400" y="581025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La mayoría implanta tecnología. Nosotros </a:t>
            </a:r>
            <a:r>
              <a:rPr b="1" i="0" lang="en" sz="22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operamos el cambio.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2"/>
          <p:cNvSpPr/>
          <p:nvPr/>
        </p:nvSpPr>
        <p:spPr>
          <a:xfrm>
            <a:off x="533400" y="951533"/>
            <a:ext cx="4734454" cy="61979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Roboto"/>
              <a:buNone/>
            </a:pPr>
            <a:r>
              <a:rPr b="0" i="0" lang="en" sz="1100" u="none" cap="none" strike="noStrike">
                <a:solidFill>
                  <a:srgbClr val="041C2C"/>
                </a:solidFill>
                <a:latin typeface="Roboto"/>
                <a:ea typeface="Roboto"/>
                <a:cs typeface="Roboto"/>
                <a:sym typeface="Roboto"/>
              </a:rPr>
              <a:t>Gestión del cambio e inteligencia de procesos primero; la tecnología, encima. La diferencia está en quién lo tiene en producción hoy — y en quién modela el impacto antes de cambiar la arquitectura.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2"/>
          <p:cNvSpPr/>
          <p:nvPr/>
        </p:nvSpPr>
        <p:spPr>
          <a:xfrm>
            <a:off x="533400" y="1685628"/>
            <a:ext cx="3995738" cy="1543199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2"/>
          <p:cNvSpPr/>
          <p:nvPr/>
        </p:nvSpPr>
        <p:spPr>
          <a:xfrm>
            <a:off x="533400" y="3224064"/>
            <a:ext cx="3995738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2"/>
          <p:cNvSpPr/>
          <p:nvPr/>
        </p:nvSpPr>
        <p:spPr>
          <a:xfrm>
            <a:off x="533400" y="1685628"/>
            <a:ext cx="3995738" cy="19050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2"/>
          <p:cNvSpPr/>
          <p:nvPr/>
        </p:nvSpPr>
        <p:spPr>
          <a:xfrm>
            <a:off x="533400" y="1685628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2"/>
          <p:cNvSpPr/>
          <p:nvPr/>
        </p:nvSpPr>
        <p:spPr>
          <a:xfrm>
            <a:off x="4524375" y="1685628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2"/>
          <p:cNvSpPr/>
          <p:nvPr/>
        </p:nvSpPr>
        <p:spPr>
          <a:xfrm>
            <a:off x="690563" y="2269108"/>
            <a:ext cx="379185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Nadie renueva al </a:t>
            </a:r>
            <a:r>
              <a:rPr b="1" i="0" lang="en" sz="1100" u="none" cap="none" strike="noStrike">
                <a:solidFill>
                  <a:srgbClr val="5E3D9B"/>
                </a:solidFill>
                <a:latin typeface="Barlow"/>
                <a:ea typeface="Barlow"/>
                <a:cs typeface="Barlow"/>
                <a:sym typeface="Barlow"/>
              </a:rPr>
              <a:t>95% </a:t>
            </a: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por inercia.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2"/>
          <p:cNvSpPr/>
          <p:nvPr/>
        </p:nvSpPr>
        <p:spPr>
          <a:xfrm>
            <a:off x="690563" y="2507233"/>
            <a:ext cx="723900" cy="152400"/>
          </a:xfrm>
          <a:prstGeom prst="roundRect">
            <a:avLst>
              <a:gd fmla="val 50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2"/>
          <p:cNvSpPr/>
          <p:nvPr/>
        </p:nvSpPr>
        <p:spPr>
          <a:xfrm>
            <a:off x="752475" y="2535798"/>
            <a:ext cx="681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D9B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5E3D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+400K usuarios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2"/>
          <p:cNvSpPr/>
          <p:nvPr/>
        </p:nvSpPr>
        <p:spPr>
          <a:xfrm>
            <a:off x="1452563" y="2507233"/>
            <a:ext cx="766763" cy="152400"/>
          </a:xfrm>
          <a:prstGeom prst="roundRect">
            <a:avLst>
              <a:gd fmla="val 50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2"/>
          <p:cNvSpPr/>
          <p:nvPr/>
        </p:nvSpPr>
        <p:spPr>
          <a:xfrm>
            <a:off x="1514475" y="2535798"/>
            <a:ext cx="723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D9B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5E3D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95%+ renovación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2"/>
          <p:cNvSpPr/>
          <p:nvPr/>
        </p:nvSpPr>
        <p:spPr>
          <a:xfrm>
            <a:off x="2257425" y="2507233"/>
            <a:ext cx="638175" cy="152400"/>
          </a:xfrm>
          <a:prstGeom prst="roundRect">
            <a:avLst>
              <a:gd fmla="val 50000" name="adj"/>
            </a:avLst>
          </a:prstGeom>
          <a:solidFill>
            <a:srgbClr val="EDE3F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2"/>
          <p:cNvSpPr/>
          <p:nvPr/>
        </p:nvSpPr>
        <p:spPr>
          <a:xfrm>
            <a:off x="2319352" y="2535800"/>
            <a:ext cx="6381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D9B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5E3D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&lt;2% rotación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2"/>
          <p:cNvSpPr/>
          <p:nvPr/>
        </p:nvSpPr>
        <p:spPr>
          <a:xfrm>
            <a:off x="4614863" y="1685628"/>
            <a:ext cx="3995738" cy="1543199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2"/>
          <p:cNvSpPr/>
          <p:nvPr/>
        </p:nvSpPr>
        <p:spPr>
          <a:xfrm>
            <a:off x="4614863" y="3224064"/>
            <a:ext cx="3995738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2"/>
          <p:cNvSpPr/>
          <p:nvPr/>
        </p:nvSpPr>
        <p:spPr>
          <a:xfrm>
            <a:off x="4614863" y="1685628"/>
            <a:ext cx="3995738" cy="19050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2"/>
          <p:cNvSpPr/>
          <p:nvPr/>
        </p:nvSpPr>
        <p:spPr>
          <a:xfrm>
            <a:off x="4614863" y="1685628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2"/>
          <p:cNvSpPr/>
          <p:nvPr/>
        </p:nvSpPr>
        <p:spPr>
          <a:xfrm>
            <a:off x="8605838" y="1685628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2"/>
          <p:cNvSpPr/>
          <p:nvPr/>
        </p:nvSpPr>
        <p:spPr>
          <a:xfrm>
            <a:off x="4772025" y="2269108"/>
            <a:ext cx="379185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IA </a:t>
            </a:r>
            <a:r>
              <a:rPr b="1" i="0" lang="en" sz="1100" u="none" cap="none" strike="noStrike">
                <a:solidFill>
                  <a:srgbClr val="3A8E63"/>
                </a:solidFill>
                <a:latin typeface="Barlow"/>
                <a:ea typeface="Barlow"/>
                <a:cs typeface="Barlow"/>
                <a:sym typeface="Barlow"/>
              </a:rPr>
              <a:t>en producción desde 2018 </a:t>
            </a: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— seis años de rodaje real.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2"/>
          <p:cNvSpPr/>
          <p:nvPr/>
        </p:nvSpPr>
        <p:spPr>
          <a:xfrm>
            <a:off x="4772025" y="2507233"/>
            <a:ext cx="723900" cy="152400"/>
          </a:xfrm>
          <a:prstGeom prst="roundRect">
            <a:avLst>
              <a:gd fmla="val 50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2"/>
          <p:cNvSpPr/>
          <p:nvPr/>
        </p:nvSpPr>
        <p:spPr>
          <a:xfrm>
            <a:off x="4833952" y="2535800"/>
            <a:ext cx="7239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E6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A8E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clasif. 80–98%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2"/>
          <p:cNvSpPr/>
          <p:nvPr/>
        </p:nvSpPr>
        <p:spPr>
          <a:xfrm>
            <a:off x="5534025" y="2507233"/>
            <a:ext cx="638175" cy="152400"/>
          </a:xfrm>
          <a:prstGeom prst="roundRect">
            <a:avLst>
              <a:gd fmla="val 50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2"/>
          <p:cNvSpPr/>
          <p:nvPr/>
        </p:nvSpPr>
        <p:spPr>
          <a:xfrm>
            <a:off x="5595951" y="2535799"/>
            <a:ext cx="595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E6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A8E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−82% alertas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2"/>
          <p:cNvSpPr/>
          <p:nvPr/>
        </p:nvSpPr>
        <p:spPr>
          <a:xfrm>
            <a:off x="6210300" y="2507233"/>
            <a:ext cx="509588" cy="152400"/>
          </a:xfrm>
          <a:prstGeom prst="roundRect">
            <a:avLst>
              <a:gd fmla="val 50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2"/>
          <p:cNvSpPr/>
          <p:nvPr/>
        </p:nvSpPr>
        <p:spPr>
          <a:xfrm>
            <a:off x="6272227" y="2535800"/>
            <a:ext cx="509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E6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A8E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−40% MTTD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2"/>
          <p:cNvSpPr/>
          <p:nvPr/>
        </p:nvSpPr>
        <p:spPr>
          <a:xfrm>
            <a:off x="6757988" y="2507233"/>
            <a:ext cx="681038" cy="152400"/>
          </a:xfrm>
          <a:prstGeom prst="roundRect">
            <a:avLst>
              <a:gd fmla="val 50000" name="adj"/>
            </a:avLst>
          </a:prstGeom>
          <a:solidFill>
            <a:srgbClr val="D6F1E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>
            <a:off x="6819900" y="2535799"/>
            <a:ext cx="681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8E63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A8E6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datos propios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2"/>
          <p:cNvSpPr/>
          <p:nvPr/>
        </p:nvSpPr>
        <p:spPr>
          <a:xfrm>
            <a:off x="533400" y="3314551"/>
            <a:ext cx="3995700" cy="15432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533400" y="4852988"/>
            <a:ext cx="3995738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2"/>
          <p:cNvSpPr/>
          <p:nvPr/>
        </p:nvSpPr>
        <p:spPr>
          <a:xfrm>
            <a:off x="533400" y="3314551"/>
            <a:ext cx="3995738" cy="1905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2"/>
          <p:cNvSpPr/>
          <p:nvPr/>
        </p:nvSpPr>
        <p:spPr>
          <a:xfrm>
            <a:off x="533400" y="3314551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2"/>
          <p:cNvSpPr/>
          <p:nvPr/>
        </p:nvSpPr>
        <p:spPr>
          <a:xfrm>
            <a:off x="4524375" y="3314551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690563" y="3823766"/>
            <a:ext cx="3791855" cy="33903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El modelo </a:t>
            </a:r>
            <a:r>
              <a:rPr b="1" i="0" lang="en" sz="11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N0–N3 </a:t>
            </a: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: el volumen lo gestiona la máquina, el valor el equipo.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2"/>
          <p:cNvSpPr/>
          <p:nvPr/>
        </p:nvSpPr>
        <p:spPr>
          <a:xfrm>
            <a:off x="690563" y="4210422"/>
            <a:ext cx="981075" cy="152400"/>
          </a:xfrm>
          <a:prstGeom prst="roundRect">
            <a:avLst>
              <a:gd fmla="val 50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752475" y="4239000"/>
            <a:ext cx="981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N0 ~70% automatizado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2"/>
          <p:cNvSpPr/>
          <p:nvPr/>
        </p:nvSpPr>
        <p:spPr>
          <a:xfrm>
            <a:off x="1709738" y="4210422"/>
            <a:ext cx="1066800" cy="152400"/>
          </a:xfrm>
          <a:prstGeom prst="roundRect">
            <a:avLst>
              <a:gd fmla="val 50000" name="adj"/>
            </a:avLst>
          </a:prstGeom>
          <a:solidFill>
            <a:srgbClr val="FE5000">
              <a:alpha val="10196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2"/>
          <p:cNvSpPr/>
          <p:nvPr/>
        </p:nvSpPr>
        <p:spPr>
          <a:xfrm>
            <a:off x="1771650" y="4239001"/>
            <a:ext cx="1090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 Driven · Power BI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2"/>
          <p:cNvSpPr/>
          <p:nvPr/>
        </p:nvSpPr>
        <p:spPr>
          <a:xfrm>
            <a:off x="4622899" y="3314551"/>
            <a:ext cx="3995700" cy="15432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2"/>
          <p:cNvSpPr/>
          <p:nvPr/>
        </p:nvSpPr>
        <p:spPr>
          <a:xfrm>
            <a:off x="4703266" y="4852988"/>
            <a:ext cx="3995700" cy="4800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2"/>
          <p:cNvSpPr/>
          <p:nvPr/>
        </p:nvSpPr>
        <p:spPr>
          <a:xfrm>
            <a:off x="4614863" y="3314551"/>
            <a:ext cx="3995738" cy="19050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2"/>
          <p:cNvSpPr/>
          <p:nvPr/>
        </p:nvSpPr>
        <p:spPr>
          <a:xfrm>
            <a:off x="4614863" y="3314551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2"/>
          <p:cNvSpPr/>
          <p:nvPr/>
        </p:nvSpPr>
        <p:spPr>
          <a:xfrm>
            <a:off x="8605838" y="3314551"/>
            <a:ext cx="4763" cy="154319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4772025" y="3903761"/>
            <a:ext cx="3791855" cy="179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Gobierno regulatorio como </a:t>
            </a:r>
            <a:r>
              <a:rPr b="1" i="0" lang="en" sz="1100" u="none" cap="none" strike="noStrike">
                <a:solidFill>
                  <a:srgbClr val="3D6A92"/>
                </a:solidFill>
                <a:latin typeface="Barlow"/>
                <a:ea typeface="Barlow"/>
                <a:cs typeface="Barlow"/>
                <a:sym typeface="Barlow"/>
              </a:rPr>
              <a:t>arquitectura</a:t>
            </a: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, no como capa.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4772025" y="4130425"/>
            <a:ext cx="1066800" cy="142800"/>
          </a:xfrm>
          <a:prstGeom prst="roundRect">
            <a:avLst>
              <a:gd fmla="val 50000" name="adj"/>
            </a:avLst>
          </a:prstGeom>
          <a:solidFill>
            <a:srgbClr val="DCEAF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22"/>
          <p:cNvSpPr/>
          <p:nvPr/>
        </p:nvSpPr>
        <p:spPr>
          <a:xfrm>
            <a:off x="4833950" y="4159000"/>
            <a:ext cx="1045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A92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D6A9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NIS2 · DORA · AI Act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5879600" y="4130425"/>
            <a:ext cx="1233600" cy="14280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2"/>
          <p:cNvSpPr/>
          <p:nvPr/>
        </p:nvSpPr>
        <p:spPr>
          <a:xfrm>
            <a:off x="5941526" y="4159000"/>
            <a:ext cx="11718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ISO 20000 · 27001 · ENS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7F9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8" name="Google Shape;5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80988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3"/>
          <p:cNvSpPr/>
          <p:nvPr/>
        </p:nvSpPr>
        <p:spPr>
          <a:xfrm>
            <a:off x="7164214" y="266700"/>
            <a:ext cx="1446386" cy="171450"/>
          </a:xfrm>
          <a:prstGeom prst="roundRect">
            <a:avLst>
              <a:gd fmla="val 50000" name="adj"/>
            </a:avLst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3"/>
          <p:cNvSpPr/>
          <p:nvPr/>
        </p:nvSpPr>
        <p:spPr>
          <a:xfrm>
            <a:off x="7235652" y="300038"/>
            <a:ext cx="134690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54A5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· LO QUE YA OPERAMOS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533400" y="581025"/>
            <a:ext cx="8319516" cy="32288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2200"/>
              <a:buFont typeface="Barlow"/>
              <a:buNone/>
            </a:pPr>
            <a:r>
              <a:rPr b="1" i="0" lang="en" sz="22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+400.000 usuarios activos. </a:t>
            </a:r>
            <a:r>
              <a:rPr b="1" i="0" lang="en" sz="2200" u="none" cap="none" strike="noStrike">
                <a:solidFill>
                  <a:srgbClr val="FE5000"/>
                </a:solidFill>
                <a:latin typeface="Barlow"/>
                <a:ea typeface="Barlow"/>
                <a:cs typeface="Barlow"/>
                <a:sym typeface="Barlow"/>
              </a:rPr>
              <a:t>Cifras verificables, cliente a cliente.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/>
          <p:nvPr/>
        </p:nvSpPr>
        <p:spPr>
          <a:xfrm>
            <a:off x="533400" y="1691209"/>
            <a:ext cx="807720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3"/>
          <p:cNvSpPr/>
          <p:nvPr/>
        </p:nvSpPr>
        <p:spPr>
          <a:xfrm>
            <a:off x="533400" y="989633"/>
            <a:ext cx="8077200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3"/>
          <p:cNvSpPr/>
          <p:nvPr/>
        </p:nvSpPr>
        <p:spPr>
          <a:xfrm>
            <a:off x="533400" y="1118220"/>
            <a:ext cx="1554008" cy="2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700"/>
              <a:buFont typeface="Barlow"/>
              <a:buNone/>
            </a:pPr>
            <a:r>
              <a:rPr b="1" i="0" lang="en" sz="17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+400K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3"/>
          <p:cNvSpPr/>
          <p:nvPr/>
        </p:nvSpPr>
        <p:spPr>
          <a:xfrm>
            <a:off x="533400" y="1357834"/>
            <a:ext cx="15540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Usuarios activos bajo nuestro modelo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3"/>
          <p:cNvSpPr/>
          <p:nvPr/>
        </p:nvSpPr>
        <p:spPr>
          <a:xfrm>
            <a:off x="2175495" y="1118220"/>
            <a:ext cx="4763" cy="449164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3"/>
          <p:cNvSpPr/>
          <p:nvPr/>
        </p:nvSpPr>
        <p:spPr>
          <a:xfrm>
            <a:off x="2313608" y="1118220"/>
            <a:ext cx="1411751" cy="2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700"/>
              <a:buFont typeface="Barlow"/>
              <a:buNone/>
            </a:pPr>
            <a:r>
              <a:rPr b="1" i="0" lang="en" sz="17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95%+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3"/>
          <p:cNvSpPr/>
          <p:nvPr/>
        </p:nvSpPr>
        <p:spPr>
          <a:xfrm>
            <a:off x="2313608" y="1357834"/>
            <a:ext cx="141175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Tasa de renovación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3"/>
          <p:cNvSpPr/>
          <p:nvPr/>
        </p:nvSpPr>
        <p:spPr>
          <a:xfrm>
            <a:off x="3817590" y="1118220"/>
            <a:ext cx="4763" cy="449164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3"/>
          <p:cNvSpPr/>
          <p:nvPr/>
        </p:nvSpPr>
        <p:spPr>
          <a:xfrm>
            <a:off x="3955703" y="1118220"/>
            <a:ext cx="1411752" cy="2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700"/>
              <a:buFont typeface="Barlow"/>
              <a:buNone/>
            </a:pPr>
            <a:r>
              <a:rPr b="1" i="0" lang="en" sz="17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&lt;2%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3"/>
          <p:cNvSpPr/>
          <p:nvPr/>
        </p:nvSpPr>
        <p:spPr>
          <a:xfrm>
            <a:off x="3955703" y="1357834"/>
            <a:ext cx="141175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Rotación de equipo · sector +20%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3"/>
          <p:cNvSpPr/>
          <p:nvPr/>
        </p:nvSpPr>
        <p:spPr>
          <a:xfrm>
            <a:off x="5459686" y="1118220"/>
            <a:ext cx="4763" cy="449164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3"/>
          <p:cNvSpPr/>
          <p:nvPr/>
        </p:nvSpPr>
        <p:spPr>
          <a:xfrm>
            <a:off x="5597798" y="1118220"/>
            <a:ext cx="1411751" cy="2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700"/>
              <a:buFont typeface="Barlow"/>
              <a:buNone/>
            </a:pPr>
            <a:r>
              <a:rPr b="1" i="0" lang="en" sz="17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6+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3"/>
          <p:cNvSpPr/>
          <p:nvPr/>
        </p:nvSpPr>
        <p:spPr>
          <a:xfrm>
            <a:off x="5597798" y="1357834"/>
            <a:ext cx="141175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Años de IA en producción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3"/>
          <p:cNvSpPr/>
          <p:nvPr/>
        </p:nvSpPr>
        <p:spPr>
          <a:xfrm>
            <a:off x="7101780" y="1118220"/>
            <a:ext cx="4763" cy="449164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3"/>
          <p:cNvSpPr/>
          <p:nvPr/>
        </p:nvSpPr>
        <p:spPr>
          <a:xfrm>
            <a:off x="7239893" y="1118220"/>
            <a:ext cx="1411752" cy="22056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855AC6"/>
              </a:buClr>
              <a:buSzPts val="1700"/>
              <a:buFont typeface="Barlow"/>
              <a:buNone/>
            </a:pPr>
            <a:r>
              <a:rPr b="1" i="0" lang="en" sz="1700" u="none" cap="none" strike="noStrike">
                <a:solidFill>
                  <a:srgbClr val="855AC6"/>
                </a:solidFill>
                <a:latin typeface="Barlow"/>
                <a:ea typeface="Barlow"/>
                <a:cs typeface="Barlow"/>
                <a:sym typeface="Barlow"/>
              </a:rPr>
              <a:t>+174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7239893" y="1357834"/>
            <a:ext cx="141175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Certificaciones Microsoft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533400" y="1810271"/>
            <a:ext cx="2635225" cy="3047479"/>
          </a:xfrm>
          <a:prstGeom prst="roundRect">
            <a:avLst>
              <a:gd fmla="val 216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3"/>
          <p:cNvSpPr/>
          <p:nvPr/>
        </p:nvSpPr>
        <p:spPr>
          <a:xfrm>
            <a:off x="533400" y="4852988"/>
            <a:ext cx="263522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3"/>
          <p:cNvSpPr/>
          <p:nvPr/>
        </p:nvSpPr>
        <p:spPr>
          <a:xfrm>
            <a:off x="533400" y="1810271"/>
            <a:ext cx="2635225" cy="19050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3"/>
          <p:cNvSpPr/>
          <p:nvPr/>
        </p:nvSpPr>
        <p:spPr>
          <a:xfrm>
            <a:off x="533400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3163863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3" name="Google Shape;563;p23"/>
          <p:cNvPicPr preferRelativeResize="0"/>
          <p:nvPr/>
        </p:nvPicPr>
        <p:blipFill rotWithShape="1">
          <a:blip r:embed="rId4">
            <a:alphaModFix amt="8000"/>
          </a:blip>
          <a:srcRect b="0" l="0" r="0" t="0"/>
          <a:stretch/>
        </p:blipFill>
        <p:spPr>
          <a:xfrm>
            <a:off x="1888849" y="3350049"/>
            <a:ext cx="1212425" cy="12124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23"/>
          <p:cNvSpPr/>
          <p:nvPr/>
        </p:nvSpPr>
        <p:spPr>
          <a:xfrm>
            <a:off x="671512" y="1943621"/>
            <a:ext cx="2429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3D9B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5E3D9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EJIE · GOBIERNO VASCO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671513" y="2204070"/>
            <a:ext cx="24297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CAU centros educativos · N1 + N2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671513" y="2417192"/>
            <a:ext cx="441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+200K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671513" y="2588642"/>
            <a:ext cx="4413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1189063" y="2417192"/>
            <a:ext cx="27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855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1189063" y="2588642"/>
            <a:ext cx="2730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sedes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1538139" y="2417192"/>
            <a:ext cx="4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2.500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1538139" y="2588642"/>
            <a:ext cx="4191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tickets/mes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671513" y="4557713"/>
            <a:ext cx="2359000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3"/>
          <p:cNvSpPr/>
          <p:nvPr/>
        </p:nvSpPr>
        <p:spPr>
          <a:xfrm>
            <a:off x="671512" y="4638675"/>
            <a:ext cx="242977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Eficiencia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15% </a:t>
            </a: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año 1 · SLAs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&lt;98% </a:t>
            </a: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· Satisfacción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95%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3"/>
          <p:cNvSpPr/>
          <p:nvPr/>
        </p:nvSpPr>
        <p:spPr>
          <a:xfrm>
            <a:off x="3254350" y="1810271"/>
            <a:ext cx="2635225" cy="3047479"/>
          </a:xfrm>
          <a:prstGeom prst="roundRect">
            <a:avLst>
              <a:gd fmla="val 216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/>
          <p:nvPr/>
        </p:nvSpPr>
        <p:spPr>
          <a:xfrm>
            <a:off x="3254350" y="4852988"/>
            <a:ext cx="263522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3"/>
          <p:cNvSpPr/>
          <p:nvPr/>
        </p:nvSpPr>
        <p:spPr>
          <a:xfrm>
            <a:off x="3254350" y="1810271"/>
            <a:ext cx="2635225" cy="1905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3"/>
          <p:cNvSpPr/>
          <p:nvPr/>
        </p:nvSpPr>
        <p:spPr>
          <a:xfrm>
            <a:off x="3254350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5884813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9" name="Google Shape;579;p23"/>
          <p:cNvPicPr preferRelativeResize="0"/>
          <p:nvPr/>
        </p:nvPicPr>
        <p:blipFill rotWithShape="1">
          <a:blip r:embed="rId5">
            <a:alphaModFix amt="8000"/>
          </a:blip>
          <a:srcRect b="0" l="0" r="0" t="0"/>
          <a:stretch/>
        </p:blipFill>
        <p:spPr>
          <a:xfrm>
            <a:off x="4693450" y="3350048"/>
            <a:ext cx="1193400" cy="119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23"/>
          <p:cNvSpPr/>
          <p:nvPr/>
        </p:nvSpPr>
        <p:spPr>
          <a:xfrm>
            <a:off x="3392463" y="1943621"/>
            <a:ext cx="2429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TELEFÓNICA TECH · CLOUD 7×24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3"/>
          <p:cNvSpPr/>
          <p:nvPr/>
        </p:nvSpPr>
        <p:spPr>
          <a:xfrm>
            <a:off x="3392463" y="2228180"/>
            <a:ext cx="24297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Gestión de infraestructuras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3"/>
          <p:cNvSpPr/>
          <p:nvPr/>
        </p:nvSpPr>
        <p:spPr>
          <a:xfrm>
            <a:off x="3392463" y="2441302"/>
            <a:ext cx="39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3.000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3"/>
          <p:cNvSpPr/>
          <p:nvPr/>
        </p:nvSpPr>
        <p:spPr>
          <a:xfrm>
            <a:off x="3392463" y="2612752"/>
            <a:ext cx="3960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3"/>
          <p:cNvSpPr/>
          <p:nvPr/>
        </p:nvSpPr>
        <p:spPr>
          <a:xfrm>
            <a:off x="3864695" y="2441302"/>
            <a:ext cx="474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27K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3"/>
          <p:cNvSpPr/>
          <p:nvPr/>
        </p:nvSpPr>
        <p:spPr>
          <a:xfrm>
            <a:off x="3864695" y="2612752"/>
            <a:ext cx="4743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alarmas/mes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3"/>
          <p:cNvSpPr/>
          <p:nvPr/>
        </p:nvSpPr>
        <p:spPr>
          <a:xfrm>
            <a:off x="4415135" y="2441302"/>
            <a:ext cx="4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12K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3"/>
          <p:cNvSpPr/>
          <p:nvPr/>
        </p:nvSpPr>
        <p:spPr>
          <a:xfrm>
            <a:off x="4415135" y="2612752"/>
            <a:ext cx="4191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tickets/mes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3"/>
          <p:cNvSpPr/>
          <p:nvPr/>
        </p:nvSpPr>
        <p:spPr>
          <a:xfrm>
            <a:off x="3392463" y="4557713"/>
            <a:ext cx="2359000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3"/>
          <p:cNvSpPr/>
          <p:nvPr/>
        </p:nvSpPr>
        <p:spPr>
          <a:xfrm>
            <a:off x="3392463" y="4638675"/>
            <a:ext cx="242977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Rotación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&lt;5% </a:t>
            </a: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· TMO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−25% </a:t>
            </a: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· SLAs </a:t>
            </a:r>
            <a:r>
              <a:rPr b="1" i="0" lang="en" sz="700" u="none" cap="none" strike="noStrike">
                <a:solidFill>
                  <a:srgbClr val="041C2C"/>
                </a:solidFill>
                <a:latin typeface="Arial"/>
                <a:ea typeface="Arial"/>
                <a:cs typeface="Arial"/>
                <a:sym typeface="Arial"/>
              </a:rPr>
              <a:t>98%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3"/>
          <p:cNvSpPr/>
          <p:nvPr/>
        </p:nvSpPr>
        <p:spPr>
          <a:xfrm>
            <a:off x="5975301" y="1810271"/>
            <a:ext cx="2635225" cy="3047479"/>
          </a:xfrm>
          <a:prstGeom prst="roundRect">
            <a:avLst>
              <a:gd fmla="val 2169" name="adj"/>
            </a:avLst>
          </a:prstGeom>
          <a:solidFill>
            <a:srgbClr val="FFFFFF"/>
          </a:solidFill>
          <a:ln>
            <a:noFill/>
          </a:ln>
          <a:effectLst>
            <a:outerShdw blurRad="38100" rotWithShape="0" algn="bl" dir="5400000" dist="19050">
              <a:srgbClr val="041C2C">
                <a:alpha val="7058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3"/>
          <p:cNvSpPr/>
          <p:nvPr/>
        </p:nvSpPr>
        <p:spPr>
          <a:xfrm>
            <a:off x="5975301" y="4852988"/>
            <a:ext cx="2635225" cy="4763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3"/>
          <p:cNvSpPr/>
          <p:nvPr/>
        </p:nvSpPr>
        <p:spPr>
          <a:xfrm>
            <a:off x="5975301" y="1810271"/>
            <a:ext cx="2635225" cy="19050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3"/>
          <p:cNvSpPr/>
          <p:nvPr/>
        </p:nvSpPr>
        <p:spPr>
          <a:xfrm>
            <a:off x="5975301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3"/>
          <p:cNvSpPr/>
          <p:nvPr/>
        </p:nvSpPr>
        <p:spPr>
          <a:xfrm>
            <a:off x="8605763" y="1810271"/>
            <a:ext cx="4763" cy="3047479"/>
          </a:xfrm>
          <a:prstGeom prst="rect">
            <a:avLst/>
          </a:prstGeom>
          <a:solidFill>
            <a:srgbClr val="C8D2D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5" name="Google Shape;595;p23"/>
          <p:cNvPicPr preferRelativeResize="0"/>
          <p:nvPr/>
        </p:nvPicPr>
        <p:blipFill rotWithShape="1">
          <a:blip r:embed="rId6">
            <a:alphaModFix amt="8000"/>
          </a:blip>
          <a:srcRect b="0" l="0" r="0" t="0"/>
          <a:stretch/>
        </p:blipFill>
        <p:spPr>
          <a:xfrm>
            <a:off x="7411682" y="3350033"/>
            <a:ext cx="1131500" cy="11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23"/>
          <p:cNvSpPr/>
          <p:nvPr/>
        </p:nvSpPr>
        <p:spPr>
          <a:xfrm>
            <a:off x="6113413" y="1943621"/>
            <a:ext cx="242977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A92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3D6A92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VALORIZA · MEDIOAMBIENTE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3"/>
          <p:cNvSpPr/>
          <p:nvPr/>
        </p:nvSpPr>
        <p:spPr>
          <a:xfrm>
            <a:off x="6113413" y="2228180"/>
            <a:ext cx="2429700" cy="1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900"/>
              <a:buFont typeface="Barlow"/>
              <a:buNone/>
            </a:pPr>
            <a:r>
              <a:rPr b="1" i="0" lang="en" sz="9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Help &amp; Service Desk distribuido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6113413" y="2441302"/>
            <a:ext cx="368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1.800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3"/>
          <p:cNvSpPr/>
          <p:nvPr/>
        </p:nvSpPr>
        <p:spPr>
          <a:xfrm>
            <a:off x="6113413" y="2612752"/>
            <a:ext cx="3687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3"/>
          <p:cNvSpPr/>
          <p:nvPr/>
        </p:nvSpPr>
        <p:spPr>
          <a:xfrm>
            <a:off x="6558186" y="2441302"/>
            <a:ext cx="24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3"/>
          <p:cNvSpPr/>
          <p:nvPr/>
        </p:nvSpPr>
        <p:spPr>
          <a:xfrm>
            <a:off x="6558186" y="2612752"/>
            <a:ext cx="2415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sedes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3"/>
          <p:cNvSpPr/>
          <p:nvPr/>
        </p:nvSpPr>
        <p:spPr>
          <a:xfrm>
            <a:off x="6875860" y="2441302"/>
            <a:ext cx="402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1100"/>
              <a:buFont typeface="Barlow"/>
              <a:buNone/>
            </a:pPr>
            <a:r>
              <a:rPr b="1" i="0" lang="en" sz="11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5.000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3"/>
          <p:cNvSpPr/>
          <p:nvPr/>
        </p:nvSpPr>
        <p:spPr>
          <a:xfrm>
            <a:off x="6875860" y="2612752"/>
            <a:ext cx="402300" cy="1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3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4A6273"/>
                </a:solidFill>
                <a:latin typeface="Arial"/>
                <a:ea typeface="Arial"/>
                <a:cs typeface="Arial"/>
                <a:sym typeface="Arial"/>
              </a:rPr>
              <a:t>tickets/año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3"/>
          <p:cNvSpPr/>
          <p:nvPr/>
        </p:nvSpPr>
        <p:spPr>
          <a:xfrm>
            <a:off x="6113413" y="4557713"/>
            <a:ext cx="2359000" cy="4763"/>
          </a:xfrm>
          <a:prstGeom prst="rect">
            <a:avLst/>
          </a:prstGeom>
          <a:solidFill>
            <a:srgbClr val="E5EAE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3"/>
          <p:cNvSpPr/>
          <p:nvPr/>
        </p:nvSpPr>
        <p:spPr>
          <a:xfrm>
            <a:off x="6113413" y="4638675"/>
            <a:ext cx="242977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54A5A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354A5A"/>
                </a:solidFill>
                <a:latin typeface="Arial"/>
                <a:ea typeface="Arial"/>
                <a:cs typeface="Arial"/>
                <a:sym typeface="Arial"/>
              </a:rPr>
              <a:t>ServiceNow · ManageEngine · Intune · EntraID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3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8315846" y="4967288"/>
            <a:ext cx="332854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8493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6E8493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10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1C2C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5000">
              <a:alpha val="16862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4"/>
          <p:cNvSpPr/>
          <p:nvPr/>
        </p:nvSpPr>
        <p:spPr>
          <a:xfrm>
            <a:off x="5533951" y="1481287"/>
            <a:ext cx="76200" cy="57150"/>
          </a:xfrm>
          <a:prstGeom prst="rect">
            <a:avLst/>
          </a:prstGeom>
          <a:solidFill>
            <a:srgbClr val="3A25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4"/>
          <p:cNvSpPr/>
          <p:nvPr/>
        </p:nvSpPr>
        <p:spPr>
          <a:xfrm>
            <a:off x="5610151" y="1481287"/>
            <a:ext cx="76200" cy="57150"/>
          </a:xfrm>
          <a:prstGeom prst="rect">
            <a:avLst/>
          </a:prstGeom>
          <a:solidFill>
            <a:srgbClr val="5E3D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4"/>
          <p:cNvSpPr/>
          <p:nvPr/>
        </p:nvSpPr>
        <p:spPr>
          <a:xfrm>
            <a:off x="5686351" y="1481287"/>
            <a:ext cx="76200" cy="57150"/>
          </a:xfrm>
          <a:prstGeom prst="rect">
            <a:avLst/>
          </a:prstGeom>
          <a:solidFill>
            <a:srgbClr val="855AC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4"/>
          <p:cNvSpPr/>
          <p:nvPr/>
        </p:nvSpPr>
        <p:spPr>
          <a:xfrm>
            <a:off x="6302053" y="1333128"/>
            <a:ext cx="76200" cy="57150"/>
          </a:xfrm>
          <a:prstGeom prst="rect">
            <a:avLst/>
          </a:prstGeom>
          <a:solidFill>
            <a:srgbClr val="1F543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4"/>
          <p:cNvSpPr/>
          <p:nvPr/>
        </p:nvSpPr>
        <p:spPr>
          <a:xfrm>
            <a:off x="6378253" y="1333128"/>
            <a:ext cx="76200" cy="57150"/>
          </a:xfrm>
          <a:prstGeom prst="rect">
            <a:avLst/>
          </a:prstGeom>
          <a:solidFill>
            <a:srgbClr val="3A8E6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4"/>
          <p:cNvSpPr/>
          <p:nvPr/>
        </p:nvSpPr>
        <p:spPr>
          <a:xfrm>
            <a:off x="6454453" y="1333128"/>
            <a:ext cx="76200" cy="57150"/>
          </a:xfrm>
          <a:prstGeom prst="rect">
            <a:avLst/>
          </a:prstGeom>
          <a:solidFill>
            <a:srgbClr val="3A8E63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4"/>
          <p:cNvSpPr/>
          <p:nvPr/>
        </p:nvSpPr>
        <p:spPr>
          <a:xfrm>
            <a:off x="6530652" y="1333128"/>
            <a:ext cx="76200" cy="57150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4"/>
          <p:cNvSpPr/>
          <p:nvPr/>
        </p:nvSpPr>
        <p:spPr>
          <a:xfrm>
            <a:off x="6186860" y="1728118"/>
            <a:ext cx="76200" cy="57150"/>
          </a:xfrm>
          <a:prstGeom prst="rect">
            <a:avLst/>
          </a:prstGeom>
          <a:solidFill>
            <a:srgbClr val="5E1D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4"/>
          <p:cNvSpPr/>
          <p:nvPr/>
        </p:nvSpPr>
        <p:spPr>
          <a:xfrm>
            <a:off x="6263060" y="1728118"/>
            <a:ext cx="76200" cy="57150"/>
          </a:xfrm>
          <a:prstGeom prst="rect">
            <a:avLst/>
          </a:prstGeom>
          <a:solidFill>
            <a:srgbClr val="9E335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24"/>
          <p:cNvSpPr/>
          <p:nvPr/>
        </p:nvSpPr>
        <p:spPr>
          <a:xfrm>
            <a:off x="6339260" y="1728118"/>
            <a:ext cx="76200" cy="57150"/>
          </a:xfrm>
          <a:prstGeom prst="rect">
            <a:avLst/>
          </a:prstGeom>
          <a:solidFill>
            <a:srgbClr val="D04C8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4"/>
          <p:cNvSpPr/>
          <p:nvPr/>
        </p:nvSpPr>
        <p:spPr>
          <a:xfrm>
            <a:off x="7454205" y="1431876"/>
            <a:ext cx="76200" cy="57150"/>
          </a:xfrm>
          <a:prstGeom prst="rect">
            <a:avLst/>
          </a:prstGeom>
          <a:solidFill>
            <a:srgbClr val="5E1D3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7530406" y="1431876"/>
            <a:ext cx="76200" cy="57150"/>
          </a:xfrm>
          <a:prstGeom prst="rect">
            <a:avLst/>
          </a:prstGeom>
          <a:solidFill>
            <a:srgbClr val="9E335E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4"/>
          <p:cNvSpPr/>
          <p:nvPr/>
        </p:nvSpPr>
        <p:spPr>
          <a:xfrm>
            <a:off x="7606606" y="1431876"/>
            <a:ext cx="76200" cy="57150"/>
          </a:xfrm>
          <a:prstGeom prst="rect">
            <a:avLst/>
          </a:prstGeom>
          <a:solidFill>
            <a:srgbClr val="D04C8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24"/>
          <p:cNvSpPr/>
          <p:nvPr/>
        </p:nvSpPr>
        <p:spPr>
          <a:xfrm>
            <a:off x="7108552" y="1876276"/>
            <a:ext cx="76200" cy="57150"/>
          </a:xfrm>
          <a:prstGeom prst="rect">
            <a:avLst/>
          </a:prstGeom>
          <a:solidFill>
            <a:srgbClr val="1F543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24"/>
          <p:cNvSpPr/>
          <p:nvPr/>
        </p:nvSpPr>
        <p:spPr>
          <a:xfrm>
            <a:off x="7184752" y="1876276"/>
            <a:ext cx="76200" cy="57150"/>
          </a:xfrm>
          <a:prstGeom prst="rect">
            <a:avLst/>
          </a:prstGeom>
          <a:solidFill>
            <a:srgbClr val="57BE8A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4"/>
          <p:cNvSpPr/>
          <p:nvPr/>
        </p:nvSpPr>
        <p:spPr>
          <a:xfrm>
            <a:off x="6570836" y="2172519"/>
            <a:ext cx="76200" cy="57150"/>
          </a:xfrm>
          <a:prstGeom prst="rect">
            <a:avLst/>
          </a:prstGeom>
          <a:solidFill>
            <a:srgbClr val="2A4A6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4"/>
          <p:cNvSpPr/>
          <p:nvPr/>
        </p:nvSpPr>
        <p:spPr>
          <a:xfrm>
            <a:off x="6647036" y="2172519"/>
            <a:ext cx="76200" cy="57150"/>
          </a:xfrm>
          <a:prstGeom prst="rect">
            <a:avLst/>
          </a:prstGeom>
          <a:solidFill>
            <a:srgbClr val="4D7CA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4"/>
          <p:cNvSpPr/>
          <p:nvPr/>
        </p:nvSpPr>
        <p:spPr>
          <a:xfrm>
            <a:off x="6723236" y="2172519"/>
            <a:ext cx="76200" cy="57150"/>
          </a:xfrm>
          <a:prstGeom prst="rect">
            <a:avLst/>
          </a:prstGeom>
          <a:solidFill>
            <a:srgbClr val="7CAAD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4"/>
          <p:cNvSpPr/>
          <p:nvPr/>
        </p:nvSpPr>
        <p:spPr>
          <a:xfrm>
            <a:off x="5380360" y="2123182"/>
            <a:ext cx="76200" cy="57150"/>
          </a:xfrm>
          <a:prstGeom prst="rect">
            <a:avLst/>
          </a:prstGeom>
          <a:solidFill>
            <a:srgbClr val="7A26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4"/>
          <p:cNvSpPr/>
          <p:nvPr/>
        </p:nvSpPr>
        <p:spPr>
          <a:xfrm>
            <a:off x="5456560" y="2123182"/>
            <a:ext cx="76200" cy="57150"/>
          </a:xfrm>
          <a:prstGeom prst="rect">
            <a:avLst/>
          </a:prstGeom>
          <a:solidFill>
            <a:srgbClr val="C73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4"/>
          <p:cNvSpPr/>
          <p:nvPr/>
        </p:nvSpPr>
        <p:spPr>
          <a:xfrm>
            <a:off x="5532760" y="2123182"/>
            <a:ext cx="76200" cy="57150"/>
          </a:xfrm>
          <a:prstGeom prst="rect">
            <a:avLst/>
          </a:prstGeom>
          <a:solidFill>
            <a:srgbClr val="C73F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4"/>
          <p:cNvSpPr/>
          <p:nvPr/>
        </p:nvSpPr>
        <p:spPr>
          <a:xfrm>
            <a:off x="5608960" y="2123182"/>
            <a:ext cx="76200" cy="57150"/>
          </a:xfrm>
          <a:prstGeom prst="rect">
            <a:avLst/>
          </a:prstGeom>
          <a:solidFill>
            <a:srgbClr val="FE50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6" name="Google Shape;6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266700"/>
            <a:ext cx="51025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4"/>
          <p:cNvSpPr/>
          <p:nvPr/>
        </p:nvSpPr>
        <p:spPr>
          <a:xfrm>
            <a:off x="8179817" y="278606"/>
            <a:ext cx="468883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JetBrains Mono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/ 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4"/>
          <p:cNvSpPr/>
          <p:nvPr/>
        </p:nvSpPr>
        <p:spPr>
          <a:xfrm>
            <a:off x="533400" y="1424359"/>
            <a:ext cx="43695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Barlow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Empecemos por los datos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4"/>
          <p:cNvSpPr/>
          <p:nvPr/>
        </p:nvSpPr>
        <p:spPr>
          <a:xfrm>
            <a:off x="533400" y="2315989"/>
            <a:ext cx="8077200" cy="1557338"/>
          </a:xfrm>
          <a:prstGeom prst="roundRect">
            <a:avLst>
              <a:gd fmla="val 6116" name="adj"/>
            </a:avLst>
          </a:prstGeom>
          <a:solidFill>
            <a:srgbClr val="FE5000">
              <a:alpha val="18039"/>
            </a:srgbClr>
          </a:solidFill>
          <a:ln cap="flat" cmpd="sng" w="9525">
            <a:solidFill>
              <a:srgbClr val="FE500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666750" rotWithShape="0" algn="bl" dir="5400000" dist="266700">
              <a:srgbClr val="FE5000">
                <a:alpha val="74901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4"/>
          <p:cNvSpPr/>
          <p:nvPr/>
        </p:nvSpPr>
        <p:spPr>
          <a:xfrm>
            <a:off x="757238" y="2501727"/>
            <a:ext cx="4467187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E5000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E5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TU PUNTO DE PARTIDA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4"/>
          <p:cNvSpPr/>
          <p:nvPr/>
        </p:nvSpPr>
        <p:spPr>
          <a:xfrm>
            <a:off x="757238" y="2663652"/>
            <a:ext cx="44671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Barlow"/>
              <a:buNone/>
            </a:pPr>
            <a:r>
              <a:rPr b="1" i="0" lang="en" sz="24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Diagnóstico Data Driven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4"/>
          <p:cNvSpPr/>
          <p:nvPr/>
        </p:nvSpPr>
        <p:spPr>
          <a:xfrm>
            <a:off x="757238" y="3063702"/>
            <a:ext cx="726951" cy="200025"/>
          </a:xfrm>
          <a:prstGeom prst="roundRect">
            <a:avLst>
              <a:gd fmla="val 50000" name="adj"/>
            </a:avLst>
          </a:prstGeom>
          <a:solidFill>
            <a:srgbClr val="FE5000"/>
          </a:solidFill>
          <a:ln>
            <a:noFill/>
          </a:ln>
          <a:effectLst>
            <a:outerShdw blurRad="190500" rotWithShape="0" algn="bl" dir="5400000" dist="76200">
              <a:srgbClr val="FE5000">
                <a:alpha val="8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4"/>
          <p:cNvSpPr/>
          <p:nvPr/>
        </p:nvSpPr>
        <p:spPr>
          <a:xfrm>
            <a:off x="852488" y="3106564"/>
            <a:ext cx="574551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Barlow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Desde 10 días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4"/>
          <p:cNvSpPr/>
          <p:nvPr/>
        </p:nvSpPr>
        <p:spPr>
          <a:xfrm>
            <a:off x="1531813" y="3063702"/>
            <a:ext cx="715343" cy="200025"/>
          </a:xfrm>
          <a:prstGeom prst="roundRect">
            <a:avLst>
              <a:gd fmla="val 50000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4"/>
          <p:cNvSpPr/>
          <p:nvPr/>
        </p:nvSpPr>
        <p:spPr>
          <a:xfrm>
            <a:off x="1622301" y="3111327"/>
            <a:ext cx="572468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Fixed price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4"/>
          <p:cNvSpPr/>
          <p:nvPr/>
        </p:nvSpPr>
        <p:spPr>
          <a:xfrm>
            <a:off x="2294781" y="3063702"/>
            <a:ext cx="1346895" cy="200025"/>
          </a:xfrm>
          <a:prstGeom prst="roundRect">
            <a:avLst>
              <a:gd fmla="val 50000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4"/>
          <p:cNvSpPr/>
          <p:nvPr/>
        </p:nvSpPr>
        <p:spPr>
          <a:xfrm>
            <a:off x="2385269" y="3111327"/>
            <a:ext cx="1206326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Sin compromiso posterior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4"/>
          <p:cNvSpPr/>
          <p:nvPr/>
        </p:nvSpPr>
        <p:spPr>
          <a:xfrm>
            <a:off x="3689300" y="3063702"/>
            <a:ext cx="1152525" cy="200025"/>
          </a:xfrm>
          <a:prstGeom prst="roundRect">
            <a:avLst>
              <a:gd fmla="val 50000" name="adj"/>
            </a:avLst>
          </a:prstGeom>
          <a:solidFill>
            <a:srgbClr val="FFFFFF">
              <a:alpha val="7843"/>
            </a:srgbClr>
          </a:solidFill>
          <a:ln cap="flat" cmpd="sng" w="9525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4"/>
          <p:cNvSpPr/>
          <p:nvPr/>
        </p:nvSpPr>
        <p:spPr>
          <a:xfrm>
            <a:off x="3779788" y="3111327"/>
            <a:ext cx="100965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"/>
              <a:buFont typeface="JetBrains Mono"/>
              <a:buNone/>
            </a:pPr>
            <a:r>
              <a:rPr b="0" i="0" lang="en" sz="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El resultado es tuyo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4"/>
          <p:cNvSpPr/>
          <p:nvPr/>
        </p:nvSpPr>
        <p:spPr>
          <a:xfrm>
            <a:off x="757237" y="3378027"/>
            <a:ext cx="21599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Mapa de fricción y riesgo para decisión CIO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4"/>
          <p:cNvSpPr/>
          <p:nvPr/>
        </p:nvSpPr>
        <p:spPr>
          <a:xfrm>
            <a:off x="2997175" y="3378027"/>
            <a:ext cx="216005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Gap regulatorio NIS2 / DORA / AI Act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4"/>
          <p:cNvSpPr/>
          <p:nvPr/>
        </p:nvSpPr>
        <p:spPr>
          <a:xfrm>
            <a:off x="757237" y="3563764"/>
            <a:ext cx="21599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Win10 / Broadcom con TCO por camino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4"/>
          <p:cNvSpPr/>
          <p:nvPr/>
        </p:nvSpPr>
        <p:spPr>
          <a:xfrm>
            <a:off x="2997175" y="3563764"/>
            <a:ext cx="2160051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Quick wins ejecutables en 90 días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4"/>
          <p:cNvSpPr/>
          <p:nvPr/>
        </p:nvSpPr>
        <p:spPr>
          <a:xfrm>
            <a:off x="5332438" y="2632993"/>
            <a:ext cx="4763" cy="923329"/>
          </a:xfrm>
          <a:prstGeom prst="rect">
            <a:avLst/>
          </a:prstGeom>
          <a:solidFill>
            <a:srgbClr val="FFFFFF">
              <a:alpha val="16078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4"/>
          <p:cNvSpPr/>
          <p:nvPr/>
        </p:nvSpPr>
        <p:spPr>
          <a:xfrm>
            <a:off x="5556275" y="2632993"/>
            <a:ext cx="2915326" cy="308967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Sales con un </a:t>
            </a:r>
            <a:r>
              <a:rPr b="1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mapa de decisión </a:t>
            </a:r>
            <a:r>
              <a:rPr b="0" i="0" lang="en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— no con una propuesta comercial.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4"/>
          <p:cNvSpPr/>
          <p:nvPr/>
        </p:nvSpPr>
        <p:spPr>
          <a:xfrm>
            <a:off x="5556275" y="3008635"/>
            <a:ext cx="2830413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>
            <a:noFill/>
          </a:ln>
          <a:effectLst>
            <a:outerShdw blurRad="323850" rotWithShape="0" algn="bl" dir="5400000" dist="133350">
              <a:srgbClr val="000000">
                <a:alpha val="7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4"/>
          <p:cNvSpPr/>
          <p:nvPr/>
        </p:nvSpPr>
        <p:spPr>
          <a:xfrm>
            <a:off x="5651525" y="3089598"/>
            <a:ext cx="200025" cy="200025"/>
          </a:xfrm>
          <a:prstGeom prst="ellipse">
            <a:avLst/>
          </a:prstGeom>
          <a:solidFill>
            <a:srgbClr val="FE5000">
              <a:alpha val="14117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8" name="Google Shape;65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99150" y="3137223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24"/>
          <p:cNvSpPr/>
          <p:nvPr/>
        </p:nvSpPr>
        <p:spPr>
          <a:xfrm>
            <a:off x="5927750" y="3132014"/>
            <a:ext cx="1432676" cy="13424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41C2C"/>
              </a:buClr>
              <a:buSzPts val="800"/>
              <a:buFont typeface="Barlow"/>
              <a:buNone/>
            </a:pPr>
            <a:r>
              <a:rPr b="1" i="0" lang="en" sz="800" u="none" cap="none" strike="noStrike">
                <a:solidFill>
                  <a:srgbClr val="041C2C"/>
                </a:solidFill>
                <a:latin typeface="Barlow"/>
                <a:ea typeface="Barlow"/>
                <a:cs typeface="Barlow"/>
                <a:sym typeface="Barlow"/>
              </a:rPr>
              <a:t>amador.sobrino@entelgy.com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0" name="Google Shape;660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56275" y="3463454"/>
            <a:ext cx="85725" cy="85725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24"/>
          <p:cNvSpPr/>
          <p:nvPr/>
        </p:nvSpPr>
        <p:spPr>
          <a:xfrm>
            <a:off x="5699150" y="3456299"/>
            <a:ext cx="1561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 respondemos en menos de 24 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4"/>
          <p:cNvSpPr/>
          <p:nvPr/>
        </p:nvSpPr>
        <p:spPr>
          <a:xfrm>
            <a:off x="533400" y="4967288"/>
            <a:ext cx="1090613" cy="1000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JetBrains Mono"/>
              <a:buNone/>
            </a:pPr>
            <a:r>
              <a:rPr b="0" i="0" lang="en" sz="5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SMARTOPS · ENTELGY · 2026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4"/>
          <p:cNvSpPr/>
          <p:nvPr/>
        </p:nvSpPr>
        <p:spPr>
          <a:xfrm>
            <a:off x="8074968" y="4972050"/>
            <a:ext cx="573732" cy="9048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Roboto"/>
              <a:buNone/>
            </a:pPr>
            <a:r>
              <a:rPr b="0" i="1" lang="en" sz="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Documento público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