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75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6000"/>
                </a:srgbClr>
              </a:gs>
              <a:gs pos="46000">
                <a:srgbClr val="855AC6">
                  <a:alpha val="0"/>
                </a:srgbClr>
              </a:gs>
            </a:gsLst>
            <a:path path="circle">
              <a:fillToRect l="88000" t="8000" r="12000" b="92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19100" y="419100"/>
            <a:ext cx="12877800" cy="6877050"/>
          </a:xfrm>
          <a:prstGeom prst="rect">
            <a:avLst/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6870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09156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11442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855AC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13728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16014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18300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7CAAD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20586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22872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2515850" y="14287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06870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09156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11442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13728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57BE8A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116014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18300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120586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22872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2515850" y="16573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855AC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06870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7CAAD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09156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111442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113728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116014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118300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120586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22872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12515850" y="18859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6870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109156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111442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113728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116014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855AC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118300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20586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22872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2515850" y="2114550"/>
            <a:ext cx="171450" cy="171450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10477500" y="2857500"/>
            <a:ext cx="9525" cy="2807494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0715625" y="2857500"/>
            <a:ext cx="21688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kern="0" spc="173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OPERACIÓN EN CURSO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10715625" y="3821906"/>
            <a:ext cx="197167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10715625" y="3486150"/>
            <a:ext cx="66675" cy="6667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10896600" y="3350419"/>
            <a:ext cx="11168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368"/>
              </a:lnSpc>
              <a:buNone/>
            </a:pPr>
            <a:r>
              <a:rPr lang="en-US" sz="1163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</a:t>
            </a:r>
            <a:endParaRPr lang="en-US" sz="1163" dirty="0"/>
          </a:p>
        </p:txBody>
      </p:sp>
      <p:sp>
        <p:nvSpPr>
          <p:cNvPr id="46" name="Text 44"/>
          <p:cNvSpPr/>
          <p:nvPr/>
        </p:nvSpPr>
        <p:spPr>
          <a:xfrm>
            <a:off x="10896600" y="3571875"/>
            <a:ext cx="1183779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kern="0" spc="86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 · N1 · N2 · N3</a:t>
            </a:r>
            <a:endParaRPr lang="en-US" sz="713" dirty="0"/>
          </a:p>
        </p:txBody>
      </p:sp>
      <p:sp>
        <p:nvSpPr>
          <p:cNvPr id="47" name="Shape 45"/>
          <p:cNvSpPr/>
          <p:nvPr/>
        </p:nvSpPr>
        <p:spPr>
          <a:xfrm>
            <a:off x="10715625" y="4436269"/>
            <a:ext cx="197167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10715625" y="4100513"/>
            <a:ext cx="66675" cy="6667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0896600" y="3964781"/>
            <a:ext cx="4592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368"/>
              </a:lnSpc>
              <a:buNone/>
            </a:pPr>
            <a:r>
              <a:rPr lang="en-US" sz="1163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</a:t>
            </a:r>
            <a:endParaRPr lang="en-US" sz="1163" dirty="0"/>
          </a:p>
        </p:txBody>
      </p:sp>
      <p:sp>
        <p:nvSpPr>
          <p:cNvPr id="50" name="Text 48"/>
          <p:cNvSpPr/>
          <p:nvPr/>
        </p:nvSpPr>
        <p:spPr>
          <a:xfrm>
            <a:off x="10896600" y="4186238"/>
            <a:ext cx="1576700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kern="0" spc="86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ASSESSMENT · MIGRACIÓN</a:t>
            </a:r>
            <a:endParaRPr lang="en-US" sz="713" dirty="0"/>
          </a:p>
        </p:txBody>
      </p:sp>
      <p:sp>
        <p:nvSpPr>
          <p:cNvPr id="51" name="Shape 49"/>
          <p:cNvSpPr/>
          <p:nvPr/>
        </p:nvSpPr>
        <p:spPr>
          <a:xfrm>
            <a:off x="10715625" y="5050631"/>
            <a:ext cx="197167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715625" y="4714875"/>
            <a:ext cx="66675" cy="6667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10896600" y="4579144"/>
            <a:ext cx="4766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368"/>
              </a:lnSpc>
              <a:buNone/>
            </a:pPr>
            <a:r>
              <a:rPr lang="en-US" sz="1163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AIOps</a:t>
            </a:r>
            <a:endParaRPr lang="en-US" sz="1163" dirty="0"/>
          </a:p>
        </p:txBody>
      </p:sp>
      <p:sp>
        <p:nvSpPr>
          <p:cNvPr id="54" name="Text 52"/>
          <p:cNvSpPr/>
          <p:nvPr/>
        </p:nvSpPr>
        <p:spPr>
          <a:xfrm>
            <a:off x="10896600" y="4800600"/>
            <a:ext cx="1053554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kern="0" spc="86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DETECCIÓN · RCA</a:t>
            </a:r>
            <a:endParaRPr lang="en-US" sz="713" dirty="0"/>
          </a:p>
        </p:txBody>
      </p:sp>
      <p:sp>
        <p:nvSpPr>
          <p:cNvPr id="55" name="Shape 53"/>
          <p:cNvSpPr/>
          <p:nvPr/>
        </p:nvSpPr>
        <p:spPr>
          <a:xfrm>
            <a:off x="10715625" y="5329238"/>
            <a:ext cx="66675" cy="6667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10896600" y="5193506"/>
            <a:ext cx="5380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368"/>
              </a:lnSpc>
              <a:buNone/>
            </a:pPr>
            <a:r>
              <a:rPr lang="en-US" sz="1163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FinOps</a:t>
            </a:r>
            <a:endParaRPr lang="en-US" sz="1163" dirty="0"/>
          </a:p>
        </p:txBody>
      </p:sp>
      <p:sp>
        <p:nvSpPr>
          <p:cNvPr id="57" name="Text 55"/>
          <p:cNvSpPr/>
          <p:nvPr/>
        </p:nvSpPr>
        <p:spPr>
          <a:xfrm>
            <a:off x="10896600" y="5414963"/>
            <a:ext cx="111874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kern="0" spc="86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COSTE · GOBIERNO</a:t>
            </a:r>
            <a:endParaRPr lang="en-US" sz="713" dirty="0"/>
          </a:p>
        </p:txBody>
      </p:sp>
      <p:sp>
        <p:nvSpPr>
          <p:cNvPr id="58" name="Text 56"/>
          <p:cNvSpPr/>
          <p:nvPr/>
        </p:nvSpPr>
        <p:spPr>
          <a:xfrm>
            <a:off x="1028700" y="721519"/>
            <a:ext cx="52279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kern="0" spc="198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SERVICIOS GESTIONADOS · INFRA · CLOUD · AIOPS · FINOPS</a:t>
            </a:r>
            <a:endParaRPr lang="en-US" sz="825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0" y="685800"/>
            <a:ext cx="914400" cy="22860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1028700" y="2740521"/>
            <a:ext cx="522565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938" kern="0" spc="206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PLANO DE CONTROL DE TU OPERACIÓN CRÍTICA</a:t>
            </a:r>
            <a:endParaRPr lang="en-US" sz="938" dirty="0"/>
          </a:p>
        </p:txBody>
      </p:sp>
      <p:sp>
        <p:nvSpPr>
          <p:cNvPr id="61" name="Text 58"/>
          <p:cNvSpPr/>
          <p:nvPr/>
        </p:nvSpPr>
        <p:spPr>
          <a:xfrm>
            <a:off x="1028700" y="3185815"/>
            <a:ext cx="8757225" cy="1594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667"/>
              </a:lnSpc>
              <a:buNone/>
            </a:pPr>
            <a:r>
              <a:rPr lang="en-US" sz="14250" b="1" kern="0" spc="-641" dirty="0">
                <a:solidFill>
                  <a:srgbClr val="FFFFFF">
                    <a:alpha val="3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SmartOPS.</a:t>
            </a:r>
            <a:endParaRPr lang="en-US" sz="14250" dirty="0"/>
          </a:p>
        </p:txBody>
      </p:sp>
      <p:sp>
        <p:nvSpPr>
          <p:cNvPr id="62" name="Text 59"/>
          <p:cNvSpPr/>
          <p:nvPr/>
        </p:nvSpPr>
        <p:spPr>
          <a:xfrm>
            <a:off x="1028700" y="2871490"/>
            <a:ext cx="4855503" cy="2209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667"/>
              </a:lnSpc>
              <a:buNone/>
            </a:pPr>
            <a:r>
              <a:rPr lang="en-US" sz="14250" kern="0" spc="-641" dirty="0">
                <a:solidFill>
                  <a:srgbClr val="FFFFFF">
                    <a:alpha val="92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</a:t>
            </a:r>
            <a:endParaRPr lang="en-US" sz="14250" dirty="0"/>
          </a:p>
        </p:txBody>
      </p:sp>
      <p:sp>
        <p:nvSpPr>
          <p:cNvPr id="63" name="Text 60"/>
          <p:cNvSpPr/>
          <p:nvPr/>
        </p:nvSpPr>
        <p:spPr>
          <a:xfrm>
            <a:off x="5442793" y="2871490"/>
            <a:ext cx="3776484" cy="2209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667"/>
              </a:lnSpc>
              <a:buNone/>
            </a:pPr>
            <a:r>
              <a:rPr lang="en-US" sz="14250" b="1" kern="0" spc="-64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OPS</a:t>
            </a:r>
            <a:r>
              <a:rPr lang="en-US" sz="14250" b="1" kern="0" spc="-64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4250" dirty="0"/>
          </a:p>
        </p:txBody>
      </p:sp>
      <p:sp>
        <p:nvSpPr>
          <p:cNvPr id="64" name="Text 61"/>
          <p:cNvSpPr/>
          <p:nvPr/>
        </p:nvSpPr>
        <p:spPr>
          <a:xfrm>
            <a:off x="1028700" y="5046911"/>
            <a:ext cx="7063740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0"/>
              </a:lnSpc>
              <a:buNone/>
            </a:pPr>
            <a:r>
              <a:rPr lang="en-US" sz="1575" dirty="0">
                <a:solidFill>
                  <a:srgbClr val="FFFFFF">
                    <a:alpha val="74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 crítica que deja de reaccionar tarde. </a:t>
            </a:r>
            <a:r>
              <a:rPr lang="en-US" sz="1575" dirty="0">
                <a:solidFill>
                  <a:srgbClr val="FF98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24×7, Cloud, AIOps y FinOps </a:t>
            </a:r>
            <a:r>
              <a:rPr lang="en-US" sz="1575" dirty="0">
                <a:solidFill>
                  <a:srgbClr val="FFFFFF">
                    <a:alpha val="74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gobierno real para entornos híbridos, regulados y de alta exigencia.</a:t>
            </a:r>
            <a:endParaRPr lang="en-US" sz="1575" dirty="0"/>
          </a:p>
        </p:txBody>
      </p:sp>
      <p:sp>
        <p:nvSpPr>
          <p:cNvPr id="65" name="Shape 62"/>
          <p:cNvSpPr/>
          <p:nvPr/>
        </p:nvSpPr>
        <p:spPr>
          <a:xfrm>
            <a:off x="1028700" y="6643688"/>
            <a:ext cx="11658600" cy="481012"/>
          </a:xfrm>
          <a:prstGeom prst="roundRect">
            <a:avLst>
              <a:gd name="adj" fmla="val 19802"/>
            </a:avLst>
          </a:prstGeom>
          <a:solidFill>
            <a:srgbClr val="020E16">
              <a:alpha val="55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/>
          <p:nvPr/>
        </p:nvSpPr>
        <p:spPr>
          <a:xfrm>
            <a:off x="1304925" y="6805613"/>
            <a:ext cx="189020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kern="0" spc="182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NIS2 · DORA · AI ACT</a:t>
            </a:r>
            <a:endParaRPr lang="en-US" sz="825" dirty="0"/>
          </a:p>
        </p:txBody>
      </p:sp>
      <p:sp>
        <p:nvSpPr>
          <p:cNvPr id="67" name="Shape 64"/>
          <p:cNvSpPr/>
          <p:nvPr/>
        </p:nvSpPr>
        <p:spPr>
          <a:xfrm>
            <a:off x="3175695" y="6831806"/>
            <a:ext cx="9525" cy="10477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5"/>
          <p:cNvSpPr/>
          <p:nvPr/>
        </p:nvSpPr>
        <p:spPr>
          <a:xfrm>
            <a:off x="3337620" y="6805613"/>
            <a:ext cx="321331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kern="0" spc="182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GOBIERNO · SEGURIDAD · CONTINUIDAD</a:t>
            </a:r>
            <a:endParaRPr lang="en-US" sz="825" dirty="0"/>
          </a:p>
        </p:txBody>
      </p:sp>
      <p:sp>
        <p:nvSpPr>
          <p:cNvPr id="69" name="Text 66"/>
          <p:cNvSpPr/>
          <p:nvPr/>
        </p:nvSpPr>
        <p:spPr>
          <a:xfrm>
            <a:off x="10778579" y="6805613"/>
            <a:ext cx="1795745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kern="0" spc="182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MAYO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4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88000" t="10000" r="12000" b="9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562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571500" y="850106"/>
            <a:ext cx="1236345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Cinco bloques. </a:t>
            </a:r>
            <a:r>
              <a:rPr lang="en-US" sz="3000" b="1" kern="0" spc="-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conversación.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71500" y="1398687"/>
            <a:ext cx="4897710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500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Pulsa cualquier parada para saltar directamente.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822871" y="4427190"/>
            <a:ext cx="12070259" cy="19050"/>
          </a:xfrm>
          <a:prstGeom prst="rect">
            <a:avLst/>
          </a:prstGeom>
          <a:gradFill rotWithShape="1">
            <a:gsLst>
              <a:gs pos="0">
                <a:srgbClr val="B696DC">
                  <a:alpha val="100000"/>
                </a:srgbClr>
              </a:gs>
              <a:gs pos="100000">
                <a:srgbClr val="855AC6">
                  <a:alpha val="5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710630" y="3952875"/>
            <a:ext cx="236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43075" y="4143375"/>
            <a:ext cx="171450" cy="171450"/>
          </a:xfrm>
          <a:prstGeom prst="ellipse">
            <a:avLst/>
          </a:prstGeom>
          <a:solidFill>
            <a:srgbClr val="041C2C"/>
          </a:solidFill>
          <a:ln w="19050">
            <a:solidFill>
              <a:srgbClr val="B696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111910" y="4486275"/>
            <a:ext cx="143378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238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Resumen Ejecutivo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977667" y="4741515"/>
            <a:ext cx="1702266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conversación en una página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25230" y="3952875"/>
            <a:ext cx="236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57675" y="4143375"/>
            <a:ext cx="171450" cy="171450"/>
          </a:xfrm>
          <a:prstGeom prst="ellipse">
            <a:avLst/>
          </a:prstGeom>
          <a:solidFill>
            <a:srgbClr val="041C2C"/>
          </a:solidFill>
          <a:ln w="19050">
            <a:solidFill>
              <a:srgbClr val="B696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36194" y="4486275"/>
            <a:ext cx="1014413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238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 qué ahora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3609328" y="4741515"/>
            <a:ext cx="1467996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Cinco fuerzas · plazos fijos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39830" y="3952875"/>
            <a:ext cx="236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43700" y="4114800"/>
            <a:ext cx="228600" cy="228600"/>
          </a:xfrm>
          <a:prstGeom prst="ellipse">
            <a:avLst/>
          </a:prstGeom>
          <a:solidFill>
            <a:srgbClr val="FE5000"/>
          </a:solidFill>
          <a:ln w="19050">
            <a:solidFill>
              <a:srgbClr val="FE5000"/>
            </a:solidFill>
            <a:prstDash val="solid"/>
          </a:ln>
          <a:effectLst>
            <a:outerShdw blurRad="101600" dist="50800" dir="16200000" algn="bl" rotWithShape="0">
              <a:srgbClr val="FE5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152741" y="4486275"/>
            <a:ext cx="141037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238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for Infra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175162" y="4741515"/>
            <a:ext cx="136567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arquitectura operativa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54430" y="3952875"/>
            <a:ext cx="236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86875" y="4143375"/>
            <a:ext cx="171450" cy="171450"/>
          </a:xfrm>
          <a:prstGeom prst="ellipse">
            <a:avLst/>
          </a:prstGeom>
          <a:solidFill>
            <a:srgbClr val="041C2C"/>
          </a:solidFill>
          <a:ln w="19050">
            <a:solidFill>
              <a:srgbClr val="B696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802439" y="4486275"/>
            <a:ext cx="1140172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238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 qué Entelgy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8816727" y="4741515"/>
            <a:ext cx="1111746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Operamos el cambio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69030" y="3952875"/>
            <a:ext cx="236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801475" y="4143375"/>
            <a:ext cx="171450" cy="171450"/>
          </a:xfrm>
          <a:prstGeom prst="ellipse">
            <a:avLst/>
          </a:prstGeom>
          <a:solidFill>
            <a:srgbClr val="041C2C"/>
          </a:solidFill>
          <a:ln w="19050">
            <a:solidFill>
              <a:srgbClr val="B696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1307663" y="4486275"/>
            <a:ext cx="115892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238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Próximos pasos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11381631" y="4741515"/>
            <a:ext cx="101113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arrancamos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047750" y="504825"/>
            <a:ext cx="1454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RESUMEN EJECUTIVO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pregunta no es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 actuar. </a:t>
            </a: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 cuánto cuesta cada mes que no lo haces.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1500" y="1832967"/>
            <a:ext cx="12573000" cy="4901208"/>
          </a:xfrm>
          <a:prstGeom prst="roundRect">
            <a:avLst>
              <a:gd name="adj" fmla="val 1943"/>
            </a:avLst>
          </a:prstGeom>
          <a:solidFill>
            <a:srgbClr val="E5EAEF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81025" y="1842492"/>
            <a:ext cx="3092648" cy="48992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8675" y="2090142"/>
            <a:ext cx="28570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825" b="1" kern="0" spc="149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 · SITUACIÓN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28675" y="2380655"/>
            <a:ext cx="267526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 infraestructura opera bajo cinco presiones simultáneas.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8675" y="2948285"/>
            <a:ext cx="2000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28700" y="2948285"/>
            <a:ext cx="24735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Regulación: </a:t>
            </a:r>
            <a:r>
              <a:rPr lang="en-US" sz="975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+ EU AI Act + DORA · multa 35M€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28675" y="3424535"/>
            <a:ext cx="2000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28700" y="3424535"/>
            <a:ext cx="24735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Broadcom-VMware: </a:t>
            </a:r>
            <a:r>
              <a:rPr lang="en-US" sz="975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renovaciones ×10 sin plan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28675" y="3900785"/>
            <a:ext cx="200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28700" y="3900785"/>
            <a:ext cx="21732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Alertas inaccionables: </a:t>
            </a:r>
            <a:r>
              <a:rPr lang="en-US" sz="975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82% de ruido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28675" y="4191298"/>
            <a:ext cx="2000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28700" y="4191298"/>
            <a:ext cx="24735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Legacy: </a:t>
            </a:r>
            <a:r>
              <a:rPr lang="en-US" sz="975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70% frena migraciones · Win Server 2016 EOL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28675" y="4667548"/>
            <a:ext cx="2000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28700" y="4667548"/>
            <a:ext cx="24735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Demanda de IA: </a:t>
            </a:r>
            <a:r>
              <a:rPr lang="en-US" sz="975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57% sin arquitectura para el volumen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683198" y="1842492"/>
            <a:ext cx="3092648" cy="4899273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930848" y="2090142"/>
            <a:ext cx="28570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825" b="1" kern="0" spc="149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 · COMPLICACIÓN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930848" y="2380655"/>
            <a:ext cx="267526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Ninguno es nuevo. Lo nuevo es que llegan todos a la vez.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0848" y="2948285"/>
            <a:ext cx="2597348" cy="908596"/>
          </a:xfrm>
          <a:prstGeom prst="roundRect">
            <a:avLst>
              <a:gd name="adj" fmla="val 6290"/>
            </a:avLst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064198" y="3062585"/>
            <a:ext cx="25637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2250" b="1" kern="0" spc="-4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35M€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064198" y="3386435"/>
            <a:ext cx="25637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multa combinada máxima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64198" y="3576935"/>
            <a:ext cx="256371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+ EU AI Act + DORA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0848" y="3971181"/>
            <a:ext cx="2597348" cy="1409700"/>
          </a:xfrm>
          <a:prstGeom prst="roundRect">
            <a:avLst>
              <a:gd name="adj" fmla="val 4054"/>
            </a:avLst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930848" y="3971181"/>
            <a:ext cx="28575" cy="14097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092773" y="4085481"/>
            <a:ext cx="25322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TRES PLAZOS. FECHAS FIJAS.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092773" y="4618881"/>
            <a:ext cx="2302073" cy="9525"/>
          </a:xfrm>
          <a:prstGeom prst="rect">
            <a:avLst/>
          </a:prstGeom>
          <a:solidFill>
            <a:srgbClr val="855AC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092773" y="4361706"/>
            <a:ext cx="795635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0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02·dic·2027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88409" y="4361706"/>
            <a:ext cx="10386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 high-risk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92773" y="4942731"/>
            <a:ext cx="2302073" cy="9525"/>
          </a:xfrm>
          <a:prstGeom prst="rect">
            <a:avLst/>
          </a:prstGeom>
          <a:solidFill>
            <a:srgbClr val="855AC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092773" y="4685556"/>
            <a:ext cx="38233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0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75113" y="4685556"/>
            <a:ext cx="11281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España · activo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92773" y="5009406"/>
            <a:ext cx="300038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0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×10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92811" y="5009406"/>
            <a:ext cx="1813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Broadcom-VMware · precio nuevo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5372" y="1842492"/>
            <a:ext cx="3092648" cy="48992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033022" y="2090142"/>
            <a:ext cx="28570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825" b="1" kern="0" spc="149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 · POR QUÉ ENTELGY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033022" y="2380655"/>
            <a:ext cx="2675269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operamos de verdad — con gestión del cambio e inteligencia de procesos dentro.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33022" y="3127325"/>
            <a:ext cx="2675269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Hay muchos que hablan de AIOps y FinOps. La diferencia está en quién lo tiene en producción hoy.</a:t>
            </a:r>
            <a:endParaRPr lang="en-US" sz="938" dirty="0"/>
          </a:p>
        </p:txBody>
      </p:sp>
      <p:sp>
        <p:nvSpPr>
          <p:cNvPr id="41" name="Shape 39"/>
          <p:cNvSpPr/>
          <p:nvPr/>
        </p:nvSpPr>
        <p:spPr>
          <a:xfrm>
            <a:off x="7033022" y="3852416"/>
            <a:ext cx="2597348" cy="940891"/>
          </a:xfrm>
          <a:prstGeom prst="rect">
            <a:avLst/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7033022" y="3852416"/>
            <a:ext cx="19050" cy="940891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7175897" y="3957191"/>
            <a:ext cx="2406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en producción — entornos reales, seis años de rodaje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7175897" y="4357241"/>
            <a:ext cx="2406848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años · clasificación 80–98% · datos reales de cliente.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33022" y="4888557"/>
            <a:ext cx="2597348" cy="755154"/>
          </a:xfrm>
          <a:prstGeom prst="rect">
            <a:avLst/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7033022" y="4888557"/>
            <a:ext cx="19050" cy="755154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7175897" y="4993332"/>
            <a:ext cx="25637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modelo que ya existe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7175897" y="5207645"/>
            <a:ext cx="2406848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+3.000 clientes operados hoy · 95%+ renuevan.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33022" y="5738961"/>
            <a:ext cx="2597348" cy="755154"/>
          </a:xfrm>
          <a:prstGeom prst="rect">
            <a:avLst/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7033022" y="5738961"/>
            <a:ext cx="19050" cy="755154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7175897" y="5843736"/>
            <a:ext cx="25637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incluido desde el diseño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7175897" y="6058049"/>
            <a:ext cx="2406848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· DORA · AI Act como arquitectura. ISO 20000 · 27001 · ENS.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87545" y="1842492"/>
            <a:ext cx="3247281" cy="4899273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10135195" y="2090142"/>
            <a:ext cx="302717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825" b="1" kern="0" spc="149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 · EL ASK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0135195" y="2361605"/>
            <a:ext cx="3027179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Diagnóstico Data Driven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135195" y="2681585"/>
            <a:ext cx="28345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975" dirty="0">
                <a:solidFill>
                  <a:srgbClr val="FFFFFF">
                    <a:alpha val="8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10 días con SmartOPS sobre tu entorno real.</a:t>
            </a:r>
            <a:endParaRPr lang="en-US" sz="975" dirty="0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95" y="3230166"/>
            <a:ext cx="114300" cy="11430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0316170" y="3220641"/>
            <a:ext cx="23904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waste recuperable con cifras exactas</a:t>
            </a:r>
            <a:endParaRPr lang="en-US" sz="938" dirty="0"/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5195" y="3484959"/>
            <a:ext cx="114300" cy="114300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10316170" y="3475434"/>
            <a:ext cx="21307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 regulatorio NIS2 / DORA mapeado</a:t>
            </a:r>
            <a:endParaRPr lang="en-US" sz="938" dirty="0"/>
          </a:p>
        </p:txBody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5195" y="3739753"/>
            <a:ext cx="114300" cy="11430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10316170" y="3730228"/>
            <a:ext cx="23421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Broadcom con TCO por camino</a:t>
            </a:r>
            <a:endParaRPr lang="en-US" sz="938" dirty="0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5195" y="3994547"/>
            <a:ext cx="114300" cy="114300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10316170" y="3985022"/>
            <a:ext cx="1874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wins ejecutables en 90 días</a:t>
            </a:r>
            <a:endParaRPr lang="en-US" sz="938" dirty="0"/>
          </a:p>
        </p:txBody>
      </p:sp>
      <p:sp>
        <p:nvSpPr>
          <p:cNvPr id="65" name="Shape 59"/>
          <p:cNvSpPr/>
          <p:nvPr/>
        </p:nvSpPr>
        <p:spPr>
          <a:xfrm>
            <a:off x="10135195" y="5855940"/>
            <a:ext cx="2751981" cy="638175"/>
          </a:xfrm>
          <a:prstGeom prst="roundRect">
            <a:avLst>
              <a:gd name="adj" fmla="val 8955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0"/>
          <p:cNvSpPr/>
          <p:nvPr/>
        </p:nvSpPr>
        <p:spPr>
          <a:xfrm>
            <a:off x="10268545" y="5970240"/>
            <a:ext cx="27338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price · Sin compromiso posterior</a:t>
            </a:r>
            <a:endParaRPr lang="en-US" sz="1050" dirty="0"/>
          </a:p>
        </p:txBody>
      </p:sp>
      <p:sp>
        <p:nvSpPr>
          <p:cNvPr id="67" name="Text 61"/>
          <p:cNvSpPr/>
          <p:nvPr/>
        </p:nvSpPr>
        <p:spPr>
          <a:xfrm>
            <a:off x="10268545" y="6208365"/>
            <a:ext cx="27338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resultado es tuyo decidas lo que decidas.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571500" y="6867525"/>
            <a:ext cx="12573000" cy="352425"/>
          </a:xfrm>
          <a:prstGeom prst="roundRect">
            <a:avLst>
              <a:gd name="adj" fmla="val 16216"/>
            </a:avLst>
          </a:prstGeom>
          <a:solidFill>
            <a:srgbClr val="041C2C">
              <a:alpha val="4000"/>
            </a:srgbClr>
          </a:solidFill>
          <a:ln w="9525">
            <a:solidFill>
              <a:srgbClr val="041C2C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3"/>
          <p:cNvSpPr/>
          <p:nvPr/>
        </p:nvSpPr>
        <p:spPr>
          <a:xfrm>
            <a:off x="2496741" y="6972300"/>
            <a:ext cx="145211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ACT: 02·DIC·2027</a:t>
            </a:r>
            <a:endParaRPr lang="en-US" sz="750" dirty="0"/>
          </a:p>
        </p:txBody>
      </p:sp>
      <p:sp>
        <p:nvSpPr>
          <p:cNvPr id="70" name="Shape 64"/>
          <p:cNvSpPr/>
          <p:nvPr/>
        </p:nvSpPr>
        <p:spPr>
          <a:xfrm>
            <a:off x="4007346" y="6991350"/>
            <a:ext cx="9525" cy="10477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5"/>
          <p:cNvSpPr/>
          <p:nvPr/>
        </p:nvSpPr>
        <p:spPr>
          <a:xfrm>
            <a:off x="4207371" y="6972300"/>
            <a:ext cx="19403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NIS2: INSPECCIONES EN CURSO</a:t>
            </a:r>
            <a:endParaRPr lang="en-US" sz="750" dirty="0"/>
          </a:p>
        </p:txBody>
      </p:sp>
      <p:sp>
        <p:nvSpPr>
          <p:cNvPr id="72" name="Shape 66"/>
          <p:cNvSpPr/>
          <p:nvPr/>
        </p:nvSpPr>
        <p:spPr>
          <a:xfrm>
            <a:off x="6161782" y="6991350"/>
            <a:ext cx="9525" cy="10477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Text 67"/>
          <p:cNvSpPr/>
          <p:nvPr/>
        </p:nvSpPr>
        <p:spPr>
          <a:xfrm>
            <a:off x="6361807" y="6972300"/>
            <a:ext cx="26861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BROADCOM: ×10 SIN PLAN = PRECIO NUEVO</a:t>
            </a:r>
            <a:endParaRPr lang="en-US" sz="750" dirty="0"/>
          </a:p>
        </p:txBody>
      </p:sp>
      <p:sp>
        <p:nvSpPr>
          <p:cNvPr id="74" name="Shape 68"/>
          <p:cNvSpPr/>
          <p:nvPr/>
        </p:nvSpPr>
        <p:spPr>
          <a:xfrm>
            <a:off x="8994279" y="6991350"/>
            <a:ext cx="9525" cy="10477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69"/>
          <p:cNvSpPr/>
          <p:nvPr/>
        </p:nvSpPr>
        <p:spPr>
          <a:xfrm>
            <a:off x="9194304" y="6972300"/>
            <a:ext cx="22274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 SERVER 2016: EOL 12·ENE·2027</a:t>
            </a:r>
            <a:endParaRPr lang="en-US" sz="750" dirty="0"/>
          </a:p>
        </p:txBody>
      </p:sp>
      <p:sp>
        <p:nvSpPr>
          <p:cNvPr id="76" name="Text 70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77" name="Text 71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88000" t="18000" r="12000" b="82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19100" y="419100"/>
            <a:ext cx="12877800" cy="6877050"/>
          </a:xfrm>
          <a:prstGeom prst="rect">
            <a:avLst/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075" y="514350"/>
            <a:ext cx="237033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013" b="1" kern="0" spc="18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REALIDAD DEL CIO</a:t>
            </a:r>
            <a:endParaRPr lang="en-US" sz="101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96000"/>
          </a:blip>
          <a:stretch>
            <a:fillRect/>
          </a:stretch>
        </p:blipFill>
        <p:spPr>
          <a:xfrm>
            <a:off x="12172950" y="492919"/>
            <a:ext cx="942975" cy="235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075" y="900113"/>
            <a:ext cx="11588948" cy="932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116"/>
              </a:lnSpc>
              <a:buNone/>
            </a:pPr>
            <a:r>
              <a:rPr lang="en-US" sz="3038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Cinco fuerzas convergentes. </a:t>
            </a:r>
            <a:r>
              <a:rPr lang="en-US" sz="3038" b="1" kern="0" spc="-15" dirty="0">
                <a:solidFill>
                  <a:srgbClr val="FF986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Ninguna es nueva. </a:t>
            </a:r>
            <a:r>
              <a:rPr lang="en-US" sz="3038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 nuevo es que llegan todas a la vez.</a:t>
            </a:r>
            <a:endParaRPr lang="en-US" sz="3038" dirty="0"/>
          </a:p>
        </p:txBody>
      </p:sp>
      <p:sp>
        <p:nvSpPr>
          <p:cNvPr id="9" name="Text 5"/>
          <p:cNvSpPr/>
          <p:nvPr/>
        </p:nvSpPr>
        <p:spPr>
          <a:xfrm>
            <a:off x="600075" y="2177951"/>
            <a:ext cx="569119" cy="32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2278" b="1" kern="0" spc="-46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278" dirty="0"/>
          </a:p>
        </p:txBody>
      </p:sp>
      <p:sp>
        <p:nvSpPr>
          <p:cNvPr id="10" name="Text 6"/>
          <p:cNvSpPr/>
          <p:nvPr/>
        </p:nvSpPr>
        <p:spPr>
          <a:xfrm>
            <a:off x="1307306" y="2009180"/>
            <a:ext cx="5348068" cy="206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886" b="1" kern="0" spc="142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</a:t>
            </a:r>
            <a:endParaRPr lang="en-US" sz="886" dirty="0"/>
          </a:p>
        </p:txBody>
      </p:sp>
      <p:sp>
        <p:nvSpPr>
          <p:cNvPr id="11" name="Text 7"/>
          <p:cNvSpPr/>
          <p:nvPr/>
        </p:nvSpPr>
        <p:spPr>
          <a:xfrm>
            <a:off x="1307306" y="2210098"/>
            <a:ext cx="5348068" cy="247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+ EU AI Act + DORA solapan por primera vez con fechas fijas.</a:t>
            </a:r>
            <a:endParaRPr lang="en-US" sz="1097" dirty="0"/>
          </a:p>
        </p:txBody>
      </p:sp>
      <p:sp>
        <p:nvSpPr>
          <p:cNvPr id="12" name="Text 8"/>
          <p:cNvSpPr/>
          <p:nvPr/>
        </p:nvSpPr>
        <p:spPr>
          <a:xfrm>
            <a:off x="1307306" y="2483346"/>
            <a:ext cx="5348068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4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EUR-Lex · 2022/2555 · 2024/1689 · 2022/2554</a:t>
            </a:r>
            <a:endParaRPr lang="en-US" sz="802" dirty="0"/>
          </a:p>
        </p:txBody>
      </p:sp>
      <p:sp>
        <p:nvSpPr>
          <p:cNvPr id="13" name="Text 9"/>
          <p:cNvSpPr/>
          <p:nvPr/>
        </p:nvSpPr>
        <p:spPr>
          <a:xfrm>
            <a:off x="6257054" y="2097584"/>
            <a:ext cx="139088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3544" b="1" kern="0" spc="-3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35M€</a:t>
            </a:r>
            <a:endParaRPr lang="en-US" sz="3544" dirty="0"/>
          </a:p>
        </p:txBody>
      </p:sp>
      <p:sp>
        <p:nvSpPr>
          <p:cNvPr id="14" name="Text 10"/>
          <p:cNvSpPr/>
          <p:nvPr/>
        </p:nvSpPr>
        <p:spPr>
          <a:xfrm>
            <a:off x="600075" y="3051442"/>
            <a:ext cx="569119" cy="32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2278" b="1" kern="0" spc="-46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278" dirty="0"/>
          </a:p>
        </p:txBody>
      </p:sp>
      <p:sp>
        <p:nvSpPr>
          <p:cNvPr id="15" name="Text 11"/>
          <p:cNvSpPr/>
          <p:nvPr/>
        </p:nvSpPr>
        <p:spPr>
          <a:xfrm>
            <a:off x="1307306" y="2778193"/>
            <a:ext cx="5348068" cy="206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886" b="1" kern="0" spc="142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VIRTUALIZACIÓN</a:t>
            </a:r>
            <a:endParaRPr lang="en-US" sz="886" dirty="0"/>
          </a:p>
        </p:txBody>
      </p:sp>
      <p:sp>
        <p:nvSpPr>
          <p:cNvPr id="16" name="Text 12"/>
          <p:cNvSpPr/>
          <p:nvPr/>
        </p:nvSpPr>
        <p:spPr>
          <a:xfrm>
            <a:off x="1307306" y="2979111"/>
            <a:ext cx="5007736" cy="45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Broadcom sube la renovación de VMware un 200–1.500%. La ventana para decidir alternativa se cierra.</a:t>
            </a:r>
            <a:endParaRPr lang="en-US" sz="1097" dirty="0"/>
          </a:p>
        </p:txBody>
      </p:sp>
      <p:sp>
        <p:nvSpPr>
          <p:cNvPr id="17" name="Text 13"/>
          <p:cNvSpPr/>
          <p:nvPr/>
        </p:nvSpPr>
        <p:spPr>
          <a:xfrm>
            <a:off x="1307306" y="3461314"/>
            <a:ext cx="5348068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4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Broadcom pricing · Q4 2024</a:t>
            </a:r>
            <a:endParaRPr lang="en-US" sz="802" dirty="0"/>
          </a:p>
        </p:txBody>
      </p:sp>
      <p:sp>
        <p:nvSpPr>
          <p:cNvPr id="18" name="Text 14"/>
          <p:cNvSpPr/>
          <p:nvPr/>
        </p:nvSpPr>
        <p:spPr>
          <a:xfrm>
            <a:off x="6257054" y="2971074"/>
            <a:ext cx="139088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3544" b="1" kern="0" spc="-3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×10</a:t>
            </a:r>
            <a:endParaRPr lang="en-US" sz="3544" dirty="0"/>
          </a:p>
        </p:txBody>
      </p:sp>
      <p:sp>
        <p:nvSpPr>
          <p:cNvPr id="19" name="Text 15"/>
          <p:cNvSpPr/>
          <p:nvPr/>
        </p:nvSpPr>
        <p:spPr>
          <a:xfrm>
            <a:off x="600075" y="4029577"/>
            <a:ext cx="569119" cy="32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2278" b="1" kern="0" spc="-46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278" dirty="0"/>
          </a:p>
        </p:txBody>
      </p:sp>
      <p:sp>
        <p:nvSpPr>
          <p:cNvPr id="20" name="Text 16"/>
          <p:cNvSpPr/>
          <p:nvPr/>
        </p:nvSpPr>
        <p:spPr>
          <a:xfrm>
            <a:off x="1307306" y="3756329"/>
            <a:ext cx="5348068" cy="206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886" b="1" kern="0" spc="142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ALERTAS</a:t>
            </a:r>
            <a:endParaRPr lang="en-US" sz="886" dirty="0"/>
          </a:p>
        </p:txBody>
      </p:sp>
      <p:sp>
        <p:nvSpPr>
          <p:cNvPr id="21" name="Text 17"/>
          <p:cNvSpPr/>
          <p:nvPr/>
        </p:nvSpPr>
        <p:spPr>
          <a:xfrm>
            <a:off x="1307306" y="3957247"/>
            <a:ext cx="5007736" cy="45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 fragmentada genera un volumen inmanejable. El incidente real queda enterrado.</a:t>
            </a:r>
            <a:endParaRPr lang="en-US" sz="1097" dirty="0"/>
          </a:p>
        </p:txBody>
      </p:sp>
      <p:sp>
        <p:nvSpPr>
          <p:cNvPr id="22" name="Text 18"/>
          <p:cNvSpPr/>
          <p:nvPr/>
        </p:nvSpPr>
        <p:spPr>
          <a:xfrm>
            <a:off x="1307306" y="4439450"/>
            <a:ext cx="5348068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4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Forrester · AIOps 2025</a:t>
            </a:r>
            <a:endParaRPr lang="en-US" sz="802" dirty="0"/>
          </a:p>
        </p:txBody>
      </p:sp>
      <p:sp>
        <p:nvSpPr>
          <p:cNvPr id="23" name="Text 19"/>
          <p:cNvSpPr/>
          <p:nvPr/>
        </p:nvSpPr>
        <p:spPr>
          <a:xfrm>
            <a:off x="6257054" y="3949210"/>
            <a:ext cx="139088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3544" b="1" kern="0" spc="-3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82%</a:t>
            </a:r>
            <a:endParaRPr lang="en-US" sz="3544" dirty="0"/>
          </a:p>
        </p:txBody>
      </p:sp>
      <p:sp>
        <p:nvSpPr>
          <p:cNvPr id="24" name="Text 20"/>
          <p:cNvSpPr/>
          <p:nvPr/>
        </p:nvSpPr>
        <p:spPr>
          <a:xfrm>
            <a:off x="600075" y="5007546"/>
            <a:ext cx="569119" cy="32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2278" b="1" kern="0" spc="-46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278" dirty="0"/>
          </a:p>
        </p:txBody>
      </p:sp>
      <p:sp>
        <p:nvSpPr>
          <p:cNvPr id="25" name="Text 21"/>
          <p:cNvSpPr/>
          <p:nvPr/>
        </p:nvSpPr>
        <p:spPr>
          <a:xfrm>
            <a:off x="1307306" y="4734297"/>
            <a:ext cx="5348068" cy="206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886" b="1" kern="0" spc="142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</a:t>
            </a:r>
            <a:endParaRPr lang="en-US" sz="886" dirty="0"/>
          </a:p>
        </p:txBody>
      </p:sp>
      <p:sp>
        <p:nvSpPr>
          <p:cNvPr id="26" name="Text 22"/>
          <p:cNvSpPr/>
          <p:nvPr/>
        </p:nvSpPr>
        <p:spPr>
          <a:xfrm>
            <a:off x="1307306" y="4935215"/>
            <a:ext cx="5007736" cy="45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Apps legacy frenan las migraciones. Windows Server 2016 fin de soporte: enero 2027.</a:t>
            </a:r>
            <a:endParaRPr lang="en-US" sz="1097" dirty="0"/>
          </a:p>
        </p:txBody>
      </p:sp>
      <p:sp>
        <p:nvSpPr>
          <p:cNvPr id="27" name="Text 23"/>
          <p:cNvSpPr/>
          <p:nvPr/>
        </p:nvSpPr>
        <p:spPr>
          <a:xfrm>
            <a:off x="1307306" y="5417418"/>
            <a:ext cx="5348068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4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McKinsey Global Institute · IT Budget 2025</a:t>
            </a:r>
            <a:endParaRPr lang="en-US" sz="802" dirty="0"/>
          </a:p>
        </p:txBody>
      </p:sp>
      <p:sp>
        <p:nvSpPr>
          <p:cNvPr id="28" name="Text 24"/>
          <p:cNvSpPr/>
          <p:nvPr/>
        </p:nvSpPr>
        <p:spPr>
          <a:xfrm>
            <a:off x="6257054" y="4927178"/>
            <a:ext cx="139088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3544" b="1" kern="0" spc="-3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70%</a:t>
            </a:r>
            <a:endParaRPr lang="en-US" sz="3544" dirty="0"/>
          </a:p>
        </p:txBody>
      </p:sp>
      <p:sp>
        <p:nvSpPr>
          <p:cNvPr id="29" name="Text 25"/>
          <p:cNvSpPr/>
          <p:nvPr/>
        </p:nvSpPr>
        <p:spPr>
          <a:xfrm>
            <a:off x="600075" y="5985514"/>
            <a:ext cx="569119" cy="32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2278" b="1" kern="0" spc="-46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2278" dirty="0"/>
          </a:p>
        </p:txBody>
      </p:sp>
      <p:sp>
        <p:nvSpPr>
          <p:cNvPr id="30" name="Text 26"/>
          <p:cNvSpPr/>
          <p:nvPr/>
        </p:nvSpPr>
        <p:spPr>
          <a:xfrm>
            <a:off x="1307306" y="5712265"/>
            <a:ext cx="5348068" cy="206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886" b="1" kern="0" spc="142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DEMANDA DE IA</a:t>
            </a:r>
            <a:endParaRPr lang="en-US" sz="886" dirty="0"/>
          </a:p>
        </p:txBody>
      </p:sp>
      <p:sp>
        <p:nvSpPr>
          <p:cNvPr id="31" name="Text 27"/>
          <p:cNvSpPr/>
          <p:nvPr/>
        </p:nvSpPr>
        <p:spPr>
          <a:xfrm>
            <a:off x="1307306" y="5913183"/>
            <a:ext cx="5007736" cy="45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negocio despliega IA; la regulación fuerza el on-prem. La arquitectura actual no está pensada para ese volumen.</a:t>
            </a:r>
            <a:endParaRPr lang="en-US" sz="1097" dirty="0"/>
          </a:p>
        </p:txBody>
      </p:sp>
      <p:sp>
        <p:nvSpPr>
          <p:cNvPr id="32" name="Text 28"/>
          <p:cNvSpPr/>
          <p:nvPr/>
        </p:nvSpPr>
        <p:spPr>
          <a:xfrm>
            <a:off x="1307306" y="6395386"/>
            <a:ext cx="5348068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4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Gartner · AI Projects in I&amp;O · Abr 2026</a:t>
            </a:r>
            <a:endParaRPr lang="en-US" sz="802" dirty="0"/>
          </a:p>
        </p:txBody>
      </p:sp>
      <p:sp>
        <p:nvSpPr>
          <p:cNvPr id="33" name="Text 29"/>
          <p:cNvSpPr/>
          <p:nvPr/>
        </p:nvSpPr>
        <p:spPr>
          <a:xfrm>
            <a:off x="6257054" y="5905147"/>
            <a:ext cx="139088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3544" b="1" kern="0" spc="-3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57%</a:t>
            </a:r>
            <a:endParaRPr lang="en-US" sz="3544" dirty="0"/>
          </a:p>
        </p:txBody>
      </p:sp>
      <p:sp>
        <p:nvSpPr>
          <p:cNvPr id="34" name="Shape 30"/>
          <p:cNvSpPr/>
          <p:nvPr/>
        </p:nvSpPr>
        <p:spPr>
          <a:xfrm>
            <a:off x="8012274" y="3125279"/>
            <a:ext cx="5103651" cy="2306538"/>
          </a:xfrm>
          <a:prstGeom prst="roundRect">
            <a:avLst>
              <a:gd name="adj" fmla="val 5575"/>
            </a:avLst>
          </a:prstGeom>
          <a:gradFill rotWithShape="1">
            <a:gsLst>
              <a:gs pos="0">
                <a:srgbClr val="FF6A1F">
                  <a:alpha val="100000"/>
                </a:srgbClr>
              </a:gs>
              <a:gs pos="62000">
                <a:srgbClr val="FE5000">
                  <a:alpha val="100000"/>
                </a:srgbClr>
              </a:gs>
              <a:gs pos="100000">
                <a:srgbClr val="E24500">
                  <a:alpha val="100000"/>
                </a:srgbClr>
              </a:gs>
            </a:gsLst>
            <a:lin ang="3600000" scaled="0"/>
          </a:gradFill>
          <a:ln/>
          <a:effectLst>
            <a:outerShdw blurRad="457200" dist="209550" dir="5400000" algn="bl" rotWithShape="0">
              <a:srgbClr val="FE5000">
                <a:alpha val="5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3742" y="3446748"/>
            <a:ext cx="364331" cy="36433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333742" y="3982529"/>
            <a:ext cx="4906785" cy="19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802" kern="0" spc="112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PUNTO DE CONVERGENCIA</a:t>
            </a:r>
            <a:endParaRPr lang="en-US" sz="802" dirty="0"/>
          </a:p>
        </p:txBody>
      </p:sp>
      <p:sp>
        <p:nvSpPr>
          <p:cNvPr id="37" name="Text 32"/>
          <p:cNvSpPr/>
          <p:nvPr/>
        </p:nvSpPr>
        <p:spPr>
          <a:xfrm>
            <a:off x="8333742" y="4285245"/>
            <a:ext cx="49067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2109" b="1" kern="0" spc="-1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operación del CIO</a:t>
            </a:r>
            <a:endParaRPr lang="en-US" sz="2109" dirty="0"/>
          </a:p>
        </p:txBody>
      </p:sp>
      <p:sp>
        <p:nvSpPr>
          <p:cNvPr id="38" name="Text 33"/>
          <p:cNvSpPr/>
          <p:nvPr/>
        </p:nvSpPr>
        <p:spPr>
          <a:xfrm>
            <a:off x="8333742" y="4713870"/>
            <a:ext cx="3311128" cy="45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97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Donde las cinco caen a la vez — y se amplifican entre ellas.</a:t>
            </a:r>
            <a:endParaRPr lang="en-US" sz="1097" dirty="0"/>
          </a:p>
        </p:txBody>
      </p:sp>
      <p:sp>
        <p:nvSpPr>
          <p:cNvPr id="39" name="Shape 34"/>
          <p:cNvSpPr/>
          <p:nvPr/>
        </p:nvSpPr>
        <p:spPr>
          <a:xfrm>
            <a:off x="600075" y="6740965"/>
            <a:ext cx="12515850" cy="545660"/>
          </a:xfrm>
          <a:prstGeom prst="roundRect">
            <a:avLst>
              <a:gd name="adj" fmla="val 11783"/>
            </a:avLst>
          </a:prstGeom>
          <a:solidFill>
            <a:srgbClr val="855AC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5"/>
          <p:cNvSpPr/>
          <p:nvPr/>
        </p:nvSpPr>
        <p:spPr>
          <a:xfrm>
            <a:off x="600075" y="6740965"/>
            <a:ext cx="32147" cy="54566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6"/>
          <p:cNvSpPr/>
          <p:nvPr/>
        </p:nvSpPr>
        <p:spPr>
          <a:xfrm>
            <a:off x="867966" y="6901700"/>
            <a:ext cx="12387691" cy="262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81"/>
              </a:lnSpc>
              <a:buNone/>
            </a:pPr>
            <a:r>
              <a:rPr lang="en-US" sz="113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 organización probablemente sufre al menos tres de estas a la vez. </a:t>
            </a:r>
            <a:r>
              <a:rPr lang="en-US" sz="1139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no son independientes: se retroalimentan</a:t>
            </a:r>
            <a:r>
              <a:rPr lang="en-US" sz="1139" dirty="0">
                <a:solidFill>
                  <a:srgbClr val="FFFFFF"/>
                </a:solidFill>
                <a:highlight>
                  <a:srgbClr val="EEE8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39" dirty="0"/>
          </a:p>
        </p:txBody>
      </p:sp>
      <p:sp>
        <p:nvSpPr>
          <p:cNvPr id="42" name="Text 37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FE5000">
                  <a:alpha val="14000"/>
                </a:srgbClr>
              </a:gs>
              <a:gs pos="55000">
                <a:srgbClr val="FE5000">
                  <a:alpha val="0"/>
                </a:srgbClr>
              </a:gs>
            </a:gsLst>
            <a:path path="circle">
              <a:fillToRect l="30000" t="52000" r="70000" b="48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333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UNA PRESIÓN MÁS · FOCALIZADA Y CON FECHA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571500" y="1498699"/>
            <a:ext cx="76801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149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BROADCOM-VMWARE · EL PRECIO NUEVO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14350" y="1337912"/>
            <a:ext cx="7743036" cy="3068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500" b="1" kern="0" spc="-102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×10</a:t>
            </a:r>
            <a:endParaRPr lang="en-US" sz="25500" dirty="0"/>
          </a:p>
        </p:txBody>
      </p:sp>
      <p:sp>
        <p:nvSpPr>
          <p:cNvPr id="9" name="Text 7"/>
          <p:cNvSpPr/>
          <p:nvPr/>
        </p:nvSpPr>
        <p:spPr>
          <a:xfrm>
            <a:off x="571500" y="4425702"/>
            <a:ext cx="76801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renovación de VMware, </a:t>
            </a:r>
            <a:r>
              <a:rPr lang="en-US" sz="1950" b="1" kern="0" spc="-19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hasta ×10</a:t>
            </a:r>
            <a:r>
              <a:rPr lang="en-US" sz="1950" b="1" kern="0" spc="-1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71500" y="5044827"/>
            <a:ext cx="6981974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77666" y="5054352"/>
            <a:ext cx="9525" cy="64055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71500" y="5206752"/>
            <a:ext cx="16043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200–1.500%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71500" y="5559177"/>
            <a:ext cx="1604367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RANGO DE INCREMENTO</a:t>
            </a:r>
            <a:endParaRPr lang="en-US" sz="713" dirty="0"/>
          </a:p>
        </p:txBody>
      </p:sp>
      <p:sp>
        <p:nvSpPr>
          <p:cNvPr id="14" name="Text 12"/>
          <p:cNvSpPr/>
          <p:nvPr/>
        </p:nvSpPr>
        <p:spPr>
          <a:xfrm>
            <a:off x="2534841" y="5206752"/>
            <a:ext cx="10806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días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534841" y="5559177"/>
            <a:ext cx="108064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AVISO PREVIO</a:t>
            </a:r>
            <a:endParaRPr lang="en-US" sz="713" dirty="0"/>
          </a:p>
        </p:txBody>
      </p:sp>
      <p:sp>
        <p:nvSpPr>
          <p:cNvPr id="16" name="Text 14"/>
          <p:cNvSpPr/>
          <p:nvPr/>
        </p:nvSpPr>
        <p:spPr>
          <a:xfrm>
            <a:off x="571500" y="5904458"/>
            <a:ext cx="7680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4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 · Broadcom pricing · Q4 2024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972574" y="2220813"/>
            <a:ext cx="5171926" cy="1713756"/>
          </a:xfrm>
          <a:prstGeom prst="roundRect">
            <a:avLst>
              <a:gd name="adj" fmla="val 6670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972574" y="3925044"/>
            <a:ext cx="5171926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7972574" y="2220813"/>
            <a:ext cx="5171926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7972574" y="2220813"/>
            <a:ext cx="28575" cy="1713756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3134975" y="2220813"/>
            <a:ext cx="9525" cy="17137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2534007" y="2287488"/>
            <a:ext cx="4866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B696DC">
                    <a:alpha val="16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8248799" y="2439888"/>
            <a:ext cx="5102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VACÍO DEL MERCADO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48799" y="2697063"/>
            <a:ext cx="4777682" cy="792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kern="0" spc="-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Casi nadie está ofreciendo una respuesta operativa seria. </a:t>
            </a:r>
            <a:r>
              <a:rPr lang="en-US" sz="1500" b="1" kern="0" spc="-8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Solo consultoría cara o incertidumbre.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48799" y="3565475"/>
            <a:ext cx="510237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kern="0" spc="4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Conversaciones con CIOs · Q1 2026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7972574" y="4125069"/>
            <a:ext cx="5171926" cy="1200150"/>
          </a:xfrm>
          <a:prstGeom prst="roundRect">
            <a:avLst>
              <a:gd name="adj" fmla="val 9524"/>
            </a:avLst>
          </a:prstGeom>
          <a:solidFill>
            <a:srgbClr val="000000">
              <a:alpha val="18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210699" y="4315569"/>
            <a:ext cx="1658556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LOS CINCO CAMINOS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832777" y="4306044"/>
            <a:ext cx="19624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SmartOPS los evalúa y opera todos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10699" y="4610844"/>
            <a:ext cx="878235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324999" y="4658469"/>
            <a:ext cx="7258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Nutanix HCI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6084" y="4610844"/>
            <a:ext cx="1468785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9260384" y="4658469"/>
            <a:ext cx="13163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Hyper-V · Azure Stack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672018" y="4610844"/>
            <a:ext cx="996404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0786318" y="4658469"/>
            <a:ext cx="8440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Proxmox · KVM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210699" y="4906119"/>
            <a:ext cx="1527870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324999" y="4953744"/>
            <a:ext cx="13754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OpenShift · Kubernetes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795718" y="4906119"/>
            <a:ext cx="1350764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9910018" y="4953744"/>
            <a:ext cx="1198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Huawei FusionSphere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1500" y="70485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1047750" y="6905625"/>
            <a:ext cx="55792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1650" b="1" kern="0" spc="-1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primer movimiento no es migrar. </a:t>
            </a:r>
            <a:r>
              <a:rPr lang="en-US" sz="1650" b="1" kern="0" spc="-1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 decidir con datos.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FE5000">
                  <a:alpha val="6000"/>
                </a:srgbClr>
              </a:gs>
              <a:gs pos="55000">
                <a:srgbClr val="FE5000">
                  <a:alpha val="0"/>
                </a:srgbClr>
              </a:gs>
            </a:gsLst>
            <a:path path="circle">
              <a:fillToRect l="94000" t="6000" r="6000" b="94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16973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PRECIO DE ESPERAR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inacción no es neutral.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Tiene un precio exacto.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9150" y="1779389"/>
            <a:ext cx="22002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2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ESCENARIO · AÑO A AÑO</a:t>
            </a:r>
            <a:endParaRPr lang="en-US" sz="713" dirty="0"/>
          </a:p>
        </p:txBody>
      </p:sp>
      <p:sp>
        <p:nvSpPr>
          <p:cNvPr id="7" name="Text 5"/>
          <p:cNvSpPr/>
          <p:nvPr/>
        </p:nvSpPr>
        <p:spPr>
          <a:xfrm>
            <a:off x="3028950" y="1775817"/>
            <a:ext cx="49414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PRECIO DE ESPERAR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30728" y="1775817"/>
            <a:ext cx="56827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178A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CAMBIA AL ACTUAR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1500" y="2013942"/>
            <a:ext cx="12573000" cy="1411486"/>
          </a:xfrm>
          <a:prstGeom prst="roundRect">
            <a:avLst>
              <a:gd name="adj" fmla="val 8098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28675" y="2562523"/>
            <a:ext cx="28575" cy="31432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90600" y="2562523"/>
            <a:ext cx="19145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83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AÑO SIN FINOPS · CLOUD WASTE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38475" y="2559115"/>
            <a:ext cx="1189434" cy="5622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1481"/>
              </a:lnSpc>
              <a:buNone/>
            </a:pPr>
            <a:r>
              <a:rPr lang="en-US" sz="4800" b="1" kern="0" spc="-144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29%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304109" y="2699882"/>
            <a:ext cx="2867397" cy="247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818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 gasto cloud es recuperable hoy.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31323" y="2420838"/>
            <a:ext cx="9525" cy="597694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969448" y="2420838"/>
            <a:ext cx="506541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b="1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Organización de 500 nodos: </a:t>
            </a: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15–35% identificable en </a:t>
            </a:r>
            <a:r>
              <a:rPr lang="en-US" sz="1013" b="1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primeros días </a:t>
            </a: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assessment.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7969448" y="2882801"/>
            <a:ext cx="5409664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kern="0" spc="3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Flexera · State of the Cloud 2026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571500" y="3558778"/>
            <a:ext cx="12573000" cy="1411486"/>
          </a:xfrm>
          <a:prstGeom prst="roundRect">
            <a:avLst>
              <a:gd name="adj" fmla="val 8098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28675" y="4185940"/>
            <a:ext cx="28575" cy="157163"/>
          </a:xfrm>
          <a:prstGeom prst="rect">
            <a:avLst/>
          </a:prstGeom>
          <a:solidFill>
            <a:srgbClr val="9DAE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90600" y="4185940"/>
            <a:ext cx="2038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83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AÑO BROADCOM SIN PLAN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038475" y="4103951"/>
            <a:ext cx="856506" cy="5622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1481"/>
              </a:lnSpc>
              <a:buNone/>
            </a:pPr>
            <a:r>
              <a:rPr lang="en-US" sz="4800" b="1" kern="0" spc="-14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×10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3971181" y="4244718"/>
            <a:ext cx="2913891" cy="247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818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renovación VMware al precio nuevo.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31323" y="4168080"/>
            <a:ext cx="9525" cy="192881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969448" y="4168080"/>
            <a:ext cx="5409664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b="1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Coste real ×10 </a:t>
            </a: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 licencia legacy. Cada trimestre sin margen de negociación.</a:t>
            </a:r>
            <a:endParaRPr lang="en-US" sz="1013" dirty="0"/>
          </a:p>
        </p:txBody>
      </p:sp>
      <p:sp>
        <p:nvSpPr>
          <p:cNvPr id="24" name="Shape 22"/>
          <p:cNvSpPr/>
          <p:nvPr/>
        </p:nvSpPr>
        <p:spPr>
          <a:xfrm>
            <a:off x="571500" y="5103614"/>
            <a:ext cx="12573000" cy="1411486"/>
          </a:xfrm>
          <a:prstGeom prst="roundRect">
            <a:avLst>
              <a:gd name="adj" fmla="val 8098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828675" y="5730776"/>
            <a:ext cx="28575" cy="157163"/>
          </a:xfrm>
          <a:prstGeom prst="rect">
            <a:avLst/>
          </a:prstGeom>
          <a:solidFill>
            <a:srgbClr val="9DAE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990600" y="5730776"/>
            <a:ext cx="2038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83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AÑO CON MTTD ESTANCADO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038475" y="5544310"/>
            <a:ext cx="1221730" cy="5622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1481"/>
              </a:lnSpc>
              <a:buNone/>
            </a:pPr>
            <a:r>
              <a:rPr lang="en-US" sz="4800" b="1" kern="0" spc="-14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54%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336405" y="5685077"/>
            <a:ext cx="3280929" cy="456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818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outages superan los 100 K$ de impacto directo.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31323" y="5712916"/>
            <a:ext cx="9525" cy="192881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969448" y="5712916"/>
            <a:ext cx="5409664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b="1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−40% MTTD </a:t>
            </a: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documentado en operación Telefónica Tech con el modelo SmartOPS.</a:t>
            </a:r>
            <a:endParaRPr lang="en-US" sz="1013" dirty="0"/>
          </a:p>
        </p:txBody>
      </p:sp>
      <p:sp>
        <p:nvSpPr>
          <p:cNvPr id="31" name="Shape 29"/>
          <p:cNvSpPr/>
          <p:nvPr/>
        </p:nvSpPr>
        <p:spPr>
          <a:xfrm>
            <a:off x="571500" y="6667500"/>
            <a:ext cx="12573000" cy="552450"/>
          </a:xfrm>
          <a:prstGeom prst="roundRect">
            <a:avLst>
              <a:gd name="adj" fmla="val 20690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800100" y="6929438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276350" y="6819900"/>
            <a:ext cx="76976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trimestre que esperas, el diagnóstico sigue costando lo mismo. </a:t>
            </a: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problema, no.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20216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ARQUITECTURA SMARTOPS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no es un catálogo de servicios. Es el </a:t>
            </a:r>
            <a:r>
              <a:rPr lang="en-US" sz="3000" b="1" kern="0" spc="-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plano de control </a:t>
            </a: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tu operación.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71500" y="1699617"/>
            <a:ext cx="3695700" cy="5520333"/>
          </a:xfrm>
          <a:prstGeom prst="roundRect">
            <a:avLst>
              <a:gd name="adj" fmla="val 309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81025" y="2640211"/>
            <a:ext cx="36766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8675" y="1918692"/>
            <a:ext cx="3499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b="1" kern="0" spc="2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8675" y="2290167"/>
            <a:ext cx="349948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motor industrializado de Entelgy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828675" y="3569940"/>
            <a:ext cx="349948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2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CAPACIDADES DEL MOTOR</a:t>
            </a:r>
            <a:endParaRPr lang="en-US" sz="713" dirty="0"/>
          </a:p>
        </p:txBody>
      </p:sp>
      <p:sp>
        <p:nvSpPr>
          <p:cNvPr id="13" name="Shape 11"/>
          <p:cNvSpPr/>
          <p:nvPr/>
        </p:nvSpPr>
        <p:spPr>
          <a:xfrm>
            <a:off x="828675" y="4123730"/>
            <a:ext cx="3181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8675" y="3877121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1575" y="3877121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operativo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N0 · N1 · N2 · N3</a:t>
            </a:r>
            <a:endParaRPr lang="en-US" sz="1013" dirty="0"/>
          </a:p>
        </p:txBody>
      </p:sp>
      <p:sp>
        <p:nvSpPr>
          <p:cNvPr id="16" name="Shape 14"/>
          <p:cNvSpPr/>
          <p:nvPr/>
        </p:nvSpPr>
        <p:spPr>
          <a:xfrm>
            <a:off x="828675" y="4446538"/>
            <a:ext cx="3181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8675" y="4199930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71575" y="4199930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Dimensionamiento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Driven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828675" y="4769346"/>
            <a:ext cx="3181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28675" y="4522738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71575" y="4522738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en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+ Data Lake</a:t>
            </a:r>
            <a:endParaRPr lang="en-US" sz="1013" dirty="0"/>
          </a:p>
        </p:txBody>
      </p:sp>
      <p:sp>
        <p:nvSpPr>
          <p:cNvPr id="22" name="Shape 20"/>
          <p:cNvSpPr/>
          <p:nvPr/>
        </p:nvSpPr>
        <p:spPr>
          <a:xfrm>
            <a:off x="828675" y="5092154"/>
            <a:ext cx="3181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28675" y="4845546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1575" y="4845546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Certificado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· 27001 · ENS</a:t>
            </a:r>
            <a:endParaRPr lang="en-US" sz="1013" dirty="0"/>
          </a:p>
        </p:txBody>
      </p:sp>
      <p:sp>
        <p:nvSpPr>
          <p:cNvPr id="25" name="Shape 23"/>
          <p:cNvSpPr/>
          <p:nvPr/>
        </p:nvSpPr>
        <p:spPr>
          <a:xfrm>
            <a:off x="828675" y="5414963"/>
            <a:ext cx="31813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828675" y="5168354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1575" y="5168354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+174 </a:t>
            </a: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certificaciones Microsoft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828675" y="5491163"/>
            <a:ext cx="32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b="1" kern="0" spc="1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1575" y="5491163"/>
            <a:ext cx="312229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95%+ </a:t>
            </a: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tasa de renovación</a:t>
            </a:r>
            <a:endParaRPr lang="en-US" sz="1013" dirty="0"/>
          </a:p>
        </p:txBody>
      </p:sp>
      <p:sp>
        <p:nvSpPr>
          <p:cNvPr id="30" name="Shape 28"/>
          <p:cNvSpPr/>
          <p:nvPr/>
        </p:nvSpPr>
        <p:spPr>
          <a:xfrm>
            <a:off x="581025" y="6543675"/>
            <a:ext cx="3676650" cy="66675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81025" y="6543675"/>
            <a:ext cx="36766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28675" y="6696075"/>
            <a:ext cx="1098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75" b="1" kern="0" spc="-1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828675" y="6924675"/>
            <a:ext cx="1098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3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908125" y="6696075"/>
            <a:ext cx="1098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75" b="1" kern="0" spc="-1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+3.000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908125" y="6924675"/>
            <a:ext cx="1098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3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987576" y="6696075"/>
            <a:ext cx="10986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75" b="1" kern="0" spc="-1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7×24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2987576" y="6924675"/>
            <a:ext cx="10986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3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multi-geo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14850" y="1699617"/>
            <a:ext cx="8629650" cy="2200721"/>
          </a:xfrm>
          <a:prstGeom prst="roundRect">
            <a:avLst>
              <a:gd name="adj" fmla="val 519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514850" y="3890814"/>
            <a:ext cx="86296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4514850" y="1699617"/>
            <a:ext cx="86296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514850" y="1699617"/>
            <a:ext cx="28575" cy="2200721"/>
          </a:xfrm>
          <a:prstGeom prst="rect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3134975" y="1699617"/>
            <a:ext cx="9525" cy="220072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810125" y="2369195"/>
            <a:ext cx="8935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VERTICAL 01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286083" y="2369195"/>
            <a:ext cx="1582192" cy="223838"/>
          </a:xfrm>
          <a:prstGeom prst="roundRect">
            <a:avLst>
              <a:gd name="adj" fmla="val 50000"/>
            </a:avLst>
          </a:prstGeom>
          <a:solidFill>
            <a:srgbClr val="7CAAD6">
              <a:alpha val="12000"/>
            </a:srgbClr>
          </a:solidFill>
          <a:ln w="9525">
            <a:solidFill>
              <a:srgbClr val="7CAAD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11400383" y="2416820"/>
            <a:ext cx="1429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b="1" kern="0" spc="81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CONVERSACIÓN HERMANA →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4810125" y="2678757"/>
            <a:ext cx="886396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175" b="1" kern="0" spc="-33" dirty="0">
                <a:solidFill>
                  <a:srgbClr val="FFFFFF">
                    <a:alpha val="66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</a:t>
            </a:r>
            <a:r>
              <a:rPr lang="en-US" sz="2175" b="1" kern="0" spc="-33" dirty="0">
                <a:solidFill>
                  <a:srgbClr val="7CAAD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Workplace</a:t>
            </a:r>
            <a:endParaRPr lang="en-US" sz="2175" dirty="0"/>
          </a:p>
        </p:txBody>
      </p:sp>
      <p:sp>
        <p:nvSpPr>
          <p:cNvPr id="47" name="Text 45"/>
          <p:cNvSpPr/>
          <p:nvPr/>
        </p:nvSpPr>
        <p:spPr>
          <a:xfrm>
            <a:off x="4810125" y="3044875"/>
            <a:ext cx="88639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 base · Workplace · DaaS · SmartHelp embebido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4514850" y="4052739"/>
            <a:ext cx="8629650" cy="3167211"/>
          </a:xfrm>
          <a:prstGeom prst="roundRect">
            <a:avLst>
              <a:gd name="adj" fmla="val 3609"/>
            </a:avLst>
          </a:prstGeom>
          <a:gradFill rotWithShape="1">
            <a:gsLst>
              <a:gs pos="0">
                <a:srgbClr val="855AC6">
                  <a:alpha val="13000"/>
                </a:srgbClr>
              </a:gs>
              <a:gs pos="100000">
                <a:srgbClr val="855AC6">
                  <a:alpha val="4000"/>
                </a:srgbClr>
              </a:gs>
            </a:gsLst>
            <a:lin ang="2700000" scaled="0"/>
          </a:gradFill>
          <a:ln/>
          <a:effectLst>
            <a:outerShdw blurRad="438150" dist="190500" dir="5400000" algn="bl" rotWithShape="0">
              <a:srgbClr val="855AC6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4514850" y="7210425"/>
            <a:ext cx="8629650" cy="9525"/>
          </a:xfrm>
          <a:prstGeom prst="rect">
            <a:avLst/>
          </a:prstGeom>
          <a:solidFill>
            <a:srgbClr val="855AC6">
              <a:alpha val="4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514850" y="4052739"/>
            <a:ext cx="8629650" cy="9525"/>
          </a:xfrm>
          <a:prstGeom prst="rect">
            <a:avLst/>
          </a:prstGeom>
          <a:solidFill>
            <a:srgbClr val="855AC6">
              <a:alpha val="4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514850" y="4052739"/>
            <a:ext cx="28575" cy="3167211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3134975" y="4052739"/>
            <a:ext cx="9525" cy="3167211"/>
          </a:xfrm>
          <a:prstGeom prst="rect">
            <a:avLst/>
          </a:prstGeom>
          <a:solidFill>
            <a:srgbClr val="855AC6">
              <a:alpha val="4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810125" y="4968180"/>
            <a:ext cx="13894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VERTICAL 02 · HOY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1096625" y="4968180"/>
            <a:ext cx="1771650" cy="223838"/>
          </a:xfrm>
          <a:prstGeom prst="roundRect">
            <a:avLst>
              <a:gd name="adj" fmla="val 50000"/>
            </a:avLst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11210925" y="5015805"/>
            <a:ext cx="16192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b="1" kern="0" spc="8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 DE ESTA CONVERSACIÓN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4810125" y="5277743"/>
            <a:ext cx="8863965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87"/>
              </a:lnSpc>
              <a:buNone/>
            </a:pPr>
            <a:r>
              <a:rPr lang="en-US" sz="2850" b="1" kern="0" spc="-57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</a:t>
            </a:r>
            <a:r>
              <a:rPr lang="en-US" sz="2850" b="1" kern="0" spc="-57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Infra</a:t>
            </a:r>
            <a:endParaRPr lang="en-US" sz="2850" dirty="0"/>
          </a:p>
        </p:txBody>
      </p:sp>
      <p:sp>
        <p:nvSpPr>
          <p:cNvPr id="57" name="Text 55"/>
          <p:cNvSpPr/>
          <p:nvPr/>
        </p:nvSpPr>
        <p:spPr>
          <a:xfrm>
            <a:off x="4810125" y="5745659"/>
            <a:ext cx="8863965" cy="2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81"/>
              </a:lnSpc>
              <a:buNone/>
            </a:pPr>
            <a:r>
              <a:rPr lang="en-US" sz="1013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 · Assessment + Migración Cloud · FinOps embebido · AIOps · Resiliencia y gobierno</a:t>
            </a:r>
            <a:endParaRPr lang="en-US" sz="1013" dirty="0"/>
          </a:p>
        </p:txBody>
      </p:sp>
      <p:sp>
        <p:nvSpPr>
          <p:cNvPr id="58" name="Shape 56"/>
          <p:cNvSpPr/>
          <p:nvPr/>
        </p:nvSpPr>
        <p:spPr>
          <a:xfrm>
            <a:off x="4810125" y="6059239"/>
            <a:ext cx="963662" cy="245269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55AC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924425" y="6106864"/>
            <a:ext cx="81126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5830937" y="6059239"/>
            <a:ext cx="498723" cy="245269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55AC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5945237" y="6106864"/>
            <a:ext cx="34632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6386810" y="6059239"/>
            <a:ext cx="510778" cy="245269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55AC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6501110" y="6106864"/>
            <a:ext cx="35837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AIOps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6954738" y="6059239"/>
            <a:ext cx="554087" cy="245269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55AC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7069038" y="6106864"/>
            <a:ext cx="40168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FinOps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7565975" y="6059239"/>
            <a:ext cx="653951" cy="245269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55AC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7680275" y="6106864"/>
            <a:ext cx="50155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</a:t>
            </a:r>
            <a:endParaRPr lang="en-US" sz="788" dirty="0"/>
          </a:p>
        </p:txBody>
      </p:sp>
      <p:sp>
        <p:nvSpPr>
          <p:cNvPr id="68" name="Text 66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7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0000" t="6000" r="10000" b="94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62000" y="6012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38250" y="542925"/>
            <a:ext cx="27552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FOR INFRA · ARQUITECTURA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762000" y="812006"/>
            <a:ext cx="1236345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gestionar síntomas a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gobernar la operación crítica.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2147053"/>
            <a:ext cx="42049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0100" y="2699503"/>
            <a:ext cx="42049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Continuidad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3032878"/>
            <a:ext cx="42049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75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OPERACIÓN 24×7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0100" y="3290053"/>
            <a:ext cx="39373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Monitorización, triaje, resolución y escalado con capas N0–N3 según criticidad. Modelo certificado ISO 20000.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800100" y="3761540"/>
            <a:ext cx="4204915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kern="0" spc="89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ABORDA</a:t>
            </a:r>
            <a:endParaRPr lang="en-US" sz="638" dirty="0"/>
          </a:p>
        </p:txBody>
      </p:sp>
      <p:sp>
        <p:nvSpPr>
          <p:cNvPr id="11" name="Shape 9"/>
          <p:cNvSpPr/>
          <p:nvPr/>
        </p:nvSpPr>
        <p:spPr>
          <a:xfrm>
            <a:off x="800100" y="3940134"/>
            <a:ext cx="688628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76300" y="3968709"/>
            <a:ext cx="612428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 fatigue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1536353" y="3940134"/>
            <a:ext cx="916186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612553" y="3968709"/>
            <a:ext cx="839986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MTTD estancado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2500164" y="3940134"/>
            <a:ext cx="1057424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576364" y="3968709"/>
            <a:ext cx="981224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foto consolidada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946600" y="2147053"/>
            <a:ext cx="42049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46600" y="2699503"/>
            <a:ext cx="42049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Modernización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46600" y="3032878"/>
            <a:ext cx="42049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75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ASSESSMENT + MIGRACIÓN CLOUD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46600" y="3299578"/>
            <a:ext cx="3737283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honesta de cargas y legacy. Decisión documentada sobre qué mover, modernizar o retener.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4946600" y="3713915"/>
            <a:ext cx="393733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También: evaluamos si la arquitectura actual aguanta cargas de IA — cómputo, GPUs, latencia. Muchos clientes lo están desplegando en local por regulación y aún no saben si su infra lo soporta.</a:t>
            </a:r>
            <a:endParaRPr lang="en-US" sz="938" dirty="0"/>
          </a:p>
        </p:txBody>
      </p:sp>
      <p:sp>
        <p:nvSpPr>
          <p:cNvPr id="22" name="Text 20"/>
          <p:cNvSpPr/>
          <p:nvPr/>
        </p:nvSpPr>
        <p:spPr>
          <a:xfrm>
            <a:off x="4946600" y="4363996"/>
            <a:ext cx="4204915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kern="0" spc="89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ABORDA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4946600" y="4542590"/>
            <a:ext cx="875556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2800" y="4571165"/>
            <a:ext cx="799356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Broadcom crisis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5869781" y="4542590"/>
            <a:ext cx="831800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945981" y="4571165"/>
            <a:ext cx="755600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 Server EOL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6749207" y="4542590"/>
            <a:ext cx="1233636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825407" y="4571165"/>
            <a:ext cx="1157436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apps legacy bloqueando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4946600" y="4777292"/>
            <a:ext cx="1422797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022800" y="4805867"/>
            <a:ext cx="1346597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para IA on-prem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9093101" y="2147053"/>
            <a:ext cx="42050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III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093101" y="2699503"/>
            <a:ext cx="42050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Control económico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93101" y="3032878"/>
            <a:ext cx="42050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75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 EMBEBIDO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093101" y="3290053"/>
            <a:ext cx="39374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Tagging, rightsizing, forecast y accountability incorporados a la operación diaria — no como auditoría puntual.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093101" y="3761540"/>
            <a:ext cx="4205079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kern="0" spc="89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ABORDA</a:t>
            </a:r>
            <a:endParaRPr lang="en-US" sz="638" dirty="0"/>
          </a:p>
        </p:txBody>
      </p:sp>
      <p:sp>
        <p:nvSpPr>
          <p:cNvPr id="36" name="Shape 34"/>
          <p:cNvSpPr/>
          <p:nvPr/>
        </p:nvSpPr>
        <p:spPr>
          <a:xfrm>
            <a:off x="9093101" y="3940134"/>
            <a:ext cx="689521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9169301" y="3968709"/>
            <a:ext cx="613321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waste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9830246" y="3940134"/>
            <a:ext cx="1429345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9906446" y="3968709"/>
            <a:ext cx="1353145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reservas mal dimensionadas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11307217" y="3940134"/>
            <a:ext cx="568970" cy="187077"/>
          </a:xfrm>
          <a:prstGeom prst="roundRect">
            <a:avLst>
              <a:gd name="adj" fmla="val 15274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1383417" y="3968709"/>
            <a:ext cx="492770" cy="16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8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costes IA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762000" y="6281738"/>
            <a:ext cx="12192000" cy="557213"/>
          </a:xfrm>
          <a:prstGeom prst="roundRect">
            <a:avLst>
              <a:gd name="adj" fmla="val 10256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1009650" y="6584156"/>
            <a:ext cx="152400" cy="28575"/>
          </a:xfrm>
          <a:prstGeom prst="rect">
            <a:avLst/>
          </a:prstGeom>
          <a:solidFill>
            <a:srgbClr val="7CAAD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1009650" y="6507956"/>
            <a:ext cx="152400" cy="9525"/>
          </a:xfrm>
          <a:prstGeom prst="rect">
            <a:avLst/>
          </a:prstGeom>
          <a:solidFill>
            <a:srgbClr val="7CAAD6">
              <a:alpha val="9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1257300" y="6453188"/>
            <a:ext cx="87778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 común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2439888" y="6474619"/>
            <a:ext cx="11571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de servicio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03600" y="6474619"/>
            <a:ext cx="1561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 consolidada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34620" y="6474619"/>
            <a:ext cx="13055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segura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3171" y="6474619"/>
            <a:ext cx="12017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+ Data Lake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37364" y="6474619"/>
            <a:ext cx="17034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 de Servicio nombrado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97716" y="6474619"/>
            <a:ext cx="13727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· 27001 · ENS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2000" y="6972300"/>
            <a:ext cx="13411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900" i="1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Combinables a la carta. Sin paquetes cerrados forzosos.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6000" t="4000" r="4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16164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MODELO OPERATIVO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831056"/>
            <a:ext cx="7656984" cy="819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17"/>
              </a:lnSpc>
              <a:buNone/>
            </a:pPr>
            <a:r>
              <a:rPr lang="en-US" sz="2850" b="1" kern="0" spc="-57" dirty="0">
                <a:solidFill>
                  <a:srgbClr val="6E849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volumen lo gestiona la máquina. </a:t>
            </a:r>
            <a:r>
              <a:rPr lang="en-US" sz="2850" b="1" kern="0" spc="-5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valor lo gestiona el equipo.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71500" y="1746052"/>
            <a:ext cx="6278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0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r>
              <a:rPr lang="en-US" sz="10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Estratégico </a:t>
            </a:r>
            <a:r>
              <a:rPr lang="en-US" sz="10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la capa que hace que </a:t>
            </a:r>
            <a:r>
              <a:rPr lang="en-US" sz="10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N0–N2 mejoren con el tiempo </a:t>
            </a:r>
            <a:r>
              <a:rPr lang="en-US" sz="10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no es un nivel más. Los cuatro pasos del ciclo describen cómo lo hace.</a:t>
            </a:r>
            <a:endParaRPr lang="en-US" sz="1088" dirty="0"/>
          </a:p>
        </p:txBody>
      </p:sp>
      <p:sp>
        <p:nvSpPr>
          <p:cNvPr id="7" name="Shape 5"/>
          <p:cNvSpPr/>
          <p:nvPr/>
        </p:nvSpPr>
        <p:spPr>
          <a:xfrm>
            <a:off x="8348365" y="831056"/>
            <a:ext cx="4796135" cy="1329184"/>
          </a:xfrm>
          <a:prstGeom prst="roundRect">
            <a:avLst>
              <a:gd name="adj" fmla="val 8599"/>
            </a:avLst>
          </a:prstGeom>
          <a:solidFill>
            <a:srgbClr val="FE5000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348365" y="2150715"/>
            <a:ext cx="4796135" cy="9525"/>
          </a:xfrm>
          <a:prstGeom prst="rect">
            <a:avLst/>
          </a:prstGeom>
          <a:solidFill>
            <a:srgbClr val="FE5000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348365" y="831056"/>
            <a:ext cx="4796135" cy="9525"/>
          </a:xfrm>
          <a:prstGeom prst="rect">
            <a:avLst/>
          </a:prstGeom>
          <a:solidFill>
            <a:srgbClr val="FE5000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348365" y="831056"/>
            <a:ext cx="28575" cy="1329184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3134975" y="831056"/>
            <a:ext cx="9525" cy="1329184"/>
          </a:xfrm>
          <a:prstGeom prst="rect">
            <a:avLst/>
          </a:prstGeom>
          <a:solidFill>
            <a:srgbClr val="FE5000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605540" y="1031081"/>
            <a:ext cx="4730919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484"/>
              </a:lnSpc>
              <a:buNone/>
            </a:pPr>
            <a:r>
              <a:rPr lang="en-US" sz="3900" b="1" kern="0" spc="-117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de cada 10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605540" y="1553021"/>
            <a:ext cx="4730919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CIOs no lo encuentran en su proveedor actual.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605540" y="1817340"/>
            <a:ext cx="47309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4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 · Whitelane Research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0800000">
            <a:off x="634603" y="2408039"/>
            <a:ext cx="197644" cy="1966020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b="1" kern="0" spc="64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 · EL EQUIPO</a:t>
            </a:r>
            <a:endParaRPr lang="en-US" sz="638" dirty="0"/>
          </a:p>
        </p:txBody>
      </p:sp>
      <p:sp>
        <p:nvSpPr>
          <p:cNvPr id="16" name="Shape 14"/>
          <p:cNvSpPr/>
          <p:nvPr/>
        </p:nvSpPr>
        <p:spPr>
          <a:xfrm>
            <a:off x="685800" y="4412159"/>
            <a:ext cx="19050" cy="1598116"/>
          </a:xfrm>
          <a:prstGeom prst="rect">
            <a:avLst/>
          </a:prstGeom>
          <a:gradFill rotWithShape="1">
            <a:gsLst>
              <a:gs pos="0">
                <a:srgbClr val="041C2C">
                  <a:alpha val="100000"/>
                </a:srgbClr>
              </a:gs>
              <a:gs pos="100000">
                <a:srgbClr val="9DAEB9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 rot="10800000">
            <a:off x="634603" y="6086475"/>
            <a:ext cx="197644" cy="1171575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b="1" kern="0" spc="6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VOLUMEN · LA MÁQUINA</a:t>
            </a:r>
            <a:endParaRPr lang="en-US" sz="638" dirty="0"/>
          </a:p>
        </p:txBody>
      </p:sp>
      <p:sp>
        <p:nvSpPr>
          <p:cNvPr id="18" name="Shape 16"/>
          <p:cNvSpPr/>
          <p:nvPr/>
        </p:nvSpPr>
        <p:spPr>
          <a:xfrm>
            <a:off x="952500" y="2350889"/>
            <a:ext cx="6110288" cy="4869061"/>
          </a:xfrm>
          <a:prstGeom prst="roundRect">
            <a:avLst>
              <a:gd name="adj" fmla="val 1565"/>
            </a:avLst>
          </a:prstGeom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971550" y="2369939"/>
            <a:ext cx="6072188" cy="385763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123950" y="2486620"/>
            <a:ext cx="15413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 Estratégico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20417" y="2505670"/>
            <a:ext cx="20470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kern="0" spc="84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ABARCA Y MEJORA TODOS LOS NIVELES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082903" y="2455664"/>
            <a:ext cx="808434" cy="214313"/>
          </a:xfrm>
          <a:prstGeom prst="roundRect">
            <a:avLst>
              <a:gd name="adj" fmla="val 50000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78153" y="2484239"/>
            <a:ext cx="694134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6923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80% del valor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71550" y="2755702"/>
            <a:ext cx="6072188" cy="260896"/>
          </a:xfrm>
          <a:prstGeom prst="rect">
            <a:avLst/>
          </a:prstGeom>
          <a:solidFill>
            <a:srgbClr val="855AC6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123950" y="2831902"/>
            <a:ext cx="5949553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62"/>
              </a:lnSpc>
              <a:buNone/>
            </a:pPr>
            <a:r>
              <a:rPr lang="en-US" sz="8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Comités de innovación · FinOps · XLAs · Compliance · Decisiones basadas en dato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971550" y="3016597"/>
            <a:ext cx="6072188" cy="4184303"/>
          </a:xfrm>
          <a:prstGeom prst="rect">
            <a:avLst/>
          </a:prstGeom>
          <a:solidFill>
            <a:srgbClr val="855AC6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1123950" y="4133552"/>
            <a:ext cx="5767388" cy="641747"/>
          </a:xfrm>
          <a:prstGeom prst="roundRect">
            <a:avLst>
              <a:gd name="adj" fmla="val 8905"/>
            </a:avLst>
          </a:prstGeom>
          <a:solidFill>
            <a:srgbClr val="FFFFFF"/>
          </a:solidFill>
          <a:ln/>
          <a:effectLst>
            <a:outerShdw blurRad="133350" dist="38100" dir="5400000" algn="bl" rotWithShape="0">
              <a:srgbClr val="041C2C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1123950" y="4765774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1123950" y="4133552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123950" y="4133552"/>
            <a:ext cx="28575" cy="641747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881813" y="4133552"/>
            <a:ext cx="9525" cy="641747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285875" y="4292501"/>
            <a:ext cx="819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500" b="1" kern="0" spc="-3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85875" y="4502051"/>
            <a:ext cx="8191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kern="0" spc="8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EXPERTOS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162175" y="4228802"/>
            <a:ext cx="44578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750"/>
              </a:lnSpc>
              <a:buNone/>
            </a:pPr>
            <a:r>
              <a:rPr lang="en-US" sz="938" b="1" kern="0" spc="-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Especialistas · Resolución de casos complejos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2162175" y="4400252"/>
            <a:ext cx="4174168" cy="317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7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Incidentes escalados con contexto IA · Coordinación con equipos del cliente · Cambios programados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6271915" y="4300835"/>
            <a:ext cx="4765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~15%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6271915" y="4500860"/>
            <a:ext cx="47654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563" b="1" kern="0" spc="5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VOL.</a:t>
            </a:r>
            <a:endParaRPr lang="en-US" sz="563" dirty="0"/>
          </a:p>
        </p:txBody>
      </p:sp>
      <p:sp>
        <p:nvSpPr>
          <p:cNvPr id="38" name="Shape 36"/>
          <p:cNvSpPr/>
          <p:nvPr/>
        </p:nvSpPr>
        <p:spPr>
          <a:xfrm>
            <a:off x="1123950" y="4851499"/>
            <a:ext cx="5767388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33350" dist="38100" dir="5400000" algn="bl" rotWithShape="0">
              <a:srgbClr val="041C2C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123950" y="5356324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123950" y="4851499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1123950" y="4851499"/>
            <a:ext cx="28575" cy="51435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881813" y="4851499"/>
            <a:ext cx="9525" cy="514350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1285875" y="4946749"/>
            <a:ext cx="819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500" b="1" kern="0" spc="-3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85875" y="5156299"/>
            <a:ext cx="8191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kern="0" spc="8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OPERACIÓN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162175" y="4953000"/>
            <a:ext cx="44578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750"/>
              </a:lnSpc>
              <a:buNone/>
            </a:pPr>
            <a:r>
              <a:rPr lang="en-US" sz="938" b="1" kern="0" spc="-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Operación · Gestión y resolución bajo procedimiento</a:t>
            </a:r>
            <a:endParaRPr lang="en-US" sz="938" dirty="0"/>
          </a:p>
        </p:txBody>
      </p:sp>
      <p:sp>
        <p:nvSpPr>
          <p:cNvPr id="46" name="Text 44"/>
          <p:cNvSpPr/>
          <p:nvPr/>
        </p:nvSpPr>
        <p:spPr>
          <a:xfrm>
            <a:off x="2162175" y="5124450"/>
            <a:ext cx="4457849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7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 de tickets · escalado a N2 · gestión de accesos · documentación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6271915" y="4955084"/>
            <a:ext cx="4765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~15%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6271915" y="5155109"/>
            <a:ext cx="47654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563" b="1" kern="0" spc="5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VOL.</a:t>
            </a:r>
            <a:endParaRPr lang="en-US" sz="563" dirty="0"/>
          </a:p>
        </p:txBody>
      </p:sp>
      <p:sp>
        <p:nvSpPr>
          <p:cNvPr id="49" name="Shape 47"/>
          <p:cNvSpPr/>
          <p:nvPr/>
        </p:nvSpPr>
        <p:spPr>
          <a:xfrm>
            <a:off x="1123950" y="5442049"/>
            <a:ext cx="5767388" cy="641747"/>
          </a:xfrm>
          <a:prstGeom prst="roundRect">
            <a:avLst>
              <a:gd name="adj" fmla="val 8905"/>
            </a:avLst>
          </a:prstGeom>
          <a:solidFill>
            <a:srgbClr val="FFFFFF"/>
          </a:solidFill>
          <a:ln/>
          <a:effectLst>
            <a:outerShdw blurRad="133350" dist="38100" dir="5400000" algn="bl" rotWithShape="0">
              <a:srgbClr val="041C2C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1123950" y="6074271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1123950" y="5442049"/>
            <a:ext cx="576738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123950" y="5442049"/>
            <a:ext cx="28575" cy="641747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6881813" y="5442049"/>
            <a:ext cx="9525" cy="641747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1285875" y="5600998"/>
            <a:ext cx="819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500" b="1" kern="0" spc="-3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285875" y="5810548"/>
            <a:ext cx="8191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kern="0" spc="8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2162175" y="5537299"/>
            <a:ext cx="44233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750"/>
              </a:lnSpc>
              <a:buNone/>
            </a:pPr>
            <a:r>
              <a:rPr lang="en-US" sz="938" b="1" kern="0" spc="-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 · Monitorización, detección y resolución automática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2162175" y="5708749"/>
            <a:ext cx="4141823" cy="317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78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Monitorización 24×7 · AIOps · clasificación 80–98% · runbooks · alert fatigue del 18% → 70%+ accionable</a:t>
            </a:r>
            <a:endParaRPr lang="en-US" sz="788" dirty="0"/>
          </a:p>
        </p:txBody>
      </p:sp>
      <p:sp>
        <p:nvSpPr>
          <p:cNvPr id="58" name="Text 56"/>
          <p:cNvSpPr/>
          <p:nvPr/>
        </p:nvSpPr>
        <p:spPr>
          <a:xfrm>
            <a:off x="6240512" y="5609332"/>
            <a:ext cx="5079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~70%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6240512" y="5809357"/>
            <a:ext cx="5079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563" b="1" kern="0" spc="5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VOL.</a:t>
            </a:r>
            <a:endParaRPr lang="en-US" sz="563" dirty="0"/>
          </a:p>
        </p:txBody>
      </p:sp>
      <p:sp>
        <p:nvSpPr>
          <p:cNvPr id="60" name="Text 58"/>
          <p:cNvSpPr/>
          <p:nvPr/>
        </p:nvSpPr>
        <p:spPr>
          <a:xfrm>
            <a:off x="7348538" y="2360414"/>
            <a:ext cx="16723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CICLO DEL GOBIERNO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964067" y="2350889"/>
            <a:ext cx="208878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Actúa sobre todos los niveles · 4 pasos</a:t>
            </a:r>
            <a:endParaRPr lang="en-US" sz="863" dirty="0"/>
          </a:p>
        </p:txBody>
      </p:sp>
      <p:sp>
        <p:nvSpPr>
          <p:cNvPr id="62" name="Shape 60"/>
          <p:cNvSpPr/>
          <p:nvPr/>
        </p:nvSpPr>
        <p:spPr>
          <a:xfrm>
            <a:off x="7348538" y="3162895"/>
            <a:ext cx="5795963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7348538" y="269617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319963" y="27056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200" b="1" kern="0" spc="-24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977188" y="2696170"/>
            <a:ext cx="568404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b="1" kern="0" spc="11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ETIQUETAR</a:t>
            </a:r>
            <a:endParaRPr lang="en-US" sz="788" dirty="0"/>
          </a:p>
        </p:txBody>
      </p:sp>
      <p:sp>
        <p:nvSpPr>
          <p:cNvPr id="66" name="Text 64"/>
          <p:cNvSpPr/>
          <p:nvPr/>
        </p:nvSpPr>
        <p:spPr>
          <a:xfrm>
            <a:off x="7977188" y="2884289"/>
            <a:ext cx="568404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Ownership por servicio, aplicación y unidad de negocio desde día uno.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48538" y="3724870"/>
            <a:ext cx="5795963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7348538" y="3258145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7319963" y="326767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200" b="1" kern="0" spc="-24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977188" y="3258145"/>
            <a:ext cx="568404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b="1" kern="0" spc="11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OPTIMIZAR</a:t>
            </a:r>
            <a:endParaRPr lang="en-US" sz="788" dirty="0"/>
          </a:p>
        </p:txBody>
      </p:sp>
      <p:sp>
        <p:nvSpPr>
          <p:cNvPr id="71" name="Text 69"/>
          <p:cNvSpPr/>
          <p:nvPr/>
        </p:nvSpPr>
        <p:spPr>
          <a:xfrm>
            <a:off x="7977188" y="3446264"/>
            <a:ext cx="568404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Rightsizing, apagados, reservas y eliminación de recursos sin uso.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348538" y="4286845"/>
            <a:ext cx="5795963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7348538" y="382012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7319963" y="382964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200" b="1" kern="0" spc="-24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977188" y="3820120"/>
            <a:ext cx="568404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b="1" kern="0" spc="11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PREDECIR</a:t>
            </a:r>
            <a:endParaRPr lang="en-US" sz="788" dirty="0"/>
          </a:p>
        </p:txBody>
      </p:sp>
      <p:sp>
        <p:nvSpPr>
          <p:cNvPr id="76" name="Text 74"/>
          <p:cNvSpPr/>
          <p:nvPr/>
        </p:nvSpPr>
        <p:spPr>
          <a:xfrm>
            <a:off x="7977188" y="4008239"/>
            <a:ext cx="568404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 de demanda, picos e infra asociada a workloads de IA.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348538" y="4382095"/>
            <a:ext cx="381000" cy="381000"/>
          </a:xfrm>
          <a:prstGeom prst="ellipse">
            <a:avLst/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7319963" y="439162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977188" y="4382095"/>
            <a:ext cx="568404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b="1" kern="0" spc="11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GOBERNAR</a:t>
            </a:r>
            <a:endParaRPr lang="en-US" sz="788" dirty="0"/>
          </a:p>
        </p:txBody>
      </p:sp>
      <p:sp>
        <p:nvSpPr>
          <p:cNvPr id="80" name="Text 78"/>
          <p:cNvSpPr/>
          <p:nvPr/>
        </p:nvSpPr>
        <p:spPr>
          <a:xfrm>
            <a:off x="7977188" y="4570214"/>
            <a:ext cx="568404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ejecutivo en Power BI comprensible para CIO, CFO y operación.</a:t>
            </a:r>
            <a:endParaRPr lang="en-US" sz="900" dirty="0"/>
          </a:p>
        </p:txBody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8538" y="7067550"/>
            <a:ext cx="438150" cy="152400"/>
          </a:xfrm>
          <a:prstGeom prst="rect">
            <a:avLst/>
          </a:prstGeom>
        </p:spPr>
      </p:pic>
      <p:sp>
        <p:nvSpPr>
          <p:cNvPr id="82" name="Text 79"/>
          <p:cNvSpPr/>
          <p:nvPr/>
        </p:nvSpPr>
        <p:spPr>
          <a:xfrm>
            <a:off x="7881937" y="7079456"/>
            <a:ext cx="244240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b="1" kern="0" spc="95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CONTINUO · VUELVE A ETIQUETAR</a:t>
            </a:r>
            <a:endParaRPr lang="en-US" sz="675" dirty="0"/>
          </a:p>
        </p:txBody>
      </p:sp>
      <p:sp>
        <p:nvSpPr>
          <p:cNvPr id="83" name="Text 80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6000" t="4000" r="4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15353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YA OPERAMOS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+400.000 usuarios activos.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Cifras verificables, </a:t>
            </a: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cliente a cliente.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" y="1718667"/>
            <a:ext cx="12573000" cy="124866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24765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504605" y="1728192"/>
            <a:ext cx="9525" cy="1229618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90575" y="1871067"/>
            <a:ext cx="275492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77"/>
              </a:lnSpc>
              <a:buNone/>
            </a:pPr>
            <a:r>
              <a:rPr lang="en-US" sz="4050" b="1" kern="0" spc="-8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+400K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790575" y="2461617"/>
            <a:ext cx="27549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87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 ACTIVOS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90575" y="2640211"/>
            <a:ext cx="2754928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78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Bajo nuestro modelo operativo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851178" y="1728192"/>
            <a:ext cx="9525" cy="1229618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23680" y="1871067"/>
            <a:ext cx="21097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95%+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723680" y="2366367"/>
            <a:ext cx="21097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87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RENOVACIÓN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3723680" y="2544961"/>
            <a:ext cx="1994148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78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 lo que un proveedor de operaciones vale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8197602" y="1728192"/>
            <a:ext cx="9525" cy="1229618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070253" y="1871067"/>
            <a:ext cx="21095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&lt;2%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070253" y="2366367"/>
            <a:ext cx="210957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87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ROTACIÓN EQUIPO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070253" y="2544961"/>
            <a:ext cx="2109579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78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Sector medio: +20%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10544175" y="1728192"/>
            <a:ext cx="9525" cy="1229618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416677" y="1871067"/>
            <a:ext cx="21097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6+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8416677" y="2366367"/>
            <a:ext cx="21097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87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AÑOS IA EN PRODUCCIÓN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8416677" y="2544961"/>
            <a:ext cx="2109743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78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Entornos activos verificables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0763250" y="1871067"/>
            <a:ext cx="23783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+174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763250" y="2366367"/>
            <a:ext cx="237839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87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CERT. MICROSOFT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10763250" y="2544961"/>
            <a:ext cx="2378393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8"/>
              </a:lnSpc>
              <a:buNone/>
            </a:pPr>
            <a:r>
              <a:rPr lang="en-US" sz="788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 Digital · 40 Infra · 37 Data&amp;AI · 32 Security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571500" y="3186410"/>
            <a:ext cx="4953000" cy="9525"/>
          </a:xfrm>
          <a:prstGeom prst="rect">
            <a:avLst/>
          </a:prstGeom>
          <a:solidFill>
            <a:srgbClr val="855AC6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638800" y="3119735"/>
            <a:ext cx="26822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5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CASOS · REFERENCIAS EN OPERACIÓN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91500" y="3186410"/>
            <a:ext cx="4953000" cy="9525"/>
          </a:xfrm>
          <a:prstGeom prst="rect">
            <a:avLst/>
          </a:prstGeom>
          <a:solidFill>
            <a:srgbClr val="855AC6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71500" y="3395960"/>
            <a:ext cx="4102001" cy="2961977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/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71500" y="6348413"/>
            <a:ext cx="4102001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71500" y="3395960"/>
            <a:ext cx="4102001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71500" y="3395960"/>
            <a:ext cx="28575" cy="2961977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663976" y="3395960"/>
            <a:ext cx="9525" cy="2961977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90575" y="3557885"/>
            <a:ext cx="970359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14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 CRÍTICA</a:t>
            </a:r>
            <a:endParaRPr lang="en-US" sz="713" dirty="0"/>
          </a:p>
        </p:txBody>
      </p:sp>
      <p:sp>
        <p:nvSpPr>
          <p:cNvPr id="35" name="Text 33"/>
          <p:cNvSpPr/>
          <p:nvPr/>
        </p:nvSpPr>
        <p:spPr>
          <a:xfrm>
            <a:off x="4053334" y="3561457"/>
            <a:ext cx="49634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kern="0" spc="6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01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90575" y="3779341"/>
            <a:ext cx="405119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20"/>
              </a:lnSpc>
              <a:buNone/>
            </a:pPr>
            <a:r>
              <a:rPr lang="en-US" sz="1575" b="1" kern="0" spc="-1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Telefónica Tech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790575" y="4081016"/>
            <a:ext cx="37933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33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Monitorización, operación y soporte 24×7 de infraestructuras cloud de grandes clientes. Madrid y Lima como un único equipo.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790575" y="4519166"/>
            <a:ext cx="4051191" cy="164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713" kern="0" spc="1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Windows · Unix · Middleware · VDI · SAP · BBDD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>
            <a:off x="790575" y="5488781"/>
            <a:ext cx="3682901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90575" y="5584031"/>
            <a:ext cx="939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3K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790575" y="5784056"/>
            <a:ext cx="939701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</a:t>
            </a:r>
            <a:endParaRPr lang="en-US" sz="638" dirty="0"/>
          </a:p>
        </p:txBody>
      </p:sp>
      <p:sp>
        <p:nvSpPr>
          <p:cNvPr id="42" name="Text 40"/>
          <p:cNvSpPr/>
          <p:nvPr/>
        </p:nvSpPr>
        <p:spPr>
          <a:xfrm>
            <a:off x="1730276" y="5584031"/>
            <a:ext cx="939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25K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730276" y="5784056"/>
            <a:ext cx="9398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INVENT.</a:t>
            </a:r>
            <a:endParaRPr lang="en-US" sz="638" dirty="0"/>
          </a:p>
        </p:txBody>
      </p:sp>
      <p:sp>
        <p:nvSpPr>
          <p:cNvPr id="44" name="Text 42"/>
          <p:cNvSpPr/>
          <p:nvPr/>
        </p:nvSpPr>
        <p:spPr>
          <a:xfrm>
            <a:off x="2670125" y="5584031"/>
            <a:ext cx="939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27K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2670125" y="5784056"/>
            <a:ext cx="939701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ALARMAS/M</a:t>
            </a:r>
            <a:endParaRPr lang="en-US" sz="638" dirty="0"/>
          </a:p>
        </p:txBody>
      </p:sp>
      <p:sp>
        <p:nvSpPr>
          <p:cNvPr id="46" name="Text 44"/>
          <p:cNvSpPr/>
          <p:nvPr/>
        </p:nvSpPr>
        <p:spPr>
          <a:xfrm>
            <a:off x="3609826" y="5584031"/>
            <a:ext cx="939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98%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3609826" y="5784056"/>
            <a:ext cx="9398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</a:t>
            </a:r>
            <a:endParaRPr lang="en-US" sz="638" dirty="0"/>
          </a:p>
        </p:txBody>
      </p:sp>
      <p:sp>
        <p:nvSpPr>
          <p:cNvPr id="48" name="Shape 46"/>
          <p:cNvSpPr/>
          <p:nvPr/>
        </p:nvSpPr>
        <p:spPr>
          <a:xfrm>
            <a:off x="790575" y="5991225"/>
            <a:ext cx="867966" cy="204788"/>
          </a:xfrm>
          <a:prstGeom prst="roundRect">
            <a:avLst>
              <a:gd name="adj" fmla="val 50000"/>
            </a:avLst>
          </a:prstGeom>
          <a:solidFill>
            <a:srgbClr val="178A54">
              <a:alpha val="10000"/>
            </a:srgbClr>
          </a:solidFill>
          <a:ln w="9525">
            <a:solidFill>
              <a:srgbClr val="178A5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885825" y="6029325"/>
            <a:ext cx="75366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54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ROTACIÓN &lt;2%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1715691" y="5991225"/>
            <a:ext cx="663327" cy="204788"/>
          </a:xfrm>
          <a:prstGeom prst="roundRect">
            <a:avLst>
              <a:gd name="adj" fmla="val 50000"/>
            </a:avLst>
          </a:prstGeom>
          <a:solidFill>
            <a:srgbClr val="178A54">
              <a:alpha val="10000"/>
            </a:srgbClr>
          </a:solidFill>
          <a:ln w="9525">
            <a:solidFill>
              <a:srgbClr val="178A5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1810941" y="6029325"/>
            <a:ext cx="54902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54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TMO −20%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4806851" y="3395960"/>
            <a:ext cx="4102150" cy="2961977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/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4806851" y="6348413"/>
            <a:ext cx="41021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4806851" y="3395960"/>
            <a:ext cx="41021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4806851" y="3395960"/>
            <a:ext cx="28575" cy="2961977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8899475" y="3395960"/>
            <a:ext cx="9525" cy="2961977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5025926" y="3557886"/>
            <a:ext cx="1245394" cy="170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14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 INTERNACIONAL</a:t>
            </a:r>
            <a:endParaRPr lang="en-US" sz="713" dirty="0"/>
          </a:p>
        </p:txBody>
      </p:sp>
      <p:sp>
        <p:nvSpPr>
          <p:cNvPr id="58" name="Text 56"/>
          <p:cNvSpPr/>
          <p:nvPr/>
        </p:nvSpPr>
        <p:spPr>
          <a:xfrm>
            <a:off x="8288834" y="3561457"/>
            <a:ext cx="49634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kern="0" spc="6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02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5025926" y="3779341"/>
            <a:ext cx="405135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20"/>
              </a:lnSpc>
              <a:buNone/>
            </a:pPr>
            <a:r>
              <a:rPr lang="en-US" sz="1575" b="1" kern="0" spc="-1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Telefónica Global Solutions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5025926" y="4081016"/>
            <a:ext cx="37935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33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y soporte internacional 7×24×365 N0–N3. Tres nodos globales: São Paulo, Madrid y Miami.</a:t>
            </a:r>
            <a:endParaRPr lang="en-US" sz="938" dirty="0"/>
          </a:p>
        </p:txBody>
      </p:sp>
      <p:sp>
        <p:nvSpPr>
          <p:cNvPr id="61" name="Text 59"/>
          <p:cNvSpPr/>
          <p:nvPr/>
        </p:nvSpPr>
        <p:spPr>
          <a:xfrm>
            <a:off x="5025926" y="4519166"/>
            <a:ext cx="4051355" cy="164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713" kern="0" spc="1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Cisco · Meraki · Fortinet · SDWan · BGP · Routing</a:t>
            </a:r>
            <a:endParaRPr lang="en-US" sz="713" dirty="0"/>
          </a:p>
        </p:txBody>
      </p:sp>
      <p:sp>
        <p:nvSpPr>
          <p:cNvPr id="62" name="Shape 60"/>
          <p:cNvSpPr/>
          <p:nvPr/>
        </p:nvSpPr>
        <p:spPr>
          <a:xfrm>
            <a:off x="5025926" y="5488781"/>
            <a:ext cx="36830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5025926" y="5584031"/>
            <a:ext cx="939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3K+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5025926" y="5784056"/>
            <a:ext cx="939701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</a:t>
            </a:r>
            <a:endParaRPr lang="en-US" sz="638" dirty="0"/>
          </a:p>
        </p:txBody>
      </p:sp>
      <p:sp>
        <p:nvSpPr>
          <p:cNvPr id="65" name="Text 63"/>
          <p:cNvSpPr/>
          <p:nvPr/>
        </p:nvSpPr>
        <p:spPr>
          <a:xfrm>
            <a:off x="5965627" y="5584031"/>
            <a:ext cx="939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15K</a:t>
            </a:r>
            <a:endParaRPr lang="en-US" sz="1425" dirty="0"/>
          </a:p>
        </p:txBody>
      </p:sp>
      <p:sp>
        <p:nvSpPr>
          <p:cNvPr id="66" name="Text 64"/>
          <p:cNvSpPr/>
          <p:nvPr/>
        </p:nvSpPr>
        <p:spPr>
          <a:xfrm>
            <a:off x="5965627" y="5784056"/>
            <a:ext cx="9398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ELEM. RED</a:t>
            </a:r>
            <a:endParaRPr lang="en-US" sz="638" dirty="0"/>
          </a:p>
        </p:txBody>
      </p:sp>
      <p:sp>
        <p:nvSpPr>
          <p:cNvPr id="67" name="Text 65"/>
          <p:cNvSpPr/>
          <p:nvPr/>
        </p:nvSpPr>
        <p:spPr>
          <a:xfrm>
            <a:off x="6905476" y="5584031"/>
            <a:ext cx="939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140+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6905476" y="5784056"/>
            <a:ext cx="9398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PROFES.</a:t>
            </a:r>
            <a:endParaRPr lang="en-US" sz="638" dirty="0"/>
          </a:p>
        </p:txBody>
      </p:sp>
      <p:sp>
        <p:nvSpPr>
          <p:cNvPr id="69" name="Text 67"/>
          <p:cNvSpPr/>
          <p:nvPr/>
        </p:nvSpPr>
        <p:spPr>
          <a:xfrm>
            <a:off x="7845326" y="5584031"/>
            <a:ext cx="939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98%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7845326" y="5784056"/>
            <a:ext cx="9398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</a:t>
            </a:r>
            <a:endParaRPr lang="en-US" sz="638" dirty="0"/>
          </a:p>
        </p:txBody>
      </p:sp>
      <p:sp>
        <p:nvSpPr>
          <p:cNvPr id="71" name="Shape 69"/>
          <p:cNvSpPr/>
          <p:nvPr/>
        </p:nvSpPr>
        <p:spPr>
          <a:xfrm>
            <a:off x="5025926" y="5991225"/>
            <a:ext cx="1048494" cy="204788"/>
          </a:xfrm>
          <a:prstGeom prst="roundRect">
            <a:avLst>
              <a:gd name="adj" fmla="val 50000"/>
            </a:avLst>
          </a:prstGeom>
          <a:solidFill>
            <a:srgbClr val="178A54">
              <a:alpha val="10000"/>
            </a:srgbClr>
          </a:solidFill>
          <a:ln w="9525">
            <a:solidFill>
              <a:srgbClr val="178A5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5121176" y="6029325"/>
            <a:ext cx="93419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54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GSMC GLOBALES</a:t>
            </a:r>
            <a:endParaRPr lang="en-US" sz="675" dirty="0"/>
          </a:p>
        </p:txBody>
      </p:sp>
      <p:sp>
        <p:nvSpPr>
          <p:cNvPr id="73" name="Shape 71"/>
          <p:cNvSpPr/>
          <p:nvPr/>
        </p:nvSpPr>
        <p:spPr>
          <a:xfrm>
            <a:off x="6131570" y="5991225"/>
            <a:ext cx="663327" cy="204788"/>
          </a:xfrm>
          <a:prstGeom prst="roundRect">
            <a:avLst>
              <a:gd name="adj" fmla="val 50000"/>
            </a:avLst>
          </a:prstGeom>
          <a:solidFill>
            <a:srgbClr val="178A54">
              <a:alpha val="10000"/>
            </a:srgbClr>
          </a:solidFill>
          <a:ln w="9525">
            <a:solidFill>
              <a:srgbClr val="178A5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226820" y="6029325"/>
            <a:ext cx="54902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54" dirty="0">
                <a:solidFill>
                  <a:srgbClr val="178A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TMO −20%</a:t>
            </a:r>
            <a:endParaRPr lang="en-US" sz="675" dirty="0"/>
          </a:p>
        </p:txBody>
      </p:sp>
      <p:sp>
        <p:nvSpPr>
          <p:cNvPr id="75" name="Shape 73"/>
          <p:cNvSpPr/>
          <p:nvPr/>
        </p:nvSpPr>
        <p:spPr>
          <a:xfrm>
            <a:off x="9042350" y="3395960"/>
            <a:ext cx="4102001" cy="2961977"/>
          </a:xfrm>
          <a:prstGeom prst="roundRect">
            <a:avLst>
              <a:gd name="adj" fmla="val 3216"/>
            </a:avLst>
          </a:prstGeom>
          <a:solidFill>
            <a:srgbClr val="F5F7F9"/>
          </a:solidFill>
          <a:ln w="9525">
            <a:solidFill>
              <a:srgbClr val="855AC6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9242375" y="3557885"/>
            <a:ext cx="1361748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14" dirty="0">
                <a:solidFill>
                  <a:srgbClr val="855AC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EN VALIDACIÓN</a:t>
            </a:r>
            <a:endParaRPr lang="en-US" sz="713" dirty="0"/>
          </a:p>
        </p:txBody>
      </p:sp>
      <p:sp>
        <p:nvSpPr>
          <p:cNvPr id="77" name="Text 75"/>
          <p:cNvSpPr/>
          <p:nvPr/>
        </p:nvSpPr>
        <p:spPr>
          <a:xfrm>
            <a:off x="12524184" y="3561457"/>
            <a:ext cx="49634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kern="0" spc="6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03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9242375" y="3779341"/>
            <a:ext cx="4072146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20"/>
              </a:lnSpc>
              <a:buNone/>
            </a:pPr>
            <a:r>
              <a:rPr lang="en-US" sz="1575" b="1" kern="0" spc="-16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Sector financiero · Infra crítica</a:t>
            </a:r>
            <a:endParaRPr lang="en-US" sz="1575" dirty="0"/>
          </a:p>
        </p:txBody>
      </p:sp>
      <p:sp>
        <p:nvSpPr>
          <p:cNvPr id="79" name="Text 77"/>
          <p:cNvSpPr/>
          <p:nvPr/>
        </p:nvSpPr>
        <p:spPr>
          <a:xfrm>
            <a:off x="9242375" y="4081016"/>
            <a:ext cx="38130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33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 de infraestructura híbrida en entorno bancario regulado. AIOps embebido y reducción de MTTD documentada.</a:t>
            </a:r>
            <a:endParaRPr lang="en-US" sz="938" dirty="0"/>
          </a:p>
        </p:txBody>
      </p:sp>
      <p:sp>
        <p:nvSpPr>
          <p:cNvPr id="80" name="Text 78"/>
          <p:cNvSpPr/>
          <p:nvPr/>
        </p:nvSpPr>
        <p:spPr>
          <a:xfrm>
            <a:off x="9242375" y="4519166"/>
            <a:ext cx="4072146" cy="164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08"/>
              </a:lnSpc>
              <a:buNone/>
            </a:pPr>
            <a:r>
              <a:rPr lang="en-US" sz="713" kern="0" spc="14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· VMware · Splunk · NIS2 + DORA en scope</a:t>
            </a:r>
            <a:endParaRPr lang="en-US" sz="713" dirty="0"/>
          </a:p>
        </p:txBody>
      </p:sp>
      <p:sp>
        <p:nvSpPr>
          <p:cNvPr id="81" name="Shape 79"/>
          <p:cNvSpPr/>
          <p:nvPr/>
        </p:nvSpPr>
        <p:spPr>
          <a:xfrm>
            <a:off x="9242375" y="5564981"/>
            <a:ext cx="3701951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9242375" y="5660231"/>
            <a:ext cx="19941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>
                    <a:alpha val="7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−25%</a:t>
            </a:r>
            <a:endParaRPr lang="en-US" sz="1425" dirty="0"/>
          </a:p>
        </p:txBody>
      </p:sp>
      <p:sp>
        <p:nvSpPr>
          <p:cNvPr id="83" name="Text 81"/>
          <p:cNvSpPr/>
          <p:nvPr/>
        </p:nvSpPr>
        <p:spPr>
          <a:xfrm>
            <a:off x="9242375" y="5860256"/>
            <a:ext cx="1994163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MTTD</a:t>
            </a:r>
            <a:endParaRPr lang="en-US" sz="638" dirty="0"/>
          </a:p>
        </p:txBody>
      </p:sp>
      <p:sp>
        <p:nvSpPr>
          <p:cNvPr id="84" name="Text 82"/>
          <p:cNvSpPr/>
          <p:nvPr/>
        </p:nvSpPr>
        <p:spPr>
          <a:xfrm>
            <a:off x="11131451" y="5660231"/>
            <a:ext cx="19941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" b="1" kern="0" spc="-14" dirty="0">
                <a:solidFill>
                  <a:srgbClr val="855AC6">
                    <a:alpha val="7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+20%</a:t>
            </a:r>
            <a:endParaRPr lang="en-US" sz="1425" dirty="0"/>
          </a:p>
        </p:txBody>
      </p:sp>
      <p:sp>
        <p:nvSpPr>
          <p:cNvPr id="85" name="Text 83"/>
          <p:cNvSpPr/>
          <p:nvPr/>
        </p:nvSpPr>
        <p:spPr>
          <a:xfrm>
            <a:off x="11131451" y="5860256"/>
            <a:ext cx="1994163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638" b="1" kern="0" spc="32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EFICIENCIA</a:t>
            </a:r>
            <a:endParaRPr lang="en-US" sz="638" dirty="0"/>
          </a:p>
        </p:txBody>
      </p:sp>
      <p:sp>
        <p:nvSpPr>
          <p:cNvPr id="86" name="Text 84"/>
          <p:cNvSpPr/>
          <p:nvPr/>
        </p:nvSpPr>
        <p:spPr>
          <a:xfrm>
            <a:off x="9242375" y="6067425"/>
            <a:ext cx="407214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b="1" kern="0" spc="68" dirty="0">
                <a:solidFill>
                  <a:srgbClr val="855AC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PENDIENTE AUTORIZACIÓN · BAJO NDA</a:t>
            </a:r>
            <a:endParaRPr lang="en-US" sz="675" dirty="0"/>
          </a:p>
        </p:txBody>
      </p:sp>
      <p:sp>
        <p:nvSpPr>
          <p:cNvPr id="87" name="Shape 85"/>
          <p:cNvSpPr/>
          <p:nvPr/>
        </p:nvSpPr>
        <p:spPr>
          <a:xfrm>
            <a:off x="571500" y="6491288"/>
            <a:ext cx="12573000" cy="728663"/>
          </a:xfrm>
          <a:prstGeom prst="roundRect">
            <a:avLst>
              <a:gd name="adj" fmla="val 13072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Text 86"/>
          <p:cNvSpPr/>
          <p:nvPr/>
        </p:nvSpPr>
        <p:spPr>
          <a:xfrm>
            <a:off x="752475" y="6787753"/>
            <a:ext cx="1891189" cy="1738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14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CLIENTES QUE OPERAMOS HOY</a:t>
            </a:r>
            <a:endParaRPr lang="en-US" sz="713" dirty="0"/>
          </a:p>
        </p:txBody>
      </p:sp>
      <p:sp>
        <p:nvSpPr>
          <p:cNvPr id="89" name="Shape 87"/>
          <p:cNvSpPr/>
          <p:nvPr/>
        </p:nvSpPr>
        <p:spPr>
          <a:xfrm>
            <a:off x="2595563" y="6779419"/>
            <a:ext cx="9525" cy="152400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2728913" y="6605588"/>
            <a:ext cx="660946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2824163" y="6643688"/>
            <a:ext cx="54664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Telefónica</a:t>
            </a:r>
            <a:endParaRPr lang="en-US" sz="788" dirty="0"/>
          </a:p>
        </p:txBody>
      </p:sp>
      <p:sp>
        <p:nvSpPr>
          <p:cNvPr id="92" name="Shape 90"/>
          <p:cNvSpPr/>
          <p:nvPr/>
        </p:nvSpPr>
        <p:spPr>
          <a:xfrm>
            <a:off x="3437483" y="6605588"/>
            <a:ext cx="314176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Text 91"/>
          <p:cNvSpPr/>
          <p:nvPr/>
        </p:nvSpPr>
        <p:spPr>
          <a:xfrm>
            <a:off x="3532733" y="6643688"/>
            <a:ext cx="19987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BT</a:t>
            </a:r>
            <a:endParaRPr lang="en-US" sz="788" dirty="0"/>
          </a:p>
        </p:txBody>
      </p:sp>
      <p:sp>
        <p:nvSpPr>
          <p:cNvPr id="94" name="Shape 92"/>
          <p:cNvSpPr/>
          <p:nvPr/>
        </p:nvSpPr>
        <p:spPr>
          <a:xfrm>
            <a:off x="3799284" y="6605588"/>
            <a:ext cx="599331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3894534" y="6643688"/>
            <a:ext cx="48503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Euskaltel</a:t>
            </a:r>
            <a:endParaRPr lang="en-US" sz="788" dirty="0"/>
          </a:p>
        </p:txBody>
      </p:sp>
      <p:sp>
        <p:nvSpPr>
          <p:cNvPr id="96" name="Shape 94"/>
          <p:cNvSpPr/>
          <p:nvPr/>
        </p:nvSpPr>
        <p:spPr>
          <a:xfrm>
            <a:off x="4446240" y="6605588"/>
            <a:ext cx="968425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Text 95"/>
          <p:cNvSpPr/>
          <p:nvPr/>
        </p:nvSpPr>
        <p:spPr>
          <a:xfrm>
            <a:off x="4541490" y="6643688"/>
            <a:ext cx="8541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Eusko Jaurlaritza</a:t>
            </a:r>
            <a:endParaRPr lang="en-US" sz="788" dirty="0"/>
          </a:p>
        </p:txBody>
      </p:sp>
      <p:sp>
        <p:nvSpPr>
          <p:cNvPr id="98" name="Shape 96"/>
          <p:cNvSpPr/>
          <p:nvPr/>
        </p:nvSpPr>
        <p:spPr>
          <a:xfrm>
            <a:off x="5462290" y="6605588"/>
            <a:ext cx="760214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5557540" y="6643688"/>
            <a:ext cx="64591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izfe · itelazpi</a:t>
            </a:r>
            <a:endParaRPr lang="en-US" sz="788" dirty="0"/>
          </a:p>
        </p:txBody>
      </p:sp>
      <p:sp>
        <p:nvSpPr>
          <p:cNvPr id="100" name="Shape 98"/>
          <p:cNvSpPr/>
          <p:nvPr/>
        </p:nvSpPr>
        <p:spPr>
          <a:xfrm>
            <a:off x="6270129" y="6605588"/>
            <a:ext cx="498128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Text 99"/>
          <p:cNvSpPr/>
          <p:nvPr/>
        </p:nvSpPr>
        <p:spPr>
          <a:xfrm>
            <a:off x="6365379" y="6643688"/>
            <a:ext cx="3838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Repsol</a:t>
            </a:r>
            <a:endParaRPr lang="en-US" sz="788" dirty="0"/>
          </a:p>
        </p:txBody>
      </p:sp>
      <p:sp>
        <p:nvSpPr>
          <p:cNvPr id="102" name="Shape 100"/>
          <p:cNvSpPr/>
          <p:nvPr/>
        </p:nvSpPr>
        <p:spPr>
          <a:xfrm>
            <a:off x="6815882" y="6605588"/>
            <a:ext cx="935534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6911132" y="6643688"/>
            <a:ext cx="82123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Admiral Seguros</a:t>
            </a:r>
            <a:endParaRPr lang="en-US" sz="788" dirty="0"/>
          </a:p>
        </p:txBody>
      </p:sp>
      <p:sp>
        <p:nvSpPr>
          <p:cNvPr id="104" name="Shape 102"/>
          <p:cNvSpPr/>
          <p:nvPr/>
        </p:nvSpPr>
        <p:spPr>
          <a:xfrm>
            <a:off x="7799040" y="6605588"/>
            <a:ext cx="817662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Text 103"/>
          <p:cNvSpPr/>
          <p:nvPr/>
        </p:nvSpPr>
        <p:spPr>
          <a:xfrm>
            <a:off x="7894290" y="6643688"/>
            <a:ext cx="70336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Bizkaia Lantik</a:t>
            </a:r>
            <a:endParaRPr lang="en-US" sz="788" dirty="0"/>
          </a:p>
        </p:txBody>
      </p:sp>
      <p:sp>
        <p:nvSpPr>
          <p:cNvPr id="106" name="Shape 104"/>
          <p:cNvSpPr/>
          <p:nvPr/>
        </p:nvSpPr>
        <p:spPr>
          <a:xfrm>
            <a:off x="8664327" y="6605588"/>
            <a:ext cx="622548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8759577" y="6643688"/>
            <a:ext cx="50824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Cruz Roja</a:t>
            </a:r>
            <a:endParaRPr lang="en-US" sz="788" dirty="0"/>
          </a:p>
        </p:txBody>
      </p:sp>
      <p:sp>
        <p:nvSpPr>
          <p:cNvPr id="108" name="Shape 106"/>
          <p:cNvSpPr/>
          <p:nvPr/>
        </p:nvSpPr>
        <p:spPr>
          <a:xfrm>
            <a:off x="9334500" y="6605588"/>
            <a:ext cx="765721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Text 107"/>
          <p:cNvSpPr/>
          <p:nvPr/>
        </p:nvSpPr>
        <p:spPr>
          <a:xfrm>
            <a:off x="9429750" y="6643688"/>
            <a:ext cx="65142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Athletic Club</a:t>
            </a:r>
            <a:endParaRPr lang="en-US" sz="788" dirty="0"/>
          </a:p>
        </p:txBody>
      </p:sp>
      <p:sp>
        <p:nvSpPr>
          <p:cNvPr id="110" name="Shape 108"/>
          <p:cNvSpPr/>
          <p:nvPr/>
        </p:nvSpPr>
        <p:spPr>
          <a:xfrm>
            <a:off x="10147846" y="6605588"/>
            <a:ext cx="453628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Text 109"/>
          <p:cNvSpPr/>
          <p:nvPr/>
        </p:nvSpPr>
        <p:spPr>
          <a:xfrm>
            <a:off x="10243096" y="6643688"/>
            <a:ext cx="339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MEFP</a:t>
            </a:r>
            <a:endParaRPr lang="en-US" sz="788" dirty="0"/>
          </a:p>
        </p:txBody>
      </p:sp>
      <p:sp>
        <p:nvSpPr>
          <p:cNvPr id="112" name="Shape 110"/>
          <p:cNvSpPr/>
          <p:nvPr/>
        </p:nvSpPr>
        <p:spPr>
          <a:xfrm>
            <a:off x="10649099" y="6605588"/>
            <a:ext cx="489049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Text 111"/>
          <p:cNvSpPr/>
          <p:nvPr/>
        </p:nvSpPr>
        <p:spPr>
          <a:xfrm>
            <a:off x="10744349" y="6643688"/>
            <a:ext cx="37474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LaLiga</a:t>
            </a:r>
            <a:endParaRPr lang="en-US" sz="788" dirty="0"/>
          </a:p>
        </p:txBody>
      </p:sp>
      <p:sp>
        <p:nvSpPr>
          <p:cNvPr id="114" name="Shape 112"/>
          <p:cNvSpPr/>
          <p:nvPr/>
        </p:nvSpPr>
        <p:spPr>
          <a:xfrm>
            <a:off x="11185773" y="6605588"/>
            <a:ext cx="521940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Text 113"/>
          <p:cNvSpPr/>
          <p:nvPr/>
        </p:nvSpPr>
        <p:spPr>
          <a:xfrm>
            <a:off x="11281023" y="6643688"/>
            <a:ext cx="40764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Finning</a:t>
            </a:r>
            <a:endParaRPr lang="en-US" sz="788" dirty="0"/>
          </a:p>
        </p:txBody>
      </p:sp>
      <p:sp>
        <p:nvSpPr>
          <p:cNvPr id="116" name="Shape 114"/>
          <p:cNvSpPr/>
          <p:nvPr/>
        </p:nvSpPr>
        <p:spPr>
          <a:xfrm>
            <a:off x="11755338" y="6605588"/>
            <a:ext cx="555873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7" name="Text 115"/>
          <p:cNvSpPr/>
          <p:nvPr/>
        </p:nvSpPr>
        <p:spPr>
          <a:xfrm>
            <a:off x="11850588" y="6643688"/>
            <a:ext cx="44157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Valoriza</a:t>
            </a:r>
            <a:endParaRPr lang="en-US" sz="788" dirty="0"/>
          </a:p>
        </p:txBody>
      </p:sp>
      <p:sp>
        <p:nvSpPr>
          <p:cNvPr id="118" name="Shape 116"/>
          <p:cNvSpPr/>
          <p:nvPr/>
        </p:nvSpPr>
        <p:spPr>
          <a:xfrm>
            <a:off x="2728913" y="6879431"/>
            <a:ext cx="957411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Text 117"/>
          <p:cNvSpPr/>
          <p:nvPr/>
        </p:nvSpPr>
        <p:spPr>
          <a:xfrm>
            <a:off x="2824163" y="6917531"/>
            <a:ext cx="84311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Andorra Telecom</a:t>
            </a:r>
            <a:endParaRPr lang="en-US" sz="788" dirty="0"/>
          </a:p>
        </p:txBody>
      </p:sp>
      <p:sp>
        <p:nvSpPr>
          <p:cNvPr id="120" name="Shape 118"/>
          <p:cNvSpPr/>
          <p:nvPr/>
        </p:nvSpPr>
        <p:spPr>
          <a:xfrm>
            <a:off x="3733949" y="6879431"/>
            <a:ext cx="421928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Text 119"/>
          <p:cNvSpPr/>
          <p:nvPr/>
        </p:nvSpPr>
        <p:spPr>
          <a:xfrm>
            <a:off x="3829199" y="6917531"/>
            <a:ext cx="3076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INAP</a:t>
            </a:r>
            <a:endParaRPr lang="en-US" sz="788" dirty="0"/>
          </a:p>
        </p:txBody>
      </p:sp>
      <p:sp>
        <p:nvSpPr>
          <p:cNvPr id="122" name="Shape 120"/>
          <p:cNvSpPr/>
          <p:nvPr/>
        </p:nvSpPr>
        <p:spPr>
          <a:xfrm>
            <a:off x="4203502" y="6879431"/>
            <a:ext cx="581323" cy="226219"/>
          </a:xfrm>
          <a:prstGeom prst="roundRect">
            <a:avLst>
              <a:gd name="adj" fmla="val 25263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Text 121"/>
          <p:cNvSpPr/>
          <p:nvPr/>
        </p:nvSpPr>
        <p:spPr>
          <a:xfrm>
            <a:off x="4298752" y="6917531"/>
            <a:ext cx="46702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TELXIUS</a:t>
            </a:r>
            <a:endParaRPr lang="en-US" sz="788" dirty="0"/>
          </a:p>
        </p:txBody>
      </p:sp>
      <p:sp>
        <p:nvSpPr>
          <p:cNvPr id="124" name="Shape 122"/>
          <p:cNvSpPr/>
          <p:nvPr/>
        </p:nvSpPr>
        <p:spPr>
          <a:xfrm>
            <a:off x="4832449" y="6886575"/>
            <a:ext cx="554831" cy="211931"/>
          </a:xfrm>
          <a:prstGeom prst="roundRect">
            <a:avLst>
              <a:gd name="adj" fmla="val 26966"/>
            </a:avLst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5" name="Text 123"/>
          <p:cNvSpPr/>
          <p:nvPr/>
        </p:nvSpPr>
        <p:spPr>
          <a:xfrm>
            <a:off x="4927699" y="6924675"/>
            <a:ext cx="44053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545"/>
              </a:lnSpc>
              <a:buNone/>
            </a:pPr>
            <a:r>
              <a:rPr lang="en-US" sz="713" b="1" kern="0" spc="7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NDAS</a:t>
            </a:r>
            <a:endParaRPr lang="en-US" sz="713" dirty="0"/>
          </a:p>
        </p:txBody>
      </p:sp>
      <p:sp>
        <p:nvSpPr>
          <p:cNvPr id="126" name="Text 124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4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88000" t="8000" r="12000" b="92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129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ENTELGY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571500" y="850106"/>
            <a:ext cx="13411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22"/>
              </a:lnSpc>
              <a:buNone/>
            </a:pPr>
            <a:r>
              <a:rPr lang="en-US" sz="4950" b="1" kern="0" spc="-99" dirty="0">
                <a:solidFill>
                  <a:srgbClr val="FFFFFF">
                    <a:alpha val="42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mayoría implanta tecnología.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571500" y="1510159"/>
            <a:ext cx="13411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22"/>
              </a:lnSpc>
              <a:buNone/>
            </a:pPr>
            <a:r>
              <a:rPr lang="en-US" sz="4950" b="1" kern="0" spc="-9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Nosotros operamos el cambio.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571500" y="2379762"/>
            <a:ext cx="10058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diferencia está en </a:t>
            </a: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quién lo tiene en producción hoy </a:t>
            </a:r>
            <a:r>
              <a:rPr lang="en-US" sz="13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en </a:t>
            </a: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quién modela el impacto </a:t>
            </a:r>
            <a:r>
              <a:rPr lang="en-US" sz="13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antes de cambiar la arquitectura.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1500" y="3094137"/>
            <a:ext cx="239762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71500" y="3256062"/>
            <a:ext cx="26373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116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3527524"/>
            <a:ext cx="2473821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333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producción hoy, no en catálogo.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" y="4062710"/>
            <a:ext cx="2473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AIOps y FinOps operándose ya en clientes reales — no una línea de porfolio.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3216771" y="3094137"/>
            <a:ext cx="239762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16771" y="3256062"/>
            <a:ext cx="26373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116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16771" y="3527524"/>
            <a:ext cx="2473821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333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Modelamos el impacto antes de tocar tu arquitectura.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16771" y="4062710"/>
            <a:ext cx="2473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honesta de cargas y FinOps antes de mover una sola pieza.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5862042" y="3094137"/>
            <a:ext cx="239762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862042" y="3256062"/>
            <a:ext cx="26373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116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862042" y="3527524"/>
            <a:ext cx="2473821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333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Change e Inteligencia de Procesos primero.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62042" y="4062710"/>
            <a:ext cx="2473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tecnología va encima del cambio operado, no al revés.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8621762" y="3094137"/>
            <a:ext cx="4522738" cy="2208163"/>
          </a:xfrm>
          <a:prstGeom prst="roundRect">
            <a:avLst>
              <a:gd name="adj" fmla="val 5176"/>
            </a:avLst>
          </a:prstGeom>
          <a:solidFill>
            <a:srgbClr val="FE5000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621762" y="5292775"/>
            <a:ext cx="4522738" cy="9525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621762" y="3094137"/>
            <a:ext cx="4522738" cy="9525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8621762" y="3094137"/>
            <a:ext cx="28575" cy="2208163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13134975" y="3094137"/>
            <a:ext cx="9525" cy="2208163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917037" y="3332262"/>
            <a:ext cx="43463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35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PRUEBA DE CONTINUIDAD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917037" y="3570387"/>
            <a:ext cx="4346362" cy="686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494"/>
              </a:lnSpc>
              <a:buNone/>
            </a:pPr>
            <a:r>
              <a:rPr lang="en-US" sz="5550" b="1" kern="0" spc="-1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&lt;2%</a:t>
            </a:r>
            <a:endParaRPr lang="en-US" sz="5550" dirty="0"/>
          </a:p>
        </p:txBody>
      </p:sp>
      <p:sp>
        <p:nvSpPr>
          <p:cNvPr id="29" name="Text 27"/>
          <p:cNvSpPr/>
          <p:nvPr/>
        </p:nvSpPr>
        <p:spPr>
          <a:xfrm>
            <a:off x="8917037" y="4237881"/>
            <a:ext cx="434636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rotación de equipo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8917037" y="4576018"/>
            <a:ext cx="434636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mismo equipo que te conoce, año tras año.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8917037" y="4892725"/>
            <a:ext cx="5456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3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Sector: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9453116" y="4883200"/>
            <a:ext cx="34453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b="1" kern="0" spc="33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+20%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6000" t="4000" r="4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15353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DE RELACIÓN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07918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3000" b="1" kern="0" spc="-6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primer paso es el mismo para todos. </a:t>
            </a:r>
            <a:r>
              <a:rPr lang="en-US" sz="3000" b="1" kern="0" spc="-6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 que viene después depende de ti.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" y="1840706"/>
            <a:ext cx="6019800" cy="1893689"/>
          </a:xfrm>
          <a:prstGeom prst="roundRect">
            <a:avLst>
              <a:gd name="adj" fmla="val 4024"/>
            </a:avLst>
          </a:prstGeom>
          <a:gradFill rotWithShape="1">
            <a:gsLst>
              <a:gs pos="0">
                <a:srgbClr val="FE5000">
                  <a:alpha val="6000"/>
                </a:srgbClr>
              </a:gs>
              <a:gs pos="62000">
                <a:srgbClr val="FFFFFF">
                  <a:alpha val="100000"/>
                </a:srgbClr>
              </a:gs>
            </a:gsLst>
            <a:lin ang="2700000" scaled="0"/>
          </a:gradFill>
          <a:ln/>
          <a:effectLst>
            <a:outerShdw blurRad="285750" dist="114300" dir="5400000" algn="bl" rotWithShape="0">
              <a:srgbClr val="FE5000">
                <a:alpha val="4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71500" y="3724870"/>
            <a:ext cx="601980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71500" y="1840706"/>
            <a:ext cx="601980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71500" y="1840706"/>
            <a:ext cx="28575" cy="1893689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581775" y="1840706"/>
            <a:ext cx="9525" cy="1893689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09625" y="2531566"/>
            <a:ext cx="990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b="1" kern="0" spc="-6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F·01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9625" y="2893516"/>
            <a:ext cx="9906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26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SEMANAS 1–4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1933575" y="2021681"/>
            <a:ext cx="25565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SÍ FÁCIL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33575" y="2221706"/>
            <a:ext cx="255651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kern="0" spc="-1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Data Driven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933575" y="2495996"/>
            <a:ext cx="2400300" cy="61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97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Inventario de deuda técnica. Cloud waste con cifras exactas. Gap NIS2/DORA. Quick wins en 90 días.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933575" y="3147715"/>
            <a:ext cx="232410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933575" y="3233440"/>
            <a:ext cx="24003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Mapa de decisión ejecutiva — el resultado es tuyo decidas lo que decidas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19166" y="2412504"/>
            <a:ext cx="1853059" cy="269081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 w="9525">
            <a:solidFill>
              <a:srgbClr val="FE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66791" y="2479179"/>
            <a:ext cx="1681609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545"/>
              </a:lnSpc>
              <a:buNone/>
            </a:pPr>
            <a:r>
              <a:rPr lang="en-US" sz="713" b="1" kern="0" spc="11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PRICE · DESDE 10 DÍAS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4572060" y="2757785"/>
            <a:ext cx="180016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38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Inversión orientativa: 30–50K€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5143798" y="3012579"/>
            <a:ext cx="122842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788" i="1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compromiso posterior</a:t>
            </a:r>
            <a:endParaRPr lang="en-US" sz="788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50" y="2654201"/>
            <a:ext cx="266700" cy="2667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124700" y="1840706"/>
            <a:ext cx="6019800" cy="1893689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7343775" y="2531566"/>
            <a:ext cx="990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11"/>
              </a:lnSpc>
              <a:buNone/>
            </a:pPr>
            <a:r>
              <a:rPr lang="en-US" sz="2400" kern="0" spc="-6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F·02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343775" y="2893516"/>
            <a:ext cx="9906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26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MESES 1–3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8467725" y="2121694"/>
            <a:ext cx="25774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kern="0" spc="-1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Piloto Operativo Medible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8467725" y="2395984"/>
            <a:ext cx="2419350" cy="61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97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Activación en el dominio de mayor riesgo. Solapamiento garantizado con el incumbente.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8467725" y="3047702"/>
            <a:ext cx="23431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8467725" y="3133427"/>
            <a:ext cx="24193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Caso medible de reducción de complejidad en 90 días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1412289" y="2539901"/>
            <a:ext cx="1513136" cy="269081"/>
          </a:xfrm>
          <a:prstGeom prst="roundRect">
            <a:avLst>
              <a:gd name="adj" fmla="val 50000"/>
            </a:avLst>
          </a:prstGeom>
          <a:ln w="9525">
            <a:solidFill>
              <a:srgbClr val="041C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1459914" y="2606576"/>
            <a:ext cx="1341686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545"/>
              </a:lnSpc>
              <a:buNone/>
            </a:pPr>
            <a:r>
              <a:rPr lang="en-US" sz="713" b="1" kern="0" spc="11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 DE SERVICIO</a:t>
            </a:r>
            <a:endParaRPr lang="en-US" sz="713" dirty="0"/>
          </a:p>
        </p:txBody>
      </p:sp>
      <p:sp>
        <p:nvSpPr>
          <p:cNvPr id="32" name="Text 29"/>
          <p:cNvSpPr/>
          <p:nvPr/>
        </p:nvSpPr>
        <p:spPr>
          <a:xfrm>
            <a:off x="11292245" y="2885182"/>
            <a:ext cx="16331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788" i="1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 nombrado · accountability</a:t>
            </a:r>
            <a:endParaRPr lang="en-US" sz="788" dirty="0"/>
          </a:p>
        </p:txBody>
      </p:sp>
      <p:sp>
        <p:nvSpPr>
          <p:cNvPr id="33" name="Shape 30"/>
          <p:cNvSpPr/>
          <p:nvPr/>
        </p:nvSpPr>
        <p:spPr>
          <a:xfrm>
            <a:off x="571500" y="3957042"/>
            <a:ext cx="458747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5330428" y="3886795"/>
            <a:ext cx="33606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7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TERMINAR F·02 — DECIDES EL CAMINO</a:t>
            </a:r>
            <a:endParaRPr lang="en-US" sz="788" dirty="0"/>
          </a:p>
        </p:txBody>
      </p:sp>
      <p:sp>
        <p:nvSpPr>
          <p:cNvPr id="35" name="Shape 32"/>
          <p:cNvSpPr/>
          <p:nvPr/>
        </p:nvSpPr>
        <p:spPr>
          <a:xfrm>
            <a:off x="8557022" y="3957042"/>
            <a:ext cx="4587478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571500" y="4189214"/>
            <a:ext cx="6210300" cy="234644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847725" y="4427339"/>
            <a:ext cx="622363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42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QUIERES EXTERNALIZAR LA OPERACIÓN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847725" y="4748808"/>
            <a:ext cx="7384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kern="0" spc="-9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F·03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1643360" y="4986933"/>
            <a:ext cx="6000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26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 4 →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847725" y="5232202"/>
            <a:ext cx="622363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38"/>
              </a:lnSpc>
              <a:buNone/>
            </a:pPr>
            <a:r>
              <a:rPr lang="en-US" sz="1650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Operación con Mejora Continua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847725" y="5578822"/>
            <a:ext cx="5827586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Revisiones mensuales de valor. Reporting orientado a negocio. Comités con agenda de mejora. Evolución hacia AIOps completo y XLAs.</a:t>
            </a:r>
            <a:endParaRPr lang="en-US" sz="1013" dirty="0"/>
          </a:p>
        </p:txBody>
      </p:sp>
      <p:sp>
        <p:nvSpPr>
          <p:cNvPr id="42" name="Shape 39"/>
          <p:cNvSpPr/>
          <p:nvPr/>
        </p:nvSpPr>
        <p:spPr>
          <a:xfrm>
            <a:off x="847725" y="6104483"/>
            <a:ext cx="56578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847725" y="6209258"/>
            <a:ext cx="582758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i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Roadmap modular con métricas y comité de evolución</a:t>
            </a:r>
            <a:endParaRPr lang="en-US" sz="938" dirty="0"/>
          </a:p>
        </p:txBody>
      </p:sp>
      <p:sp>
        <p:nvSpPr>
          <p:cNvPr id="44" name="Shape 41"/>
          <p:cNvSpPr/>
          <p:nvPr/>
        </p:nvSpPr>
        <p:spPr>
          <a:xfrm>
            <a:off x="4428327" y="4298162"/>
            <a:ext cx="2227659" cy="276225"/>
          </a:xfrm>
          <a:prstGeom prst="roundRect">
            <a:avLst>
              <a:gd name="adj" fmla="val 50000"/>
            </a:avLst>
          </a:prstGeom>
          <a:ln w="9525">
            <a:solidFill>
              <a:srgbClr val="041C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4571202" y="4364837"/>
            <a:ext cx="20181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CONTINUA · EVOLUTIVOS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6934200" y="4189214"/>
            <a:ext cx="6210300" cy="234644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7210425" y="4427339"/>
            <a:ext cx="622363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42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QUIERES MIGRAR Y RETENER EL CONTROL</a:t>
            </a:r>
            <a:endParaRPr lang="en-US" sz="788" dirty="0"/>
          </a:p>
        </p:txBody>
      </p:sp>
      <p:sp>
        <p:nvSpPr>
          <p:cNvPr id="48" name="Text 45"/>
          <p:cNvSpPr/>
          <p:nvPr/>
        </p:nvSpPr>
        <p:spPr>
          <a:xfrm>
            <a:off x="7210425" y="4748808"/>
            <a:ext cx="7521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kern="0" spc="-9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F·04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8019752" y="4986933"/>
            <a:ext cx="135978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788" b="1" kern="0" spc="126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CERRADO</a:t>
            </a:r>
            <a:endParaRPr lang="en-US" sz="788" dirty="0"/>
          </a:p>
        </p:txBody>
      </p:sp>
      <p:sp>
        <p:nvSpPr>
          <p:cNvPr id="50" name="Text 47"/>
          <p:cNvSpPr/>
          <p:nvPr/>
        </p:nvSpPr>
        <p:spPr>
          <a:xfrm>
            <a:off x="7210425" y="5232202"/>
            <a:ext cx="622363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38"/>
              </a:lnSpc>
              <a:buNone/>
            </a:pPr>
            <a:r>
              <a:rPr lang="en-US" sz="1650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Transformación y Entrega</a:t>
            </a:r>
            <a:endParaRPr lang="en-US" sz="1650" dirty="0"/>
          </a:p>
        </p:txBody>
      </p:sp>
      <p:sp>
        <p:nvSpPr>
          <p:cNvPr id="51" name="Text 48"/>
          <p:cNvSpPr/>
          <p:nvPr/>
        </p:nvSpPr>
        <p:spPr>
          <a:xfrm>
            <a:off x="7210425" y="5578822"/>
            <a:ext cx="5827586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Assessment, diseño y migración completa. Entelgy ejecuta el cambio y deja el entorno listo para tu equipo. Sin operación posterior.</a:t>
            </a:r>
            <a:endParaRPr lang="en-US" sz="1013" dirty="0"/>
          </a:p>
        </p:txBody>
      </p:sp>
      <p:sp>
        <p:nvSpPr>
          <p:cNvPr id="52" name="Shape 49"/>
          <p:cNvSpPr/>
          <p:nvPr/>
        </p:nvSpPr>
        <p:spPr>
          <a:xfrm>
            <a:off x="7210425" y="6104483"/>
            <a:ext cx="565785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0"/>
          <p:cNvSpPr/>
          <p:nvPr/>
        </p:nvSpPr>
        <p:spPr>
          <a:xfrm>
            <a:off x="7210425" y="6209258"/>
            <a:ext cx="582758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i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El proyecto termina con la entrega — tú mantienes el control</a:t>
            </a:r>
            <a:endParaRPr lang="en-US" sz="938" dirty="0"/>
          </a:p>
        </p:txBody>
      </p:sp>
      <p:sp>
        <p:nvSpPr>
          <p:cNvPr id="54" name="Shape 51"/>
          <p:cNvSpPr/>
          <p:nvPr/>
        </p:nvSpPr>
        <p:spPr>
          <a:xfrm>
            <a:off x="11589931" y="4278915"/>
            <a:ext cx="1494979" cy="276225"/>
          </a:xfrm>
          <a:prstGeom prst="roundRect">
            <a:avLst>
              <a:gd name="adj" fmla="val 50000"/>
            </a:avLst>
          </a:prstGeom>
          <a:ln w="9525">
            <a:solidFill>
              <a:srgbClr val="041C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2"/>
          <p:cNvSpPr/>
          <p:nvPr/>
        </p:nvSpPr>
        <p:spPr>
          <a:xfrm>
            <a:off x="11732806" y="4345590"/>
            <a:ext cx="12854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ALCANCE · A MEDIDA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571500" y="6463457"/>
            <a:ext cx="12573000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/>
          <p:nvPr/>
        </p:nvSpPr>
        <p:spPr>
          <a:xfrm>
            <a:off x="609600" y="6762959"/>
            <a:ext cx="37257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316"/>
              </a:lnSpc>
              <a:buNone/>
            </a:pPr>
            <a:r>
              <a:rPr lang="en-US" sz="1200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único compromiso que pedimos es el de la </a:t>
            </a:r>
            <a:r>
              <a:rPr lang="en-US" sz="1200" b="1" kern="0" spc="-6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1.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206180" y="6808291"/>
            <a:ext cx="9525" cy="209550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4490084" y="6712656"/>
            <a:ext cx="8730615" cy="61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97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diez días, fixed price, valor desde la primera semana. Es </a:t>
            </a:r>
            <a:r>
              <a:rPr lang="en-US" sz="9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decidir con datos antes de mover una sola pieza </a:t>
            </a:r>
            <a:r>
              <a:rPr lang="en-US" sz="97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y esperar no lo abarata: el diagnóstico cuesta lo mismo, el problema no.</a:t>
            </a:r>
            <a:endParaRPr lang="en-US" sz="975" dirty="0"/>
          </a:p>
        </p:txBody>
      </p:sp>
      <p:sp>
        <p:nvSpPr>
          <p:cNvPr id="60" name="Text 57"/>
          <p:cNvSpPr/>
          <p:nvPr/>
        </p:nvSpPr>
        <p:spPr>
          <a:xfrm>
            <a:off x="11418391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2600384" y="73342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6000"/>
                </a:srgbClr>
              </a:gs>
              <a:gs pos="48000">
                <a:srgbClr val="855AC6">
                  <a:alpha val="0"/>
                </a:srgbClr>
              </a:gs>
            </a:gsLst>
            <a:path path="circle">
              <a:fillToRect l="90000" t="4000" r="10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19100" y="419100"/>
            <a:ext cx="12877800" cy="6877050"/>
          </a:xfrm>
          <a:prstGeom prst="rect">
            <a:avLst/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410950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1610975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1811000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2011025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2211050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2411075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2611100" y="112395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1410950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1610975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1811000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2011025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2211050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2411075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12611100" y="1323975"/>
            <a:ext cx="152400" cy="152400"/>
          </a:xfrm>
          <a:prstGeom prst="roundRect">
            <a:avLst>
              <a:gd name="adj" fmla="val 6250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1410950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11610975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1811000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2011025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2211050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2411075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C8D2DA">
              <a:alpha val="13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12611100" y="1524000"/>
            <a:ext cx="152400" cy="1524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952500" y="607219"/>
            <a:ext cx="210957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57"/>
              </a:lnSpc>
              <a:buNone/>
            </a:pPr>
            <a:r>
              <a:rPr lang="en-US" sz="825" kern="0" spc="182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SIGUIENTE PASO</a:t>
            </a:r>
            <a:endParaRPr lang="en-US" sz="825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0" y="571500"/>
            <a:ext cx="9144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52500" y="2286000"/>
            <a:ext cx="11734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22"/>
              </a:lnSpc>
              <a:buNone/>
            </a:pPr>
            <a:r>
              <a:rPr lang="en-US" sz="16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modernizar la infraestructura.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52500" y="2733675"/>
            <a:ext cx="117348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73"/>
              </a:lnSpc>
              <a:buNone/>
            </a:pPr>
            <a:r>
              <a:rPr lang="en-US" sz="6150" b="1" kern="0" spc="-18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Esperar es </a:t>
            </a:r>
            <a:r>
              <a:rPr lang="en-US" sz="6150" b="1" kern="0" spc="-184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caro </a:t>
            </a:r>
            <a:r>
              <a:rPr lang="en-US" sz="6150" b="1" kern="0" spc="-18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actuar.</a:t>
            </a:r>
            <a:endParaRPr lang="en-US" sz="6150" dirty="0"/>
          </a:p>
        </p:txBody>
      </p:sp>
      <p:sp>
        <p:nvSpPr>
          <p:cNvPr id="30" name="Text 27"/>
          <p:cNvSpPr/>
          <p:nvPr/>
        </p:nvSpPr>
        <p:spPr>
          <a:xfrm>
            <a:off x="952500" y="3781425"/>
            <a:ext cx="745617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575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conversación correcta no es qué herramienta comprar, sino qué riesgo operativo merece dejar de gestionarse tarde.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952500" y="5867400"/>
            <a:ext cx="11811000" cy="1257300"/>
          </a:xfrm>
          <a:prstGeom prst="roundRect">
            <a:avLst>
              <a:gd name="adj" fmla="val 6061"/>
            </a:avLst>
          </a:prstGeom>
          <a:solidFill>
            <a:srgbClr val="020E16">
              <a:alpha val="50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1247775" y="6258223"/>
            <a:ext cx="27622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575" dirty="0"/>
          </a:p>
        </p:txBody>
      </p:sp>
      <p:sp>
        <p:nvSpPr>
          <p:cNvPr id="33" name="Text 30"/>
          <p:cNvSpPr/>
          <p:nvPr/>
        </p:nvSpPr>
        <p:spPr>
          <a:xfrm>
            <a:off x="1581150" y="6248698"/>
            <a:ext cx="50522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Solicita el diagnóstico Data Driven de tu infraestructura.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1247775" y="6593384"/>
            <a:ext cx="728955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kern="0" spc="12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DESDE 10 DÍAS · FIXED PRICE · VALOR DESDE SEMANA 1 · SIN COMPROMISO POSTERIOR</a:t>
            </a:r>
            <a:endParaRPr lang="en-US" sz="788" dirty="0"/>
          </a:p>
        </p:txBody>
      </p:sp>
      <p:sp>
        <p:nvSpPr>
          <p:cNvPr id="35" name="Shape 32"/>
          <p:cNvSpPr/>
          <p:nvPr/>
        </p:nvSpPr>
        <p:spPr>
          <a:xfrm>
            <a:off x="8217545" y="6191250"/>
            <a:ext cx="9525" cy="6096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569970" y="6086475"/>
            <a:ext cx="42879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b="1" kern="0" spc="-7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Amador Sobrino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569970" y="6438900"/>
            <a:ext cx="42879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kern="0" spc="95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DIRECTOR DE SOLUCIONES SYSOPSCLOUD &amp; DIGITAL WORKPLACE</a:t>
            </a:r>
            <a:endParaRPr lang="en-US" sz="788" dirty="0"/>
          </a:p>
        </p:txBody>
      </p:sp>
      <p:sp>
        <p:nvSpPr>
          <p:cNvPr id="38" name="Shape 35"/>
          <p:cNvSpPr/>
          <p:nvPr/>
        </p:nvSpPr>
        <p:spPr>
          <a:xfrm>
            <a:off x="8569970" y="6896100"/>
            <a:ext cx="3898106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8569970" y="6703219"/>
            <a:ext cx="4287917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013" kern="0" spc="1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amador.sobrino@entelgy.com</a:t>
            </a:r>
            <a:endParaRPr lang="en-US" sz="1013" dirty="0"/>
          </a:p>
        </p:txBody>
      </p:sp>
      <p:sp>
        <p:nvSpPr>
          <p:cNvPr id="40" name="Text 37"/>
          <p:cNvSpPr/>
          <p:nvPr/>
        </p:nvSpPr>
        <p:spPr>
          <a:xfrm>
            <a:off x="12561391" y="-2095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3743384" y="-209550"/>
            <a:ext cx="620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3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82000" t="22000" r="18000" b="78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1454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 DE APOYO</a:t>
            </a:r>
            <a:endParaRPr lang="en-US" sz="863" dirty="0"/>
          </a:p>
        </p:txBody>
      </p:sp>
      <p:sp>
        <p:nvSpPr>
          <p:cNvPr id="7" name="Shape 5"/>
          <p:cNvSpPr/>
          <p:nvPr/>
        </p:nvSpPr>
        <p:spPr>
          <a:xfrm>
            <a:off x="571500" y="5867846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71500" y="6115496"/>
            <a:ext cx="859155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321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siguientes slides son de respaldo.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71500" y="6728817"/>
            <a:ext cx="5867400" cy="281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875"/>
              </a:lnSpc>
              <a:buNone/>
            </a:pPr>
            <a:r>
              <a:rPr lang="en-US" sz="1238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Disponibles si la conversación lo pide — no forman parte del flujo principal.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11496080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78073" y="7334250"/>
            <a:ext cx="542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42580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 · URGENCIA REGULATORIA · MATERIAL DE APOYO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Tres relojes corriendo. Con </a:t>
            </a:r>
            <a:r>
              <a:rPr lang="en-US" sz="3000" b="1" kern="0" spc="-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 nombre </a:t>
            </a: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el contrato.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" y="1871067"/>
            <a:ext cx="4089350" cy="4724102"/>
          </a:xfrm>
          <a:prstGeom prst="roundRect">
            <a:avLst>
              <a:gd name="adj" fmla="val 18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90575" y="2285405"/>
            <a:ext cx="20129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01 · DEUDA TECNOLÓGICA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90575" y="2756892"/>
            <a:ext cx="40163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12·ene·2027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0575" y="3271242"/>
            <a:ext cx="40163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 Server 2016 + SQL 2016 · EOL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790575" y="3599855"/>
            <a:ext cx="37607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38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ESU disponible, coste creciente. SQL Server 2016: ESU termina jul 2026. CVEs activos sin parche oficial. Afecta: BFSI · AAPP · DORA en scope.</a:t>
            </a:r>
            <a:endParaRPr lang="en-US" sz="938" dirty="0"/>
          </a:p>
        </p:txBody>
      </p:sp>
      <p:sp>
        <p:nvSpPr>
          <p:cNvPr id="12" name="Shape 9"/>
          <p:cNvSpPr/>
          <p:nvPr/>
        </p:nvSpPr>
        <p:spPr>
          <a:xfrm>
            <a:off x="790575" y="4285655"/>
            <a:ext cx="1048345" cy="185738"/>
          </a:xfrm>
          <a:prstGeom prst="roundRect">
            <a:avLst>
              <a:gd name="adj" fmla="val 20513"/>
            </a:avLst>
          </a:prstGeom>
          <a:solidFill>
            <a:srgbClr val="F59E0B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85825" y="4314230"/>
            <a:ext cx="9340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81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ACCIÓN URGENTE</a:t>
            </a:r>
            <a:endParaRPr lang="en-US" sz="675" dirty="0"/>
          </a:p>
        </p:txBody>
      </p:sp>
      <p:sp>
        <p:nvSpPr>
          <p:cNvPr id="14" name="Shape 11"/>
          <p:cNvSpPr/>
          <p:nvPr/>
        </p:nvSpPr>
        <p:spPr>
          <a:xfrm>
            <a:off x="4813250" y="1871067"/>
            <a:ext cx="4089350" cy="4724102"/>
          </a:xfrm>
          <a:prstGeom prst="roundRect">
            <a:avLst>
              <a:gd name="adj" fmla="val 1863"/>
            </a:avLst>
          </a:prstGeom>
          <a:solidFill>
            <a:srgbClr val="855AC6">
              <a:alpha val="8000"/>
            </a:srgbClr>
          </a:solidFill>
          <a:ln w="9525">
            <a:solidFill>
              <a:srgbClr val="855AC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032325" y="2285405"/>
            <a:ext cx="13162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02 · EU AI ACT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032325" y="2756892"/>
            <a:ext cx="40163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Dic·2027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5032325" y="3271242"/>
            <a:ext cx="40163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 · High-Risk en vigor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5032325" y="3599855"/>
            <a:ext cx="37607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38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Multa: 15M€ o 3% facturación global. Aplicabilidad extraterritorial. Audit logs + documentación técnica obligatorios. Afecta: infra crítica · empleo · biometría.</a:t>
            </a:r>
            <a:endParaRPr lang="en-US" sz="938" dirty="0"/>
          </a:p>
        </p:txBody>
      </p:sp>
      <p:sp>
        <p:nvSpPr>
          <p:cNvPr id="20" name="Shape 16"/>
          <p:cNvSpPr/>
          <p:nvPr/>
        </p:nvSpPr>
        <p:spPr>
          <a:xfrm>
            <a:off x="5032325" y="4285655"/>
            <a:ext cx="1446461" cy="185738"/>
          </a:xfrm>
          <a:prstGeom prst="roundRect">
            <a:avLst>
              <a:gd name="adj" fmla="val 20513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127575" y="4314230"/>
            <a:ext cx="133216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8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PLAZO EN CUENTA ATRÁS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9055001" y="1871067"/>
            <a:ext cx="4089499" cy="4724102"/>
          </a:xfrm>
          <a:prstGeom prst="roundRect">
            <a:avLst>
              <a:gd name="adj" fmla="val 18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9274076" y="2285405"/>
            <a:ext cx="15162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03 · NIS2 ESPAÑA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9274076" y="2756892"/>
            <a:ext cx="401648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9274076" y="3271242"/>
            <a:ext cx="401648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España · Inspecciones activas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9274076" y="3599855"/>
            <a:ext cx="37608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38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Multa: 10M€ o 2% facturación global. Inhabilitación temporal del CEO. 24h alerta · 72h notificación · 30d informe. 18 sectores, +50 empleados.</a:t>
            </a:r>
            <a:endParaRPr lang="en-US" sz="938" dirty="0"/>
          </a:p>
        </p:txBody>
      </p:sp>
      <p:sp>
        <p:nvSpPr>
          <p:cNvPr id="28" name="Shape 23"/>
          <p:cNvSpPr/>
          <p:nvPr/>
        </p:nvSpPr>
        <p:spPr>
          <a:xfrm>
            <a:off x="9274076" y="4476155"/>
            <a:ext cx="1436936" cy="185738"/>
          </a:xfrm>
          <a:prstGeom prst="roundRect">
            <a:avLst>
              <a:gd name="adj" fmla="val 20513"/>
            </a:avLst>
          </a:prstGeom>
          <a:solidFill>
            <a:srgbClr val="F59E0B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/>
          <p:nvPr/>
        </p:nvSpPr>
        <p:spPr>
          <a:xfrm>
            <a:off x="9369326" y="4504730"/>
            <a:ext cx="132263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675" b="1" kern="0" spc="81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INSPECCIONES EN CURSO</a:t>
            </a:r>
            <a:endParaRPr lang="en-US" sz="675" dirty="0"/>
          </a:p>
        </p:txBody>
      </p:sp>
      <p:sp>
        <p:nvSpPr>
          <p:cNvPr id="30" name="Shape 25"/>
          <p:cNvSpPr/>
          <p:nvPr/>
        </p:nvSpPr>
        <p:spPr>
          <a:xfrm>
            <a:off x="571500" y="6709470"/>
            <a:ext cx="12573000" cy="510480"/>
          </a:xfrm>
          <a:prstGeom prst="roundRect">
            <a:avLst>
              <a:gd name="adj" fmla="val 14927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6"/>
          <p:cNvSpPr/>
          <p:nvPr/>
        </p:nvSpPr>
        <p:spPr>
          <a:xfrm>
            <a:off x="762000" y="6861870"/>
            <a:ext cx="1256919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FFFFFF"/>
                </a:solidFill>
                <a:highlight>
                  <a:srgbClr val="855AC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SmartOPS cubre los tres con un solo proveedor.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Empezamos por el que más te duela.</a:t>
            </a:r>
            <a:endParaRPr lang="en-US" sz="1013" dirty="0"/>
          </a:p>
        </p:txBody>
      </p:sp>
      <p:sp>
        <p:nvSpPr>
          <p:cNvPr id="32" name="Text 27"/>
          <p:cNvSpPr/>
          <p:nvPr/>
        </p:nvSpPr>
        <p:spPr>
          <a:xfrm>
            <a:off x="11340703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2522696" y="7334250"/>
            <a:ext cx="6980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6000" t="4000" r="4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42580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 · CON QUIÉN TRABAJAMOS · MATERIAL DE APOYO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236345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imponemos tecnología.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Traemos al mejor </a:t>
            </a: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lo que necesitas.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71500" y="1322487"/>
            <a:ext cx="88296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Evaluamos tu entorno, definimos qué necesitas y activamos el partner más especializado en esa tecnología concreta. Nos adaptamos a tu arquitectura — no al revés.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3118306" y="4205139"/>
            <a:ext cx="197644" cy="714970"/>
          </a:xfrm>
          <a:prstGeom prst="rect">
            <a:avLst/>
          </a:prstGeom>
          <a:noFill/>
          <a:ln/>
        </p:spPr>
        <p:txBody>
          <a:bodyPr vert="eaVert"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b="1" kern="0" spc="102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ESTRATÉGICA</a:t>
            </a:r>
            <a:endParaRPr lang="en-US" sz="638" dirty="0"/>
          </a:p>
        </p:txBody>
      </p:sp>
      <p:sp>
        <p:nvSpPr>
          <p:cNvPr id="8" name="Text 6"/>
          <p:cNvSpPr/>
          <p:nvPr/>
        </p:nvSpPr>
        <p:spPr>
          <a:xfrm>
            <a:off x="12996863" y="4174331"/>
            <a:ext cx="197644" cy="776585"/>
          </a:xfrm>
          <a:prstGeom prst="rect">
            <a:avLst/>
          </a:prstGeom>
          <a:noFill/>
          <a:ln/>
        </p:spPr>
        <p:txBody>
          <a:bodyPr vert="eaVert"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638" b="1" kern="0" spc="102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FOUNDATIONAL</a:t>
            </a:r>
            <a:endParaRPr lang="en-US" sz="638" dirty="0"/>
          </a:p>
        </p:txBody>
      </p:sp>
      <p:sp>
        <p:nvSpPr>
          <p:cNvPr id="9" name="Shape 7"/>
          <p:cNvSpPr/>
          <p:nvPr/>
        </p:nvSpPr>
        <p:spPr>
          <a:xfrm>
            <a:off x="571500" y="1867198"/>
            <a:ext cx="12573000" cy="1280964"/>
          </a:xfrm>
          <a:prstGeom prst="roundRect">
            <a:avLst>
              <a:gd name="adj" fmla="val 5949"/>
            </a:avLst>
          </a:prstGeom>
          <a:gradFill rotWithShape="1">
            <a:gsLst>
              <a:gs pos="0">
                <a:srgbClr val="FE5000">
                  <a:alpha val="7000"/>
                </a:srgbClr>
              </a:gs>
              <a:gs pos="100000">
                <a:srgbClr val="FE5000">
                  <a:alpha val="2000"/>
                </a:srgbClr>
              </a:gs>
            </a:gsLst>
            <a:lin ang="2700000" scaled="0"/>
          </a:gradFill>
          <a:ln/>
          <a:effectLst>
            <a:outerShdw blurRad="285750" dist="114300" dir="5400000" algn="bl" rotWithShape="0">
              <a:srgbClr val="FE5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71500" y="3138636"/>
            <a:ext cx="12573000" cy="9525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71500" y="1867198"/>
            <a:ext cx="12573000" cy="9525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71500" y="1867198"/>
            <a:ext cx="28575" cy="1280964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134975" y="1867198"/>
            <a:ext cx="9525" cy="1280964"/>
          </a:xfrm>
          <a:prstGeom prst="rect">
            <a:avLst/>
          </a:prstGeom>
          <a:solidFill>
            <a:srgbClr val="FE5000">
              <a:alpha val="3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8675" y="2263527"/>
            <a:ext cx="378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2100" b="1" kern="0" spc="-42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26641" y="2311152"/>
            <a:ext cx="6468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Capa 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8675" y="2615952"/>
            <a:ext cx="22002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71" dirty="0">
                <a:solidFill>
                  <a:srgbClr val="C73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MODELOS · MLOPS · CÓMPUTO IA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3057525" y="2368302"/>
            <a:ext cx="944910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171825" y="2425452"/>
            <a:ext cx="79251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Support</a:t>
            </a:r>
            <a:endParaRPr lang="en-US" sz="863" dirty="0"/>
          </a:p>
        </p:txBody>
      </p:sp>
      <p:sp>
        <p:nvSpPr>
          <p:cNvPr id="19" name="Shape 17"/>
          <p:cNvSpPr/>
          <p:nvPr/>
        </p:nvSpPr>
        <p:spPr>
          <a:xfrm>
            <a:off x="4059585" y="2368302"/>
            <a:ext cx="901898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173885" y="2425452"/>
            <a:ext cx="74949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OpenAI</a:t>
            </a:r>
            <a:endParaRPr lang="en-US" sz="863" dirty="0"/>
          </a:p>
        </p:txBody>
      </p:sp>
      <p:sp>
        <p:nvSpPr>
          <p:cNvPr id="21" name="Shape 19"/>
          <p:cNvSpPr/>
          <p:nvPr/>
        </p:nvSpPr>
        <p:spPr>
          <a:xfrm>
            <a:off x="5018633" y="2368302"/>
            <a:ext cx="589062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132933" y="2425452"/>
            <a:ext cx="436662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</a:t>
            </a:r>
            <a:endParaRPr lang="en-US" sz="863" dirty="0"/>
          </a:p>
        </p:txBody>
      </p:sp>
      <p:sp>
        <p:nvSpPr>
          <p:cNvPr id="23" name="Shape 21"/>
          <p:cNvSpPr/>
          <p:nvPr/>
        </p:nvSpPr>
        <p:spPr>
          <a:xfrm>
            <a:off x="5664845" y="2368302"/>
            <a:ext cx="882253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779145" y="2425452"/>
            <a:ext cx="72985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AIOps engine</a:t>
            </a:r>
            <a:endParaRPr lang="en-US" sz="863" dirty="0"/>
          </a:p>
        </p:txBody>
      </p:sp>
      <p:sp>
        <p:nvSpPr>
          <p:cNvPr id="25" name="Shape 23"/>
          <p:cNvSpPr/>
          <p:nvPr/>
        </p:nvSpPr>
        <p:spPr>
          <a:xfrm>
            <a:off x="6604248" y="2368302"/>
            <a:ext cx="584299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18548" y="2425452"/>
            <a:ext cx="43189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NVIDIA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7245697" y="2368302"/>
            <a:ext cx="1074093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359997" y="2425452"/>
            <a:ext cx="92169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DBs · RAG</a:t>
            </a:r>
            <a:endParaRPr lang="en-US" sz="863" dirty="0"/>
          </a:p>
        </p:txBody>
      </p:sp>
      <p:sp>
        <p:nvSpPr>
          <p:cNvPr id="29" name="Shape 27"/>
          <p:cNvSpPr/>
          <p:nvPr/>
        </p:nvSpPr>
        <p:spPr>
          <a:xfrm>
            <a:off x="8376940" y="2368302"/>
            <a:ext cx="591889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491240" y="2425452"/>
            <a:ext cx="43948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MLflow</a:t>
            </a:r>
            <a:endParaRPr lang="en-US" sz="863" dirty="0"/>
          </a:p>
        </p:txBody>
      </p:sp>
      <p:sp>
        <p:nvSpPr>
          <p:cNvPr id="31" name="Shape 29"/>
          <p:cNvSpPr/>
          <p:nvPr/>
        </p:nvSpPr>
        <p:spPr>
          <a:xfrm>
            <a:off x="9025979" y="2368302"/>
            <a:ext cx="1106091" cy="278606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9140279" y="2425452"/>
            <a:ext cx="953691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logs · AI Act</a:t>
            </a:r>
            <a:endParaRPr lang="en-US" sz="863" dirty="0"/>
          </a:p>
        </p:txBody>
      </p:sp>
      <p:sp>
        <p:nvSpPr>
          <p:cNvPr id="33" name="Shape 31"/>
          <p:cNvSpPr/>
          <p:nvPr/>
        </p:nvSpPr>
        <p:spPr>
          <a:xfrm>
            <a:off x="571500" y="3224361"/>
            <a:ext cx="12573000" cy="1281113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809625" y="3552974"/>
            <a:ext cx="3616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190327" y="3600599"/>
            <a:ext cx="12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Plataforma RUN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09625" y="3905399"/>
            <a:ext cx="2076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71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 · OBSERVABILIDAD · AUTOMATIZACIÓN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3038475" y="3725614"/>
            <a:ext cx="812602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152775" y="3782764"/>
            <a:ext cx="660202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ServiceNow</a:t>
            </a:r>
            <a:endParaRPr lang="en-US" sz="863" dirty="0"/>
          </a:p>
        </p:txBody>
      </p:sp>
      <p:sp>
        <p:nvSpPr>
          <p:cNvPr id="39" name="Shape 37"/>
          <p:cNvSpPr/>
          <p:nvPr/>
        </p:nvSpPr>
        <p:spPr>
          <a:xfrm>
            <a:off x="3908227" y="3725614"/>
            <a:ext cx="563463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022527" y="3782764"/>
            <a:ext cx="41106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Splunk</a:t>
            </a:r>
            <a:endParaRPr lang="en-US" sz="863" dirty="0"/>
          </a:p>
        </p:txBody>
      </p:sp>
      <p:sp>
        <p:nvSpPr>
          <p:cNvPr id="41" name="Shape 39"/>
          <p:cNvSpPr/>
          <p:nvPr/>
        </p:nvSpPr>
        <p:spPr>
          <a:xfrm>
            <a:off x="4528840" y="3725614"/>
            <a:ext cx="640705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643140" y="3782764"/>
            <a:ext cx="48830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Datadog</a:t>
            </a:r>
            <a:endParaRPr lang="en-US" sz="863" dirty="0"/>
          </a:p>
        </p:txBody>
      </p:sp>
      <p:sp>
        <p:nvSpPr>
          <p:cNvPr id="43" name="Shape 41"/>
          <p:cNvSpPr/>
          <p:nvPr/>
        </p:nvSpPr>
        <p:spPr>
          <a:xfrm>
            <a:off x="5226695" y="3725614"/>
            <a:ext cx="721965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340995" y="3782764"/>
            <a:ext cx="56956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Dynatrace</a:t>
            </a:r>
            <a:endParaRPr lang="en-US" sz="863" dirty="0"/>
          </a:p>
        </p:txBody>
      </p:sp>
      <p:sp>
        <p:nvSpPr>
          <p:cNvPr id="45" name="Shape 43"/>
          <p:cNvSpPr/>
          <p:nvPr/>
        </p:nvSpPr>
        <p:spPr>
          <a:xfrm>
            <a:off x="6005810" y="3725614"/>
            <a:ext cx="616893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120110" y="3782764"/>
            <a:ext cx="46449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Grafana</a:t>
            </a:r>
            <a:endParaRPr lang="en-US" sz="863" dirty="0"/>
          </a:p>
        </p:txBody>
      </p:sp>
      <p:sp>
        <p:nvSpPr>
          <p:cNvPr id="47" name="Shape 45"/>
          <p:cNvSpPr/>
          <p:nvPr/>
        </p:nvSpPr>
        <p:spPr>
          <a:xfrm>
            <a:off x="6679853" y="3725614"/>
            <a:ext cx="559891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6794153" y="3782764"/>
            <a:ext cx="407491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Zabbix</a:t>
            </a:r>
            <a:endParaRPr lang="en-US" sz="863" dirty="0"/>
          </a:p>
        </p:txBody>
      </p:sp>
      <p:sp>
        <p:nvSpPr>
          <p:cNvPr id="49" name="Shape 47"/>
          <p:cNvSpPr/>
          <p:nvPr/>
        </p:nvSpPr>
        <p:spPr>
          <a:xfrm>
            <a:off x="7296894" y="3725614"/>
            <a:ext cx="469106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411194" y="3782764"/>
            <a:ext cx="316706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OBM</a:t>
            </a:r>
            <a:endParaRPr lang="en-US" sz="863" dirty="0"/>
          </a:p>
        </p:txBody>
      </p:sp>
      <p:sp>
        <p:nvSpPr>
          <p:cNvPr id="51" name="Shape 49"/>
          <p:cNvSpPr/>
          <p:nvPr/>
        </p:nvSpPr>
        <p:spPr>
          <a:xfrm>
            <a:off x="7823150" y="3725614"/>
            <a:ext cx="593824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7937450" y="3782764"/>
            <a:ext cx="44142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Ansible</a:t>
            </a:r>
            <a:endParaRPr lang="en-US" sz="863" dirty="0"/>
          </a:p>
        </p:txBody>
      </p:sp>
      <p:sp>
        <p:nvSpPr>
          <p:cNvPr id="53" name="Shape 51"/>
          <p:cNvSpPr/>
          <p:nvPr/>
        </p:nvSpPr>
        <p:spPr>
          <a:xfrm>
            <a:off x="8474125" y="3725614"/>
            <a:ext cx="718542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8588425" y="3782764"/>
            <a:ext cx="566142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</a:t>
            </a:r>
            <a:endParaRPr lang="en-US" sz="863" dirty="0"/>
          </a:p>
        </p:txBody>
      </p:sp>
      <p:sp>
        <p:nvSpPr>
          <p:cNvPr id="55" name="Shape 53"/>
          <p:cNvSpPr/>
          <p:nvPr/>
        </p:nvSpPr>
        <p:spPr>
          <a:xfrm>
            <a:off x="9249817" y="3725614"/>
            <a:ext cx="1267569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9364117" y="3782764"/>
            <a:ext cx="111516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+ Data Lake</a:t>
            </a:r>
            <a:endParaRPr lang="en-US" sz="863" dirty="0"/>
          </a:p>
        </p:txBody>
      </p:sp>
      <p:sp>
        <p:nvSpPr>
          <p:cNvPr id="57" name="Shape 55"/>
          <p:cNvSpPr/>
          <p:nvPr/>
        </p:nvSpPr>
        <p:spPr>
          <a:xfrm>
            <a:off x="571500" y="4581674"/>
            <a:ext cx="12573000" cy="1280964"/>
          </a:xfrm>
          <a:prstGeom prst="roundRect">
            <a:avLst>
              <a:gd name="adj" fmla="val 5949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809625" y="4910138"/>
            <a:ext cx="3670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195685" y="4957763"/>
            <a:ext cx="9664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· Infra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09625" y="5262563"/>
            <a:ext cx="2076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71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HYPERSCALERS · HARDWARE · VIRTUALIZACIÓN</a:t>
            </a:r>
            <a:endParaRPr lang="en-US" sz="713" dirty="0"/>
          </a:p>
        </p:txBody>
      </p:sp>
      <p:sp>
        <p:nvSpPr>
          <p:cNvPr id="61" name="Shape 59"/>
          <p:cNvSpPr/>
          <p:nvPr/>
        </p:nvSpPr>
        <p:spPr>
          <a:xfrm>
            <a:off x="3038475" y="5082778"/>
            <a:ext cx="514350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3152775" y="5139928"/>
            <a:ext cx="361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</a:t>
            </a:r>
            <a:endParaRPr lang="en-US" sz="863" dirty="0"/>
          </a:p>
        </p:txBody>
      </p:sp>
      <p:sp>
        <p:nvSpPr>
          <p:cNvPr id="63" name="Shape 61"/>
          <p:cNvSpPr/>
          <p:nvPr/>
        </p:nvSpPr>
        <p:spPr>
          <a:xfrm>
            <a:off x="3609975" y="5082778"/>
            <a:ext cx="460921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3724275" y="5139928"/>
            <a:ext cx="308521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</a:t>
            </a:r>
            <a:endParaRPr lang="en-US" sz="863" dirty="0"/>
          </a:p>
        </p:txBody>
      </p:sp>
      <p:sp>
        <p:nvSpPr>
          <p:cNvPr id="65" name="Shape 63"/>
          <p:cNvSpPr/>
          <p:nvPr/>
        </p:nvSpPr>
        <p:spPr>
          <a:xfrm>
            <a:off x="4128046" y="5082778"/>
            <a:ext cx="444698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4242346" y="5139928"/>
            <a:ext cx="29229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GCP</a:t>
            </a:r>
            <a:endParaRPr lang="en-US" sz="863" dirty="0"/>
          </a:p>
        </p:txBody>
      </p:sp>
      <p:sp>
        <p:nvSpPr>
          <p:cNvPr id="67" name="Shape 65"/>
          <p:cNvSpPr/>
          <p:nvPr/>
        </p:nvSpPr>
        <p:spPr>
          <a:xfrm>
            <a:off x="4629894" y="5082778"/>
            <a:ext cx="438150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4744194" y="5139928"/>
            <a:ext cx="2857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HPE</a:t>
            </a:r>
            <a:endParaRPr lang="en-US" sz="863" dirty="0"/>
          </a:p>
        </p:txBody>
      </p:sp>
      <p:sp>
        <p:nvSpPr>
          <p:cNvPr id="69" name="Shape 67"/>
          <p:cNvSpPr/>
          <p:nvPr/>
        </p:nvSpPr>
        <p:spPr>
          <a:xfrm>
            <a:off x="5125194" y="5082778"/>
            <a:ext cx="414635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5239494" y="5139928"/>
            <a:ext cx="26223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Dell</a:t>
            </a:r>
            <a:endParaRPr lang="en-US" sz="863" dirty="0"/>
          </a:p>
        </p:txBody>
      </p:sp>
      <p:sp>
        <p:nvSpPr>
          <p:cNvPr id="71" name="Shape 69"/>
          <p:cNvSpPr/>
          <p:nvPr/>
        </p:nvSpPr>
        <p:spPr>
          <a:xfrm>
            <a:off x="5596979" y="5082778"/>
            <a:ext cx="631924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5711279" y="5139928"/>
            <a:ext cx="47952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VMware</a:t>
            </a:r>
            <a:endParaRPr lang="en-US" sz="863" dirty="0"/>
          </a:p>
        </p:txBody>
      </p:sp>
      <p:sp>
        <p:nvSpPr>
          <p:cNvPr id="73" name="Shape 71"/>
          <p:cNvSpPr/>
          <p:nvPr/>
        </p:nvSpPr>
        <p:spPr>
          <a:xfrm>
            <a:off x="6286054" y="5082778"/>
            <a:ext cx="626864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400354" y="5139928"/>
            <a:ext cx="47446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Hyper-V</a:t>
            </a:r>
            <a:endParaRPr lang="en-US" sz="863" dirty="0"/>
          </a:p>
        </p:txBody>
      </p:sp>
      <p:sp>
        <p:nvSpPr>
          <p:cNvPr id="75" name="Shape 73"/>
          <p:cNvSpPr/>
          <p:nvPr/>
        </p:nvSpPr>
        <p:spPr>
          <a:xfrm>
            <a:off x="6970068" y="5082778"/>
            <a:ext cx="606772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7084368" y="5139928"/>
            <a:ext cx="454372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Nutanix</a:t>
            </a:r>
            <a:endParaRPr lang="en-US" sz="863" dirty="0"/>
          </a:p>
        </p:txBody>
      </p:sp>
      <p:sp>
        <p:nvSpPr>
          <p:cNvPr id="77" name="Shape 75"/>
          <p:cNvSpPr/>
          <p:nvPr/>
        </p:nvSpPr>
        <p:spPr>
          <a:xfrm>
            <a:off x="7633990" y="5082778"/>
            <a:ext cx="663625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7748290" y="5139928"/>
            <a:ext cx="51122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Proxmox</a:t>
            </a:r>
            <a:endParaRPr lang="en-US" sz="863" dirty="0"/>
          </a:p>
        </p:txBody>
      </p:sp>
      <p:sp>
        <p:nvSpPr>
          <p:cNvPr id="79" name="Shape 77"/>
          <p:cNvSpPr/>
          <p:nvPr/>
        </p:nvSpPr>
        <p:spPr>
          <a:xfrm>
            <a:off x="8354764" y="5082778"/>
            <a:ext cx="976610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8469064" y="5139928"/>
            <a:ext cx="82421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· Unix</a:t>
            </a:r>
            <a:endParaRPr lang="en-US" sz="863" dirty="0"/>
          </a:p>
        </p:txBody>
      </p:sp>
      <p:sp>
        <p:nvSpPr>
          <p:cNvPr id="81" name="Shape 79"/>
          <p:cNvSpPr/>
          <p:nvPr/>
        </p:nvSpPr>
        <p:spPr>
          <a:xfrm>
            <a:off x="9388525" y="5082778"/>
            <a:ext cx="804267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9502825" y="5139928"/>
            <a:ext cx="651867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SAP · BBDD</a:t>
            </a:r>
            <a:endParaRPr lang="en-US" sz="863" dirty="0"/>
          </a:p>
        </p:txBody>
      </p:sp>
      <p:sp>
        <p:nvSpPr>
          <p:cNvPr id="83" name="Shape 81"/>
          <p:cNvSpPr/>
          <p:nvPr/>
        </p:nvSpPr>
        <p:spPr>
          <a:xfrm>
            <a:off x="10249942" y="5082778"/>
            <a:ext cx="1220688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10364242" y="5139928"/>
            <a:ext cx="106828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VDI · CCPP · Backup</a:t>
            </a:r>
            <a:endParaRPr lang="en-US" sz="863" dirty="0"/>
          </a:p>
        </p:txBody>
      </p:sp>
      <p:sp>
        <p:nvSpPr>
          <p:cNvPr id="85" name="Shape 83"/>
          <p:cNvSpPr/>
          <p:nvPr/>
        </p:nvSpPr>
        <p:spPr>
          <a:xfrm>
            <a:off x="571500" y="5938838"/>
            <a:ext cx="12573000" cy="1281113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190500" dist="57150" dir="5400000" algn="bl" rotWithShape="0">
              <a:srgbClr val="041C2C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6" name="Text 84"/>
          <p:cNvSpPr/>
          <p:nvPr/>
        </p:nvSpPr>
        <p:spPr>
          <a:xfrm>
            <a:off x="809625" y="6206728"/>
            <a:ext cx="3091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2100" b="1" kern="0" spc="-42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100" dirty="0"/>
          </a:p>
        </p:txBody>
      </p:sp>
      <p:sp>
        <p:nvSpPr>
          <p:cNvPr id="87" name="Text 85"/>
          <p:cNvSpPr/>
          <p:nvPr/>
        </p:nvSpPr>
        <p:spPr>
          <a:xfrm>
            <a:off x="1137791" y="6254353"/>
            <a:ext cx="174828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Networking · Seguridad</a:t>
            </a:r>
            <a:endParaRPr lang="en-US" sz="1350" dirty="0"/>
          </a:p>
        </p:txBody>
      </p:sp>
      <p:sp>
        <p:nvSpPr>
          <p:cNvPr id="88" name="Text 86"/>
          <p:cNvSpPr/>
          <p:nvPr/>
        </p:nvSpPr>
        <p:spPr>
          <a:xfrm>
            <a:off x="809625" y="6816328"/>
            <a:ext cx="22002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71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REDES · IDENTIDAD · ENDPOINT</a:t>
            </a:r>
            <a:endParaRPr lang="en-US" sz="713" dirty="0"/>
          </a:p>
        </p:txBody>
      </p:sp>
      <p:sp>
        <p:nvSpPr>
          <p:cNvPr id="89" name="Shape 87"/>
          <p:cNvSpPr/>
          <p:nvPr/>
        </p:nvSpPr>
        <p:spPr>
          <a:xfrm>
            <a:off x="3038475" y="6440091"/>
            <a:ext cx="503783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Text 88"/>
          <p:cNvSpPr/>
          <p:nvPr/>
        </p:nvSpPr>
        <p:spPr>
          <a:xfrm>
            <a:off x="3152775" y="6497241"/>
            <a:ext cx="35138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Cisco</a:t>
            </a:r>
            <a:endParaRPr lang="en-US" sz="863" dirty="0"/>
          </a:p>
        </p:txBody>
      </p:sp>
      <p:sp>
        <p:nvSpPr>
          <p:cNvPr id="91" name="Shape 89"/>
          <p:cNvSpPr/>
          <p:nvPr/>
        </p:nvSpPr>
        <p:spPr>
          <a:xfrm>
            <a:off x="3599408" y="6440091"/>
            <a:ext cx="564059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Text 90"/>
          <p:cNvSpPr/>
          <p:nvPr/>
        </p:nvSpPr>
        <p:spPr>
          <a:xfrm>
            <a:off x="3713708" y="6497241"/>
            <a:ext cx="41165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Meraki</a:t>
            </a:r>
            <a:endParaRPr lang="en-US" sz="863" dirty="0"/>
          </a:p>
        </p:txBody>
      </p:sp>
      <p:sp>
        <p:nvSpPr>
          <p:cNvPr id="93" name="Shape 91"/>
          <p:cNvSpPr/>
          <p:nvPr/>
        </p:nvSpPr>
        <p:spPr>
          <a:xfrm>
            <a:off x="4220617" y="6440091"/>
            <a:ext cx="611981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Text 92"/>
          <p:cNvSpPr/>
          <p:nvPr/>
        </p:nvSpPr>
        <p:spPr>
          <a:xfrm>
            <a:off x="4334917" y="6497241"/>
            <a:ext cx="459581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Fortinet</a:t>
            </a:r>
            <a:endParaRPr lang="en-US" sz="863" dirty="0"/>
          </a:p>
        </p:txBody>
      </p:sp>
      <p:sp>
        <p:nvSpPr>
          <p:cNvPr id="95" name="Shape 93"/>
          <p:cNvSpPr/>
          <p:nvPr/>
        </p:nvSpPr>
        <p:spPr>
          <a:xfrm>
            <a:off x="4889748" y="6440091"/>
            <a:ext cx="648146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6" name="Text 94"/>
          <p:cNvSpPr/>
          <p:nvPr/>
        </p:nvSpPr>
        <p:spPr>
          <a:xfrm>
            <a:off x="5004048" y="6497241"/>
            <a:ext cx="495746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SD-WAN</a:t>
            </a:r>
            <a:endParaRPr lang="en-US" sz="863" dirty="0"/>
          </a:p>
        </p:txBody>
      </p:sp>
      <p:sp>
        <p:nvSpPr>
          <p:cNvPr id="97" name="Shape 95"/>
          <p:cNvSpPr/>
          <p:nvPr/>
        </p:nvSpPr>
        <p:spPr>
          <a:xfrm>
            <a:off x="5595045" y="6440091"/>
            <a:ext cx="907256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5709345" y="6497241"/>
            <a:ext cx="754856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BGP · Routing</a:t>
            </a:r>
            <a:endParaRPr lang="en-US" sz="863" dirty="0"/>
          </a:p>
        </p:txBody>
      </p:sp>
      <p:sp>
        <p:nvSpPr>
          <p:cNvPr id="99" name="Shape 97"/>
          <p:cNvSpPr/>
          <p:nvPr/>
        </p:nvSpPr>
        <p:spPr>
          <a:xfrm>
            <a:off x="6559451" y="6440091"/>
            <a:ext cx="1302693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Text 98"/>
          <p:cNvSpPr/>
          <p:nvPr/>
        </p:nvSpPr>
        <p:spPr>
          <a:xfrm>
            <a:off x="6673751" y="6497241"/>
            <a:ext cx="115029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Defender for Endpoint</a:t>
            </a:r>
            <a:endParaRPr lang="en-US" sz="863" dirty="0"/>
          </a:p>
        </p:txBody>
      </p:sp>
      <p:sp>
        <p:nvSpPr>
          <p:cNvPr id="101" name="Shape 99"/>
          <p:cNvSpPr/>
          <p:nvPr/>
        </p:nvSpPr>
        <p:spPr>
          <a:xfrm>
            <a:off x="7919293" y="6440091"/>
            <a:ext cx="1114871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Text 100"/>
          <p:cNvSpPr/>
          <p:nvPr/>
        </p:nvSpPr>
        <p:spPr>
          <a:xfrm>
            <a:off x="8033593" y="6497241"/>
            <a:ext cx="962471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Entra ID</a:t>
            </a:r>
            <a:endParaRPr lang="en-US" sz="863" dirty="0"/>
          </a:p>
        </p:txBody>
      </p:sp>
      <p:sp>
        <p:nvSpPr>
          <p:cNvPr id="103" name="Shape 101"/>
          <p:cNvSpPr/>
          <p:nvPr/>
        </p:nvSpPr>
        <p:spPr>
          <a:xfrm>
            <a:off x="9091315" y="6440091"/>
            <a:ext cx="517178" cy="278606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9525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Text 102"/>
          <p:cNvSpPr/>
          <p:nvPr/>
        </p:nvSpPr>
        <p:spPr>
          <a:xfrm>
            <a:off x="9205615" y="6497241"/>
            <a:ext cx="36477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JAMF</a:t>
            </a:r>
            <a:endParaRPr lang="en-US" sz="863" dirty="0"/>
          </a:p>
        </p:txBody>
      </p:sp>
      <p:sp>
        <p:nvSpPr>
          <p:cNvPr id="105" name="Text 103"/>
          <p:cNvSpPr/>
          <p:nvPr/>
        </p:nvSpPr>
        <p:spPr>
          <a:xfrm>
            <a:off x="11340703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2522696" y="7334250"/>
            <a:ext cx="6980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6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96000" t="4000" r="4000" b="9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47750" y="504825"/>
            <a:ext cx="47589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 · RESILIENCIA Y CUMPLIMIENTO · MATERIAL DE APOYO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NIS2 y DORA convierten al proveedor en </a:t>
            </a:r>
            <a:r>
              <a:rPr lang="en-US" sz="3000" b="1" kern="0" spc="-66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perímetro auditable.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" y="1794867"/>
            <a:ext cx="6966496" cy="4777383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24765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81025" y="1804392"/>
            <a:ext cx="6947446" cy="509587"/>
          </a:xfrm>
          <a:prstGeom prst="rect">
            <a:avLst/>
          </a:prstGeom>
          <a:gradFill rotWithShape="1">
            <a:gsLst>
              <a:gs pos="0">
                <a:srgbClr val="041C2C">
                  <a:alpha val="100000"/>
                </a:srgbClr>
              </a:gs>
              <a:gs pos="100000">
                <a:srgbClr val="12273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90575" y="1937742"/>
            <a:ext cx="125283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Cadena auditada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669459" y="1994892"/>
            <a:ext cx="181440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675" b="1" kern="0" spc="95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PROCEDIMIENTO, NO OBJETIVO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581025" y="3369022"/>
            <a:ext cx="6947446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575" y="2466380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7275" y="2456855"/>
            <a:ext cx="688781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NIS2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057275" y="2709267"/>
            <a:ext cx="688781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Cadena de suministro auditada · responsabilidad personal cubierta.</a:t>
            </a:r>
            <a:endParaRPr lang="en-US" sz="938" dirty="0"/>
          </a:p>
        </p:txBody>
      </p:sp>
      <p:sp>
        <p:nvSpPr>
          <p:cNvPr id="14" name="Shape 11"/>
          <p:cNvSpPr/>
          <p:nvPr/>
        </p:nvSpPr>
        <p:spPr>
          <a:xfrm>
            <a:off x="581025" y="4433590"/>
            <a:ext cx="6947446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575" y="3530947"/>
            <a:ext cx="152400" cy="152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7275" y="3521422"/>
            <a:ext cx="688781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DORA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1057275" y="3773835"/>
            <a:ext cx="688781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Resiliencia para servicios financieros · TLPT gestionado.</a:t>
            </a:r>
            <a:endParaRPr lang="en-US" sz="938" dirty="0"/>
          </a:p>
        </p:txBody>
      </p:sp>
      <p:sp>
        <p:nvSpPr>
          <p:cNvPr id="18" name="Shape 14"/>
          <p:cNvSpPr/>
          <p:nvPr/>
        </p:nvSpPr>
        <p:spPr>
          <a:xfrm>
            <a:off x="581025" y="5498157"/>
            <a:ext cx="6947446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575" y="4595515"/>
            <a:ext cx="152400" cy="152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7275" y="4605040"/>
            <a:ext cx="458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Act</a:t>
            </a:r>
            <a:endParaRPr lang="en-US" sz="1125" dirty="0"/>
          </a:p>
        </p:txBody>
      </p:sp>
      <p:sp>
        <p:nvSpPr>
          <p:cNvPr id="21" name="Shape 16"/>
          <p:cNvSpPr/>
          <p:nvPr/>
        </p:nvSpPr>
        <p:spPr>
          <a:xfrm>
            <a:off x="1534716" y="4593134"/>
            <a:ext cx="1680270" cy="200025"/>
          </a:xfrm>
          <a:prstGeom prst="roundRect">
            <a:avLst>
              <a:gd name="adj" fmla="val 50000"/>
            </a:avLst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/>
          <p:nvPr/>
        </p:nvSpPr>
        <p:spPr>
          <a:xfrm>
            <a:off x="1629966" y="4621709"/>
            <a:ext cx="1565970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HIGH-RISK · 02·DIC·2027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1057275" y="4838402"/>
            <a:ext cx="688781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high-risk documentados · documentación técnica completa.</a:t>
            </a:r>
            <a:endParaRPr lang="en-US" sz="938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575" y="5660082"/>
            <a:ext cx="152400" cy="152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7275" y="5650557"/>
            <a:ext cx="688781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Plazos 24h / 72h / 30d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1057275" y="5902970"/>
            <a:ext cx="688781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8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procedimiento documentado, no como objetivo.</a:t>
            </a:r>
            <a:endParaRPr lang="en-US" sz="938" dirty="0"/>
          </a:p>
        </p:txBody>
      </p:sp>
      <p:sp>
        <p:nvSpPr>
          <p:cNvPr id="27" name="Shape 21"/>
          <p:cNvSpPr/>
          <p:nvPr/>
        </p:nvSpPr>
        <p:spPr>
          <a:xfrm>
            <a:off x="7785646" y="1794867"/>
            <a:ext cx="5358854" cy="2312491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24765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2"/>
          <p:cNvSpPr/>
          <p:nvPr/>
        </p:nvSpPr>
        <p:spPr>
          <a:xfrm>
            <a:off x="7985671" y="1918692"/>
            <a:ext cx="51189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CERTIFICACIONES · AUDITADAS ANUALMENTE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7985671" y="2747367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5671" y="2524571"/>
            <a:ext cx="152400" cy="1524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33321" y="2515046"/>
            <a:ext cx="194144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gestión de servicios IT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985671" y="3055888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5671" y="2833092"/>
            <a:ext cx="152400" cy="152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233321" y="2823567"/>
            <a:ext cx="224726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27001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seguridad de la información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985671" y="3364409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5671" y="3141613"/>
            <a:ext cx="152400" cy="1524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33321" y="3132088"/>
            <a:ext cx="26752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Esquema Nacional de Seguridad nivel alto</a:t>
            </a:r>
            <a:endParaRPr lang="en-US" sz="9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85671" y="3450134"/>
            <a:ext cx="152400" cy="1524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233321" y="3440609"/>
            <a:ext cx="380480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+174 cert. Microsoft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43 Digital · 40 Infra · 37 Data &amp; AI · 32 Security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7785646" y="4259759"/>
            <a:ext cx="5358854" cy="2312491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9525">
            <a:solidFill>
              <a:srgbClr val="E5EAEF"/>
            </a:solidFill>
            <a:prstDash val="solid"/>
          </a:ln>
          <a:effectLst>
            <a:outerShdw blurRad="24765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Text 31"/>
          <p:cNvSpPr/>
          <p:nvPr/>
        </p:nvSpPr>
        <p:spPr>
          <a:xfrm>
            <a:off x="7985671" y="4383584"/>
            <a:ext cx="51189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b="1" kern="0" spc="12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GOBIERNO IA · TRAZABILIDAD EXTREMO A EXTREMO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7985671" y="5212259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5671" y="4989463"/>
            <a:ext cx="152400" cy="1524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233321" y="4979938"/>
            <a:ext cx="3425815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logs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cada decisión del agente IA · trazabilidad AI Act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7985671" y="5520779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5671" y="5297984"/>
            <a:ext cx="152400" cy="1524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233321" y="5288459"/>
            <a:ext cx="300082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Explicabilidad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high-risk documentada desde el diseño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7985671" y="5829300"/>
            <a:ext cx="4958804" cy="9525"/>
          </a:xfrm>
          <a:prstGeom prst="rect">
            <a:avLst/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85671" y="5606504"/>
            <a:ext cx="152400" cy="15240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233321" y="5596979"/>
            <a:ext cx="324475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Datasets propios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sin entrenamiento con datos del cliente</a:t>
            </a:r>
            <a:endParaRPr lang="en-US" sz="9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85671" y="5915025"/>
            <a:ext cx="152400" cy="1524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233321" y="5905500"/>
            <a:ext cx="255831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Comité de ética IA </a:t>
            </a: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interno · revisión trimestral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571500" y="6724650"/>
            <a:ext cx="12573000" cy="495300"/>
          </a:xfrm>
          <a:prstGeom prst="roundRect">
            <a:avLst>
              <a:gd name="adj" fmla="val 15385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40"/>
          <p:cNvSpPr/>
          <p:nvPr/>
        </p:nvSpPr>
        <p:spPr>
          <a:xfrm>
            <a:off x="781050" y="6900863"/>
            <a:ext cx="135372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120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NUEVO ESTÁNDAR</a:t>
            </a:r>
            <a:endParaRPr lang="en-US" sz="750" dirty="0"/>
          </a:p>
        </p:txBody>
      </p:sp>
      <p:sp>
        <p:nvSpPr>
          <p:cNvPr id="55" name="Shape 41"/>
          <p:cNvSpPr/>
          <p:nvPr/>
        </p:nvSpPr>
        <p:spPr>
          <a:xfrm>
            <a:off x="2183160" y="6858000"/>
            <a:ext cx="9525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42"/>
          <p:cNvSpPr/>
          <p:nvPr/>
        </p:nvSpPr>
        <p:spPr>
          <a:xfrm>
            <a:off x="2364135" y="6879431"/>
            <a:ext cx="1162789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proveedor ya no puede limitarse a operar: debe </a:t>
            </a:r>
            <a:r>
              <a:rPr lang="en-US" sz="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operar, demostrar y mejorar con evidencias.</a:t>
            </a:r>
            <a:endParaRPr lang="en-US" sz="975" dirty="0"/>
          </a:p>
        </p:txBody>
      </p:sp>
      <p:sp>
        <p:nvSpPr>
          <p:cNvPr id="57" name="Text 43"/>
          <p:cNvSpPr/>
          <p:nvPr/>
        </p:nvSpPr>
        <p:spPr>
          <a:xfrm>
            <a:off x="11340703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58" name="Text 44"/>
          <p:cNvSpPr/>
          <p:nvPr/>
        </p:nvSpPr>
        <p:spPr>
          <a:xfrm>
            <a:off x="12522696" y="7334250"/>
            <a:ext cx="6980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4A6273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gradFill rotWithShape="1">
            <a:gsLst>
              <a:gs pos="0">
                <a:srgbClr val="855AC6">
                  <a:alpha val="14000"/>
                </a:srgbClr>
              </a:gs>
              <a:gs pos="55000">
                <a:srgbClr val="855AC6">
                  <a:alpha val="0"/>
                </a:srgbClr>
              </a:gs>
            </a:gsLst>
            <a:path path="circle">
              <a:fillToRect l="88000" t="8000" r="12000" b="92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52400" y="152400"/>
            <a:ext cx="13411200" cy="7410450"/>
          </a:xfrm>
          <a:prstGeom prst="roundRect">
            <a:avLst>
              <a:gd name="adj" fmla="val 514"/>
            </a:avLst>
          </a:prstGeom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" y="563166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47750" y="504825"/>
            <a:ext cx="3840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63" kern="0" spc="12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 · AIOPS OPERATIVO · MATERIAL DE APOYO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571500" y="773906"/>
            <a:ext cx="1157668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kern="0" spc="-6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AIOps en producción. </a:t>
            </a:r>
            <a:r>
              <a:rPr lang="en-US" sz="3000" b="1" kern="0" spc="-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Seis años en la operación de hoy.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71500" y="1699617"/>
            <a:ext cx="1496318" cy="1881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788" b="1" kern="0" spc="158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PIPELINE AIOPS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2084189" y="1769864"/>
            <a:ext cx="8366968" cy="9525"/>
          </a:xfrm>
          <a:prstGeom prst="rect">
            <a:avLst/>
          </a:prstGeom>
          <a:gradFill rotWithShape="1">
            <a:gsLst>
              <a:gs pos="0">
                <a:srgbClr val="B696DC">
                  <a:alpha val="100000"/>
                </a:srgbClr>
              </a:gs>
              <a:gs pos="50000">
                <a:srgbClr val="855AC6">
                  <a:alpha val="18000"/>
                </a:srgbClr>
              </a:gs>
              <a:gs pos="100000">
                <a:srgbClr val="FFFFFF">
                  <a:alpha val="6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603557" y="1706761"/>
            <a:ext cx="2795037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713" b="1" kern="0" spc="12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CONTINUO · VUELVE A CLASIFICAR</a:t>
            </a:r>
            <a:endParaRPr lang="en-US" sz="713" dirty="0"/>
          </a:p>
        </p:txBody>
      </p:sp>
      <p:sp>
        <p:nvSpPr>
          <p:cNvPr id="11" name="Text 9"/>
          <p:cNvSpPr/>
          <p:nvPr/>
        </p:nvSpPr>
        <p:spPr>
          <a:xfrm>
            <a:off x="571500" y="1944886"/>
            <a:ext cx="2095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1500" y="2411611"/>
            <a:ext cx="20955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Clasificar y suprimir ruido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71500" y="2662982"/>
            <a:ext cx="1981200" cy="531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Agrupa duplicados, elimina falsos positivos y separa señal operativa de telemetría irrelevante.</a:t>
            </a:r>
            <a:endParaRPr lang="en-US" sz="863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4125" y="2078236"/>
            <a:ext cx="285750" cy="2857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667000" y="2344936"/>
            <a:ext cx="9525" cy="1375321"/>
          </a:xfrm>
          <a:prstGeom prst="rect">
            <a:avLst/>
          </a:prstGeom>
          <a:solidFill>
            <a:srgbClr val="855AC6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847975" y="2344936"/>
            <a:ext cx="18964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847975" y="2811661"/>
            <a:ext cx="189642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Correlación cross-stack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2847975" y="3063032"/>
            <a:ext cx="18002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 eventos de infra, red, cloud, seguridad, aplicación y backup para evitar diagnósticos por silos.</a:t>
            </a:r>
            <a:endParaRPr lang="en-US" sz="863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2478286"/>
            <a:ext cx="285750" cy="28575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62500" y="2744986"/>
            <a:ext cx="9525" cy="1211014"/>
          </a:xfrm>
          <a:prstGeom prst="rect">
            <a:avLst/>
          </a:prstGeom>
          <a:solidFill>
            <a:srgbClr val="855AC6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4943475" y="2744986"/>
            <a:ext cx="18964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4943475" y="3211711"/>
            <a:ext cx="189642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Detección predictiva</a:t>
            </a:r>
            <a:endParaRPr lang="en-US" sz="1088" dirty="0"/>
          </a:p>
        </p:txBody>
      </p:sp>
      <p:sp>
        <p:nvSpPr>
          <p:cNvPr id="23" name="Text 19"/>
          <p:cNvSpPr/>
          <p:nvPr/>
        </p:nvSpPr>
        <p:spPr>
          <a:xfrm>
            <a:off x="4943475" y="3463082"/>
            <a:ext cx="1800225" cy="531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degradación, saturación y anomalías de consumo antes de que afecten al usuario final.</a:t>
            </a:r>
            <a:endParaRPr lang="en-US" sz="863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5125" y="2878336"/>
            <a:ext cx="285750" cy="2857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858000" y="3145036"/>
            <a:ext cx="9525" cy="1211014"/>
          </a:xfrm>
          <a:prstGeom prst="rect">
            <a:avLst/>
          </a:prstGeom>
          <a:solidFill>
            <a:srgbClr val="855AC6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7038975" y="3145036"/>
            <a:ext cx="18964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7038975" y="3611761"/>
            <a:ext cx="189642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RCA con contexto</a:t>
            </a:r>
            <a:endParaRPr lang="en-US" sz="1088" dirty="0"/>
          </a:p>
        </p:txBody>
      </p:sp>
      <p:sp>
        <p:nvSpPr>
          <p:cNvPr id="28" name="Text 23"/>
          <p:cNvSpPr/>
          <p:nvPr/>
        </p:nvSpPr>
        <p:spPr>
          <a:xfrm>
            <a:off x="7038975" y="3863132"/>
            <a:ext cx="1800225" cy="531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Hipótesis de causa raíz con historial del entorno concreto del cliente y dependencias afectadas.</a:t>
            </a:r>
            <a:endParaRPr lang="en-US" sz="863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0625" y="3278386"/>
            <a:ext cx="285750" cy="28575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953500" y="3545086"/>
            <a:ext cx="9525" cy="1375321"/>
          </a:xfrm>
          <a:prstGeom prst="rect">
            <a:avLst/>
          </a:prstGeom>
          <a:solidFill>
            <a:srgbClr val="855AC6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5"/>
          <p:cNvSpPr/>
          <p:nvPr/>
        </p:nvSpPr>
        <p:spPr>
          <a:xfrm>
            <a:off x="9134475" y="3545086"/>
            <a:ext cx="18964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9134475" y="4011811"/>
            <a:ext cx="189642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Runbooks gobernados</a:t>
            </a:r>
            <a:endParaRPr lang="en-US" sz="1088" dirty="0"/>
          </a:p>
        </p:txBody>
      </p:sp>
      <p:sp>
        <p:nvSpPr>
          <p:cNvPr id="33" name="Text 27"/>
          <p:cNvSpPr/>
          <p:nvPr/>
        </p:nvSpPr>
        <p:spPr>
          <a:xfrm>
            <a:off x="9134475" y="4263182"/>
            <a:ext cx="18002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Acciones seguras: escalado, limpieza, reinicio controlado, rotación de certificados. Control humano cuando el riesgo lo exige.</a:t>
            </a:r>
            <a:endParaRPr lang="en-US" sz="863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06125" y="3678436"/>
            <a:ext cx="285750" cy="28575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1049000" y="3945136"/>
            <a:ext cx="9525" cy="1375321"/>
          </a:xfrm>
          <a:prstGeom prst="rect">
            <a:avLst/>
          </a:prstGeom>
          <a:solidFill>
            <a:srgbClr val="855AC6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29"/>
          <p:cNvSpPr/>
          <p:nvPr/>
        </p:nvSpPr>
        <p:spPr>
          <a:xfrm>
            <a:off x="11229975" y="3907036"/>
            <a:ext cx="4827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000" b="1" kern="0" spc="-60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30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12773" y="4073723"/>
            <a:ext cx="123825" cy="12382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874698" y="4068961"/>
            <a:ext cx="3353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750" b="1" kern="0" spc="60" dirty="0">
                <a:solidFill>
                  <a:srgbClr val="B696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11229975" y="4411861"/>
            <a:ext cx="189642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088" b="1" kern="0" spc="-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Aprendizaje operativo</a:t>
            </a:r>
            <a:endParaRPr lang="en-US" sz="1088" dirty="0"/>
          </a:p>
        </p:txBody>
      </p:sp>
      <p:sp>
        <p:nvSpPr>
          <p:cNvPr id="40" name="Text 32"/>
          <p:cNvSpPr/>
          <p:nvPr/>
        </p:nvSpPr>
        <p:spPr>
          <a:xfrm>
            <a:off x="11229975" y="4663232"/>
            <a:ext cx="18002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aprende de cada cierre, cambio y procedimiento validado. El modelo mejora con el entorno específico.</a:t>
            </a:r>
            <a:endParaRPr lang="en-US" sz="863" dirty="0"/>
          </a:p>
        </p:txBody>
      </p:sp>
      <p:sp>
        <p:nvSpPr>
          <p:cNvPr id="41" name="Shape 33"/>
          <p:cNvSpPr/>
          <p:nvPr/>
        </p:nvSpPr>
        <p:spPr>
          <a:xfrm>
            <a:off x="571500" y="6150769"/>
            <a:ext cx="12573000" cy="1069181"/>
          </a:xfrm>
          <a:prstGeom prst="roundRect">
            <a:avLst>
              <a:gd name="adj" fmla="val 10690"/>
            </a:avLst>
          </a:prstGeom>
          <a:solidFill>
            <a:srgbClr val="000000">
              <a:alpha val="2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4"/>
          <p:cNvSpPr/>
          <p:nvPr/>
        </p:nvSpPr>
        <p:spPr>
          <a:xfrm>
            <a:off x="809625" y="6561534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1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 MEDIDO EN OPERACIÓN</a:t>
            </a:r>
            <a:endParaRPr lang="en-US" sz="750" dirty="0"/>
          </a:p>
        </p:txBody>
      </p:sp>
      <p:sp>
        <p:nvSpPr>
          <p:cNvPr id="43" name="Shape 35"/>
          <p:cNvSpPr/>
          <p:nvPr/>
        </p:nvSpPr>
        <p:spPr>
          <a:xfrm>
            <a:off x="2219325" y="6456759"/>
            <a:ext cx="9525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36"/>
          <p:cNvSpPr/>
          <p:nvPr/>
        </p:nvSpPr>
        <p:spPr>
          <a:xfrm>
            <a:off x="2495550" y="6601248"/>
            <a:ext cx="108049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5273"/>
              </a:lnSpc>
              <a:buNone/>
            </a:pPr>
            <a:r>
              <a:rPr lang="en-US" sz="3450" b="1" kern="0" spc="-103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−82%</a:t>
            </a:r>
            <a:endParaRPr lang="en-US" sz="3450" dirty="0"/>
          </a:p>
        </p:txBody>
      </p:sp>
      <p:sp>
        <p:nvSpPr>
          <p:cNvPr id="45" name="Text 37"/>
          <p:cNvSpPr/>
          <p:nvPr/>
        </p:nvSpPr>
        <p:spPr>
          <a:xfrm>
            <a:off x="3633192" y="6588919"/>
            <a:ext cx="193637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b="1" kern="0" spc="-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Alertas sin acción</a:t>
            </a:r>
            <a:endParaRPr lang="en-US" sz="863" dirty="0"/>
          </a:p>
        </p:txBody>
      </p:sp>
      <p:sp>
        <p:nvSpPr>
          <p:cNvPr id="46" name="Text 38"/>
          <p:cNvSpPr/>
          <p:nvPr/>
        </p:nvSpPr>
        <p:spPr>
          <a:xfrm>
            <a:off x="3633192" y="6753225"/>
            <a:ext cx="19363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4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01 · Supresión de ruido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6054626" y="6331744"/>
            <a:ext cx="9525" cy="70723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0"/>
          <p:cNvSpPr/>
          <p:nvPr/>
        </p:nvSpPr>
        <p:spPr>
          <a:xfrm>
            <a:off x="6330851" y="6601248"/>
            <a:ext cx="1112937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5273"/>
              </a:lnSpc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−40%</a:t>
            </a:r>
            <a:endParaRPr lang="en-US" sz="3450" dirty="0"/>
          </a:p>
        </p:txBody>
      </p:sp>
      <p:sp>
        <p:nvSpPr>
          <p:cNvPr id="49" name="Text 41"/>
          <p:cNvSpPr/>
          <p:nvPr/>
        </p:nvSpPr>
        <p:spPr>
          <a:xfrm>
            <a:off x="7500938" y="6588919"/>
            <a:ext cx="203083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b="1" kern="0" spc="-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MTTD</a:t>
            </a:r>
            <a:endParaRPr lang="en-US" sz="863" dirty="0"/>
          </a:p>
        </p:txBody>
      </p:sp>
      <p:sp>
        <p:nvSpPr>
          <p:cNvPr id="50" name="Text 42"/>
          <p:cNvSpPr/>
          <p:nvPr/>
        </p:nvSpPr>
        <p:spPr>
          <a:xfrm>
            <a:off x="7500938" y="6753225"/>
            <a:ext cx="1922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4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04 · RCA con contexto · Telefónica Tech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9613850" y="6331744"/>
            <a:ext cx="9525" cy="70723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44"/>
          <p:cNvSpPr/>
          <p:nvPr/>
        </p:nvSpPr>
        <p:spPr>
          <a:xfrm>
            <a:off x="9890075" y="6601248"/>
            <a:ext cx="87421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5273"/>
              </a:lnSpc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+174</a:t>
            </a:r>
            <a:endParaRPr lang="en-US" sz="3450" dirty="0"/>
          </a:p>
        </p:txBody>
      </p:sp>
      <p:sp>
        <p:nvSpPr>
          <p:cNvPr id="53" name="Text 45"/>
          <p:cNvSpPr/>
          <p:nvPr/>
        </p:nvSpPr>
        <p:spPr>
          <a:xfrm>
            <a:off x="10821442" y="6588919"/>
            <a:ext cx="229326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863" b="1" kern="0" spc="-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Cert. Microsoft activas</a:t>
            </a:r>
            <a:endParaRPr lang="en-US" sz="863" dirty="0"/>
          </a:p>
        </p:txBody>
      </p:sp>
      <p:sp>
        <p:nvSpPr>
          <p:cNvPr id="54" name="Text 46"/>
          <p:cNvSpPr/>
          <p:nvPr/>
        </p:nvSpPr>
        <p:spPr>
          <a:xfrm>
            <a:off x="10821442" y="6753225"/>
            <a:ext cx="2160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750" kern="0" spc="45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entrenado en entornos reales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1340703" y="7334250"/>
            <a:ext cx="1086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12522696" y="7334250"/>
            <a:ext cx="6980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900" kern="0" spc="72" dirty="0">
                <a:solidFill>
                  <a:srgbClr val="FFFFFF">
                    <a:alpha val="36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APÉNDICE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3093</Words>
  <Application>Microsoft Office PowerPoint</Application>
  <PresentationFormat>Custom</PresentationFormat>
  <Paragraphs>599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Barlow</vt:lpstr>
      <vt:lpstr>JetBrains Mono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Susana Juan</cp:lastModifiedBy>
  <cp:revision>2</cp:revision>
  <dcterms:created xsi:type="dcterms:W3CDTF">2026-07-10T07:59:56Z</dcterms:created>
  <dcterms:modified xsi:type="dcterms:W3CDTF">2026-07-10T08:24:35Z</dcterms:modified>
</cp:coreProperties>
</file>