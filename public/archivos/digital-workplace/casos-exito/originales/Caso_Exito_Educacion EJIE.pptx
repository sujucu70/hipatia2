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5A496-DEAA-C2CC-3FD8-3B7C089C6E91}" v="53" dt="2026-05-19T08:18:38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2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141" y="2551853"/>
            <a:ext cx="3458835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dirty="0"/>
              <a:t>CONTEXTO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Ecosistema TIC altamente distribuido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un parque tecnológico heterogéneo </a:t>
            </a:r>
          </a:p>
          <a:p>
            <a:br>
              <a:rPr dirty="0"/>
            </a:br>
            <a:r>
              <a:rPr dirty="0"/>
              <a:t>RETO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Gestión de un parque TIC masivo y diverso en múltiples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Alto volumen de incidencias y peticiones (≈30.000/año)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Necesidad de soporte integral (usuarios, infraestructuras, proyectos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Exigencia de SLA estrictos y continuidad del servicio educativo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Coordinación de operación IT + logística + servicios in situ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13466" y="2453382"/>
            <a:ext cx="3090749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dirty="0"/>
              <a:t>SOLUCIÓN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Modelo ITIL + mejora continua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Service </a:t>
            </a:r>
            <a:r>
              <a:rPr lang="es-ES" sz="1200" dirty="0" err="1"/>
              <a:t>Desk</a:t>
            </a:r>
            <a:r>
              <a:rPr lang="es-ES" sz="1200" dirty="0"/>
              <a:t> multicanal + soporte N1/N2/N3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Soporte integral a infraestructuras y parque informático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Gestión de inventario y configuración unificada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Oficina Técnica + Oficina de Transformación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Modelo proactivo (monitorización, preventivo y automatización)</a:t>
            </a:r>
          </a:p>
          <a:p>
            <a:br>
              <a:rPr dirty="0"/>
            </a:br>
            <a:r>
              <a:rPr dirty="0"/>
              <a:t>OPERACIÓN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ea typeface="Calibri"/>
                <a:cs typeface="Calibri"/>
              </a:rPr>
              <a:t>Service </a:t>
            </a:r>
            <a:r>
              <a:rPr lang="es-ES" sz="1200" dirty="0" err="1">
                <a:ea typeface="Calibri"/>
                <a:cs typeface="Calibri"/>
              </a:rPr>
              <a:t>Desk</a:t>
            </a:r>
            <a:r>
              <a:rPr lang="es-ES" sz="1200" dirty="0">
                <a:ea typeface="Calibri"/>
                <a:cs typeface="Calibri"/>
              </a:rPr>
              <a:t> (incidencias y peticiones)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ea typeface="Calibri"/>
                <a:cs typeface="Calibri"/>
              </a:rPr>
              <a:t>Soporte a infraestructuras y centros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ea typeface="Calibri"/>
                <a:cs typeface="Calibri"/>
              </a:rPr>
              <a:t>Peticiones especiales y despliegues masivos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ea typeface="Calibri"/>
                <a:cs typeface="Calibri"/>
              </a:rPr>
              <a:t>Oficina de Transformación (evolución del servicio)</a:t>
            </a:r>
            <a:endParaRPr sz="1200" dirty="0"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98791" y="2453382"/>
            <a:ext cx="2879973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dirty="0"/>
              <a:t>IMPACTO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Mayor estabilidad y disponibilidad del servicio TIC educativo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Reducción de incidencias mediante enfoque proactivo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Mejora de tiempos de respuesta y resolución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Aumento de la satisfacción de centros y usuarios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Optimización del coste mediante </a:t>
            </a:r>
            <a:r>
              <a:rPr lang="es-ES" sz="1200"/>
              <a:t>modelo industrializado</a:t>
            </a:r>
          </a:p>
          <a:p>
            <a:br>
              <a:rPr dirty="0"/>
            </a:br>
            <a:r>
              <a:rPr dirty="0"/>
              <a:t>RESULTADO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ea typeface="Calibri"/>
                <a:cs typeface="Calibri"/>
              </a:rPr>
              <a:t>Servicio integral y unificado de soporte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ea typeface="Calibri"/>
                <a:cs typeface="Calibri"/>
              </a:rPr>
              <a:t>Gestión centralizada de operaciones, inventario e incidencias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ea typeface="Calibri"/>
                <a:cs typeface="Calibri"/>
              </a:rPr>
              <a:t>Modelo preparado para crecimiento y transformación digital</a:t>
            </a:r>
            <a:endParaRPr sz="1200" dirty="0" err="1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497" y="6100534"/>
            <a:ext cx="80751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/>
              <a:t>CLAVE: </a:t>
            </a:r>
            <a:r>
              <a:rPr lang="es-ES" dirty="0"/>
              <a:t>Convertimos un entorno TIC educativo complejo y distribuido en un servicio gestionado, industrializado, proactivo y escalable.</a:t>
            </a:r>
            <a:endParaRPr dirty="0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4F8FC67-D139-40FE-8B1A-1997EF4BD1CB}"/>
              </a:ext>
            </a:extLst>
          </p:cNvPr>
          <p:cNvSpPr txBox="1"/>
          <p:nvPr/>
        </p:nvSpPr>
        <p:spPr>
          <a:xfrm>
            <a:off x="1608437" y="274320"/>
            <a:ext cx="592713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600" b="1"/>
            </a:pPr>
            <a:r>
              <a:rPr lang="es-ES" dirty="0"/>
              <a:t>EJIE</a:t>
            </a:r>
            <a:r>
              <a:rPr dirty="0"/>
              <a:t> </a:t>
            </a:r>
            <a:r>
              <a:rPr lang="es-ES" dirty="0"/>
              <a:t>Educación </a:t>
            </a:r>
            <a:r>
              <a:rPr dirty="0"/>
              <a:t>| Caso de </a:t>
            </a:r>
            <a:r>
              <a:rPr dirty="0" err="1"/>
              <a:t>Éxito</a:t>
            </a:r>
            <a:endParaRPr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B7E57DE-3326-6133-7396-A4DE10A650BC}"/>
              </a:ext>
            </a:extLst>
          </p:cNvPr>
          <p:cNvSpPr txBox="1"/>
          <p:nvPr/>
        </p:nvSpPr>
        <p:spPr>
          <a:xfrm>
            <a:off x="914800" y="1371600"/>
            <a:ext cx="1828001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dirty="0"/>
              <a:t>+</a:t>
            </a:r>
            <a:r>
              <a:rPr lang="es-ES" dirty="0"/>
              <a:t>600</a:t>
            </a:r>
            <a:endParaRPr dirty="0"/>
          </a:p>
          <a:p>
            <a:pPr algn="ctr">
              <a:defRPr sz="1600"/>
            </a:pPr>
            <a:r>
              <a:rPr lang="es-ES" dirty="0"/>
              <a:t>Centros Soportados</a:t>
            </a:r>
            <a:endParaRPr dirty="0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7B1B4CD7-53DE-7982-512B-29DF64E3814B}"/>
              </a:ext>
            </a:extLst>
          </p:cNvPr>
          <p:cNvSpPr txBox="1"/>
          <p:nvPr/>
        </p:nvSpPr>
        <p:spPr>
          <a:xfrm>
            <a:off x="3472129" y="1371600"/>
            <a:ext cx="2565511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lang="es-ES" dirty="0"/>
              <a:t>30.000</a:t>
            </a:r>
            <a:endParaRPr dirty="0"/>
          </a:p>
          <a:p>
            <a:pPr algn="ctr">
              <a:defRPr sz="1600"/>
            </a:pPr>
            <a:r>
              <a:rPr lang="es-ES" dirty="0"/>
              <a:t>Incidencias/año Gestionadas</a:t>
            </a:r>
            <a:endParaRPr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52A7CC8-F29A-D404-8E5F-16CA69C0EE56}"/>
              </a:ext>
            </a:extLst>
          </p:cNvPr>
          <p:cNvSpPr txBox="1"/>
          <p:nvPr/>
        </p:nvSpPr>
        <p:spPr>
          <a:xfrm>
            <a:off x="6214030" y="1371600"/>
            <a:ext cx="2933881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lang="es-ES" dirty="0"/>
              <a:t>&lt;4h</a:t>
            </a:r>
            <a:endParaRPr dirty="0"/>
          </a:p>
          <a:p>
            <a:pPr algn="ctr">
              <a:defRPr sz="1600"/>
            </a:pPr>
            <a:r>
              <a:rPr lang="es-ES" dirty="0"/>
              <a:t>Recuperación Incidencias Críticas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233</Words>
  <Application>Microsoft Office PowerPoint</Application>
  <PresentationFormat>Presentación en pantalla (4:3)</PresentationFormat>
  <Paragraphs>39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Amador Sobrino Castillo</dc:creator>
  <cp:keywords/>
  <dc:description>generated using python-pptx</dc:description>
  <cp:lastModifiedBy>Amador Sobrino Castillo</cp:lastModifiedBy>
  <cp:revision>39</cp:revision>
  <dcterms:created xsi:type="dcterms:W3CDTF">2026-05-19T07:56:59Z</dcterms:created>
  <dcterms:modified xsi:type="dcterms:W3CDTF">2026-05-19T10:26:12Z</dcterms:modified>
  <cp:category/>
</cp:coreProperties>
</file>