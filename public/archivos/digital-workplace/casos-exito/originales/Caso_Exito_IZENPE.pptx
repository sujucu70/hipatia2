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B5A496-DEAA-C2CC-3FD8-3B7C089C6E91}" v="53" dt="2026-05-19T08:18:38.4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212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0141" y="2551853"/>
            <a:ext cx="3458835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dirty="0"/>
              <a:t>CONTEXTO</a:t>
            </a:r>
          </a:p>
          <a:p>
            <a:endParaRPr dirty="0"/>
          </a:p>
          <a:p>
            <a:r>
              <a:rPr sz="1200" dirty="0"/>
              <a:t>• </a:t>
            </a:r>
            <a:r>
              <a:rPr sz="1200" dirty="0" err="1"/>
              <a:t>Licitación</a:t>
            </a:r>
            <a:r>
              <a:rPr sz="1200" dirty="0"/>
              <a:t> </a:t>
            </a:r>
            <a:r>
              <a:rPr sz="1200" dirty="0" err="1"/>
              <a:t>pública</a:t>
            </a:r>
            <a:r>
              <a:rPr sz="1200" dirty="0"/>
              <a:t> (€488K/</a:t>
            </a:r>
            <a:r>
              <a:rPr sz="1200" dirty="0" err="1"/>
              <a:t>año</a:t>
            </a:r>
            <a:r>
              <a:rPr sz="1200" dirty="0"/>
              <a:t>)</a:t>
            </a:r>
            <a:endParaRPr sz="1200" dirty="0">
              <a:ea typeface="Calibri"/>
              <a:cs typeface="Calibri"/>
            </a:endParaRPr>
          </a:p>
          <a:p>
            <a:r>
              <a:rPr sz="1200" dirty="0"/>
              <a:t>• </a:t>
            </a:r>
            <a:r>
              <a:rPr sz="1200" dirty="0" err="1"/>
              <a:t>Evaluación</a:t>
            </a:r>
            <a:r>
              <a:rPr sz="1200" dirty="0"/>
              <a:t>: 100 pts (49 </a:t>
            </a:r>
            <a:r>
              <a:rPr sz="1200" dirty="0" err="1"/>
              <a:t>técnico</a:t>
            </a:r>
            <a:r>
              <a:rPr sz="1200" dirty="0"/>
              <a:t> / 51 </a:t>
            </a:r>
            <a:r>
              <a:rPr sz="1200" dirty="0" err="1"/>
              <a:t>coste</a:t>
            </a:r>
            <a:r>
              <a:rPr sz="1200" dirty="0"/>
              <a:t>)</a:t>
            </a:r>
            <a:endParaRPr sz="1200" dirty="0">
              <a:ea typeface="Calibri"/>
              <a:cs typeface="Calibri"/>
            </a:endParaRPr>
          </a:p>
          <a:p>
            <a:r>
              <a:rPr sz="1200" dirty="0"/>
              <a:t>• Alta </a:t>
            </a:r>
            <a:r>
              <a:rPr sz="1200" dirty="0" err="1"/>
              <a:t>criticidad</a:t>
            </a:r>
            <a:r>
              <a:rPr sz="1200" dirty="0"/>
              <a:t> (</a:t>
            </a:r>
            <a:r>
              <a:rPr sz="1200" dirty="0" err="1"/>
              <a:t>identidad</a:t>
            </a:r>
            <a:r>
              <a:rPr sz="1200" dirty="0"/>
              <a:t> digital + </a:t>
            </a:r>
            <a:r>
              <a:rPr sz="1200" dirty="0" err="1"/>
              <a:t>firma</a:t>
            </a:r>
            <a:r>
              <a:rPr sz="1200" dirty="0"/>
              <a:t> </a:t>
            </a:r>
            <a:r>
              <a:rPr sz="1200" dirty="0" err="1"/>
              <a:t>electrónica</a:t>
            </a:r>
            <a:r>
              <a:rPr sz="1200" dirty="0"/>
              <a:t>)</a:t>
            </a:r>
            <a:endParaRPr sz="1200" dirty="0">
              <a:ea typeface="Calibri"/>
              <a:cs typeface="Calibri"/>
            </a:endParaRPr>
          </a:p>
          <a:p>
            <a:br>
              <a:rPr dirty="0"/>
            </a:br>
            <a:r>
              <a:rPr dirty="0"/>
              <a:t>RETO</a:t>
            </a:r>
          </a:p>
          <a:p>
            <a:r>
              <a:rPr sz="1200" dirty="0"/>
              <a:t>• </a:t>
            </a:r>
            <a:r>
              <a:rPr sz="1200" dirty="0" err="1"/>
              <a:t>Crecimiento</a:t>
            </a:r>
            <a:r>
              <a:rPr sz="1200" dirty="0"/>
              <a:t> </a:t>
            </a:r>
            <a:r>
              <a:rPr sz="1200" dirty="0" err="1"/>
              <a:t>fuerte</a:t>
            </a:r>
            <a:r>
              <a:rPr sz="1200" dirty="0"/>
              <a:t> de </a:t>
            </a:r>
            <a:r>
              <a:rPr sz="1200" dirty="0" err="1"/>
              <a:t>incidencias</a:t>
            </a:r>
            <a:r>
              <a:rPr sz="1200" dirty="0"/>
              <a:t> </a:t>
            </a:r>
            <a:r>
              <a:rPr sz="1200" dirty="0" err="1"/>
              <a:t>complejas</a:t>
            </a:r>
            <a:endParaRPr sz="1200" dirty="0">
              <a:ea typeface="Calibri"/>
              <a:cs typeface="Calibri"/>
            </a:endParaRPr>
          </a:p>
          <a:p>
            <a:r>
              <a:rPr sz="1200" dirty="0"/>
              <a:t>• </a:t>
            </a:r>
            <a:r>
              <a:rPr sz="1200" dirty="0" err="1"/>
              <a:t>Necesidad</a:t>
            </a:r>
            <a:r>
              <a:rPr sz="1200" dirty="0"/>
              <a:t> de </a:t>
            </a:r>
            <a:r>
              <a:rPr sz="1200" dirty="0" err="1"/>
              <a:t>soporte</a:t>
            </a:r>
            <a:r>
              <a:rPr sz="1200" dirty="0"/>
              <a:t> </a:t>
            </a:r>
            <a:r>
              <a:rPr sz="1200" dirty="0" err="1"/>
              <a:t>experto</a:t>
            </a:r>
            <a:r>
              <a:rPr sz="1200" dirty="0"/>
              <a:t> y </a:t>
            </a:r>
            <a:r>
              <a:rPr sz="1200" dirty="0" err="1"/>
              <a:t>estable</a:t>
            </a:r>
            <a:endParaRPr sz="1200" dirty="0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13466" y="2453382"/>
            <a:ext cx="3090749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t>SOLUCIÓN</a:t>
            </a:r>
          </a:p>
          <a:p>
            <a:endParaRPr/>
          </a:p>
          <a:p>
            <a:r>
              <a:rPr sz="1200"/>
              <a:t>• Equipo: 10 FTE + 4 backup</a:t>
            </a:r>
            <a:endParaRPr sz="1200" dirty="0">
              <a:ea typeface="Calibri"/>
              <a:cs typeface="Calibri"/>
            </a:endParaRPr>
          </a:p>
          <a:p>
            <a:r>
              <a:rPr sz="1200" dirty="0"/>
              <a:t>• 3 </a:t>
            </a:r>
            <a:r>
              <a:rPr sz="1200" dirty="0" err="1"/>
              <a:t>líneas</a:t>
            </a:r>
            <a:r>
              <a:rPr sz="1200" dirty="0"/>
              <a:t> </a:t>
            </a:r>
            <a:r>
              <a:rPr sz="1200" dirty="0" err="1"/>
              <a:t>críticas</a:t>
            </a:r>
            <a:r>
              <a:rPr sz="1200" dirty="0"/>
              <a:t> (</a:t>
            </a:r>
            <a:r>
              <a:rPr sz="1200" dirty="0" err="1"/>
              <a:t>Ciudadanía</a:t>
            </a:r>
            <a:r>
              <a:rPr sz="1200" dirty="0"/>
              <a:t>, RA, </a:t>
            </a:r>
            <a:r>
              <a:rPr sz="1200" dirty="0" err="1"/>
              <a:t>Certificados</a:t>
            </a:r>
            <a:r>
              <a:rPr sz="1200" dirty="0"/>
              <a:t>)</a:t>
            </a:r>
            <a:endParaRPr sz="1200" dirty="0">
              <a:ea typeface="Calibri"/>
              <a:cs typeface="Calibri"/>
            </a:endParaRPr>
          </a:p>
          <a:p>
            <a:r>
              <a:rPr sz="1200" dirty="0"/>
              <a:t>• 3 + 2 </a:t>
            </a:r>
            <a:r>
              <a:rPr sz="1200" dirty="0" err="1"/>
              <a:t>agentes</a:t>
            </a:r>
            <a:r>
              <a:rPr sz="1200" dirty="0"/>
              <a:t> </a:t>
            </a:r>
            <a:r>
              <a:rPr sz="1200" dirty="0" err="1"/>
              <a:t>especializados</a:t>
            </a:r>
            <a:r>
              <a:rPr sz="1200" dirty="0"/>
              <a:t> (</a:t>
            </a:r>
            <a:r>
              <a:rPr sz="1200" dirty="0" err="1"/>
              <a:t>supera</a:t>
            </a:r>
            <a:r>
              <a:rPr sz="1200" dirty="0"/>
              <a:t> </a:t>
            </a:r>
            <a:r>
              <a:rPr sz="1200" dirty="0" err="1"/>
              <a:t>pliego</a:t>
            </a:r>
            <a:r>
              <a:rPr sz="1200" dirty="0"/>
              <a:t>)</a:t>
            </a:r>
            <a:endParaRPr sz="1200" dirty="0">
              <a:ea typeface="Calibri"/>
              <a:cs typeface="Calibri"/>
            </a:endParaRPr>
          </a:p>
          <a:p>
            <a:r>
              <a:rPr sz="1200" dirty="0"/>
              <a:t>• </a:t>
            </a:r>
            <a:r>
              <a:rPr sz="1200" dirty="0" err="1"/>
              <a:t>Cobertura</a:t>
            </a:r>
            <a:r>
              <a:rPr sz="1200" dirty="0"/>
              <a:t> completa SLA y </a:t>
            </a:r>
            <a:r>
              <a:rPr sz="1200" dirty="0" err="1"/>
              <a:t>picos</a:t>
            </a:r>
            <a:r>
              <a:rPr sz="1200" dirty="0"/>
              <a:t> de </a:t>
            </a:r>
            <a:r>
              <a:rPr sz="1200" dirty="0" err="1"/>
              <a:t>demanda</a:t>
            </a:r>
            <a:endParaRPr sz="1200" dirty="0" err="1">
              <a:ea typeface="Calibri"/>
              <a:cs typeface="Calibri"/>
            </a:endParaRPr>
          </a:p>
          <a:p>
            <a:br>
              <a:rPr dirty="0"/>
            </a:br>
            <a:r>
              <a:t>OPERACIÓN</a:t>
            </a:r>
          </a:p>
          <a:p>
            <a:r>
              <a:rPr sz="1200"/>
              <a:t>• Modelo ITIL + Lean</a:t>
            </a:r>
            <a:endParaRPr sz="1200" dirty="0">
              <a:ea typeface="Calibri"/>
              <a:cs typeface="Calibri"/>
            </a:endParaRPr>
          </a:p>
          <a:p>
            <a:r>
              <a:rPr sz="1200" dirty="0"/>
              <a:t>• </a:t>
            </a:r>
            <a:r>
              <a:rPr sz="1200" dirty="0" err="1"/>
              <a:t>Herramientas</a:t>
            </a:r>
            <a:r>
              <a:rPr sz="1200" dirty="0"/>
              <a:t>: ServiceNow + Power BI</a:t>
            </a:r>
            <a:endParaRPr sz="1200" dirty="0">
              <a:ea typeface="Calibri"/>
              <a:cs typeface="Calibri"/>
            </a:endParaRPr>
          </a:p>
          <a:p>
            <a:r>
              <a:rPr sz="1200" dirty="0"/>
              <a:t>• </a:t>
            </a:r>
            <a:r>
              <a:rPr sz="1200" dirty="0" err="1"/>
              <a:t>Gestión</a:t>
            </a:r>
            <a:r>
              <a:rPr sz="1200" dirty="0"/>
              <a:t> </a:t>
            </a:r>
            <a:r>
              <a:rPr sz="1200" dirty="0" err="1"/>
              <a:t>proactiva</a:t>
            </a:r>
            <a:r>
              <a:rPr sz="1200" dirty="0"/>
              <a:t> + </a:t>
            </a:r>
            <a:r>
              <a:rPr sz="1200" dirty="0" err="1"/>
              <a:t>mejora</a:t>
            </a:r>
            <a:r>
              <a:rPr sz="1200" dirty="0"/>
              <a:t> continua</a:t>
            </a:r>
            <a:endParaRPr sz="1200" dirty="0"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98791" y="2453382"/>
            <a:ext cx="2879973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t>IMPACTO</a:t>
            </a:r>
          </a:p>
          <a:p>
            <a:endParaRPr/>
          </a:p>
          <a:p>
            <a:r>
              <a:rPr sz="1200" dirty="0"/>
              <a:t>• +17 </a:t>
            </a:r>
            <a:r>
              <a:rPr sz="1200" dirty="0" err="1"/>
              <a:t>años</a:t>
            </a:r>
            <a:r>
              <a:rPr sz="1200" dirty="0"/>
              <a:t> </a:t>
            </a:r>
            <a:r>
              <a:rPr sz="1200" dirty="0" err="1"/>
              <a:t>experiencia</a:t>
            </a:r>
            <a:r>
              <a:rPr sz="1200" dirty="0"/>
              <a:t> → </a:t>
            </a:r>
            <a:r>
              <a:rPr sz="1200" dirty="0" err="1"/>
              <a:t>riesgo</a:t>
            </a:r>
            <a:r>
              <a:rPr sz="1200" dirty="0"/>
              <a:t> = 0</a:t>
            </a:r>
            <a:endParaRPr sz="1200" dirty="0">
              <a:ea typeface="Calibri"/>
              <a:cs typeface="Calibri"/>
            </a:endParaRPr>
          </a:p>
          <a:p>
            <a:r>
              <a:rPr sz="1200" dirty="0"/>
              <a:t>• </a:t>
            </a:r>
            <a:r>
              <a:rPr sz="1200" dirty="0" err="1"/>
              <a:t>Sobrecumplimiento</a:t>
            </a:r>
            <a:r>
              <a:rPr sz="1200" dirty="0"/>
              <a:t> de </a:t>
            </a:r>
            <a:r>
              <a:rPr sz="1200" dirty="0" err="1"/>
              <a:t>requisitos</a:t>
            </a:r>
            <a:r>
              <a:rPr sz="1200" dirty="0"/>
              <a:t> </a:t>
            </a:r>
            <a:r>
              <a:rPr sz="1200" dirty="0" err="1"/>
              <a:t>críticos</a:t>
            </a:r>
            <a:endParaRPr sz="1200" dirty="0" err="1">
              <a:ea typeface="Calibri"/>
              <a:cs typeface="Calibri"/>
            </a:endParaRPr>
          </a:p>
          <a:p>
            <a:r>
              <a:rPr sz="1200" dirty="0"/>
              <a:t>• SLA </a:t>
            </a:r>
            <a:r>
              <a:rPr sz="1200" dirty="0" err="1"/>
              <a:t>robustos</a:t>
            </a:r>
            <a:r>
              <a:rPr sz="1200" dirty="0"/>
              <a:t> y </a:t>
            </a:r>
            <a:r>
              <a:rPr sz="1200" dirty="0" err="1"/>
              <a:t>escalables</a:t>
            </a:r>
            <a:endParaRPr sz="1200" dirty="0" err="1">
              <a:ea typeface="Calibri"/>
              <a:cs typeface="Calibri"/>
            </a:endParaRPr>
          </a:p>
          <a:p>
            <a:br>
              <a:rPr dirty="0"/>
            </a:br>
            <a:r>
              <a:t>RESULTADO</a:t>
            </a:r>
          </a:p>
          <a:p>
            <a:r>
              <a:rPr sz="1200" dirty="0"/>
              <a:t>• Máxima </a:t>
            </a:r>
            <a:r>
              <a:rPr sz="1200" dirty="0" err="1"/>
              <a:t>puntuación</a:t>
            </a:r>
            <a:r>
              <a:rPr sz="1200" dirty="0"/>
              <a:t> </a:t>
            </a:r>
            <a:r>
              <a:rPr sz="1200" dirty="0" err="1"/>
              <a:t>técnica</a:t>
            </a:r>
            <a:endParaRPr sz="1200" dirty="0" err="1">
              <a:ea typeface="Calibri"/>
              <a:cs typeface="Calibri"/>
            </a:endParaRPr>
          </a:p>
          <a:p>
            <a:r>
              <a:rPr sz="1200" dirty="0"/>
              <a:t>• </a:t>
            </a:r>
            <a:r>
              <a:rPr sz="1200" dirty="0" err="1"/>
              <a:t>Ventaja</a:t>
            </a:r>
            <a:r>
              <a:rPr sz="1200" dirty="0"/>
              <a:t> </a:t>
            </a:r>
            <a:r>
              <a:rPr sz="1200" dirty="0" err="1"/>
              <a:t>clara</a:t>
            </a:r>
            <a:r>
              <a:rPr sz="1200" dirty="0"/>
              <a:t> </a:t>
            </a:r>
            <a:r>
              <a:rPr sz="1200" dirty="0" err="1"/>
              <a:t>calidad</a:t>
            </a:r>
            <a:r>
              <a:rPr sz="1200" dirty="0"/>
              <a:t> vs </a:t>
            </a:r>
            <a:r>
              <a:rPr sz="1200" dirty="0" err="1"/>
              <a:t>coste</a:t>
            </a:r>
            <a:endParaRPr sz="1200" dirty="0" err="1">
              <a:ea typeface="Calibri"/>
              <a:cs typeface="Calibri"/>
            </a:endParaRPr>
          </a:p>
          <a:p>
            <a:r>
              <a:rPr sz="1200" dirty="0"/>
              <a:t>• Partner </a:t>
            </a:r>
            <a:r>
              <a:rPr sz="1200" dirty="0" err="1"/>
              <a:t>estratégico</a:t>
            </a:r>
            <a:r>
              <a:rPr sz="1200" dirty="0"/>
              <a:t> </a:t>
            </a:r>
            <a:r>
              <a:rPr sz="1200" dirty="0" err="1"/>
              <a:t>consolidado</a:t>
            </a:r>
            <a:endParaRPr sz="1200" dirty="0" err="1"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2497" y="6231481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CLAVE: Experiencia + excelencia operativa + sobrecumplimiento = adjudicación ganada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64F8FC67-D139-40FE-8B1A-1997EF4BD1CB}"/>
              </a:ext>
            </a:extLst>
          </p:cNvPr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3600" b="1"/>
            </a:pPr>
            <a:r>
              <a:t>IZENPE | Caso de Éxito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0B7E57DE-3326-6133-7396-A4DE10A650BC}"/>
              </a:ext>
            </a:extLst>
          </p:cNvPr>
          <p:cNvSpPr txBox="1"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4000" b="1"/>
            </a:pPr>
            <a:r>
              <a:t>+17 años</a:t>
            </a:r>
          </a:p>
          <a:p>
            <a:pPr algn="ctr">
              <a:defRPr sz="1600"/>
            </a:pPr>
            <a:r>
              <a:t>EXPERIENCIA EN EL SERVICIO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7B1B4CD7-53DE-7982-512B-29DF64E3814B}"/>
              </a:ext>
            </a:extLst>
          </p:cNvPr>
          <p:cNvSpPr txBox="1"/>
          <p:nvPr/>
        </p:nvSpPr>
        <p:spPr>
          <a:xfrm>
            <a:off x="338328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4000" b="1"/>
            </a:pPr>
            <a:r>
              <a:t>10 + 4</a:t>
            </a:r>
          </a:p>
          <a:p>
            <a:pPr algn="ctr">
              <a:defRPr sz="1600"/>
            </a:pPr>
            <a:r>
              <a:t>EQUIPO + BACKUP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F52A7CC8-F29A-D404-8E5F-16CA69C0EE56}"/>
              </a:ext>
            </a:extLst>
          </p:cNvPr>
          <p:cNvSpPr txBox="1"/>
          <p:nvPr/>
        </p:nvSpPr>
        <p:spPr>
          <a:xfrm>
            <a:off x="630936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4000" b="1"/>
            </a:pPr>
            <a:r>
              <a:t>100 pts</a:t>
            </a:r>
          </a:p>
          <a:p>
            <a:pPr algn="ctr">
              <a:defRPr sz="1600"/>
            </a:pPr>
            <a:r>
              <a:t>EVALUACIÓN LICITACIÓN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174</Words>
  <Application>Microsoft Office PowerPoint</Application>
  <PresentationFormat>Presentación en pantalla (4:3)</PresentationFormat>
  <Paragraphs>35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Amador Sobrino Castillo</dc:creator>
  <cp:keywords/>
  <dc:description>generated using python-pptx</dc:description>
  <cp:lastModifiedBy>Amador Sobrino Castillo</cp:lastModifiedBy>
  <cp:revision>33</cp:revision>
  <dcterms:created xsi:type="dcterms:W3CDTF">2026-05-19T07:56:59Z</dcterms:created>
  <dcterms:modified xsi:type="dcterms:W3CDTF">2026-05-19T10:04:45Z</dcterms:modified>
  <cp:category/>
</cp:coreProperties>
</file>