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B5A496-DEAA-C2CC-3FD8-3B7C089C6E91}" v="53" dt="2026-05-19T08:18:38.4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2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00141" y="2551853"/>
            <a:ext cx="3458835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dirty="0"/>
              <a:t>CONTEXTO</a:t>
            </a:r>
          </a:p>
          <a:p>
            <a:endParaRPr dirty="0"/>
          </a:p>
          <a:p>
            <a:r>
              <a:rPr sz="1200" dirty="0"/>
              <a:t>• </a:t>
            </a:r>
            <a:r>
              <a:rPr lang="es-ES" sz="1200" dirty="0"/>
              <a:t>~66.000 dispositivos para alumnado (Windows + Chromebook)</a:t>
            </a:r>
          </a:p>
          <a:p>
            <a:r>
              <a:rPr sz="1200" dirty="0"/>
              <a:t>• </a:t>
            </a:r>
            <a:r>
              <a:rPr lang="es-ES" sz="1200" dirty="0"/>
              <a:t>Hasta 200.000 alumnos en red pública y mayor volumen incluyendo concertada</a:t>
            </a:r>
          </a:p>
          <a:p>
            <a:r>
              <a:rPr sz="1200" dirty="0"/>
              <a:t>• </a:t>
            </a:r>
            <a:r>
              <a:rPr lang="es-ES" sz="1200" dirty="0"/>
              <a:t>ecosistema distribuido con múltiples centros, tecnologías y modelos de gestión</a:t>
            </a:r>
          </a:p>
          <a:p>
            <a:br>
              <a:rPr dirty="0"/>
            </a:br>
            <a:r>
              <a:rPr dirty="0"/>
              <a:t>RETO</a:t>
            </a:r>
          </a:p>
          <a:p>
            <a:r>
              <a:rPr sz="1200" dirty="0"/>
              <a:t>• </a:t>
            </a:r>
            <a:r>
              <a:rPr lang="es-ES" sz="1200" dirty="0"/>
              <a:t>Complejidad organizativa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</a:t>
            </a:r>
            <a:r>
              <a:rPr lang="es-ES" sz="1200" dirty="0"/>
              <a:t>Volumen y dispersión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Servicio híbrido (IT + logística)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Alta estacionalidad con picos extremos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SLA estrictos (atención, resolución, entregas)</a:t>
            </a:r>
          </a:p>
          <a:p>
            <a:endParaRPr sz="1200" dirty="0">
              <a:ea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513466" y="2453382"/>
            <a:ext cx="3090749" cy="360098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dirty="0"/>
              <a:t>SOLUCIÓN</a:t>
            </a:r>
          </a:p>
          <a:p>
            <a:endParaRPr dirty="0"/>
          </a:p>
          <a:p>
            <a:r>
              <a:rPr sz="1200" dirty="0"/>
              <a:t>• </a:t>
            </a:r>
            <a:r>
              <a:rPr lang="es-ES" sz="1200" dirty="0"/>
              <a:t>Modelo DaaS industrializado con cobertura completa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</a:t>
            </a:r>
            <a:r>
              <a:rPr lang="es-ES" sz="1200" dirty="0"/>
              <a:t>Plataforma y herramientas</a:t>
            </a:r>
          </a:p>
          <a:p>
            <a:r>
              <a:rPr sz="1200" dirty="0"/>
              <a:t>• </a:t>
            </a:r>
            <a:r>
              <a:rPr lang="es-ES" sz="1200" dirty="0"/>
              <a:t>Capacidad logística diferencial, almacenes y flota propia</a:t>
            </a:r>
          </a:p>
          <a:p>
            <a:r>
              <a:rPr sz="1200" dirty="0"/>
              <a:t>• </a:t>
            </a:r>
            <a:r>
              <a:rPr lang="es-ES" sz="1200" dirty="0"/>
              <a:t>integrar IT + logística + operación bajo un único modelo gestionado</a:t>
            </a:r>
            <a:endParaRPr sz="1200" dirty="0">
              <a:ea typeface="Calibri"/>
              <a:cs typeface="Calibri"/>
            </a:endParaRPr>
          </a:p>
          <a:p>
            <a:br>
              <a:rPr dirty="0"/>
            </a:br>
            <a:r>
              <a:rPr dirty="0"/>
              <a:t>OPERACIÓN</a:t>
            </a:r>
          </a:p>
          <a:p>
            <a:r>
              <a:rPr sz="1200" dirty="0"/>
              <a:t>• </a:t>
            </a:r>
            <a:r>
              <a:rPr lang="es-ES" sz="1200" dirty="0"/>
              <a:t>Estructura por niveles y Cobertura funcional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</a:t>
            </a:r>
            <a:r>
              <a:rPr sz="1200" dirty="0" err="1"/>
              <a:t>Herramientas</a:t>
            </a:r>
            <a:r>
              <a:rPr sz="1200" dirty="0"/>
              <a:t>: ServiceNow + </a:t>
            </a:r>
            <a:r>
              <a:rPr lang="es-ES" sz="1200" dirty="0"/>
              <a:t>Intune + Google </a:t>
            </a:r>
            <a:r>
              <a:rPr lang="es-ES" sz="1200" dirty="0" err="1"/>
              <a:t>Workplace</a:t>
            </a:r>
            <a:r>
              <a:rPr lang="es-ES" sz="1200" dirty="0"/>
              <a:t> + Power BI</a:t>
            </a:r>
            <a:endParaRPr sz="1200" dirty="0">
              <a:ea typeface="Calibri"/>
              <a:cs typeface="Calibri"/>
            </a:endParaRPr>
          </a:p>
          <a:p>
            <a:r>
              <a:rPr sz="1200" dirty="0"/>
              <a:t>• </a:t>
            </a:r>
            <a:r>
              <a:rPr lang="es-ES" sz="1200" dirty="0"/>
              <a:t>Operación logística</a:t>
            </a:r>
          </a:p>
          <a:p>
            <a:r>
              <a:rPr lang="es-ES" sz="1200" dirty="0"/>
              <a:t>• Cobertura Funcional</a:t>
            </a:r>
          </a:p>
          <a:p>
            <a:endParaRPr sz="1200" dirty="0">
              <a:ea typeface="Calibri"/>
              <a:cs typeface="Calibr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98791" y="2453382"/>
            <a:ext cx="2879973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dirty="0"/>
              <a:t>IMPACTO</a:t>
            </a:r>
          </a:p>
          <a:p>
            <a:endParaRPr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Reducción de incidencias recurrentes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Trazabilidad completa (</a:t>
            </a:r>
            <a:r>
              <a:rPr lang="es-ES" sz="1200" dirty="0" err="1"/>
              <a:t>ServiceNow</a:t>
            </a:r>
            <a:r>
              <a:rPr lang="es-ES" sz="1200" dirty="0"/>
              <a:t> + </a:t>
            </a:r>
            <a:r>
              <a:rPr lang="es-ES" sz="1200" dirty="0" err="1"/>
              <a:t>reporting</a:t>
            </a:r>
            <a:r>
              <a:rPr lang="es-ES" sz="1200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Control de inventario y ciclo de vida</a:t>
            </a:r>
            <a:endParaRPr lang="es-ES" sz="1200" dirty="0"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Convertir una operación compleja en un servicio predecible, controlado y escalable</a:t>
            </a:r>
          </a:p>
          <a:p>
            <a:br>
              <a:rPr dirty="0"/>
            </a:br>
            <a:r>
              <a:rPr dirty="0"/>
              <a:t>RESULTADO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Gestión unificada de +60.000 dispositivos educativos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Servicio medido por </a:t>
            </a:r>
            <a:r>
              <a:rPr lang="es-ES" sz="1200" dirty="0" err="1"/>
              <a:t>SLAs</a:t>
            </a:r>
            <a:r>
              <a:rPr lang="es-ES" sz="1200" dirty="0"/>
              <a:t> y orientado a calidad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Modelo DaaS consolidado en el ámbito educativo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200" dirty="0"/>
              <a:t>Integración real de IT + logística</a:t>
            </a:r>
            <a:endParaRPr sz="1200" dirty="0" err="1">
              <a:ea typeface="Calibri"/>
              <a:cs typeface="Calibr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02497" y="6100534"/>
            <a:ext cx="80751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dirty="0"/>
              <a:t>CLAVE: </a:t>
            </a:r>
            <a:r>
              <a:rPr lang="es-ES" dirty="0"/>
              <a:t>Transformamos la gestión masiva de dispositivos educativos en un servicio DaaS industrializado, trazable y orientado a calidad</a:t>
            </a:r>
            <a:endParaRPr dirty="0"/>
          </a:p>
        </p:txBody>
      </p:sp>
      <p:sp>
        <p:nvSpPr>
          <p:cNvPr id="8" name="TextBox 2">
            <a:extLst>
              <a:ext uri="{FF2B5EF4-FFF2-40B4-BE49-F238E27FC236}">
                <a16:creationId xmlns:a16="http://schemas.microsoft.com/office/drawing/2014/main" id="{64F8FC67-D139-40FE-8B1A-1997EF4BD1CB}"/>
              </a:ext>
            </a:extLst>
          </p:cNvPr>
          <p:cNvSpPr txBox="1"/>
          <p:nvPr/>
        </p:nvSpPr>
        <p:spPr>
          <a:xfrm>
            <a:off x="2095042" y="274320"/>
            <a:ext cx="495392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3600" b="1"/>
            </a:pPr>
            <a:r>
              <a:rPr lang="es-ES" dirty="0"/>
              <a:t>EJIE</a:t>
            </a:r>
            <a:r>
              <a:rPr dirty="0"/>
              <a:t> </a:t>
            </a:r>
            <a:r>
              <a:rPr lang="es-ES" dirty="0"/>
              <a:t>DaaS </a:t>
            </a:r>
            <a:r>
              <a:rPr dirty="0"/>
              <a:t>| Caso de </a:t>
            </a:r>
            <a:r>
              <a:rPr dirty="0" err="1"/>
              <a:t>Éxito</a:t>
            </a:r>
            <a:endParaRPr dirty="0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B7E57DE-3326-6133-7396-A4DE10A650BC}"/>
              </a:ext>
            </a:extLst>
          </p:cNvPr>
          <p:cNvSpPr txBox="1"/>
          <p:nvPr/>
        </p:nvSpPr>
        <p:spPr>
          <a:xfrm>
            <a:off x="699035" y="1371600"/>
            <a:ext cx="225952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dirty="0"/>
              <a:t>+</a:t>
            </a:r>
            <a:r>
              <a:rPr lang="es-ES" dirty="0"/>
              <a:t>65K</a:t>
            </a:r>
            <a:endParaRPr dirty="0"/>
          </a:p>
          <a:p>
            <a:pPr algn="ctr">
              <a:defRPr sz="1600"/>
            </a:pPr>
            <a:r>
              <a:rPr lang="es-ES" dirty="0"/>
              <a:t>Dispositivos Gestionados</a:t>
            </a:r>
            <a:endParaRPr dirty="0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7B1B4CD7-53DE-7982-512B-29DF64E3814B}"/>
              </a:ext>
            </a:extLst>
          </p:cNvPr>
          <p:cNvSpPr txBox="1"/>
          <p:nvPr/>
        </p:nvSpPr>
        <p:spPr>
          <a:xfrm>
            <a:off x="3870153" y="1371600"/>
            <a:ext cx="1769459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lang="es-ES" dirty="0"/>
              <a:t>+400</a:t>
            </a:r>
            <a:endParaRPr dirty="0"/>
          </a:p>
          <a:p>
            <a:pPr algn="ctr">
              <a:defRPr sz="1600"/>
            </a:pPr>
            <a:r>
              <a:rPr lang="es-ES" dirty="0"/>
              <a:t>Centros Implicados</a:t>
            </a:r>
            <a:endParaRPr dirty="0"/>
          </a:p>
        </p:txBody>
      </p:sp>
      <p:sp>
        <p:nvSpPr>
          <p:cNvPr id="11" name="TextBox 5">
            <a:extLst>
              <a:ext uri="{FF2B5EF4-FFF2-40B4-BE49-F238E27FC236}">
                <a16:creationId xmlns:a16="http://schemas.microsoft.com/office/drawing/2014/main" id="{F52A7CC8-F29A-D404-8E5F-16CA69C0EE56}"/>
              </a:ext>
            </a:extLst>
          </p:cNvPr>
          <p:cNvSpPr txBox="1"/>
          <p:nvPr/>
        </p:nvSpPr>
        <p:spPr>
          <a:xfrm>
            <a:off x="6820791" y="1371600"/>
            <a:ext cx="1720344" cy="954107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4000" b="1"/>
            </a:pPr>
            <a:r>
              <a:rPr lang="es-ES" dirty="0"/>
              <a:t>40K</a:t>
            </a:r>
            <a:endParaRPr dirty="0"/>
          </a:p>
          <a:p>
            <a:pPr algn="ctr">
              <a:defRPr sz="1600"/>
            </a:pPr>
            <a:r>
              <a:rPr lang="es-ES" dirty="0"/>
              <a:t>Renovaciones</a:t>
            </a:r>
            <a:r>
              <a:rPr lang="es-ES"/>
              <a:t>/año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225</Words>
  <Application>Microsoft Office PowerPoint</Application>
  <PresentationFormat>Presentación en pantalla (4:3)</PresentationFormat>
  <Paragraphs>41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Amador Sobrino Castillo</dc:creator>
  <cp:keywords/>
  <dc:description>generated using python-pptx</dc:description>
  <cp:lastModifiedBy>Amador Sobrino Castillo</cp:lastModifiedBy>
  <cp:revision>37</cp:revision>
  <dcterms:created xsi:type="dcterms:W3CDTF">2026-05-19T07:56:59Z</dcterms:created>
  <dcterms:modified xsi:type="dcterms:W3CDTF">2026-05-19T10:06:54Z</dcterms:modified>
  <cp:category/>
</cp:coreProperties>
</file>