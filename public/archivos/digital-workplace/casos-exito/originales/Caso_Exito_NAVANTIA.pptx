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12D647-86E8-05DD-3801-0533757A0F01}" v="80" dt="2026-05-19T08:51:35.0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NAVANTIA | Caso de Éxito CAU 2025-2028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531" y="945397"/>
            <a:ext cx="2743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2,6M€</a:t>
            </a:r>
          </a:p>
          <a:p>
            <a:pPr algn="ctr">
              <a:defRPr sz="1600"/>
            </a:pPr>
            <a:r>
              <a:t>PRESUPUESTO 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18611" y="945397"/>
            <a:ext cx="2743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25 FTE</a:t>
            </a:r>
          </a:p>
          <a:p>
            <a:pPr algn="ctr">
              <a:defRPr sz="1600"/>
            </a:pPr>
            <a:r>
              <a:t>EQUIPO MULTI-SEDE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44691" y="945397"/>
            <a:ext cx="2743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60 / 40</a:t>
            </a:r>
          </a:p>
          <a:p>
            <a:pPr algn="ctr">
              <a:defRPr sz="1600"/>
            </a:pPr>
            <a:r>
              <a:t>TÉCNICO / ECONÓMICO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573" y="6124543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CLAVE: Industrialización + escala + flexibilidad = adjudicación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EF1994-4789-FD58-87C3-F4D6D6DCF7CF}"/>
              </a:ext>
            </a:extLst>
          </p:cNvPr>
          <p:cNvSpPr txBox="1"/>
          <p:nvPr/>
        </p:nvSpPr>
        <p:spPr>
          <a:xfrm>
            <a:off x="476573" y="2091884"/>
            <a:ext cx="2998924" cy="30162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/>
          </a:p>
          <a:p>
            <a:pPr>
              <a:defRPr sz="1800"/>
            </a:pPr>
            <a:r>
              <a:rPr dirty="0"/>
              <a:t>C</a:t>
            </a:r>
            <a:r>
              <a:rPr sz="1100" dirty="0"/>
              <a:t>ONTEXTO: </a:t>
            </a:r>
            <a:endParaRPr lang="en-US" sz="1100" dirty="0"/>
          </a:p>
          <a:p>
            <a:pPr>
              <a:defRPr sz="1800"/>
            </a:pPr>
            <a:r>
              <a:rPr lang="en-US" sz="1100" dirty="0">
                <a:latin typeface="Segoe UI"/>
                <a:cs typeface="Segoe UI"/>
              </a:rPr>
              <a:t>• </a:t>
            </a:r>
            <a:r>
              <a:rPr lang="en-US" sz="1100" dirty="0" err="1">
                <a:latin typeface="Segoe UI"/>
                <a:cs typeface="Segoe UI"/>
              </a:rPr>
              <a:t>Licitación</a:t>
            </a:r>
            <a:r>
              <a:rPr lang="en-US" sz="1100" dirty="0">
                <a:latin typeface="Segoe UI"/>
                <a:cs typeface="Segoe UI"/>
              </a:rPr>
              <a:t> CAU </a:t>
            </a:r>
            <a:r>
              <a:rPr lang="en-US" sz="1100" dirty="0" err="1">
                <a:latin typeface="Segoe UI"/>
                <a:cs typeface="Segoe UI"/>
              </a:rPr>
              <a:t>Navantia</a:t>
            </a:r>
            <a:r>
              <a:rPr lang="en-US" sz="1100" dirty="0">
                <a:latin typeface="Segoe UI"/>
                <a:cs typeface="Segoe UI"/>
              </a:rPr>
              <a:t> (2025‑2028)</a:t>
            </a:r>
            <a:br>
              <a:rPr lang="en-US" sz="1100" dirty="0">
                <a:latin typeface="Segoe UI"/>
                <a:cs typeface="Segoe UI"/>
              </a:rPr>
            </a:br>
            <a:r>
              <a:rPr lang="en-US" sz="1100" dirty="0">
                <a:latin typeface="Segoe UI"/>
                <a:cs typeface="Segoe UI"/>
              </a:rPr>
              <a:t> • Servicio </a:t>
            </a:r>
            <a:r>
              <a:rPr lang="en-US" sz="1100" dirty="0" err="1">
                <a:latin typeface="Segoe UI"/>
                <a:cs typeface="Segoe UI"/>
              </a:rPr>
              <a:t>crítico</a:t>
            </a:r>
            <a:r>
              <a:rPr lang="en-US" sz="1100" dirty="0">
                <a:latin typeface="Segoe UI"/>
                <a:cs typeface="Segoe UI"/>
              </a:rPr>
              <a:t> IT para </a:t>
            </a:r>
            <a:r>
              <a:rPr lang="en-US" sz="1100" b="1" dirty="0" err="1">
                <a:latin typeface="Segoe UI"/>
                <a:cs typeface="Segoe UI"/>
              </a:rPr>
              <a:t>todas</a:t>
            </a:r>
            <a:r>
              <a:rPr lang="en-US" sz="1100" b="1" dirty="0">
                <a:latin typeface="Segoe UI"/>
                <a:cs typeface="Segoe UI"/>
              </a:rPr>
              <a:t> las </a:t>
            </a:r>
            <a:r>
              <a:rPr lang="en-US" sz="1100" b="1" dirty="0" err="1">
                <a:latin typeface="Segoe UI"/>
                <a:cs typeface="Segoe UI"/>
              </a:rPr>
              <a:t>sedes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nacionales</a:t>
            </a:r>
            <a:r>
              <a:rPr lang="en-US" sz="1100" b="1" dirty="0">
                <a:latin typeface="Segoe UI"/>
                <a:cs typeface="Segoe UI"/>
              </a:rPr>
              <a:t> + </a:t>
            </a:r>
            <a:r>
              <a:rPr lang="en-US" sz="1100" b="1" dirty="0" err="1">
                <a:latin typeface="Segoe UI"/>
                <a:cs typeface="Segoe UI"/>
              </a:rPr>
              <a:t>soporte</a:t>
            </a:r>
            <a:r>
              <a:rPr lang="en-US" sz="1100" b="1" dirty="0">
                <a:latin typeface="Segoe UI"/>
                <a:cs typeface="Segoe UI"/>
              </a:rPr>
              <a:t> global</a:t>
            </a:r>
            <a:r>
              <a:rPr lang="en-US" sz="1100" dirty="0">
                <a:latin typeface="Segoe UI"/>
                <a:cs typeface="Segoe UI"/>
              </a:rPr>
              <a:t> </a:t>
            </a:r>
            <a:br>
              <a:rPr lang="en-US" sz="1100" dirty="0">
                <a:latin typeface="Segoe UI"/>
                <a:cs typeface="Segoe UI"/>
              </a:rPr>
            </a:br>
            <a:r>
              <a:rPr lang="en-US" sz="1100" dirty="0">
                <a:latin typeface="Segoe UI"/>
                <a:cs typeface="Segoe UI"/>
              </a:rPr>
              <a:t>• Alta </a:t>
            </a:r>
            <a:r>
              <a:rPr lang="en-US" sz="1100" dirty="0" err="1">
                <a:latin typeface="Segoe UI"/>
                <a:cs typeface="Segoe UI"/>
              </a:rPr>
              <a:t>exigencia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en</a:t>
            </a:r>
            <a:r>
              <a:rPr lang="en-US" sz="1100" dirty="0">
                <a:latin typeface="Segoe UI"/>
                <a:cs typeface="Segoe UI"/>
              </a:rPr>
              <a:t> SLA, </a:t>
            </a:r>
            <a:r>
              <a:rPr lang="en-US" sz="1100" dirty="0" err="1">
                <a:latin typeface="Segoe UI"/>
                <a:cs typeface="Segoe UI"/>
              </a:rPr>
              <a:t>seguridad</a:t>
            </a:r>
            <a:r>
              <a:rPr lang="en-US" sz="1100" dirty="0">
                <a:latin typeface="Segoe UI"/>
                <a:cs typeface="Segoe UI"/>
              </a:rPr>
              <a:t> y </a:t>
            </a:r>
            <a:r>
              <a:rPr lang="en-US" sz="1100" dirty="0" err="1">
                <a:latin typeface="Segoe UI"/>
                <a:cs typeface="Segoe UI"/>
              </a:rPr>
              <a:t>continuidad</a:t>
            </a:r>
            <a:endParaRPr lang="en-US" dirty="0" err="1"/>
          </a:p>
          <a:p>
            <a:pPr>
              <a:defRPr sz="1800"/>
            </a:pPr>
            <a:endParaRPr sz="1100" dirty="0">
              <a:ea typeface="Calibri"/>
              <a:cs typeface="Calibri"/>
            </a:endParaRPr>
          </a:p>
          <a:p>
            <a:pPr>
              <a:defRPr sz="1800"/>
            </a:pPr>
            <a:r>
              <a:rPr sz="1100"/>
              <a:t>RETO: </a:t>
            </a:r>
            <a:endParaRPr lang="en-US" sz="1100"/>
          </a:p>
          <a:p>
            <a:pPr>
              <a:defRPr sz="1800"/>
            </a:pPr>
            <a:r>
              <a:rPr lang="en-US" sz="1100" dirty="0">
                <a:latin typeface="Segoe UI"/>
                <a:ea typeface="Calibri"/>
                <a:cs typeface="Segoe UI"/>
              </a:rPr>
              <a:t>•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Soporte</a:t>
            </a:r>
            <a:r>
              <a:rPr lang="en-US" sz="1100" dirty="0">
                <a:latin typeface="Segoe UI"/>
                <a:ea typeface="Calibri"/>
                <a:cs typeface="Segoe UI"/>
              </a:rPr>
              <a:t> a miles de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usuarios</a:t>
            </a:r>
            <a:r>
              <a:rPr lang="en-US" sz="1100" dirty="0">
                <a:latin typeface="Segoe UI"/>
                <a:ea typeface="Calibri"/>
                <a:cs typeface="Segoe UI"/>
              </a:rPr>
              <a:t> y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entornos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complejos</a:t>
            </a:r>
            <a:br>
              <a:rPr lang="en-US" sz="1100" dirty="0">
                <a:latin typeface="Segoe UI"/>
                <a:ea typeface="Calibri"/>
                <a:cs typeface="Segoe UI"/>
              </a:rPr>
            </a:br>
            <a:r>
              <a:rPr lang="en-US" sz="1100" dirty="0">
                <a:latin typeface="Segoe UI"/>
                <a:ea typeface="Calibri"/>
                <a:cs typeface="Segoe UI"/>
              </a:rPr>
              <a:t> •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Multisedes</a:t>
            </a:r>
            <a:r>
              <a:rPr lang="en-US" sz="1100" dirty="0">
                <a:latin typeface="Segoe UI"/>
                <a:ea typeface="Calibri"/>
                <a:cs typeface="Segoe UI"/>
              </a:rPr>
              <a:t> +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entorno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internacional</a:t>
            </a:r>
            <a:r>
              <a:rPr lang="en-US" sz="1100" dirty="0">
                <a:latin typeface="Segoe UI"/>
                <a:ea typeface="Calibri"/>
                <a:cs typeface="Segoe UI"/>
              </a:rPr>
              <a:t> +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ciberseguridad</a:t>
            </a:r>
            <a:br>
              <a:rPr lang="en-US" sz="1100" dirty="0">
                <a:latin typeface="Segoe UI"/>
                <a:ea typeface="Calibri"/>
                <a:cs typeface="Segoe UI"/>
              </a:rPr>
            </a:br>
            <a:r>
              <a:rPr lang="en-US" sz="1100" dirty="0">
                <a:latin typeface="Segoe UI"/>
                <a:ea typeface="Calibri"/>
                <a:cs typeface="Segoe UI"/>
              </a:rPr>
              <a:t> •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Necesidad</a:t>
            </a:r>
            <a:r>
              <a:rPr lang="en-US" sz="1100" dirty="0">
                <a:latin typeface="Segoe UI"/>
                <a:ea typeface="Calibri"/>
                <a:cs typeface="Segoe UI"/>
              </a:rPr>
              <a:t> de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servicio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industrializado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,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escalable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y flexible</a:t>
            </a:r>
            <a:endParaRPr lang="en-US" dirty="0"/>
          </a:p>
          <a:p>
            <a:pPr>
              <a:defRPr sz="1800"/>
            </a:pPr>
            <a:endParaRPr sz="1100" dirty="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1ADC33-55EC-5B1A-F775-DE9A81003D20}"/>
              </a:ext>
            </a:extLst>
          </p:cNvPr>
          <p:cNvSpPr txBox="1"/>
          <p:nvPr/>
        </p:nvSpPr>
        <p:spPr>
          <a:xfrm>
            <a:off x="3314700" y="2179061"/>
            <a:ext cx="2998924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/>
          </a:p>
          <a:p>
            <a:pPr>
              <a:defRPr sz="1800"/>
            </a:pPr>
            <a:r>
              <a:rPr sz="1100"/>
              <a:t>SOLUCIÓN: </a:t>
            </a:r>
            <a:endParaRPr lang="en-US" sz="1100" dirty="0"/>
          </a:p>
          <a:p>
            <a:pPr>
              <a:defRPr sz="1800"/>
            </a:pPr>
            <a:r>
              <a:rPr lang="en-US" sz="1100" dirty="0">
                <a:latin typeface="Segoe UI"/>
                <a:cs typeface="Segoe UI"/>
              </a:rPr>
              <a:t>• Modelo de </a:t>
            </a:r>
            <a:r>
              <a:rPr lang="en-US" sz="1100" b="1" dirty="0" err="1">
                <a:latin typeface="Segoe UI"/>
                <a:cs typeface="Segoe UI"/>
              </a:rPr>
              <a:t>servicio</a:t>
            </a:r>
            <a:r>
              <a:rPr lang="en-US" sz="1100" b="1" dirty="0">
                <a:latin typeface="Segoe UI"/>
                <a:cs typeface="Segoe UI"/>
              </a:rPr>
              <a:t> end‑to‑end (N1 + N2 + </a:t>
            </a:r>
            <a:r>
              <a:rPr lang="en-US" sz="1100" b="1" dirty="0" err="1">
                <a:latin typeface="Segoe UI"/>
                <a:cs typeface="Segoe UI"/>
              </a:rPr>
              <a:t>escalado</a:t>
            </a:r>
            <a:r>
              <a:rPr lang="en-US" sz="1100" b="1" dirty="0">
                <a:latin typeface="Segoe UI"/>
                <a:cs typeface="Segoe UI"/>
              </a:rPr>
              <a:t> N3)</a:t>
            </a:r>
            <a:r>
              <a:rPr lang="en-US" sz="1100" dirty="0">
                <a:latin typeface="Segoe UI"/>
                <a:cs typeface="Segoe UI"/>
              </a:rPr>
              <a:t> </a:t>
            </a:r>
            <a:br>
              <a:rPr lang="en-US" sz="1100" dirty="0">
                <a:latin typeface="Segoe UI"/>
                <a:cs typeface="Segoe UI"/>
              </a:rPr>
            </a:br>
            <a:r>
              <a:rPr lang="en-US" sz="1100" dirty="0">
                <a:latin typeface="Segoe UI"/>
                <a:cs typeface="Segoe UI"/>
              </a:rPr>
              <a:t>• Equipo </a:t>
            </a:r>
            <a:r>
              <a:rPr lang="en-US" sz="1100" b="1" dirty="0">
                <a:latin typeface="Segoe UI"/>
                <a:cs typeface="Segoe UI"/>
              </a:rPr>
              <a:t>25 FTE + pool backup + CSA </a:t>
            </a:r>
            <a:r>
              <a:rPr lang="en-US" sz="1100" b="1" dirty="0" err="1">
                <a:latin typeface="Segoe UI"/>
                <a:cs typeface="Segoe UI"/>
              </a:rPr>
              <a:t>especialistas</a:t>
            </a:r>
            <a:r>
              <a:rPr lang="en-US" sz="1100" dirty="0">
                <a:latin typeface="Segoe UI"/>
                <a:cs typeface="Segoe UI"/>
              </a:rPr>
              <a:t> </a:t>
            </a:r>
            <a:br>
              <a:rPr lang="en-US" sz="1100" dirty="0">
                <a:latin typeface="Segoe UI"/>
                <a:cs typeface="Segoe UI"/>
              </a:rPr>
            </a:br>
            <a:r>
              <a:rPr lang="en-US" sz="1100" dirty="0">
                <a:latin typeface="Segoe UI"/>
                <a:cs typeface="Segoe UI"/>
              </a:rPr>
              <a:t>• </a:t>
            </a:r>
            <a:r>
              <a:rPr lang="en-US" sz="1100" dirty="0" err="1">
                <a:latin typeface="Segoe UI"/>
                <a:cs typeface="Segoe UI"/>
              </a:rPr>
              <a:t>Cobertura</a:t>
            </a:r>
            <a:r>
              <a:rPr lang="en-US" sz="1100" dirty="0">
                <a:latin typeface="Segoe UI"/>
                <a:cs typeface="Segoe UI"/>
              </a:rPr>
              <a:t> completa: </a:t>
            </a:r>
            <a:r>
              <a:rPr lang="en-US" sz="1100" dirty="0" err="1">
                <a:latin typeface="Segoe UI"/>
                <a:cs typeface="Segoe UI"/>
              </a:rPr>
              <a:t>puestos</a:t>
            </a:r>
            <a:r>
              <a:rPr lang="en-US" sz="1100" dirty="0">
                <a:latin typeface="Segoe UI"/>
                <a:cs typeface="Segoe UI"/>
              </a:rPr>
              <a:t>, software, </a:t>
            </a:r>
            <a:r>
              <a:rPr lang="en-US" sz="1100" dirty="0" err="1">
                <a:latin typeface="Segoe UI"/>
                <a:cs typeface="Segoe UI"/>
              </a:rPr>
              <a:t>inventario</a:t>
            </a:r>
            <a:r>
              <a:rPr lang="en-US" sz="1100" dirty="0">
                <a:latin typeface="Segoe UI"/>
                <a:cs typeface="Segoe UI"/>
              </a:rPr>
              <a:t>, </a:t>
            </a:r>
            <a:r>
              <a:rPr lang="en-US" sz="1100" dirty="0" err="1">
                <a:latin typeface="Segoe UI"/>
                <a:cs typeface="Segoe UI"/>
              </a:rPr>
              <a:t>seguridad</a:t>
            </a:r>
            <a:br>
              <a:rPr lang="en-US" sz="1100" dirty="0">
                <a:latin typeface="Segoe UI"/>
                <a:cs typeface="Segoe UI"/>
              </a:rPr>
            </a:br>
            <a:r>
              <a:rPr lang="en-US" sz="1100" dirty="0">
                <a:latin typeface="Segoe UI"/>
                <a:cs typeface="Segoe UI"/>
              </a:rPr>
              <a:t> • Modelo dual: </a:t>
            </a:r>
            <a:r>
              <a:rPr lang="en-US" sz="1100" b="1" dirty="0" err="1">
                <a:latin typeface="Segoe UI"/>
                <a:cs typeface="Segoe UI"/>
              </a:rPr>
              <a:t>línea</a:t>
            </a:r>
            <a:r>
              <a:rPr lang="en-US" sz="1100" b="1" dirty="0">
                <a:latin typeface="Segoe UI"/>
                <a:cs typeface="Segoe UI"/>
              </a:rPr>
              <a:t> base + </a:t>
            </a:r>
            <a:r>
              <a:rPr lang="en-US" sz="1100" b="1" dirty="0" err="1">
                <a:latin typeface="Segoe UI"/>
                <a:cs typeface="Segoe UI"/>
              </a:rPr>
              <a:t>línea</a:t>
            </a:r>
            <a:r>
              <a:rPr lang="en-US" sz="1100" b="1" dirty="0">
                <a:latin typeface="Segoe UI"/>
                <a:cs typeface="Segoe UI"/>
              </a:rPr>
              <a:t> variable</a:t>
            </a:r>
            <a:r>
              <a:rPr lang="en-US" sz="1100" dirty="0">
                <a:latin typeface="Segoe UI"/>
                <a:cs typeface="Segoe UI"/>
              </a:rPr>
              <a:t> </a:t>
            </a:r>
          </a:p>
          <a:p>
            <a:pPr>
              <a:defRPr sz="1800"/>
            </a:pPr>
            <a:endParaRPr lang="en-US" sz="1100" dirty="0">
              <a:ea typeface="Calibri"/>
              <a:cs typeface="Calibri"/>
            </a:endParaRPr>
          </a:p>
          <a:p>
            <a:pPr>
              <a:defRPr sz="1800"/>
            </a:pPr>
            <a:r>
              <a:rPr sz="1100" dirty="0"/>
              <a:t>OPERACIÓN: </a:t>
            </a:r>
            <a:endParaRPr lang="en-US" sz="1100" dirty="0"/>
          </a:p>
          <a:p>
            <a:pPr>
              <a:defRPr sz="1800"/>
            </a:pPr>
            <a:r>
              <a:rPr lang="en-US" sz="1100" dirty="0">
                <a:latin typeface="Segoe UI"/>
                <a:cs typeface="Segoe UI"/>
              </a:rPr>
              <a:t>• Framework </a:t>
            </a:r>
            <a:r>
              <a:rPr lang="en-US" sz="1100" b="1" dirty="0">
                <a:latin typeface="Segoe UI"/>
                <a:cs typeface="Segoe UI"/>
              </a:rPr>
              <a:t>ITIL + ISO 20000 + ISO 27001 + ENS</a:t>
            </a:r>
            <a:r>
              <a:rPr lang="en-US" sz="1100" dirty="0">
                <a:latin typeface="Segoe UI"/>
                <a:cs typeface="Segoe UI"/>
              </a:rPr>
              <a:t> </a:t>
            </a:r>
            <a:br>
              <a:rPr lang="en-US" sz="1100" dirty="0">
                <a:latin typeface="Segoe UI"/>
                <a:cs typeface="Segoe UI"/>
              </a:rPr>
            </a:br>
            <a:r>
              <a:rPr lang="en-US" sz="1100" dirty="0">
                <a:latin typeface="Segoe UI"/>
                <a:cs typeface="Segoe UI"/>
              </a:rPr>
              <a:t>• </a:t>
            </a:r>
            <a:r>
              <a:rPr lang="en-US" sz="1100" dirty="0" err="1">
                <a:latin typeface="Segoe UI"/>
                <a:cs typeface="Segoe UI"/>
              </a:rPr>
              <a:t>Herramientas</a:t>
            </a:r>
            <a:r>
              <a:rPr lang="en-US" sz="1100" dirty="0">
                <a:latin typeface="Segoe UI"/>
                <a:cs typeface="Segoe UI"/>
              </a:rPr>
              <a:t>: </a:t>
            </a:r>
            <a:r>
              <a:rPr lang="en-US" sz="1100" b="1" dirty="0">
                <a:latin typeface="Segoe UI"/>
                <a:cs typeface="Segoe UI"/>
              </a:rPr>
              <a:t>GLPI, CMDB, dashboards, </a:t>
            </a:r>
            <a:r>
              <a:rPr lang="en-US" sz="1100" b="1" dirty="0" err="1">
                <a:latin typeface="Segoe UI"/>
                <a:cs typeface="Segoe UI"/>
              </a:rPr>
              <a:t>automatización</a:t>
            </a:r>
            <a:r>
              <a:rPr lang="en-US" sz="1100" dirty="0">
                <a:latin typeface="Segoe UI"/>
                <a:cs typeface="Segoe UI"/>
              </a:rPr>
              <a:t> </a:t>
            </a:r>
            <a:br>
              <a:rPr lang="en-US" sz="1100" dirty="0">
                <a:latin typeface="Segoe UI"/>
                <a:cs typeface="Segoe UI"/>
              </a:rPr>
            </a:br>
            <a:r>
              <a:rPr lang="en-US" sz="1100" dirty="0">
                <a:latin typeface="Segoe UI"/>
                <a:cs typeface="Segoe UI"/>
              </a:rPr>
              <a:t>• </a:t>
            </a:r>
            <a:r>
              <a:rPr lang="en-US" sz="1100" dirty="0" err="1">
                <a:latin typeface="Segoe UI"/>
                <a:cs typeface="Segoe UI"/>
              </a:rPr>
              <a:t>Gobierno</a:t>
            </a:r>
            <a:r>
              <a:rPr lang="en-US" sz="1100" dirty="0">
                <a:latin typeface="Segoe UI"/>
                <a:cs typeface="Segoe UI"/>
              </a:rPr>
              <a:t>: </a:t>
            </a:r>
            <a:r>
              <a:rPr lang="en-US" sz="1100" dirty="0" err="1">
                <a:latin typeface="Segoe UI"/>
                <a:cs typeface="Segoe UI"/>
              </a:rPr>
              <a:t>comités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estratégico</a:t>
            </a:r>
            <a:r>
              <a:rPr lang="en-US" sz="1100" dirty="0">
                <a:latin typeface="Segoe UI"/>
                <a:cs typeface="Segoe UI"/>
              </a:rPr>
              <a:t>, </a:t>
            </a:r>
            <a:r>
              <a:rPr lang="en-US" sz="1100" dirty="0" err="1">
                <a:latin typeface="Segoe UI"/>
                <a:cs typeface="Segoe UI"/>
              </a:rPr>
              <a:t>táctico</a:t>
            </a:r>
            <a:r>
              <a:rPr lang="en-US" sz="1100" dirty="0">
                <a:latin typeface="Segoe UI"/>
                <a:cs typeface="Segoe UI"/>
              </a:rPr>
              <a:t> y </a:t>
            </a:r>
            <a:r>
              <a:rPr lang="en-US" sz="1100" dirty="0" err="1">
                <a:latin typeface="Segoe UI"/>
                <a:cs typeface="Segoe UI"/>
              </a:rPr>
              <a:t>operativo</a:t>
            </a:r>
            <a:br>
              <a:rPr lang="en-US" sz="1100" dirty="0">
                <a:latin typeface="Segoe UI"/>
                <a:cs typeface="Segoe UI"/>
              </a:rPr>
            </a:br>
            <a:r>
              <a:rPr lang="en-US" sz="1100" dirty="0">
                <a:latin typeface="Segoe UI"/>
                <a:cs typeface="Segoe UI"/>
              </a:rPr>
              <a:t> • </a:t>
            </a:r>
            <a:r>
              <a:rPr lang="en-US" sz="1100" dirty="0" err="1">
                <a:latin typeface="Segoe UI"/>
                <a:cs typeface="Segoe UI"/>
              </a:rPr>
              <a:t>Mejora</a:t>
            </a:r>
            <a:r>
              <a:rPr lang="en-US" sz="1100" dirty="0">
                <a:latin typeface="Segoe UI"/>
                <a:cs typeface="Segoe UI"/>
              </a:rPr>
              <a:t> continua + </a:t>
            </a:r>
            <a:r>
              <a:rPr lang="en-US" sz="1100" dirty="0" err="1">
                <a:latin typeface="Segoe UI"/>
                <a:cs typeface="Segoe UI"/>
              </a:rPr>
              <a:t>automatización</a:t>
            </a:r>
            <a:r>
              <a:rPr lang="en-US" sz="1100" dirty="0">
                <a:latin typeface="Segoe UI"/>
                <a:cs typeface="Segoe UI"/>
              </a:rPr>
              <a:t> + IA</a:t>
            </a:r>
            <a:endParaRPr lang="en-US" dirty="0"/>
          </a:p>
          <a:p>
            <a:pPr>
              <a:defRPr sz="1800"/>
            </a:pPr>
            <a:endParaRPr sz="1100" dirty="0"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5E7318-D3F4-4839-A4C9-214DD436F683}"/>
              </a:ext>
            </a:extLst>
          </p:cNvPr>
          <p:cNvSpPr txBox="1"/>
          <p:nvPr/>
        </p:nvSpPr>
        <p:spPr>
          <a:xfrm>
            <a:off x="6143141" y="2091884"/>
            <a:ext cx="2998924" cy="32470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/>
          </a:p>
          <a:p>
            <a:pPr>
              <a:defRPr sz="1800"/>
            </a:pPr>
            <a:r>
              <a:rPr sz="1100"/>
              <a:t>IMPACTO:</a:t>
            </a:r>
            <a:endParaRPr lang="en-US" sz="1100"/>
          </a:p>
          <a:p>
            <a:pPr>
              <a:defRPr sz="1800"/>
            </a:pPr>
            <a:r>
              <a:rPr lang="en-US" sz="1100" dirty="0"/>
              <a:t> </a:t>
            </a:r>
            <a:r>
              <a:rPr lang="en-US" sz="1100" dirty="0">
                <a:latin typeface="Segoe UI"/>
                <a:cs typeface="Segoe UI"/>
              </a:rPr>
              <a:t>• Servicio </a:t>
            </a:r>
            <a:r>
              <a:rPr lang="en-US" sz="1100" b="1" dirty="0" err="1">
                <a:latin typeface="Segoe UI"/>
                <a:cs typeface="Segoe UI"/>
              </a:rPr>
              <a:t>estable</a:t>
            </a:r>
            <a:r>
              <a:rPr lang="en-US" sz="1100" b="1" dirty="0">
                <a:latin typeface="Segoe UI"/>
                <a:cs typeface="Segoe UI"/>
              </a:rPr>
              <a:t>, </a:t>
            </a:r>
            <a:r>
              <a:rPr lang="en-US" sz="1100" b="1" dirty="0" err="1">
                <a:latin typeface="Segoe UI"/>
                <a:cs typeface="Segoe UI"/>
              </a:rPr>
              <a:t>escalable</a:t>
            </a:r>
            <a:r>
              <a:rPr lang="en-US" sz="1100" b="1" dirty="0">
                <a:latin typeface="Segoe UI"/>
                <a:cs typeface="Segoe UI"/>
              </a:rPr>
              <a:t> y </a:t>
            </a:r>
            <a:r>
              <a:rPr lang="en-US" sz="1100" b="1" dirty="0" err="1">
                <a:latin typeface="Segoe UI"/>
                <a:cs typeface="Segoe UI"/>
              </a:rPr>
              <a:t>resiliente</a:t>
            </a:r>
            <a:r>
              <a:rPr lang="en-US" sz="1100" b="1" dirty="0">
                <a:latin typeface="Segoe UI"/>
                <a:cs typeface="Segoe UI"/>
              </a:rPr>
              <a:t> multi‑</a:t>
            </a:r>
            <a:r>
              <a:rPr lang="en-US" sz="1100" b="1" dirty="0" err="1">
                <a:latin typeface="Segoe UI"/>
                <a:cs typeface="Segoe UI"/>
              </a:rPr>
              <a:t>sede</a:t>
            </a:r>
            <a:br>
              <a:rPr lang="en-US" sz="1100" b="1" dirty="0">
                <a:latin typeface="Segoe UI"/>
                <a:cs typeface="Segoe UI"/>
              </a:rPr>
            </a:br>
            <a:r>
              <a:rPr lang="en-US" sz="1100" b="1" dirty="0">
                <a:latin typeface="Segoe UI"/>
                <a:cs typeface="Segoe UI"/>
              </a:rPr>
              <a:t> • </a:t>
            </a:r>
            <a:r>
              <a:rPr lang="en-US" sz="1100" b="1" dirty="0" err="1">
                <a:latin typeface="Segoe UI"/>
                <a:cs typeface="Segoe UI"/>
              </a:rPr>
              <a:t>Reducción</a:t>
            </a:r>
            <a:r>
              <a:rPr lang="en-US" sz="1100" b="1" dirty="0">
                <a:latin typeface="Segoe UI"/>
                <a:cs typeface="Segoe UI"/>
              </a:rPr>
              <a:t> de </a:t>
            </a:r>
            <a:r>
              <a:rPr lang="en-US" sz="1100" b="1" dirty="0" err="1">
                <a:latin typeface="Segoe UI"/>
                <a:cs typeface="Segoe UI"/>
              </a:rPr>
              <a:t>incidencias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repetitivas</a:t>
            </a:r>
            <a:r>
              <a:rPr lang="en-US" sz="1100" b="1" dirty="0">
                <a:latin typeface="Segoe UI"/>
                <a:cs typeface="Segoe UI"/>
              </a:rPr>
              <a:t> (</a:t>
            </a:r>
            <a:r>
              <a:rPr lang="en-US" sz="1100" b="1" dirty="0" err="1">
                <a:latin typeface="Segoe UI"/>
                <a:cs typeface="Segoe UI"/>
              </a:rPr>
              <a:t>automatización</a:t>
            </a:r>
            <a:r>
              <a:rPr lang="en-US" sz="1100" b="1" dirty="0">
                <a:latin typeface="Segoe UI"/>
                <a:cs typeface="Segoe UI"/>
              </a:rPr>
              <a:t> + </a:t>
            </a:r>
            <a:r>
              <a:rPr lang="en-US" sz="1100" b="1" dirty="0" err="1">
                <a:latin typeface="Segoe UI"/>
                <a:cs typeface="Segoe UI"/>
              </a:rPr>
              <a:t>conocimiento</a:t>
            </a:r>
            <a:r>
              <a:rPr lang="en-US" sz="1100" b="1" dirty="0">
                <a:latin typeface="Segoe UI"/>
                <a:cs typeface="Segoe UI"/>
              </a:rPr>
              <a:t>)</a:t>
            </a:r>
            <a:br>
              <a:rPr lang="en-US" sz="1100" b="1" dirty="0">
                <a:latin typeface="Segoe UI"/>
                <a:cs typeface="Segoe UI"/>
              </a:rPr>
            </a:br>
            <a:r>
              <a:rPr lang="en-US" sz="1100" b="1" dirty="0">
                <a:latin typeface="Segoe UI"/>
                <a:cs typeface="Segoe UI"/>
              </a:rPr>
              <a:t> • </a:t>
            </a:r>
            <a:r>
              <a:rPr lang="en-US" sz="1100" b="1" dirty="0" err="1">
                <a:latin typeface="Segoe UI"/>
                <a:cs typeface="Segoe UI"/>
              </a:rPr>
              <a:t>Mejora</a:t>
            </a:r>
            <a:r>
              <a:rPr lang="en-US" sz="1100" b="1" dirty="0">
                <a:latin typeface="Segoe UI"/>
                <a:cs typeface="Segoe UI"/>
              </a:rPr>
              <a:t> de SLA y </a:t>
            </a:r>
            <a:r>
              <a:rPr lang="en-US" sz="1100" b="1" dirty="0" err="1">
                <a:latin typeface="Segoe UI"/>
                <a:cs typeface="Segoe UI"/>
              </a:rPr>
              <a:t>experiencia</a:t>
            </a:r>
            <a:r>
              <a:rPr lang="en-US" sz="1100" b="1" dirty="0">
                <a:latin typeface="Segoe UI"/>
                <a:cs typeface="Segoe UI"/>
              </a:rPr>
              <a:t> de </a:t>
            </a:r>
            <a:r>
              <a:rPr lang="en-US" sz="1100" b="1" dirty="0" err="1">
                <a:latin typeface="Segoe UI"/>
                <a:cs typeface="Segoe UI"/>
              </a:rPr>
              <a:t>usuario</a:t>
            </a:r>
            <a:br>
              <a:rPr lang="en-US" sz="1100" b="1" dirty="0">
                <a:latin typeface="Segoe UI"/>
                <a:cs typeface="Segoe UI"/>
              </a:rPr>
            </a:br>
            <a:r>
              <a:rPr lang="en-US" sz="1100" b="1" dirty="0">
                <a:latin typeface="Segoe UI"/>
                <a:cs typeface="Segoe UI"/>
              </a:rPr>
              <a:t> • </a:t>
            </a:r>
            <a:r>
              <a:rPr lang="en-US" sz="1100" b="1" dirty="0" err="1">
                <a:latin typeface="Segoe UI"/>
                <a:cs typeface="Segoe UI"/>
              </a:rPr>
              <a:t>Capacidad</a:t>
            </a:r>
            <a:r>
              <a:rPr lang="en-US" sz="1100" b="1" dirty="0">
                <a:latin typeface="Segoe UI"/>
                <a:cs typeface="Segoe UI"/>
              </a:rPr>
              <a:t> de </a:t>
            </a:r>
            <a:r>
              <a:rPr lang="en-US" sz="1100" b="1" dirty="0" err="1">
                <a:latin typeface="Segoe UI"/>
                <a:cs typeface="Segoe UI"/>
              </a:rPr>
              <a:t>absorción</a:t>
            </a:r>
            <a:r>
              <a:rPr lang="en-US" sz="1100" b="1" dirty="0">
                <a:latin typeface="Segoe UI"/>
                <a:cs typeface="Segoe UI"/>
              </a:rPr>
              <a:t> de </a:t>
            </a:r>
            <a:r>
              <a:rPr lang="en-US" sz="1100" b="1" dirty="0" err="1">
                <a:latin typeface="Segoe UI"/>
                <a:cs typeface="Segoe UI"/>
              </a:rPr>
              <a:t>picos</a:t>
            </a:r>
            <a:r>
              <a:rPr lang="en-US" sz="1100" b="1" dirty="0">
                <a:latin typeface="Segoe UI"/>
                <a:cs typeface="Segoe UI"/>
              </a:rPr>
              <a:t> y </a:t>
            </a:r>
            <a:r>
              <a:rPr lang="en-US" sz="1100" b="1" dirty="0" err="1">
                <a:latin typeface="Segoe UI"/>
                <a:cs typeface="Segoe UI"/>
              </a:rPr>
              <a:t>evolución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tecnológica</a:t>
            </a:r>
            <a:endParaRPr lang="en-US" sz="1100" dirty="0" err="1"/>
          </a:p>
          <a:p>
            <a:pPr>
              <a:defRPr sz="1800"/>
            </a:pPr>
            <a:endParaRPr lang="en-US" sz="1100" dirty="0">
              <a:ea typeface="Calibri"/>
              <a:cs typeface="Calibri"/>
            </a:endParaRPr>
          </a:p>
          <a:p>
            <a:pPr>
              <a:defRPr sz="1800"/>
            </a:pPr>
            <a:r>
              <a:rPr sz="1100"/>
              <a:t>RESULTADO:</a:t>
            </a:r>
            <a:endParaRPr lang="en-US" sz="1100"/>
          </a:p>
          <a:p>
            <a:pPr>
              <a:defRPr sz="1800"/>
            </a:pPr>
            <a:r>
              <a:rPr lang="en-US" sz="1100" dirty="0">
                <a:latin typeface="Segoe UI"/>
                <a:cs typeface="Segoe UI"/>
              </a:rPr>
              <a:t>• Máxima </a:t>
            </a:r>
            <a:r>
              <a:rPr lang="en-US" sz="1100" dirty="0" err="1">
                <a:latin typeface="Segoe UI"/>
                <a:cs typeface="Segoe UI"/>
              </a:rPr>
              <a:t>competitividad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en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criterio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técnico</a:t>
            </a:r>
            <a:r>
              <a:rPr lang="en-US" sz="1100" dirty="0">
                <a:latin typeface="Segoe UI"/>
                <a:cs typeface="Segoe UI"/>
              </a:rPr>
              <a:t> (</a:t>
            </a:r>
            <a:r>
              <a:rPr lang="en-US" sz="1100" b="1" dirty="0">
                <a:latin typeface="Segoe UI"/>
                <a:cs typeface="Segoe UI"/>
              </a:rPr>
              <a:t>60% peso</a:t>
            </a:r>
            <a:r>
              <a:rPr lang="en-US" sz="1100" dirty="0">
                <a:latin typeface="Segoe UI"/>
                <a:cs typeface="Segoe UI"/>
              </a:rPr>
              <a:t>) </a:t>
            </a:r>
            <a:br>
              <a:rPr lang="en-US" sz="1100" dirty="0">
                <a:latin typeface="Segoe UI"/>
                <a:cs typeface="Segoe UI"/>
              </a:rPr>
            </a:br>
            <a:r>
              <a:rPr lang="en-US" sz="1100" dirty="0">
                <a:latin typeface="Segoe UI"/>
                <a:cs typeface="Segoe UI"/>
              </a:rPr>
              <a:t>• </a:t>
            </a:r>
            <a:r>
              <a:rPr lang="en-US" sz="1100" dirty="0" err="1">
                <a:latin typeface="Segoe UI"/>
                <a:cs typeface="Segoe UI"/>
              </a:rPr>
              <a:t>Propuesta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diferencial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en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modelo</a:t>
            </a:r>
            <a:r>
              <a:rPr lang="en-US" sz="1100" dirty="0">
                <a:latin typeface="Segoe UI"/>
                <a:cs typeface="Segoe UI"/>
              </a:rPr>
              <a:t> de </a:t>
            </a:r>
            <a:r>
              <a:rPr lang="en-US" sz="1100" dirty="0" err="1">
                <a:latin typeface="Segoe UI"/>
                <a:cs typeface="Segoe UI"/>
              </a:rPr>
              <a:t>servicio</a:t>
            </a:r>
            <a:r>
              <a:rPr lang="en-US" sz="1100" dirty="0">
                <a:latin typeface="Segoe UI"/>
                <a:cs typeface="Segoe UI"/>
              </a:rPr>
              <a:t> y </a:t>
            </a:r>
            <a:r>
              <a:rPr lang="en-US" sz="1100" dirty="0" err="1">
                <a:latin typeface="Segoe UI"/>
                <a:cs typeface="Segoe UI"/>
              </a:rPr>
              <a:t>operación</a:t>
            </a:r>
            <a:br>
              <a:rPr lang="en-US" sz="1100" dirty="0">
                <a:latin typeface="Segoe UI"/>
                <a:cs typeface="Segoe UI"/>
              </a:rPr>
            </a:br>
            <a:r>
              <a:rPr lang="en-US" sz="1100" dirty="0">
                <a:latin typeface="Segoe UI"/>
                <a:cs typeface="Segoe UI"/>
              </a:rPr>
              <a:t> • </a:t>
            </a:r>
            <a:r>
              <a:rPr lang="en-US" sz="1100" dirty="0" err="1">
                <a:latin typeface="Segoe UI"/>
                <a:cs typeface="Segoe UI"/>
              </a:rPr>
              <a:t>Posicionamiento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como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>
                <a:latin typeface="Segoe UI"/>
                <a:cs typeface="Segoe UI"/>
              </a:rPr>
              <a:t>partner </a:t>
            </a:r>
            <a:r>
              <a:rPr lang="en-US" sz="1100" b="1" dirty="0" err="1">
                <a:latin typeface="Segoe UI"/>
                <a:cs typeface="Segoe UI"/>
              </a:rPr>
              <a:t>tecnológico</a:t>
            </a:r>
            <a:r>
              <a:rPr lang="en-US" sz="1100" b="1" dirty="0">
                <a:latin typeface="Segoe UI"/>
                <a:cs typeface="Segoe UI"/>
              </a:rPr>
              <a:t> de </a:t>
            </a:r>
            <a:r>
              <a:rPr lang="en-US" sz="1100" b="1" dirty="0" err="1">
                <a:latin typeface="Segoe UI"/>
                <a:cs typeface="Segoe UI"/>
              </a:rPr>
              <a:t>referencia</a:t>
            </a:r>
            <a:endParaRPr lang="en-US" dirty="0" err="1"/>
          </a:p>
          <a:p>
            <a:pPr>
              <a:defRPr sz="1800"/>
            </a:pPr>
            <a:endParaRPr sz="11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Amador Sobrino Castillo</dc:creator>
  <cp:keywords/>
  <dc:description>generated using python-pptx</dc:description>
  <cp:lastModifiedBy>Amador Sobrino Castillo</cp:lastModifiedBy>
  <cp:revision>34</cp:revision>
  <dcterms:created xsi:type="dcterms:W3CDTF">2026-05-19T08:44:11Z</dcterms:created>
  <dcterms:modified xsi:type="dcterms:W3CDTF">2026-05-19T08:51:46Z</dcterms:modified>
  <cp:category/>
</cp:coreProperties>
</file>