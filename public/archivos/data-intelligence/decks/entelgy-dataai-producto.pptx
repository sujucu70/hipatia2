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19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483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122734">
                  <a:alpha val="100000"/>
                </a:srgbClr>
              </a:gs>
              <a:gs pos="52000">
                <a:srgbClr val="041C2C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8613" b="18613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38000">
                <a:srgbClr val="041C2C">
                  <a:alpha val="100000"/>
                </a:srgbClr>
              </a:gs>
              <a:gs pos="58000">
                <a:srgbClr val="041C2C">
                  <a:alpha val="55000"/>
                </a:srgbClr>
              </a:gs>
              <a:gs pos="90000">
                <a:srgbClr val="041C2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FFFF">
                  <a:alpha val="400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0972800" y="1337221"/>
            <a:ext cx="228600" cy="161925"/>
          </a:xfrm>
          <a:prstGeom prst="rect">
            <a:avLst/>
          </a:prstGeom>
          <a:solidFill>
            <a:srgbClr val="3A2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1201400" y="1337221"/>
            <a:ext cx="228600" cy="16192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412361" y="2365921"/>
            <a:ext cx="228600" cy="161925"/>
          </a:xfrm>
          <a:prstGeom prst="rect">
            <a:avLst/>
          </a:prstGeom>
          <a:solidFill>
            <a:srgbClr val="1F54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640961" y="2365921"/>
            <a:ext cx="228600" cy="161925"/>
          </a:xfrm>
          <a:prstGeom prst="rect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8869561" y="2365921"/>
            <a:ext cx="228600" cy="16192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2252871" y="1954411"/>
            <a:ext cx="228600" cy="161925"/>
          </a:xfrm>
          <a:prstGeom prst="rect">
            <a:avLst/>
          </a:prstGeom>
          <a:solidFill>
            <a:srgbClr val="2A4A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2481471" y="1954411"/>
            <a:ext cx="228600" cy="161925"/>
          </a:xfrm>
          <a:prstGeom prst="rect">
            <a:avLst/>
          </a:prstGeom>
          <a:solidFill>
            <a:srgbClr val="7CAA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2252871" y="2116336"/>
            <a:ext cx="228600" cy="161925"/>
          </a:xfrm>
          <a:prstGeom prst="rect">
            <a:avLst/>
          </a:prstGeom>
          <a:solidFill>
            <a:srgbClr val="2A4A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12481471" y="2116336"/>
            <a:ext cx="228600" cy="161925"/>
          </a:xfrm>
          <a:prstGeom prst="rect">
            <a:avLst/>
          </a:prstGeom>
          <a:solidFill>
            <a:srgbClr val="7CAA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15544800" y="3188940"/>
            <a:ext cx="228600" cy="161925"/>
          </a:xfrm>
          <a:prstGeom prst="rect">
            <a:avLst/>
          </a:prstGeom>
          <a:solidFill>
            <a:srgbClr val="5E1D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5773400" y="3188940"/>
            <a:ext cx="228600" cy="161925"/>
          </a:xfrm>
          <a:prstGeom prst="rect">
            <a:avLst/>
          </a:prstGeom>
          <a:solidFill>
            <a:srgbClr val="9E33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6002000" y="3188940"/>
            <a:ext cx="228600" cy="161925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13350180" y="4834830"/>
            <a:ext cx="228600" cy="161925"/>
          </a:xfrm>
          <a:prstGeom prst="rect">
            <a:avLst/>
          </a:prstGeom>
          <a:solidFill>
            <a:srgbClr val="1F54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13578780" y="4834830"/>
            <a:ext cx="228600" cy="16192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16459200" y="6172200"/>
            <a:ext cx="228600" cy="161925"/>
          </a:xfrm>
          <a:prstGeom prst="rect">
            <a:avLst/>
          </a:prstGeom>
          <a:solidFill>
            <a:srgbClr val="3A2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16687800" y="6172200"/>
            <a:ext cx="228600" cy="161925"/>
          </a:xfrm>
          <a:prstGeom prst="rect">
            <a:avLst/>
          </a:prstGeom>
          <a:solidFill>
            <a:srgbClr val="5E3D9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16916400" y="6172200"/>
            <a:ext cx="228600" cy="16192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14447490" y="7406580"/>
            <a:ext cx="228600" cy="161925"/>
          </a:xfrm>
          <a:prstGeom prst="rect">
            <a:avLst/>
          </a:prstGeom>
          <a:solidFill>
            <a:srgbClr val="7A26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14676090" y="7406580"/>
            <a:ext cx="228600" cy="16192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35200" y="533400"/>
            <a:ext cx="2305050" cy="6477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1047750" y="5399633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4"/>
          <p:cNvSpPr/>
          <p:nvPr/>
        </p:nvSpPr>
        <p:spPr>
          <a:xfrm>
            <a:off x="1524000" y="5290096"/>
            <a:ext cx="341157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CAPACIDADES EN DATA&amp;IA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047750" y="5766346"/>
            <a:ext cx="10665971" cy="2214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8400" b="1" kern="0" spc="-16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confiables que generan </a:t>
            </a:r>
            <a:r>
              <a:rPr lang="en-US" sz="8400" b="1" kern="0" spc="-168" dirty="0">
                <a:solidFill>
                  <a:srgbClr val="57B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real</a:t>
            </a:r>
            <a:r>
              <a:rPr lang="en-US" sz="8400" b="1" kern="0" spc="-16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400" dirty="0"/>
          </a:p>
        </p:txBody>
      </p:sp>
      <p:sp>
        <p:nvSpPr>
          <p:cNvPr id="30" name="Text 26"/>
          <p:cNvSpPr/>
          <p:nvPr/>
        </p:nvSpPr>
        <p:spPr>
          <a:xfrm>
            <a:off x="1047750" y="8228261"/>
            <a:ext cx="4418823" cy="12395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75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Gobierno del dato, ingeniería, analítica e IA para convertir datos en resultados.</a:t>
            </a:r>
            <a:endParaRPr lang="en-US" sz="2175" dirty="0"/>
          </a:p>
        </p:txBody>
      </p:sp>
      <p:sp>
        <p:nvSpPr>
          <p:cNvPr id="31" name="Text 27"/>
          <p:cNvSpPr/>
          <p:nvPr/>
        </p:nvSpPr>
        <p:spPr>
          <a:xfrm>
            <a:off x="1047750" y="9915525"/>
            <a:ext cx="25008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FFFFFF">
                    <a:alpha val="4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DATA INTELLIGENCE</a:t>
            </a:r>
            <a:endParaRPr lang="en-US" sz="975" dirty="0"/>
          </a:p>
        </p:txBody>
      </p:sp>
      <p:sp>
        <p:nvSpPr>
          <p:cNvPr id="32" name="Text 28"/>
          <p:cNvSpPr/>
          <p:nvPr/>
        </p:nvSpPr>
        <p:spPr>
          <a:xfrm>
            <a:off x="15847219" y="9925050"/>
            <a:ext cx="15323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FFFFFF">
                    <a:alpha val="4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Junio 2026 · Confidencial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736" y="5334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7750" y="1252538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24000" y="1143000"/>
            <a:ext cx="263623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QUIÉN TE ACOMPAÑA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047750" y="1619250"/>
            <a:ext cx="17811750" cy="634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350" b="1" kern="0" spc="-87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Equipo profesional</a:t>
            </a:r>
            <a:r>
              <a:rPr lang="en-US" sz="4350" b="1" kern="0" spc="-87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4350" dirty="0"/>
          </a:p>
        </p:txBody>
      </p:sp>
      <p:sp>
        <p:nvSpPr>
          <p:cNvPr id="20" name="Text 17"/>
          <p:cNvSpPr/>
          <p:nvPr/>
        </p:nvSpPr>
        <p:spPr>
          <a:xfrm>
            <a:off x="2819400" y="2839641"/>
            <a:ext cx="64855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72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Daniela Ongaro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2819400" y="3449241"/>
            <a:ext cx="64855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Manager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2819400" y="3773091"/>
            <a:ext cx="64855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Intelligence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1047750" y="4768453"/>
            <a:ext cx="7667625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1047750" y="5063728"/>
            <a:ext cx="84343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GOVERNANCE &amp; ENABLEMENT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67727" y="5473303"/>
            <a:ext cx="792384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-2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Management Consultants</a:t>
            </a:r>
            <a:endParaRPr lang="en-US" sz="2025" dirty="0"/>
          </a:p>
          <a:p>
            <a:pPr marL="0" indent="0" algn="l">
              <a:buNone/>
            </a:pPr>
            <a:r>
              <a:rPr lang="en-US" sz="2025" b="1" kern="0" spc="-2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Governance Specialists</a:t>
            </a:r>
            <a:endParaRPr lang="en-US" sz="2025" dirty="0"/>
          </a:p>
        </p:txBody>
      </p:sp>
      <p:sp>
        <p:nvSpPr>
          <p:cNvPr id="26" name="Text 23"/>
          <p:cNvSpPr/>
          <p:nvPr/>
        </p:nvSpPr>
        <p:spPr>
          <a:xfrm>
            <a:off x="11344275" y="2839641"/>
            <a:ext cx="64855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 kern="0" spc="-72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Luis Sanz</a:t>
            </a:r>
            <a:endParaRPr lang="en-US" sz="3600" dirty="0"/>
          </a:p>
        </p:txBody>
      </p:sp>
      <p:sp>
        <p:nvSpPr>
          <p:cNvPr id="27" name="Text 24"/>
          <p:cNvSpPr/>
          <p:nvPr/>
        </p:nvSpPr>
        <p:spPr>
          <a:xfrm>
            <a:off x="11344275" y="3449241"/>
            <a:ext cx="64855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-18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Technical Lead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1344275" y="3773091"/>
            <a:ext cx="648557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Intelligence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9572625" y="4768453"/>
            <a:ext cx="7667625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7"/>
          <p:cNvSpPr/>
          <p:nvPr/>
        </p:nvSpPr>
        <p:spPr>
          <a:xfrm>
            <a:off x="9572625" y="5063728"/>
            <a:ext cx="84343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&amp; ADVANCED DATA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392603" y="5473303"/>
            <a:ext cx="7923848" cy="1714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-2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Architects</a:t>
            </a:r>
            <a:endParaRPr lang="en-US" sz="2025" dirty="0"/>
          </a:p>
          <a:p>
            <a:pPr marL="0" indent="0" algn="l">
              <a:buNone/>
            </a:pPr>
            <a:r>
              <a:rPr lang="en-US" sz="2025" b="1" kern="0" spc="-2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Scientists</a:t>
            </a:r>
            <a:endParaRPr lang="en-US" sz="2025" dirty="0"/>
          </a:p>
          <a:p>
            <a:pPr marL="0" indent="0" algn="l">
              <a:buNone/>
            </a:pPr>
            <a:r>
              <a:rPr lang="en-US" sz="2025" b="1" kern="0" spc="-2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Analysts</a:t>
            </a:r>
            <a:endParaRPr lang="en-US" sz="2025" dirty="0"/>
          </a:p>
          <a:p>
            <a:pPr marL="0" indent="0" algn="l">
              <a:buNone/>
            </a:pPr>
            <a:r>
              <a:rPr lang="en-US" sz="2025" b="1" kern="0" spc="-2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Engineers</a:t>
            </a:r>
            <a:endParaRPr lang="en-US" sz="2025" dirty="0"/>
          </a:p>
        </p:txBody>
      </p:sp>
      <p:sp>
        <p:nvSpPr>
          <p:cNvPr id="32" name="Text 29"/>
          <p:cNvSpPr/>
          <p:nvPr/>
        </p:nvSpPr>
        <p:spPr>
          <a:xfrm>
            <a:off x="1047750" y="8820150"/>
            <a:ext cx="178117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CERTIFICACIONES Y CREDENCIALES</a:t>
            </a:r>
            <a:endParaRPr lang="en-US" sz="1125" dirty="0"/>
          </a:p>
        </p:txBody>
      </p:sp>
      <p:sp>
        <p:nvSpPr>
          <p:cNvPr id="33" name="Shape 30"/>
          <p:cNvSpPr/>
          <p:nvPr/>
        </p:nvSpPr>
        <p:spPr>
          <a:xfrm>
            <a:off x="1047750" y="9163050"/>
            <a:ext cx="869603" cy="41910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 w="9525">
            <a:solidFill>
              <a:srgbClr val="BFE6C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1"/>
          <p:cNvSpPr/>
          <p:nvPr/>
        </p:nvSpPr>
        <p:spPr>
          <a:xfrm>
            <a:off x="1266825" y="9267825"/>
            <a:ext cx="50765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CDMP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2031653" y="9163050"/>
            <a:ext cx="790724" cy="41910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 w="9525">
            <a:solidFill>
              <a:srgbClr val="BFE6C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2250728" y="9267825"/>
            <a:ext cx="42877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AWS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2936677" y="9163050"/>
            <a:ext cx="906810" cy="41910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 w="9525">
            <a:solidFill>
              <a:srgbClr val="BFE6C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5"/>
          <p:cNvSpPr/>
          <p:nvPr/>
        </p:nvSpPr>
        <p:spPr>
          <a:xfrm>
            <a:off x="3155752" y="9267825"/>
            <a:ext cx="54486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Fabric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3957786" y="9163050"/>
            <a:ext cx="1244352" cy="41910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 w="9525">
            <a:solidFill>
              <a:srgbClr val="BFE6C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4176861" y="9267825"/>
            <a:ext cx="88240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Databricks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5316438" y="9163050"/>
            <a:ext cx="871240" cy="41910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 w="9525">
            <a:solidFill>
              <a:srgbClr val="BFE6C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Text 39"/>
          <p:cNvSpPr/>
          <p:nvPr/>
        </p:nvSpPr>
        <p:spPr>
          <a:xfrm>
            <a:off x="5535513" y="9267825"/>
            <a:ext cx="50929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Azure</a:t>
            </a:r>
            <a:endParaRPr lang="en-US" sz="1350" dirty="0"/>
          </a:p>
        </p:txBody>
      </p:sp>
      <p:sp>
        <p:nvSpPr>
          <p:cNvPr id="43" name="Shape 40"/>
          <p:cNvSpPr/>
          <p:nvPr/>
        </p:nvSpPr>
        <p:spPr>
          <a:xfrm>
            <a:off x="6301978" y="9163050"/>
            <a:ext cx="876151" cy="41910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 w="9525">
            <a:solidFill>
              <a:srgbClr val="BFE6C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/>
          <p:nvPr/>
        </p:nvSpPr>
        <p:spPr>
          <a:xfrm>
            <a:off x="6521053" y="9267825"/>
            <a:ext cx="51420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DOMO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7292429" y="9163050"/>
            <a:ext cx="1303734" cy="41910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 w="9525">
            <a:solidFill>
              <a:srgbClr val="BFE6C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Text 43"/>
          <p:cNvSpPr/>
          <p:nvPr/>
        </p:nvSpPr>
        <p:spPr>
          <a:xfrm>
            <a:off x="7511504" y="9267825"/>
            <a:ext cx="94178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Informatica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8710464" y="9163050"/>
            <a:ext cx="1329779" cy="41910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 w="9525">
            <a:solidFill>
              <a:srgbClr val="BFE6C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Text 45"/>
          <p:cNvSpPr/>
          <p:nvPr/>
        </p:nvSpPr>
        <p:spPr>
          <a:xfrm>
            <a:off x="8929539" y="9267825"/>
            <a:ext cx="96782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7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Anjana Data</a:t>
            </a:r>
            <a:endParaRPr lang="en-US" sz="1350" dirty="0"/>
          </a:p>
        </p:txBody>
      </p:sp>
      <p:sp>
        <p:nvSpPr>
          <p:cNvPr id="49" name="Text 46"/>
          <p:cNvSpPr/>
          <p:nvPr/>
        </p:nvSpPr>
        <p:spPr>
          <a:xfrm>
            <a:off x="1047750" y="9915525"/>
            <a:ext cx="25008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DATA INTELLIGENCE</a:t>
            </a:r>
            <a:endParaRPr lang="en-US" sz="975" dirty="0"/>
          </a:p>
        </p:txBody>
      </p:sp>
      <p:sp>
        <p:nvSpPr>
          <p:cNvPr id="50" name="Text 47"/>
          <p:cNvSpPr/>
          <p:nvPr/>
        </p:nvSpPr>
        <p:spPr>
          <a:xfrm>
            <a:off x="16650742" y="9915525"/>
            <a:ext cx="665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736" y="5334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047750" y="1252538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1524000" y="1143000"/>
            <a:ext cx="201593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QUIÉNES SOMOS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47750" y="1619250"/>
            <a:ext cx="5669081" cy="1930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Independencia tecnológica, excelencia técnica y </a:t>
            </a:r>
            <a:r>
              <a:rPr lang="en-US" sz="3450" b="1" kern="0" spc="-69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conocimiento real del negocio.</a:t>
            </a:r>
            <a:endParaRPr lang="en-US" sz="3450" dirty="0"/>
          </a:p>
        </p:txBody>
      </p:sp>
      <p:sp>
        <p:nvSpPr>
          <p:cNvPr id="20" name="Text 17"/>
          <p:cNvSpPr/>
          <p:nvPr/>
        </p:nvSpPr>
        <p:spPr>
          <a:xfrm>
            <a:off x="1047750" y="3702248"/>
            <a:ext cx="625818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041C2C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Operamos en organizaciones complejas con escala, independencia de fabricante y 20 años de oficio.</a:t>
            </a:r>
            <a:endParaRPr lang="en-US" sz="1875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l="-19397" r="-19397"/>
          <a:stretch/>
        </p:blipFill>
        <p:spPr>
          <a:xfrm>
            <a:off x="9783961" y="1567755"/>
            <a:ext cx="7456140" cy="240030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047750" y="4602361"/>
            <a:ext cx="161925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1047750" y="4821436"/>
            <a:ext cx="4138612" cy="508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900" b="1" kern="0" spc="-7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20+</a:t>
            </a:r>
            <a:endParaRPr lang="en-US" sz="3900" dirty="0"/>
          </a:p>
        </p:txBody>
      </p:sp>
      <p:sp>
        <p:nvSpPr>
          <p:cNvPr id="24" name="Text 20"/>
          <p:cNvSpPr/>
          <p:nvPr/>
        </p:nvSpPr>
        <p:spPr>
          <a:xfrm>
            <a:off x="1047750" y="5406182"/>
            <a:ext cx="3875246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00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trabajando en organizaciones complejas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5095875" y="4821436"/>
            <a:ext cx="9525" cy="1110407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2"/>
          <p:cNvSpPr/>
          <p:nvPr/>
        </p:nvSpPr>
        <p:spPr>
          <a:xfrm>
            <a:off x="5391150" y="4821436"/>
            <a:ext cx="3813810" cy="508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900" b="1" kern="0" spc="-7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2.000</a:t>
            </a:r>
            <a:endParaRPr lang="en-US" sz="3900" dirty="0"/>
          </a:p>
        </p:txBody>
      </p:sp>
      <p:sp>
        <p:nvSpPr>
          <p:cNvPr id="27" name="Text 23"/>
          <p:cNvSpPr/>
          <p:nvPr/>
        </p:nvSpPr>
        <p:spPr>
          <a:xfrm>
            <a:off x="5391150" y="5406182"/>
            <a:ext cx="3571113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00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profesionales delivery en España, LATAM y EEUU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9144000" y="4821436"/>
            <a:ext cx="9525" cy="1110407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/>
          <p:nvPr/>
        </p:nvSpPr>
        <p:spPr>
          <a:xfrm>
            <a:off x="9439275" y="4821436"/>
            <a:ext cx="3813810" cy="508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900" b="1" kern="0" spc="-7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100%</a:t>
            </a:r>
            <a:endParaRPr lang="en-US" sz="3900" dirty="0"/>
          </a:p>
        </p:txBody>
      </p:sp>
      <p:sp>
        <p:nvSpPr>
          <p:cNvPr id="30" name="Text 26"/>
          <p:cNvSpPr/>
          <p:nvPr/>
        </p:nvSpPr>
        <p:spPr>
          <a:xfrm>
            <a:off x="9439275" y="5406182"/>
            <a:ext cx="3571113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00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propio — independencia y visión de largo plazo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13192125" y="4821436"/>
            <a:ext cx="9525" cy="1110407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8"/>
          <p:cNvSpPr/>
          <p:nvPr/>
        </p:nvSpPr>
        <p:spPr>
          <a:xfrm>
            <a:off x="13487400" y="4821436"/>
            <a:ext cx="3813810" cy="5085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900" b="1" kern="0" spc="-78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&gt;95%</a:t>
            </a:r>
            <a:endParaRPr lang="en-US" sz="3900" dirty="0"/>
          </a:p>
        </p:txBody>
      </p:sp>
      <p:sp>
        <p:nvSpPr>
          <p:cNvPr id="33" name="Text 29"/>
          <p:cNvSpPr/>
          <p:nvPr/>
        </p:nvSpPr>
        <p:spPr>
          <a:xfrm>
            <a:off x="13487400" y="5406182"/>
            <a:ext cx="3571113" cy="563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500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renuevan — confianza sostenida</a:t>
            </a:r>
            <a:endParaRPr lang="en-US" sz="1500" dirty="0"/>
          </a:p>
        </p:txBody>
      </p:sp>
      <p:sp>
        <p:nvSpPr>
          <p:cNvPr id="34" name="Text 30"/>
          <p:cNvSpPr/>
          <p:nvPr/>
        </p:nvSpPr>
        <p:spPr>
          <a:xfrm>
            <a:off x="1047750" y="6141393"/>
            <a:ext cx="79234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CERTIFICACIONES</a:t>
            </a:r>
            <a:endParaRPr lang="en-US" sz="1125" dirty="0"/>
          </a:p>
        </p:txBody>
      </p:sp>
      <p:sp>
        <p:nvSpPr>
          <p:cNvPr id="35" name="Shape 31"/>
          <p:cNvSpPr/>
          <p:nvPr/>
        </p:nvSpPr>
        <p:spPr>
          <a:xfrm>
            <a:off x="1047750" y="6503343"/>
            <a:ext cx="233749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0150" y="6617643"/>
            <a:ext cx="228600" cy="22860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524000" y="6644283"/>
            <a:ext cx="707231" cy="213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ISO 27001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3480495" y="6503343"/>
            <a:ext cx="233749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2895" y="6617643"/>
            <a:ext cx="228600" cy="2286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3956745" y="6644283"/>
            <a:ext cx="695027" cy="213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ISO 27701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5913239" y="6503343"/>
            <a:ext cx="233749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65639" y="6617643"/>
            <a:ext cx="228600" cy="22860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389489" y="6644283"/>
            <a:ext cx="754707" cy="213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ISO 20000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1047750" y="7055793"/>
            <a:ext cx="233749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0150" y="7170093"/>
            <a:ext cx="228600" cy="2286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524000" y="7196733"/>
            <a:ext cx="629989" cy="213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ISO 9001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3480495" y="7055793"/>
            <a:ext cx="233749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32895" y="7170093"/>
            <a:ext cx="228600" cy="22860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3956745" y="7196733"/>
            <a:ext cx="691753" cy="213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ISO 14001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5913239" y="7055793"/>
            <a:ext cx="233749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65639" y="7170093"/>
            <a:ext cx="228600" cy="22860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6389489" y="7196733"/>
            <a:ext cx="723751" cy="213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ISO 14064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1047750" y="7608243"/>
            <a:ext cx="233749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00150" y="7722543"/>
            <a:ext cx="228600" cy="228600"/>
          </a:xfrm>
          <a:prstGeom prst="rect">
            <a:avLst/>
          </a:prstGeom>
        </p:spPr>
      </p:pic>
      <p:sp>
        <p:nvSpPr>
          <p:cNvPr id="55" name="Text 44"/>
          <p:cNvSpPr/>
          <p:nvPr/>
        </p:nvSpPr>
        <p:spPr>
          <a:xfrm>
            <a:off x="1524000" y="7749183"/>
            <a:ext cx="1033909" cy="213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ISO/IEC 33000</a:t>
            </a:r>
            <a:endParaRPr lang="en-US" sz="1200" dirty="0"/>
          </a:p>
        </p:txBody>
      </p:sp>
      <p:sp>
        <p:nvSpPr>
          <p:cNvPr id="56" name="Shape 45"/>
          <p:cNvSpPr/>
          <p:nvPr/>
        </p:nvSpPr>
        <p:spPr>
          <a:xfrm>
            <a:off x="3480495" y="7608243"/>
            <a:ext cx="233749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32895" y="7722543"/>
            <a:ext cx="228600" cy="228600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3956745" y="7749183"/>
            <a:ext cx="740122" cy="213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UNE 19601</a:t>
            </a:r>
            <a:endParaRPr lang="en-US" sz="1200" dirty="0"/>
          </a:p>
        </p:txBody>
      </p:sp>
      <p:sp>
        <p:nvSpPr>
          <p:cNvPr id="59" name="Shape 47"/>
          <p:cNvSpPr/>
          <p:nvPr/>
        </p:nvSpPr>
        <p:spPr>
          <a:xfrm>
            <a:off x="5913239" y="7608243"/>
            <a:ext cx="233749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65639" y="7722543"/>
            <a:ext cx="228600" cy="22860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6389489" y="7749183"/>
            <a:ext cx="767655" cy="213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UNE 18295</a:t>
            </a:r>
            <a:endParaRPr lang="en-US" sz="1200" dirty="0"/>
          </a:p>
        </p:txBody>
      </p:sp>
      <p:sp>
        <p:nvSpPr>
          <p:cNvPr id="62" name="Shape 49"/>
          <p:cNvSpPr/>
          <p:nvPr/>
        </p:nvSpPr>
        <p:spPr>
          <a:xfrm>
            <a:off x="1047750" y="8160693"/>
            <a:ext cx="4770239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00150" y="8274993"/>
            <a:ext cx="228600" cy="228600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1524000" y="8301633"/>
            <a:ext cx="2751817" cy="213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ENS · Esquema Nacional de Seguridad</a:t>
            </a:r>
            <a:endParaRPr lang="en-US" sz="1200" dirty="0"/>
          </a:p>
        </p:txBody>
      </p:sp>
      <p:sp>
        <p:nvSpPr>
          <p:cNvPr id="65" name="Shape 51"/>
          <p:cNvSpPr/>
          <p:nvPr/>
        </p:nvSpPr>
        <p:spPr>
          <a:xfrm>
            <a:off x="5913239" y="8160693"/>
            <a:ext cx="233749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66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65639" y="8274993"/>
            <a:ext cx="228600" cy="228600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6389489" y="8301633"/>
            <a:ext cx="1540520" cy="213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European Scrum Org.</a:t>
            </a:r>
            <a:endParaRPr lang="en-US" sz="1200" dirty="0"/>
          </a:p>
        </p:txBody>
      </p:sp>
      <p:sp>
        <p:nvSpPr>
          <p:cNvPr id="68" name="Text 53"/>
          <p:cNvSpPr/>
          <p:nvPr/>
        </p:nvSpPr>
        <p:spPr>
          <a:xfrm>
            <a:off x="8784282" y="6141393"/>
            <a:ext cx="930156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5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MÁS DE 50 ALIANZAS ESTRATÉGICAS</a:t>
            </a:r>
            <a:endParaRPr lang="en-US" sz="1125" dirty="0"/>
          </a:p>
        </p:txBody>
      </p:sp>
      <p:pic>
        <p:nvPicPr>
          <p:cNvPr id="69" name="Image 13" descr="preencoded.png"/>
          <p:cNvPicPr>
            <a:picLocks noChangeAspect="1"/>
          </p:cNvPicPr>
          <p:nvPr/>
        </p:nvPicPr>
        <p:blipFill>
          <a:blip r:embed="rId16"/>
          <a:srcRect t="-25805" b="-25805"/>
          <a:stretch/>
        </p:blipFill>
        <p:spPr>
          <a:xfrm>
            <a:off x="8784282" y="6503343"/>
            <a:ext cx="8455968" cy="3574107"/>
          </a:xfrm>
          <a:prstGeom prst="rect">
            <a:avLst/>
          </a:prstGeom>
        </p:spPr>
      </p:pic>
      <p:sp>
        <p:nvSpPr>
          <p:cNvPr id="70" name="Text 54"/>
          <p:cNvSpPr/>
          <p:nvPr/>
        </p:nvSpPr>
        <p:spPr>
          <a:xfrm>
            <a:off x="1047750" y="9915525"/>
            <a:ext cx="25008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DATA INTELLIGENCE</a:t>
            </a:r>
            <a:endParaRPr lang="en-US" sz="975" dirty="0"/>
          </a:p>
        </p:txBody>
      </p:sp>
      <p:sp>
        <p:nvSpPr>
          <p:cNvPr id="71" name="Text 55"/>
          <p:cNvSpPr/>
          <p:nvPr/>
        </p:nvSpPr>
        <p:spPr>
          <a:xfrm>
            <a:off x="16650742" y="9915525"/>
            <a:ext cx="665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11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736" y="5334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7750" y="2708374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24000" y="2598837"/>
            <a:ext cx="294630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PUNTO DE PARTIDA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047750" y="3075087"/>
            <a:ext cx="7985950" cy="160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750" b="1" kern="0" spc="-7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analítica y los modelos solo escalan bien cuando el </a:t>
            </a:r>
            <a:r>
              <a:rPr lang="en-US" sz="3750" b="1" kern="0" spc="-75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dato </a:t>
            </a:r>
            <a:r>
              <a:rPr lang="en-US" sz="3750" b="1" kern="0" spc="-7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 los alimenta es </a:t>
            </a:r>
            <a:r>
              <a:rPr lang="en-US" sz="3750" b="1" kern="0" spc="-75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trazable </a:t>
            </a:r>
            <a:r>
              <a:rPr lang="en-US" sz="3750" b="1" kern="0" spc="-7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 se </a:t>
            </a:r>
            <a:r>
              <a:rPr lang="en-US" sz="3750" b="1" kern="0" spc="-75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entiende</a:t>
            </a:r>
            <a:r>
              <a:rPr lang="en-US" sz="3750" b="1" kern="0" spc="-7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3750" dirty="0"/>
          </a:p>
        </p:txBody>
      </p:sp>
      <p:sp>
        <p:nvSpPr>
          <p:cNvPr id="20" name="Text 17"/>
          <p:cNvSpPr/>
          <p:nvPr/>
        </p:nvSpPr>
        <p:spPr>
          <a:xfrm>
            <a:off x="1047750" y="5027712"/>
            <a:ext cx="2405077" cy="1341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4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60</a:t>
            </a:r>
            <a:r>
              <a:rPr lang="en-US" sz="570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%</a:t>
            </a:r>
            <a:endParaRPr lang="en-US" sz="11400" dirty="0"/>
          </a:p>
        </p:txBody>
      </p:sp>
      <p:sp>
        <p:nvSpPr>
          <p:cNvPr id="21" name="Text 18"/>
          <p:cNvSpPr/>
          <p:nvPr/>
        </p:nvSpPr>
        <p:spPr>
          <a:xfrm>
            <a:off x="3519934" y="5027712"/>
            <a:ext cx="3764722" cy="9908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725" dirty="0">
                <a:solidFill>
                  <a:srgbClr val="35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organizaciones no captará el valor esperado de su IA por un </a:t>
            </a:r>
            <a:r>
              <a:rPr lang="en-US" sz="1725" dirty="0">
                <a:solidFill>
                  <a:srgbClr val="041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del dato deficiente.</a:t>
            </a:r>
            <a:endParaRPr lang="en-US" sz="1725" dirty="0"/>
          </a:p>
        </p:txBody>
      </p:sp>
      <p:sp>
        <p:nvSpPr>
          <p:cNvPr id="22" name="Text 19"/>
          <p:cNvSpPr/>
          <p:nvPr/>
        </p:nvSpPr>
        <p:spPr>
          <a:xfrm>
            <a:off x="1047750" y="6464052"/>
            <a:ext cx="852868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25" kern="0" spc="11" dirty="0">
                <a:solidFill>
                  <a:srgbClr val="354A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Fuente: </a:t>
            </a:r>
            <a:r>
              <a:rPr lang="en-US" sz="1125" kern="0" spc="11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Gartner — predicción a 2027.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1047750" y="6945064"/>
            <a:ext cx="6023647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35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Construimos y operamos esa base para que la analítica, los modelos y la plataforma decidan sobre dato fiable. Nuestro foco está ahí: preparar, ordenar y operar esa base para el dato se pueda explotar con confianza.</a:t>
            </a:r>
            <a:endParaRPr lang="en-US" sz="1725" dirty="0"/>
          </a:p>
        </p:txBody>
      </p:sp>
      <p:sp>
        <p:nvSpPr>
          <p:cNvPr id="24" name="Shape 21"/>
          <p:cNvSpPr/>
          <p:nvPr/>
        </p:nvSpPr>
        <p:spPr>
          <a:xfrm>
            <a:off x="10505033" y="1143000"/>
            <a:ext cx="5717084" cy="8572500"/>
          </a:xfrm>
          <a:prstGeom prst="roundRect">
            <a:avLst>
              <a:gd name="adj" fmla="val 1999"/>
            </a:avLst>
          </a:prstGeom>
          <a:ln/>
          <a:effectLst>
            <a:outerShdw blurRad="476250" dist="171450" dir="5400000" algn="bl" rotWithShape="0">
              <a:srgbClr val="041C2C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rcRect l="1" r="1"/>
          <a:stretch/>
        </p:blipFill>
        <p:spPr>
          <a:xfrm>
            <a:off x="10505033" y="1143000"/>
            <a:ext cx="5717084" cy="85725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047750" y="9915525"/>
            <a:ext cx="25008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DATA INTELLIGENCE</a:t>
            </a:r>
            <a:endParaRPr lang="en-US" sz="975" dirty="0"/>
          </a:p>
        </p:txBody>
      </p:sp>
      <p:sp>
        <p:nvSpPr>
          <p:cNvPr id="27" name="Text 23"/>
          <p:cNvSpPr/>
          <p:nvPr/>
        </p:nvSpPr>
        <p:spPr>
          <a:xfrm>
            <a:off x="16650742" y="9915525"/>
            <a:ext cx="665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11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736" y="5334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7750" y="1252538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24000" y="1143000"/>
            <a:ext cx="387667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DÓNDE SE GANA O SE PIERDE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3A2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5E3D9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5E3D9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3A2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5E3D9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7A26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1F54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5E1D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047750" y="1619250"/>
            <a:ext cx="952317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50" b="1" kern="0" spc="-7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Cuatro frentes donde la calidad del dato decide si la capa de arriba </a:t>
            </a:r>
            <a:r>
              <a:rPr lang="en-US" sz="3750" b="1" kern="0" spc="-75" dirty="0">
                <a:solidFill>
                  <a:srgbClr val="57BE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rinde o no.</a:t>
            </a:r>
            <a:endParaRPr lang="en-US" sz="3750" dirty="0"/>
          </a:p>
        </p:txBody>
      </p:sp>
      <p:sp>
        <p:nvSpPr>
          <p:cNvPr id="20" name="Shape 17"/>
          <p:cNvSpPr/>
          <p:nvPr/>
        </p:nvSpPr>
        <p:spPr>
          <a:xfrm>
            <a:off x="1047750" y="2952750"/>
            <a:ext cx="6651575" cy="6762750"/>
          </a:xfrm>
          <a:prstGeom prst="roundRect">
            <a:avLst>
              <a:gd name="adj" fmla="val 2578"/>
            </a:avLst>
          </a:prstGeom>
          <a:gradFill rotWithShape="1">
            <a:gsLst>
              <a:gs pos="0">
                <a:srgbClr val="57BE8A">
                  <a:alpha val="16000"/>
                </a:srgbClr>
              </a:gs>
              <a:gs pos="100000">
                <a:srgbClr val="FFFFFF">
                  <a:alpha val="3000"/>
                </a:srgbClr>
              </a:gs>
            </a:gsLst>
            <a:lin ang="3900000" scaled="0"/>
          </a:gradFill>
          <a:ln w="9525">
            <a:solidFill>
              <a:srgbClr val="57BE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1438275" y="3343275"/>
            <a:ext cx="685800" cy="685800"/>
          </a:xfrm>
          <a:prstGeom prst="roundRect">
            <a:avLst>
              <a:gd name="adj" fmla="val 22222"/>
            </a:avLst>
          </a:prstGeom>
          <a:solidFill>
            <a:srgbClr val="57BE8A">
              <a:alpha val="20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6875" y="3571875"/>
            <a:ext cx="228600" cy="2286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38275" y="4276725"/>
            <a:ext cx="645757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57B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25" dirty="0"/>
          </a:p>
        </p:txBody>
      </p:sp>
      <p:sp>
        <p:nvSpPr>
          <p:cNvPr id="24" name="Text 20"/>
          <p:cNvSpPr/>
          <p:nvPr/>
        </p:nvSpPr>
        <p:spPr>
          <a:xfrm>
            <a:off x="1438275" y="4524375"/>
            <a:ext cx="645757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kern="0" spc="-6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Calidad y completitud del dato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1438275" y="5111055"/>
            <a:ext cx="6046641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25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Vuestros modelos y vuestra plataforma deciden sobre el dato que les llega. Si está incompleto o sin medir, la decisión hereda el error. </a:t>
            </a: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Medimos la calidad y cerramos las brechas.</a:t>
            </a:r>
            <a:endParaRPr lang="en-US" sz="1725" dirty="0"/>
          </a:p>
        </p:txBody>
      </p:sp>
      <p:sp>
        <p:nvSpPr>
          <p:cNvPr id="26" name="Shape 22"/>
          <p:cNvSpPr/>
          <p:nvPr/>
        </p:nvSpPr>
        <p:spPr>
          <a:xfrm>
            <a:off x="7927925" y="2952750"/>
            <a:ext cx="9312325" cy="2152650"/>
          </a:xfrm>
          <a:prstGeom prst="roundRect">
            <a:avLst>
              <a:gd name="adj" fmla="val 619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3"/>
          <p:cNvSpPr/>
          <p:nvPr/>
        </p:nvSpPr>
        <p:spPr>
          <a:xfrm>
            <a:off x="8185100" y="378142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855AC6">
              <a:alpha val="24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8450" y="3914775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870900" y="3584525"/>
            <a:ext cx="8496598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25" b="1" kern="0" spc="-2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Gobierno del dato como operación</a:t>
            </a:r>
            <a:endParaRPr lang="en-US" sz="2025" dirty="0"/>
          </a:p>
        </p:txBody>
      </p:sp>
      <p:sp>
        <p:nvSpPr>
          <p:cNvPr id="30" name="Text 25"/>
          <p:cNvSpPr/>
          <p:nvPr/>
        </p:nvSpPr>
        <p:spPr>
          <a:xfrm>
            <a:off x="8870900" y="3948708"/>
            <a:ext cx="7955905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con mandato, catálogo vivo y linaje trazable. El gobierno que </a:t>
            </a: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auditor puede recorrer, </a:t>
            </a:r>
            <a:r>
              <a:rPr lang="en-US" sz="1425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el que se archiva.</a:t>
            </a:r>
            <a:endParaRPr lang="en-US" sz="1425" dirty="0"/>
          </a:p>
        </p:txBody>
      </p:sp>
      <p:sp>
        <p:nvSpPr>
          <p:cNvPr id="31" name="Text 26"/>
          <p:cNvSpPr/>
          <p:nvPr/>
        </p:nvSpPr>
        <p:spPr>
          <a:xfrm>
            <a:off x="16785580" y="3171825"/>
            <a:ext cx="2736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7927925" y="5257800"/>
            <a:ext cx="9312325" cy="2152650"/>
          </a:xfrm>
          <a:prstGeom prst="roundRect">
            <a:avLst>
              <a:gd name="adj" fmla="val 619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28"/>
          <p:cNvSpPr/>
          <p:nvPr/>
        </p:nvSpPr>
        <p:spPr>
          <a:xfrm>
            <a:off x="8185100" y="608647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855AC6">
              <a:alpha val="24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450" y="6219825"/>
            <a:ext cx="228600" cy="2286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870900" y="5889575"/>
            <a:ext cx="8496598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25" b="1" kern="0" spc="-2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dato cerca de quien decide</a:t>
            </a:r>
            <a:endParaRPr lang="en-US" sz="2025" dirty="0"/>
          </a:p>
        </p:txBody>
      </p:sp>
      <p:sp>
        <p:nvSpPr>
          <p:cNvPr id="36" name="Text 30"/>
          <p:cNvSpPr/>
          <p:nvPr/>
        </p:nvSpPr>
        <p:spPr>
          <a:xfrm>
            <a:off x="8870900" y="6253758"/>
            <a:ext cx="7955905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semántica acordada y autoservicio gobernado, que permite a negocio llegar al dato sin pasar por IT cada vez. </a:t>
            </a: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velocidad de decisión, menos cola de peticiones.</a:t>
            </a:r>
            <a:endParaRPr lang="en-US" sz="1425" dirty="0"/>
          </a:p>
        </p:txBody>
      </p:sp>
      <p:sp>
        <p:nvSpPr>
          <p:cNvPr id="37" name="Text 31"/>
          <p:cNvSpPr/>
          <p:nvPr/>
        </p:nvSpPr>
        <p:spPr>
          <a:xfrm>
            <a:off x="16785580" y="5476875"/>
            <a:ext cx="2736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7927925" y="7562850"/>
            <a:ext cx="9312325" cy="2152650"/>
          </a:xfrm>
          <a:prstGeom prst="roundRect">
            <a:avLst>
              <a:gd name="adj" fmla="val 619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3"/>
          <p:cNvSpPr/>
          <p:nvPr/>
        </p:nvSpPr>
        <p:spPr>
          <a:xfrm>
            <a:off x="8185100" y="8391525"/>
            <a:ext cx="495300" cy="495300"/>
          </a:xfrm>
          <a:prstGeom prst="roundRect">
            <a:avLst>
              <a:gd name="adj" fmla="val 23077"/>
            </a:avLst>
          </a:prstGeom>
          <a:solidFill>
            <a:srgbClr val="855AC6">
              <a:alpha val="24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450" y="8524875"/>
            <a:ext cx="228600" cy="22860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870900" y="8194625"/>
            <a:ext cx="8496598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25" b="1" kern="0" spc="-2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dato que alimenta vuestra plataforma</a:t>
            </a:r>
            <a:endParaRPr lang="en-US" sz="2025" dirty="0"/>
          </a:p>
        </p:txBody>
      </p:sp>
      <p:sp>
        <p:nvSpPr>
          <p:cNvPr id="42" name="Text 35"/>
          <p:cNvSpPr/>
          <p:nvPr/>
        </p:nvSpPr>
        <p:spPr>
          <a:xfrm>
            <a:off x="8870900" y="8558808"/>
            <a:ext cx="7955905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FFFFFF">
                    <a:alpha val="6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plataforma de datos y vuestros modelos rinden cuando el dato está gobernado, completo y trazado. </a:t>
            </a:r>
            <a:r>
              <a:rPr lang="en-US" sz="14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es la base que construimos y operamos con vuestros equipos.</a:t>
            </a:r>
            <a:endParaRPr lang="en-US" sz="1425" dirty="0"/>
          </a:p>
        </p:txBody>
      </p:sp>
      <p:sp>
        <p:nvSpPr>
          <p:cNvPr id="43" name="Text 36"/>
          <p:cNvSpPr/>
          <p:nvPr/>
        </p:nvSpPr>
        <p:spPr>
          <a:xfrm>
            <a:off x="16785580" y="7781925"/>
            <a:ext cx="2736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47" dirty="0">
                <a:solidFill>
                  <a:srgbClr val="FFFFFF">
                    <a:alpha val="4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1047750" y="9915525"/>
            <a:ext cx="25008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FFFFFF">
                    <a:alpha val="4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DATA INTELLIGENCE</a:t>
            </a:r>
            <a:endParaRPr lang="en-US" sz="975" dirty="0"/>
          </a:p>
        </p:txBody>
      </p:sp>
      <p:sp>
        <p:nvSpPr>
          <p:cNvPr id="45" name="Text 38"/>
          <p:cNvSpPr/>
          <p:nvPr/>
        </p:nvSpPr>
        <p:spPr>
          <a:xfrm>
            <a:off x="16650742" y="9915525"/>
            <a:ext cx="665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FFFFFF">
                    <a:alpha val="4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11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736" y="5334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7750" y="1252538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24000" y="1143000"/>
            <a:ext cx="40318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QUÉ CONSTRUIMOS Y OPERAMOS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047750" y="1619250"/>
            <a:ext cx="1256350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50" b="1" kern="0" spc="-7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Cinco capacidades</a:t>
            </a:r>
            <a:endParaRPr lang="en-US" sz="3750" dirty="0"/>
          </a:p>
        </p:txBody>
      </p:sp>
      <p:sp>
        <p:nvSpPr>
          <p:cNvPr id="20" name="Text 17"/>
          <p:cNvSpPr/>
          <p:nvPr/>
        </p:nvSpPr>
        <p:spPr>
          <a:xfrm>
            <a:off x="1047750" y="2266950"/>
            <a:ext cx="178117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DATO Y ANALÍTICA EN PRODUCCIÓN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>
            <a:off x="1047750" y="2476500"/>
            <a:ext cx="16192500" cy="1196280"/>
          </a:xfrm>
          <a:prstGeom prst="roundRect">
            <a:avLst>
              <a:gd name="adj" fmla="val 9555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1047750" y="3663255"/>
            <a:ext cx="161925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1047750" y="2476500"/>
            <a:ext cx="161925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1047750" y="2476500"/>
            <a:ext cx="38100" cy="119628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17230725" y="2476500"/>
            <a:ext cx="9525" cy="119628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1352550" y="2769840"/>
            <a:ext cx="609600" cy="609600"/>
          </a:xfrm>
          <a:prstGeom prst="roundRect">
            <a:avLst>
              <a:gd name="adj" fmla="val 20312"/>
            </a:avLst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1314450" y="276984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475" dirty="0"/>
          </a:p>
        </p:txBody>
      </p:sp>
      <p:sp>
        <p:nvSpPr>
          <p:cNvPr id="28" name="Text 25"/>
          <p:cNvSpPr/>
          <p:nvPr/>
        </p:nvSpPr>
        <p:spPr>
          <a:xfrm>
            <a:off x="2171700" y="2619375"/>
            <a:ext cx="343154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Ingeniería del dato y plataforma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2171700" y="2986980"/>
            <a:ext cx="938474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Construimos y evolucionamos la plataforma de datos y los procesos que la alimentan, asegurando dato fiable de origen a consumo y habilitando nuevos casos de uso sobre la misma base.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4449425" y="2793653"/>
            <a:ext cx="2514600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IMPACTO</a:t>
            </a:r>
            <a:endParaRPr lang="en-US" sz="975" dirty="0"/>
          </a:p>
        </p:txBody>
      </p:sp>
      <p:sp>
        <p:nvSpPr>
          <p:cNvPr id="31" name="Shape 28"/>
          <p:cNvSpPr/>
          <p:nvPr/>
        </p:nvSpPr>
        <p:spPr>
          <a:xfrm>
            <a:off x="14678025" y="3031778"/>
            <a:ext cx="2553444" cy="32385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14753822" y="3088928"/>
            <a:ext cx="2325247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Disponibilidad · Calidad · Valor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1047750" y="3720405"/>
            <a:ext cx="16192500" cy="1196280"/>
          </a:xfrm>
          <a:prstGeom prst="roundRect">
            <a:avLst>
              <a:gd name="adj" fmla="val 9555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1"/>
          <p:cNvSpPr/>
          <p:nvPr/>
        </p:nvSpPr>
        <p:spPr>
          <a:xfrm>
            <a:off x="1047750" y="4907161"/>
            <a:ext cx="161925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Shape 32"/>
          <p:cNvSpPr/>
          <p:nvPr/>
        </p:nvSpPr>
        <p:spPr>
          <a:xfrm>
            <a:off x="1047750" y="3720405"/>
            <a:ext cx="161925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1047750" y="3720405"/>
            <a:ext cx="38100" cy="119628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Shape 34"/>
          <p:cNvSpPr/>
          <p:nvPr/>
        </p:nvSpPr>
        <p:spPr>
          <a:xfrm>
            <a:off x="17230725" y="3720405"/>
            <a:ext cx="9525" cy="119628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Shape 35"/>
          <p:cNvSpPr/>
          <p:nvPr/>
        </p:nvSpPr>
        <p:spPr>
          <a:xfrm>
            <a:off x="1352550" y="4013746"/>
            <a:ext cx="609600" cy="609600"/>
          </a:xfrm>
          <a:prstGeom prst="roundRect">
            <a:avLst>
              <a:gd name="adj" fmla="val 20312"/>
            </a:avLst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6"/>
          <p:cNvSpPr/>
          <p:nvPr/>
        </p:nvSpPr>
        <p:spPr>
          <a:xfrm>
            <a:off x="1314450" y="4013746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475" dirty="0"/>
          </a:p>
        </p:txBody>
      </p:sp>
      <p:sp>
        <p:nvSpPr>
          <p:cNvPr id="40" name="Text 37"/>
          <p:cNvSpPr/>
          <p:nvPr/>
        </p:nvSpPr>
        <p:spPr>
          <a:xfrm>
            <a:off x="2171700" y="3863280"/>
            <a:ext cx="25917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Analítica y visualización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2171700" y="4230886"/>
            <a:ext cx="938474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 y visualización en producción, conectada con las necesidades reales del negocio y orientada a decisiones concretas.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14449425" y="4037558"/>
            <a:ext cx="2514600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IMPACTO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15138202" y="4275683"/>
            <a:ext cx="1825823" cy="32385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/>
          <p:nvPr/>
        </p:nvSpPr>
        <p:spPr>
          <a:xfrm>
            <a:off x="15214402" y="4332833"/>
            <a:ext cx="1597223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Decisión · Eficiencia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1047750" y="4964311"/>
            <a:ext cx="16192500" cy="1196280"/>
          </a:xfrm>
          <a:prstGeom prst="roundRect">
            <a:avLst>
              <a:gd name="adj" fmla="val 9555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1047750" y="6151066"/>
            <a:ext cx="161925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Shape 44"/>
          <p:cNvSpPr/>
          <p:nvPr/>
        </p:nvSpPr>
        <p:spPr>
          <a:xfrm>
            <a:off x="1047750" y="4964311"/>
            <a:ext cx="161925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Shape 45"/>
          <p:cNvSpPr/>
          <p:nvPr/>
        </p:nvSpPr>
        <p:spPr>
          <a:xfrm>
            <a:off x="1047750" y="4964311"/>
            <a:ext cx="38100" cy="119628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Shape 46"/>
          <p:cNvSpPr/>
          <p:nvPr/>
        </p:nvSpPr>
        <p:spPr>
          <a:xfrm>
            <a:off x="17230725" y="4964311"/>
            <a:ext cx="9525" cy="119628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Shape 47"/>
          <p:cNvSpPr/>
          <p:nvPr/>
        </p:nvSpPr>
        <p:spPr>
          <a:xfrm>
            <a:off x="1352550" y="5257651"/>
            <a:ext cx="609600" cy="609600"/>
          </a:xfrm>
          <a:prstGeom prst="roundRect">
            <a:avLst>
              <a:gd name="adj" fmla="val 20312"/>
            </a:avLst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Text 48"/>
          <p:cNvSpPr/>
          <p:nvPr/>
        </p:nvSpPr>
        <p:spPr>
          <a:xfrm>
            <a:off x="1314450" y="5257651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2475" dirty="0"/>
          </a:p>
        </p:txBody>
      </p:sp>
      <p:sp>
        <p:nvSpPr>
          <p:cNvPr id="52" name="Text 49"/>
          <p:cNvSpPr/>
          <p:nvPr/>
        </p:nvSpPr>
        <p:spPr>
          <a:xfrm>
            <a:off x="2171700" y="5107186"/>
            <a:ext cx="376469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Gobierno del dato y de los modelos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2171700" y="5474791"/>
            <a:ext cx="938474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operativo del dato: roles claros, calidad medida, catálogo completo y linaje trazable para que la analítica y los modelos trabajen sobre una base confiable.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14449425" y="5281464"/>
            <a:ext cx="2514600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IMPACTO</a:t>
            </a:r>
            <a:endParaRPr lang="en-US" sz="975" dirty="0"/>
          </a:p>
        </p:txBody>
      </p:sp>
      <p:sp>
        <p:nvSpPr>
          <p:cNvPr id="55" name="Shape 52"/>
          <p:cNvSpPr/>
          <p:nvPr/>
        </p:nvSpPr>
        <p:spPr>
          <a:xfrm>
            <a:off x="15902136" y="5519589"/>
            <a:ext cx="1061889" cy="32385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3"/>
          <p:cNvSpPr/>
          <p:nvPr/>
        </p:nvSpPr>
        <p:spPr>
          <a:xfrm>
            <a:off x="15978336" y="5576739"/>
            <a:ext cx="833289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Confianza</a:t>
            </a:r>
            <a:endParaRPr lang="en-US" sz="1350" dirty="0"/>
          </a:p>
        </p:txBody>
      </p:sp>
      <p:sp>
        <p:nvSpPr>
          <p:cNvPr id="57" name="Text 54"/>
          <p:cNvSpPr/>
          <p:nvPr/>
        </p:nvSpPr>
        <p:spPr>
          <a:xfrm>
            <a:off x="1047750" y="6246316"/>
            <a:ext cx="178117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56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INTELIGENCIA Y CONVERSACIÓN</a:t>
            </a:r>
            <a:endParaRPr lang="en-US" sz="975" dirty="0"/>
          </a:p>
        </p:txBody>
      </p:sp>
      <p:sp>
        <p:nvSpPr>
          <p:cNvPr id="58" name="Shape 55"/>
          <p:cNvSpPr/>
          <p:nvPr/>
        </p:nvSpPr>
        <p:spPr>
          <a:xfrm>
            <a:off x="1047750" y="6455866"/>
            <a:ext cx="16192500" cy="1729680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9" name="Shape 56"/>
          <p:cNvSpPr/>
          <p:nvPr/>
        </p:nvSpPr>
        <p:spPr>
          <a:xfrm>
            <a:off x="1047750" y="8176022"/>
            <a:ext cx="161925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Shape 57"/>
          <p:cNvSpPr/>
          <p:nvPr/>
        </p:nvSpPr>
        <p:spPr>
          <a:xfrm>
            <a:off x="1047750" y="6455866"/>
            <a:ext cx="161925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Shape 58"/>
          <p:cNvSpPr/>
          <p:nvPr/>
        </p:nvSpPr>
        <p:spPr>
          <a:xfrm>
            <a:off x="1047750" y="6455866"/>
            <a:ext cx="38100" cy="172968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Shape 59"/>
          <p:cNvSpPr/>
          <p:nvPr/>
        </p:nvSpPr>
        <p:spPr>
          <a:xfrm>
            <a:off x="17230725" y="6455866"/>
            <a:ext cx="9525" cy="172968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Shape 60"/>
          <p:cNvSpPr/>
          <p:nvPr/>
        </p:nvSpPr>
        <p:spPr>
          <a:xfrm>
            <a:off x="1352550" y="7015907"/>
            <a:ext cx="609600" cy="609600"/>
          </a:xfrm>
          <a:prstGeom prst="roundRect">
            <a:avLst>
              <a:gd name="adj" fmla="val 20312"/>
            </a:avLst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4" name="Text 61"/>
          <p:cNvSpPr/>
          <p:nvPr/>
        </p:nvSpPr>
        <p:spPr>
          <a:xfrm>
            <a:off x="1314450" y="7015907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</a:t>
            </a:r>
            <a:endParaRPr lang="en-US" sz="2475" dirty="0"/>
          </a:p>
        </p:txBody>
      </p:sp>
      <p:sp>
        <p:nvSpPr>
          <p:cNvPr id="65" name="Text 62"/>
          <p:cNvSpPr/>
          <p:nvPr/>
        </p:nvSpPr>
        <p:spPr>
          <a:xfrm>
            <a:off x="2171700" y="6598741"/>
            <a:ext cx="20396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Analítica avanzada</a:t>
            </a:r>
            <a:endParaRPr lang="en-US" sz="1800" dirty="0"/>
          </a:p>
        </p:txBody>
      </p:sp>
      <p:sp>
        <p:nvSpPr>
          <p:cNvPr id="66" name="Text 63"/>
          <p:cNvSpPr/>
          <p:nvPr/>
        </p:nvSpPr>
        <p:spPr>
          <a:xfrm>
            <a:off x="2171700" y="6966347"/>
            <a:ext cx="9384749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predictivos y analítica avanzada orientados a casos de uso concretos, desde la identificación de oportunidades hasta la construcción, integración y operación del modelo. Aseguramos que los modelos sigan siendo fiables en el tiempo, detectando desviaciones, revisando posibles sesgos y aportando explicabilidad sobre sus resultados.</a:t>
            </a:r>
            <a:endParaRPr lang="en-US" sz="1500" dirty="0"/>
          </a:p>
        </p:txBody>
      </p:sp>
      <p:sp>
        <p:nvSpPr>
          <p:cNvPr id="67" name="Text 64"/>
          <p:cNvSpPr/>
          <p:nvPr/>
        </p:nvSpPr>
        <p:spPr>
          <a:xfrm>
            <a:off x="14449425" y="7039719"/>
            <a:ext cx="2514600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IMPACTO</a:t>
            </a:r>
            <a:endParaRPr lang="en-US" sz="975" dirty="0"/>
          </a:p>
        </p:txBody>
      </p:sp>
      <p:sp>
        <p:nvSpPr>
          <p:cNvPr id="68" name="Shape 65"/>
          <p:cNvSpPr/>
          <p:nvPr/>
        </p:nvSpPr>
        <p:spPr>
          <a:xfrm>
            <a:off x="14678025" y="7277844"/>
            <a:ext cx="2423666" cy="32385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9" name="Text 66"/>
          <p:cNvSpPr/>
          <p:nvPr/>
        </p:nvSpPr>
        <p:spPr>
          <a:xfrm>
            <a:off x="14754225" y="7334994"/>
            <a:ext cx="2195066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Predicción · Acción · Control</a:t>
            </a:r>
            <a:endParaRPr lang="en-US" sz="1350" dirty="0"/>
          </a:p>
        </p:txBody>
      </p:sp>
      <p:sp>
        <p:nvSpPr>
          <p:cNvPr id="70" name="Shape 67"/>
          <p:cNvSpPr/>
          <p:nvPr/>
        </p:nvSpPr>
        <p:spPr>
          <a:xfrm>
            <a:off x="1047750" y="8233172"/>
            <a:ext cx="16192500" cy="146298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1" name="Shape 68"/>
          <p:cNvSpPr/>
          <p:nvPr/>
        </p:nvSpPr>
        <p:spPr>
          <a:xfrm>
            <a:off x="1047750" y="9686627"/>
            <a:ext cx="161925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Shape 69"/>
          <p:cNvSpPr/>
          <p:nvPr/>
        </p:nvSpPr>
        <p:spPr>
          <a:xfrm>
            <a:off x="1047750" y="8233172"/>
            <a:ext cx="161925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3" name="Shape 70"/>
          <p:cNvSpPr/>
          <p:nvPr/>
        </p:nvSpPr>
        <p:spPr>
          <a:xfrm>
            <a:off x="1047750" y="8233172"/>
            <a:ext cx="38100" cy="146298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4" name="Shape 71"/>
          <p:cNvSpPr/>
          <p:nvPr/>
        </p:nvSpPr>
        <p:spPr>
          <a:xfrm>
            <a:off x="17230725" y="8233172"/>
            <a:ext cx="9525" cy="146298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Shape 72"/>
          <p:cNvSpPr/>
          <p:nvPr/>
        </p:nvSpPr>
        <p:spPr>
          <a:xfrm>
            <a:off x="1352550" y="8659862"/>
            <a:ext cx="609600" cy="609600"/>
          </a:xfrm>
          <a:prstGeom prst="roundRect">
            <a:avLst>
              <a:gd name="adj" fmla="val 20312"/>
            </a:avLst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6" name="Text 73"/>
          <p:cNvSpPr/>
          <p:nvPr/>
        </p:nvSpPr>
        <p:spPr>
          <a:xfrm>
            <a:off x="1314450" y="8659862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47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</a:t>
            </a:r>
            <a:endParaRPr lang="en-US" sz="2475" dirty="0"/>
          </a:p>
        </p:txBody>
      </p:sp>
      <p:sp>
        <p:nvSpPr>
          <p:cNvPr id="77" name="Text 74"/>
          <p:cNvSpPr/>
          <p:nvPr/>
        </p:nvSpPr>
        <p:spPr>
          <a:xfrm>
            <a:off x="2171700" y="8376047"/>
            <a:ext cx="30746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Consulta en lenguaje natural</a:t>
            </a:r>
            <a:endParaRPr lang="en-US" sz="1800" dirty="0"/>
          </a:p>
        </p:txBody>
      </p:sp>
      <p:sp>
        <p:nvSpPr>
          <p:cNvPr id="78" name="Text 75"/>
          <p:cNvSpPr/>
          <p:nvPr/>
        </p:nvSpPr>
        <p:spPr>
          <a:xfrm>
            <a:off x="2171700" y="8743652"/>
            <a:ext cx="9384749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Habla con tus datos: pregunta en lenguaje natural sobre dato gobernado y obtén respuestas trazables, sin pasar por un equipo técnico. La conversación se apoya en el mismo gobierno y la misma calidad que sostienen el resto del área.</a:t>
            </a:r>
            <a:endParaRPr lang="en-US" sz="1500" dirty="0"/>
          </a:p>
        </p:txBody>
      </p:sp>
      <p:sp>
        <p:nvSpPr>
          <p:cNvPr id="79" name="Text 76"/>
          <p:cNvSpPr/>
          <p:nvPr/>
        </p:nvSpPr>
        <p:spPr>
          <a:xfrm>
            <a:off x="14449425" y="8683675"/>
            <a:ext cx="2514600" cy="20002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975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IMPACTO</a:t>
            </a:r>
            <a:endParaRPr lang="en-US" sz="975" dirty="0"/>
          </a:p>
        </p:txBody>
      </p:sp>
      <p:sp>
        <p:nvSpPr>
          <p:cNvPr id="80" name="Shape 77"/>
          <p:cNvSpPr/>
          <p:nvPr/>
        </p:nvSpPr>
        <p:spPr>
          <a:xfrm>
            <a:off x="15256818" y="8921800"/>
            <a:ext cx="1707207" cy="323850"/>
          </a:xfrm>
          <a:prstGeom prst="roundRect">
            <a:avLst>
              <a:gd name="adj" fmla="val 50000"/>
            </a:avLst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1" name="Text 78"/>
          <p:cNvSpPr/>
          <p:nvPr/>
        </p:nvSpPr>
        <p:spPr>
          <a:xfrm>
            <a:off x="15333018" y="8978950"/>
            <a:ext cx="1478607" cy="2476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Acceso · Adopción</a:t>
            </a:r>
            <a:endParaRPr lang="en-US" sz="1350" dirty="0"/>
          </a:p>
        </p:txBody>
      </p:sp>
      <p:sp>
        <p:nvSpPr>
          <p:cNvPr id="82" name="Text 79"/>
          <p:cNvSpPr/>
          <p:nvPr/>
        </p:nvSpPr>
        <p:spPr>
          <a:xfrm>
            <a:off x="1047750" y="9915525"/>
            <a:ext cx="25008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DATA INTELLIGENCE</a:t>
            </a:r>
            <a:endParaRPr lang="en-US" sz="975" dirty="0"/>
          </a:p>
        </p:txBody>
      </p:sp>
      <p:sp>
        <p:nvSpPr>
          <p:cNvPr id="83" name="Text 80"/>
          <p:cNvSpPr/>
          <p:nvPr/>
        </p:nvSpPr>
        <p:spPr>
          <a:xfrm>
            <a:off x="16650742" y="9915525"/>
            <a:ext cx="665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11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736" y="5334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7750" y="1252538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24000" y="1143000"/>
            <a:ext cx="37216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SEGURIDAD Y CUMPLIMIENTO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3A2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5E3D9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5E3D9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3A2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5E3D9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7A26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1F54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5E1D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047750" y="1619250"/>
            <a:ext cx="8402907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50" b="1" kern="0" spc="-75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IA fiable se sostiene sobre dato protegido y modelos </a:t>
            </a:r>
            <a:r>
              <a:rPr lang="en-US" sz="3750" b="1" kern="0" spc="-75" dirty="0">
                <a:solidFill>
                  <a:srgbClr val="3A9E6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 se pueden auditar.</a:t>
            </a:r>
            <a:endParaRPr lang="en-US" sz="3750" dirty="0"/>
          </a:p>
        </p:txBody>
      </p:sp>
      <p:sp>
        <p:nvSpPr>
          <p:cNvPr id="20" name="Text 17"/>
          <p:cNvSpPr/>
          <p:nvPr/>
        </p:nvSpPr>
        <p:spPr>
          <a:xfrm>
            <a:off x="1047750" y="3390900"/>
            <a:ext cx="1011242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75" dirty="0">
                <a:solidFill>
                  <a:srgbClr val="FFFFFF">
                    <a:alpha val="8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Construimos la capa que permite usar la IA sin abrir un frente regulatorio.</a:t>
            </a: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1047750" y="4115246"/>
            <a:ext cx="7962900" cy="5600254"/>
          </a:xfrm>
          <a:prstGeom prst="roundRect">
            <a:avLst>
              <a:gd name="adj" fmla="val 272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1419225" y="4467671"/>
            <a:ext cx="436060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-2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Protección y cumplimiento del dato</a:t>
            </a:r>
            <a:endParaRPr lang="en-US" sz="2025" dirty="0"/>
          </a:p>
        </p:txBody>
      </p:sp>
      <p:sp>
        <p:nvSpPr>
          <p:cNvPr id="24" name="Text 20"/>
          <p:cNvSpPr/>
          <p:nvPr/>
        </p:nvSpPr>
        <p:spPr>
          <a:xfrm>
            <a:off x="1419225" y="4943921"/>
            <a:ext cx="7436549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Diseñamos y operamos el control de acceso, la protección y la privacidad del dato, también frente al uso que hace la propia IA, evitando respuestas con información sensible o la exposición accidental de datos protegidos.</a:t>
            </a:r>
            <a:endParaRPr lang="en-US" sz="1650" dirty="0"/>
          </a:p>
        </p:txBody>
      </p:sp>
      <p:sp>
        <p:nvSpPr>
          <p:cNvPr id="25" name="Shape 21"/>
          <p:cNvSpPr/>
          <p:nvPr/>
        </p:nvSpPr>
        <p:spPr>
          <a:xfrm>
            <a:off x="1419225" y="9048750"/>
            <a:ext cx="628352" cy="314325"/>
          </a:xfrm>
          <a:prstGeom prst="roundRect">
            <a:avLst>
              <a:gd name="adj" fmla="val 50000"/>
            </a:avLst>
          </a:prstGeom>
          <a:solidFill>
            <a:srgbClr val="57BE8A">
              <a:alpha val="14000"/>
            </a:srgbClr>
          </a:solidFill>
          <a:ln w="9525">
            <a:solidFill>
              <a:srgbClr val="57BE8A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2"/>
          <p:cNvSpPr/>
          <p:nvPr/>
        </p:nvSpPr>
        <p:spPr>
          <a:xfrm>
            <a:off x="1562100" y="9115425"/>
            <a:ext cx="4188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8" kern="0" spc="22" dirty="0">
                <a:solidFill>
                  <a:srgbClr val="FFFFFF">
                    <a:alpha val="8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RGPD</a:t>
            </a:r>
            <a:endParaRPr lang="en-US" sz="1088" dirty="0"/>
          </a:p>
        </p:txBody>
      </p:sp>
      <p:sp>
        <p:nvSpPr>
          <p:cNvPr id="27" name="Shape 23"/>
          <p:cNvSpPr/>
          <p:nvPr/>
        </p:nvSpPr>
        <p:spPr>
          <a:xfrm>
            <a:off x="2133302" y="9048750"/>
            <a:ext cx="542776" cy="314325"/>
          </a:xfrm>
          <a:prstGeom prst="roundRect">
            <a:avLst>
              <a:gd name="adj" fmla="val 50000"/>
            </a:avLst>
          </a:prstGeom>
          <a:solidFill>
            <a:srgbClr val="57BE8A">
              <a:alpha val="14000"/>
            </a:srgbClr>
          </a:solidFill>
          <a:ln w="9525">
            <a:solidFill>
              <a:srgbClr val="57BE8A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4"/>
          <p:cNvSpPr/>
          <p:nvPr/>
        </p:nvSpPr>
        <p:spPr>
          <a:xfrm>
            <a:off x="2276177" y="9115425"/>
            <a:ext cx="33322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8" kern="0" spc="22" dirty="0">
                <a:solidFill>
                  <a:srgbClr val="FFFFFF">
                    <a:alpha val="8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ENS</a:t>
            </a:r>
            <a:endParaRPr lang="en-US" sz="1088" dirty="0"/>
          </a:p>
        </p:txBody>
      </p:sp>
      <p:sp>
        <p:nvSpPr>
          <p:cNvPr id="29" name="Shape 25"/>
          <p:cNvSpPr/>
          <p:nvPr/>
        </p:nvSpPr>
        <p:spPr>
          <a:xfrm>
            <a:off x="2761804" y="9048750"/>
            <a:ext cx="799654" cy="314325"/>
          </a:xfrm>
          <a:prstGeom prst="roundRect">
            <a:avLst>
              <a:gd name="adj" fmla="val 50000"/>
            </a:avLst>
          </a:prstGeom>
          <a:solidFill>
            <a:srgbClr val="57BE8A">
              <a:alpha val="14000"/>
            </a:srgbClr>
          </a:solidFill>
          <a:ln w="9525">
            <a:solidFill>
              <a:srgbClr val="57BE8A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6"/>
          <p:cNvSpPr/>
          <p:nvPr/>
        </p:nvSpPr>
        <p:spPr>
          <a:xfrm>
            <a:off x="2904679" y="9115425"/>
            <a:ext cx="59010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8" kern="0" spc="22" dirty="0">
                <a:solidFill>
                  <a:srgbClr val="FFFFFF">
                    <a:alpha val="8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Act</a:t>
            </a:r>
            <a:endParaRPr lang="en-US" sz="1088" dirty="0"/>
          </a:p>
        </p:txBody>
      </p:sp>
      <p:sp>
        <p:nvSpPr>
          <p:cNvPr id="31" name="Shape 27"/>
          <p:cNvSpPr/>
          <p:nvPr/>
        </p:nvSpPr>
        <p:spPr>
          <a:xfrm>
            <a:off x="3647182" y="9048750"/>
            <a:ext cx="1056531" cy="314325"/>
          </a:xfrm>
          <a:prstGeom prst="roundRect">
            <a:avLst>
              <a:gd name="adj" fmla="val 50000"/>
            </a:avLst>
          </a:prstGeom>
          <a:solidFill>
            <a:srgbClr val="57BE8A">
              <a:alpha val="14000"/>
            </a:srgbClr>
          </a:solidFill>
          <a:ln w="9525">
            <a:solidFill>
              <a:srgbClr val="57BE8A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8"/>
          <p:cNvSpPr/>
          <p:nvPr/>
        </p:nvSpPr>
        <p:spPr>
          <a:xfrm>
            <a:off x="3790057" y="9115425"/>
            <a:ext cx="84698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8" kern="0" spc="22" dirty="0">
                <a:solidFill>
                  <a:srgbClr val="FFFFFF">
                    <a:alpha val="8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ISO 42001</a:t>
            </a:r>
            <a:endParaRPr lang="en-US" sz="1088" dirty="0"/>
          </a:p>
        </p:txBody>
      </p:sp>
      <p:sp>
        <p:nvSpPr>
          <p:cNvPr id="33" name="Shape 29"/>
          <p:cNvSpPr/>
          <p:nvPr/>
        </p:nvSpPr>
        <p:spPr>
          <a:xfrm>
            <a:off x="4789438" y="9048750"/>
            <a:ext cx="628352" cy="314325"/>
          </a:xfrm>
          <a:prstGeom prst="roundRect">
            <a:avLst>
              <a:gd name="adj" fmla="val 50000"/>
            </a:avLst>
          </a:prstGeom>
          <a:solidFill>
            <a:srgbClr val="57BE8A">
              <a:alpha val="14000"/>
            </a:srgbClr>
          </a:solidFill>
          <a:ln w="9525">
            <a:solidFill>
              <a:srgbClr val="57BE8A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0"/>
          <p:cNvSpPr/>
          <p:nvPr/>
        </p:nvSpPr>
        <p:spPr>
          <a:xfrm>
            <a:off x="4932313" y="9115425"/>
            <a:ext cx="41880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8" kern="0" spc="22" dirty="0">
                <a:solidFill>
                  <a:srgbClr val="FFFFFF">
                    <a:alpha val="8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DORA</a:t>
            </a:r>
            <a:endParaRPr lang="en-US" sz="1088" dirty="0"/>
          </a:p>
        </p:txBody>
      </p:sp>
      <p:sp>
        <p:nvSpPr>
          <p:cNvPr id="35" name="Shape 31"/>
          <p:cNvSpPr/>
          <p:nvPr/>
        </p:nvSpPr>
        <p:spPr>
          <a:xfrm>
            <a:off x="5503515" y="9048750"/>
            <a:ext cx="1570286" cy="314325"/>
          </a:xfrm>
          <a:prstGeom prst="roundRect">
            <a:avLst>
              <a:gd name="adj" fmla="val 50000"/>
            </a:avLst>
          </a:prstGeom>
          <a:solidFill>
            <a:srgbClr val="57BE8A">
              <a:alpha val="14000"/>
            </a:srgbClr>
          </a:solidFill>
          <a:ln w="9525">
            <a:solidFill>
              <a:srgbClr val="57BE8A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2"/>
          <p:cNvSpPr/>
          <p:nvPr/>
        </p:nvSpPr>
        <p:spPr>
          <a:xfrm>
            <a:off x="5646390" y="9115425"/>
            <a:ext cx="136073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8" kern="0" spc="22" dirty="0">
                <a:solidFill>
                  <a:srgbClr val="FFFFFF">
                    <a:alpha val="8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ISO 27001/27018</a:t>
            </a:r>
            <a:endParaRPr lang="en-US" sz="1088" dirty="0"/>
          </a:p>
        </p:txBody>
      </p:sp>
      <p:sp>
        <p:nvSpPr>
          <p:cNvPr id="37" name="Shape 33"/>
          <p:cNvSpPr/>
          <p:nvPr/>
        </p:nvSpPr>
        <p:spPr>
          <a:xfrm>
            <a:off x="7159526" y="9048750"/>
            <a:ext cx="970806" cy="314325"/>
          </a:xfrm>
          <a:prstGeom prst="roundRect">
            <a:avLst>
              <a:gd name="adj" fmla="val 50000"/>
            </a:avLst>
          </a:prstGeom>
          <a:solidFill>
            <a:srgbClr val="57BE8A">
              <a:alpha val="14000"/>
            </a:srgbClr>
          </a:solidFill>
          <a:ln w="9525">
            <a:solidFill>
              <a:srgbClr val="57BE8A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4"/>
          <p:cNvSpPr/>
          <p:nvPr/>
        </p:nvSpPr>
        <p:spPr>
          <a:xfrm>
            <a:off x="7302401" y="9115425"/>
            <a:ext cx="76125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88" kern="0" spc="22" dirty="0">
                <a:solidFill>
                  <a:srgbClr val="FFFFFF">
                    <a:alpha val="8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Act</a:t>
            </a:r>
            <a:endParaRPr lang="en-US" sz="1088" dirty="0"/>
          </a:p>
        </p:txBody>
      </p:sp>
      <p:sp>
        <p:nvSpPr>
          <p:cNvPr id="39" name="Shape 35"/>
          <p:cNvSpPr/>
          <p:nvPr/>
        </p:nvSpPr>
        <p:spPr>
          <a:xfrm>
            <a:off x="9277350" y="4115246"/>
            <a:ext cx="7962900" cy="5600254"/>
          </a:xfrm>
          <a:prstGeom prst="roundRect">
            <a:avLst>
              <a:gd name="adj" fmla="val 2721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6"/>
          <p:cNvSpPr/>
          <p:nvPr/>
        </p:nvSpPr>
        <p:spPr>
          <a:xfrm>
            <a:off x="9648825" y="4467671"/>
            <a:ext cx="148322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-2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IA auditable</a:t>
            </a:r>
            <a:endParaRPr lang="en-US" sz="2025" dirty="0"/>
          </a:p>
        </p:txBody>
      </p:sp>
      <p:sp>
        <p:nvSpPr>
          <p:cNvPr id="42" name="Text 37"/>
          <p:cNvSpPr/>
          <p:nvPr/>
        </p:nvSpPr>
        <p:spPr>
          <a:xfrm>
            <a:off x="9648825" y="4943921"/>
            <a:ext cx="743654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Operamos el ciclo de vida del modelo de extremo a extremo: monitorización de rendimiento, control de drift y sesgos, explicabilidad y mejora continua.</a:t>
            </a:r>
            <a:endParaRPr lang="en-US" sz="1650" dirty="0"/>
          </a:p>
        </p:txBody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8825" y="9093101"/>
            <a:ext cx="228600" cy="22860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10001250" y="9093101"/>
            <a:ext cx="732410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75" b="1" kern="0" spc="-16" dirty="0">
                <a:solidFill>
                  <a:srgbClr val="57BE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decisión del modelo queda trazada y lista para que un auditor la recorra.</a:t>
            </a:r>
            <a:endParaRPr lang="en-US" sz="1575" dirty="0"/>
          </a:p>
        </p:txBody>
      </p:sp>
      <p:sp>
        <p:nvSpPr>
          <p:cNvPr id="45" name="Text 39"/>
          <p:cNvSpPr/>
          <p:nvPr/>
        </p:nvSpPr>
        <p:spPr>
          <a:xfrm>
            <a:off x="1047750" y="9915525"/>
            <a:ext cx="240818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FFFFFF">
                    <a:alpha val="4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DATA &amp; ANALYTICS</a:t>
            </a:r>
            <a:endParaRPr lang="en-US" sz="975" dirty="0"/>
          </a:p>
        </p:txBody>
      </p:sp>
      <p:sp>
        <p:nvSpPr>
          <p:cNvPr id="46" name="Text 40"/>
          <p:cNvSpPr/>
          <p:nvPr/>
        </p:nvSpPr>
        <p:spPr>
          <a:xfrm>
            <a:off x="16650742" y="9915525"/>
            <a:ext cx="665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FFFFFF">
                    <a:alpha val="4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11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736" y="5334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7750" y="1252538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24000" y="1143000"/>
            <a:ext cx="232600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 QUÉ ENTELGY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047750" y="1619250"/>
            <a:ext cx="8399517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kern="0" spc="-8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Tres razones .</a:t>
            </a:r>
            <a:endParaRPr lang="en-US" sz="4050" dirty="0"/>
          </a:p>
        </p:txBody>
      </p:sp>
      <p:sp>
        <p:nvSpPr>
          <p:cNvPr id="20" name="Shape 17"/>
          <p:cNvSpPr/>
          <p:nvPr/>
        </p:nvSpPr>
        <p:spPr>
          <a:xfrm>
            <a:off x="1047750" y="2483048"/>
            <a:ext cx="6564213" cy="7232452"/>
          </a:xfrm>
          <a:prstGeom prst="roundRect">
            <a:avLst>
              <a:gd name="adj" fmla="val 2322"/>
            </a:avLst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t="5613" b="5613"/>
          <a:stretch/>
        </p:blipFill>
        <p:spPr>
          <a:xfrm>
            <a:off x="1047750" y="2483048"/>
            <a:ext cx="6564213" cy="723245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8050113" y="3581251"/>
            <a:ext cx="9189988" cy="1654820"/>
          </a:xfrm>
          <a:prstGeom prst="roundRect">
            <a:avLst>
              <a:gd name="adj" fmla="val 8058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8345388" y="4160044"/>
            <a:ext cx="81915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35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4350" dirty="0"/>
          </a:p>
        </p:txBody>
      </p:sp>
      <p:sp>
        <p:nvSpPr>
          <p:cNvPr id="24" name="Text 20"/>
          <p:cNvSpPr/>
          <p:nvPr/>
        </p:nvSpPr>
        <p:spPr>
          <a:xfrm>
            <a:off x="9316938" y="3819376"/>
            <a:ext cx="8390677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25" b="1" kern="0" spc="-2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dato de extremo a extremo, bajo un mismo techo</a:t>
            </a:r>
            <a:endParaRPr lang="en-US" sz="2025" dirty="0"/>
          </a:p>
        </p:txBody>
      </p:sp>
      <p:sp>
        <p:nvSpPr>
          <p:cNvPr id="25" name="Text 21"/>
          <p:cNvSpPr/>
          <p:nvPr/>
        </p:nvSpPr>
        <p:spPr>
          <a:xfrm>
            <a:off x="9316938" y="4183559"/>
            <a:ext cx="785672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Gobierno, analítica, modelos y la base que alimenta vuestra plataforma integrando capacidades que normalmente quedan separadas entre varios equipos o proveedores distintos.</a:t>
            </a:r>
            <a:endParaRPr lang="en-US" sz="1425" dirty="0"/>
          </a:p>
        </p:txBody>
      </p:sp>
      <p:sp>
        <p:nvSpPr>
          <p:cNvPr id="26" name="Shape 22"/>
          <p:cNvSpPr/>
          <p:nvPr/>
        </p:nvSpPr>
        <p:spPr>
          <a:xfrm>
            <a:off x="8050113" y="5407521"/>
            <a:ext cx="9189988" cy="1383357"/>
          </a:xfrm>
          <a:prstGeom prst="roundRect">
            <a:avLst>
              <a:gd name="adj" fmla="val 9640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8345388" y="5850582"/>
            <a:ext cx="81915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35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4350" dirty="0"/>
          </a:p>
        </p:txBody>
      </p:sp>
      <p:sp>
        <p:nvSpPr>
          <p:cNvPr id="28" name="Text 24"/>
          <p:cNvSpPr/>
          <p:nvPr/>
        </p:nvSpPr>
        <p:spPr>
          <a:xfrm>
            <a:off x="9316938" y="5645646"/>
            <a:ext cx="8390677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25" b="1" kern="0" spc="-2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 ecosistema ampliado de capacidades en Data</a:t>
            </a:r>
            <a:endParaRPr lang="en-US" sz="2025" dirty="0"/>
          </a:p>
        </p:txBody>
      </p:sp>
      <p:sp>
        <p:nvSpPr>
          <p:cNvPr id="29" name="Text 25"/>
          <p:cNvSpPr/>
          <p:nvPr/>
        </p:nvSpPr>
        <p:spPr>
          <a:xfrm>
            <a:off x="9316938" y="6009829"/>
            <a:ext cx="7856725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Sumamos capacidades, fabricantes y equipos especializados para cubrir distintos entornos tecnológicos y acelerar iniciativas de dato, analítica e IA.</a:t>
            </a:r>
            <a:endParaRPr lang="en-US" sz="1425" dirty="0"/>
          </a:p>
        </p:txBody>
      </p:sp>
      <p:sp>
        <p:nvSpPr>
          <p:cNvPr id="30" name="Shape 26"/>
          <p:cNvSpPr/>
          <p:nvPr/>
        </p:nvSpPr>
        <p:spPr>
          <a:xfrm>
            <a:off x="8050113" y="6962329"/>
            <a:ext cx="9189988" cy="1654820"/>
          </a:xfrm>
          <a:prstGeom prst="roundRect">
            <a:avLst>
              <a:gd name="adj" fmla="val 8058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27"/>
          <p:cNvSpPr/>
          <p:nvPr/>
        </p:nvSpPr>
        <p:spPr>
          <a:xfrm>
            <a:off x="8345388" y="7541121"/>
            <a:ext cx="81915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350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4350" dirty="0"/>
          </a:p>
        </p:txBody>
      </p:sp>
      <p:sp>
        <p:nvSpPr>
          <p:cNvPr id="32" name="Text 28"/>
          <p:cNvSpPr/>
          <p:nvPr/>
        </p:nvSpPr>
        <p:spPr>
          <a:xfrm>
            <a:off x="9316938" y="7200454"/>
            <a:ext cx="8390677" cy="3260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25" b="1" kern="0" spc="-2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Construimos capacidad con vuestros equipos</a:t>
            </a:r>
            <a:endParaRPr lang="en-US" sz="2025" dirty="0"/>
          </a:p>
        </p:txBody>
      </p:sp>
      <p:sp>
        <p:nvSpPr>
          <p:cNvPr id="33" name="Text 29"/>
          <p:cNvSpPr/>
          <p:nvPr/>
        </p:nvSpPr>
        <p:spPr>
          <a:xfrm>
            <a:off x="9316938" y="7564636"/>
            <a:ext cx="7856725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25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Trabajamos sobre vuestro entorno y con vuestros equipos, combinando entrega, acompañamiento y transferencia de conocimiento para que las capacidades queden operativas y puedan evolucionar internamente.</a:t>
            </a:r>
            <a:endParaRPr lang="en-US" sz="1425" dirty="0"/>
          </a:p>
        </p:txBody>
      </p:sp>
      <p:sp>
        <p:nvSpPr>
          <p:cNvPr id="34" name="Text 30"/>
          <p:cNvSpPr/>
          <p:nvPr/>
        </p:nvSpPr>
        <p:spPr>
          <a:xfrm>
            <a:off x="1047750" y="9915525"/>
            <a:ext cx="25008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DATA INTELLIGENCE</a:t>
            </a:r>
            <a:endParaRPr lang="en-US" sz="975" dirty="0"/>
          </a:p>
        </p:txBody>
      </p:sp>
      <p:sp>
        <p:nvSpPr>
          <p:cNvPr id="35" name="Text 31"/>
          <p:cNvSpPr/>
          <p:nvPr/>
        </p:nvSpPr>
        <p:spPr>
          <a:xfrm>
            <a:off x="16650742" y="9915525"/>
            <a:ext cx="665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11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736" y="5334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7750" y="1252538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24000" y="1143000"/>
            <a:ext cx="18609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CASOS REALES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047750" y="1619250"/>
            <a:ext cx="8761306" cy="984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450" b="1" kern="0" spc="-6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Dato, analítica e IA en </a:t>
            </a:r>
            <a:r>
              <a:rPr lang="en-US" sz="3450" b="1" kern="0" spc="-69" dirty="0">
                <a:solidFill>
                  <a:srgbClr val="3A9E6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entornos exigentes </a:t>
            </a:r>
            <a:r>
              <a:rPr lang="en-US" sz="3450" b="1" kern="0" spc="-6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con resultado.</a:t>
            </a:r>
            <a:endParaRPr lang="en-US" sz="3450" dirty="0"/>
          </a:p>
        </p:txBody>
      </p:sp>
      <p:sp>
        <p:nvSpPr>
          <p:cNvPr id="20" name="Shape 17"/>
          <p:cNvSpPr/>
          <p:nvPr/>
        </p:nvSpPr>
        <p:spPr>
          <a:xfrm>
            <a:off x="1047750" y="2813149"/>
            <a:ext cx="5257800" cy="3346400"/>
          </a:xfrm>
          <a:prstGeom prst="roundRect">
            <a:avLst>
              <a:gd name="adj" fmla="val 3985"/>
            </a:avLst>
          </a:prstGeom>
          <a:solidFill>
            <a:srgbClr val="041C2C"/>
          </a:solidFill>
          <a:ln/>
          <a:effectLst>
            <a:outerShdw blurRad="476250" dist="209550" dir="5400000" algn="bl" rotWithShape="0">
              <a:srgbClr val="041C2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5378500"/>
            <a:ext cx="781050" cy="7810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95400" y="3022699"/>
            <a:ext cx="52387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kern="0" spc="122" dirty="0">
                <a:solidFill>
                  <a:srgbClr val="57B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SECTOR PÚBLICO · GOBIERNO DEL DATO</a:t>
            </a:r>
            <a:endParaRPr lang="en-US" sz="1013" dirty="0"/>
          </a:p>
        </p:txBody>
      </p:sp>
      <p:sp>
        <p:nvSpPr>
          <p:cNvPr id="23" name="Shape 19"/>
          <p:cNvSpPr/>
          <p:nvPr/>
        </p:nvSpPr>
        <p:spPr>
          <a:xfrm>
            <a:off x="1295400" y="3308449"/>
            <a:ext cx="76200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90650" y="3403699"/>
            <a:ext cx="571500" cy="5715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295400" y="4184749"/>
            <a:ext cx="4905375" cy="976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84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gobierno del dato (DAMA-DMBOK y DCAM) en un organismo supervisor del sector financiero. Implementación técnica de la herramienta MS Purview como soporte al modelo establecido.</a:t>
            </a:r>
            <a:endParaRPr lang="en-US" sz="1275" dirty="0"/>
          </a:p>
        </p:txBody>
      </p:sp>
      <p:sp>
        <p:nvSpPr>
          <p:cNvPr id="26" name="Text 21"/>
          <p:cNvSpPr/>
          <p:nvPr/>
        </p:nvSpPr>
        <p:spPr>
          <a:xfrm>
            <a:off x="1295400" y="5740450"/>
            <a:ext cx="5238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57BE8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Adjudicado frente a las Big 4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6515100" y="2813149"/>
            <a:ext cx="5257800" cy="3346400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2325" y="5368975"/>
            <a:ext cx="781050" cy="78105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72275" y="3032224"/>
            <a:ext cx="52177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kern="0" spc="122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BANCA · ANALÍTICA</a:t>
            </a:r>
            <a:endParaRPr lang="en-US" sz="1013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l="-31754" r="-31754"/>
          <a:stretch/>
        </p:blipFill>
        <p:spPr>
          <a:xfrm>
            <a:off x="6772275" y="3317974"/>
            <a:ext cx="4743450" cy="4953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72275" y="3927574"/>
            <a:ext cx="4885754" cy="742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Analítica y visualización en producción, en un entorno financiero exigente. Trabajo en marcha con su equipo de Banca Telefónica, Consumer Finance y Sostenibilidad.</a:t>
            </a:r>
            <a:endParaRPr lang="en-US" sz="1275" dirty="0"/>
          </a:p>
        </p:txBody>
      </p:sp>
      <p:sp>
        <p:nvSpPr>
          <p:cNvPr id="32" name="Text 25"/>
          <p:cNvSpPr/>
          <p:nvPr/>
        </p:nvSpPr>
        <p:spPr>
          <a:xfrm>
            <a:off x="6772275" y="5730925"/>
            <a:ext cx="52177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3A9E6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 producción, con negocio dentro</a:t>
            </a:r>
            <a:endParaRPr lang="en-US" sz="1350" dirty="0"/>
          </a:p>
        </p:txBody>
      </p:sp>
      <p:sp>
        <p:nvSpPr>
          <p:cNvPr id="33" name="Shape 26"/>
          <p:cNvSpPr/>
          <p:nvPr/>
        </p:nvSpPr>
        <p:spPr>
          <a:xfrm>
            <a:off x="11982450" y="2813149"/>
            <a:ext cx="5257800" cy="3346400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675" y="5368975"/>
            <a:ext cx="781050" cy="78105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2239625" y="3032224"/>
            <a:ext cx="52177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kern="0" spc="122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BANCA · INGENIERÍA DEL DATO</a:t>
            </a:r>
            <a:endParaRPr lang="en-US" sz="1013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l="-15724" r="-15724"/>
          <a:stretch/>
        </p:blipFill>
        <p:spPr>
          <a:xfrm>
            <a:off x="12239625" y="3317974"/>
            <a:ext cx="4743450" cy="4953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239625" y="3927574"/>
            <a:ext cx="4885754" cy="976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Desarrollo, optimización de procesos analíticos y preparación del dato para reporting de negocio. Trabajo sobre calidad, completitud y rendimiento de los datos desde origen hasta su consumo.</a:t>
            </a:r>
            <a:endParaRPr lang="en-US" sz="1275" dirty="0"/>
          </a:p>
        </p:txBody>
      </p:sp>
      <p:sp>
        <p:nvSpPr>
          <p:cNvPr id="38" name="Text 29"/>
          <p:cNvSpPr/>
          <p:nvPr/>
        </p:nvSpPr>
        <p:spPr>
          <a:xfrm>
            <a:off x="12239625" y="5730925"/>
            <a:ext cx="52177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3A9E6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Dato fiable de origen a consumo</a:t>
            </a:r>
            <a:endParaRPr lang="en-US" sz="1350" dirty="0"/>
          </a:p>
        </p:txBody>
      </p:sp>
      <p:sp>
        <p:nvSpPr>
          <p:cNvPr id="39" name="Shape 30"/>
          <p:cNvSpPr/>
          <p:nvPr/>
        </p:nvSpPr>
        <p:spPr>
          <a:xfrm>
            <a:off x="1047750" y="6369100"/>
            <a:ext cx="5257800" cy="3346400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14975" y="8924925"/>
            <a:ext cx="781050" cy="78105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304925" y="6588175"/>
            <a:ext cx="52177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kern="0" spc="122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INDUSTRIA · ANALÍTICA AVANZADA</a:t>
            </a:r>
            <a:endParaRPr lang="en-US" sz="1013" dirty="0"/>
          </a:p>
        </p:txBody>
      </p:sp>
      <p:sp>
        <p:nvSpPr>
          <p:cNvPr id="42" name="Text 32"/>
          <p:cNvSpPr/>
          <p:nvPr/>
        </p:nvSpPr>
        <p:spPr>
          <a:xfrm>
            <a:off x="1304925" y="6873925"/>
            <a:ext cx="48857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Fabricante industrial cotizado</a:t>
            </a:r>
            <a:endParaRPr lang="en-US" sz="1800" dirty="0"/>
          </a:p>
        </p:txBody>
      </p:sp>
      <p:sp>
        <p:nvSpPr>
          <p:cNvPr id="43" name="Text 33"/>
          <p:cNvSpPr/>
          <p:nvPr/>
        </p:nvSpPr>
        <p:spPr>
          <a:xfrm>
            <a:off x="1304925" y="7483525"/>
            <a:ext cx="4885754" cy="742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predictivos entrenados sobre cientos de miles de registros del proceso productivo, capaces de detectar desviaciones antes de que generen producto defectuoso.</a:t>
            </a:r>
            <a:endParaRPr lang="en-US" sz="1275" dirty="0"/>
          </a:p>
        </p:txBody>
      </p:sp>
      <p:sp>
        <p:nvSpPr>
          <p:cNvPr id="44" name="Text 34"/>
          <p:cNvSpPr/>
          <p:nvPr/>
        </p:nvSpPr>
        <p:spPr>
          <a:xfrm>
            <a:off x="1304925" y="9286875"/>
            <a:ext cx="52177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3A9E6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Más capacidad preventiva, menos defectos</a:t>
            </a:r>
            <a:endParaRPr lang="en-US" sz="1350" dirty="0"/>
          </a:p>
        </p:txBody>
      </p:sp>
      <p:sp>
        <p:nvSpPr>
          <p:cNvPr id="45" name="Shape 35"/>
          <p:cNvSpPr/>
          <p:nvPr/>
        </p:nvSpPr>
        <p:spPr>
          <a:xfrm>
            <a:off x="6515100" y="6369100"/>
            <a:ext cx="5257800" cy="3346400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82325" y="8924925"/>
            <a:ext cx="781050" cy="78105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772275" y="6588175"/>
            <a:ext cx="52177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kern="0" spc="122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MOVILIDAD AÉREA · IA APLICADA</a:t>
            </a:r>
            <a:endParaRPr lang="en-US" sz="1013" dirty="0"/>
          </a:p>
        </p:txBody>
      </p:sp>
      <p:sp>
        <p:nvSpPr>
          <p:cNvPr id="48" name="Text 37"/>
          <p:cNvSpPr/>
          <p:nvPr/>
        </p:nvSpPr>
        <p:spPr>
          <a:xfrm>
            <a:off x="6772275" y="6873925"/>
            <a:ext cx="48857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Operador de drones de largo alcance</a:t>
            </a:r>
            <a:endParaRPr lang="en-US" sz="1800" dirty="0"/>
          </a:p>
        </p:txBody>
      </p:sp>
      <p:sp>
        <p:nvSpPr>
          <p:cNvPr id="49" name="Text 38"/>
          <p:cNvSpPr/>
          <p:nvPr/>
        </p:nvSpPr>
        <p:spPr>
          <a:xfrm>
            <a:off x="6772275" y="7483525"/>
            <a:ext cx="4885754" cy="742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anomalías multicomponente en cada vuelo, con severidad priorizada y explicación de qué falló y por qué. Alertas accionables para mantenimiento.</a:t>
            </a:r>
            <a:endParaRPr lang="en-US" sz="1275" dirty="0"/>
          </a:p>
        </p:txBody>
      </p:sp>
      <p:sp>
        <p:nvSpPr>
          <p:cNvPr id="50" name="Text 39"/>
          <p:cNvSpPr/>
          <p:nvPr/>
        </p:nvSpPr>
        <p:spPr>
          <a:xfrm>
            <a:off x="6772275" y="9286875"/>
            <a:ext cx="52177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3A9E6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Mantenimiento preventivo, IA auditable</a:t>
            </a:r>
            <a:endParaRPr lang="en-US" sz="1350" dirty="0"/>
          </a:p>
        </p:txBody>
      </p:sp>
      <p:sp>
        <p:nvSpPr>
          <p:cNvPr id="51" name="Shape 40"/>
          <p:cNvSpPr/>
          <p:nvPr/>
        </p:nvSpPr>
        <p:spPr>
          <a:xfrm>
            <a:off x="11982450" y="6369100"/>
            <a:ext cx="5257800" cy="3346400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49675" y="8924925"/>
            <a:ext cx="781050" cy="78105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12239625" y="6588175"/>
            <a:ext cx="52177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kern="0" spc="122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AUTOMOCIÓN · OPTIMIZACIÓN</a:t>
            </a:r>
            <a:endParaRPr lang="en-US" sz="1013" dirty="0"/>
          </a:p>
        </p:txBody>
      </p:sp>
      <p:sp>
        <p:nvSpPr>
          <p:cNvPr id="54" name="Text 42"/>
          <p:cNvSpPr/>
          <p:nvPr/>
        </p:nvSpPr>
        <p:spPr>
          <a:xfrm>
            <a:off x="12239625" y="6873925"/>
            <a:ext cx="4885754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Gran planta de fabricación de automoción</a:t>
            </a:r>
            <a:endParaRPr lang="en-US" sz="1800" dirty="0"/>
          </a:p>
        </p:txBody>
      </p:sp>
      <p:sp>
        <p:nvSpPr>
          <p:cNvPr id="55" name="Text 43"/>
          <p:cNvSpPr/>
          <p:nvPr/>
        </p:nvSpPr>
        <p:spPr>
          <a:xfrm>
            <a:off x="12239625" y="7483525"/>
            <a:ext cx="4885754" cy="7422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275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de líneas de producción que recalcula ante incidencias y mix real, ajustando en minutos lo que antes costaba días.</a:t>
            </a:r>
            <a:endParaRPr lang="en-US" sz="1275" dirty="0"/>
          </a:p>
        </p:txBody>
      </p:sp>
      <p:sp>
        <p:nvSpPr>
          <p:cNvPr id="56" name="Text 44"/>
          <p:cNvSpPr/>
          <p:nvPr/>
        </p:nvSpPr>
        <p:spPr>
          <a:xfrm>
            <a:off x="12239625" y="9286875"/>
            <a:ext cx="521779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-13" dirty="0">
                <a:solidFill>
                  <a:srgbClr val="3A9E65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 días a minutos al planificar</a:t>
            </a:r>
            <a:endParaRPr lang="en-US" sz="1350" dirty="0"/>
          </a:p>
        </p:txBody>
      </p:sp>
      <p:sp>
        <p:nvSpPr>
          <p:cNvPr id="57" name="Text 45"/>
          <p:cNvSpPr/>
          <p:nvPr/>
        </p:nvSpPr>
        <p:spPr>
          <a:xfrm>
            <a:off x="1047750" y="9915525"/>
            <a:ext cx="25008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DATA INTELLIGENCE</a:t>
            </a:r>
            <a:endParaRPr lang="en-US" sz="975" dirty="0"/>
          </a:p>
        </p:txBody>
      </p:sp>
      <p:sp>
        <p:nvSpPr>
          <p:cNvPr id="58" name="Text 46"/>
          <p:cNvSpPr/>
          <p:nvPr/>
        </p:nvSpPr>
        <p:spPr>
          <a:xfrm>
            <a:off x="16650742" y="9915525"/>
            <a:ext cx="665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11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736" y="5334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47750" y="1252538"/>
            <a:ext cx="342900" cy="2857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24000" y="1143000"/>
            <a:ext cx="573757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IDENTIFICANDO OPORTUNIDADES DE MEJORA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047750" y="1619250"/>
            <a:ext cx="11203877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50" b="1" kern="0" spc="-7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Empezar pequeño para identificar valor y </a:t>
            </a:r>
            <a:r>
              <a:rPr lang="en-US" sz="3750" b="1" kern="0" spc="-75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generar eficiencia </a:t>
            </a:r>
            <a:r>
              <a:rPr lang="en-US" sz="3750" b="1" kern="0" spc="-7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desde el dato.</a:t>
            </a:r>
            <a:endParaRPr lang="en-US" sz="3750" dirty="0"/>
          </a:p>
        </p:txBody>
      </p:sp>
      <p:sp>
        <p:nvSpPr>
          <p:cNvPr id="20" name="Shape 17"/>
          <p:cNvSpPr/>
          <p:nvPr/>
        </p:nvSpPr>
        <p:spPr>
          <a:xfrm>
            <a:off x="1047750" y="2971800"/>
            <a:ext cx="8854380" cy="5323731"/>
          </a:xfrm>
          <a:prstGeom prst="roundRect">
            <a:avLst>
              <a:gd name="adj" fmla="val 2505"/>
            </a:avLst>
          </a:prstGeom>
          <a:solidFill>
            <a:srgbClr val="041C2C"/>
          </a:solidFill>
          <a:ln/>
          <a:effectLst>
            <a:outerShdw blurRad="476250" dist="209550" dir="5400000" algn="bl" rotWithShape="0">
              <a:srgbClr val="041C2C">
                <a:alpha val="4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1428750" y="3333750"/>
            <a:ext cx="89016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LO INICIAMOS: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1428750" y="3638550"/>
            <a:ext cx="8901619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Assessment de datos + analítica e IA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1428750" y="4251127"/>
            <a:ext cx="8335152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FFFFFF">
                    <a:alpha val="86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rápida de los datos, capacidades analíticas y plataformas existentes para identificar oportunidades de mejora, eficiencias y nuevos casos de uso.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1428750" y="7533531"/>
            <a:ext cx="1140619" cy="400050"/>
          </a:xfrm>
          <a:prstGeom prst="roundRect">
            <a:avLst>
              <a:gd name="adj" fmla="val 50000"/>
            </a:avLst>
          </a:prstGeom>
          <a:solidFill>
            <a:srgbClr val="FE5000">
              <a:alpha val="8000"/>
            </a:srgbClr>
          </a:solidFill>
          <a:ln w="9525">
            <a:solidFill>
              <a:srgbClr val="FE500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1609725" y="7628781"/>
            <a:ext cx="85486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4-6 weeks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2683669" y="7533531"/>
            <a:ext cx="1577280" cy="40005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2864644" y="7628781"/>
            <a:ext cx="129153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 perfiles senior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4375249" y="7533531"/>
            <a:ext cx="1622375" cy="40005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4556224" y="7628781"/>
            <a:ext cx="13366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Alcance acotado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0283130" y="2971800"/>
            <a:ext cx="765283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6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 DESPUÉS, EN ORDEN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283130" y="3457575"/>
            <a:ext cx="457200" cy="457200"/>
          </a:xfrm>
          <a:prstGeom prst="ellipse">
            <a:avLst/>
          </a:prstGeom>
          <a:solidFill>
            <a:srgbClr val="F5F7F9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10264080" y="3476625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5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01</a:t>
            </a:r>
            <a:endParaRPr lang="en-US" sz="1425" dirty="0"/>
          </a:p>
        </p:txBody>
      </p:sp>
      <p:sp>
        <p:nvSpPr>
          <p:cNvPr id="33" name="Text 30"/>
          <p:cNvSpPr/>
          <p:nvPr/>
        </p:nvSpPr>
        <p:spPr>
          <a:xfrm>
            <a:off x="10949880" y="3495675"/>
            <a:ext cx="69194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Confianza y preparación para la IA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949880" y="3838575"/>
            <a:ext cx="6331306" cy="500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de la calidad, completitud y disponibilidad de los datos que alimentan procesos analíticos, modelos e iniciativas de IA.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0283130" y="4639568"/>
            <a:ext cx="457200" cy="457200"/>
          </a:xfrm>
          <a:prstGeom prst="ellipse">
            <a:avLst/>
          </a:prstGeom>
          <a:solidFill>
            <a:srgbClr val="F5F7F9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10264080" y="4658618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5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02</a:t>
            </a:r>
            <a:endParaRPr lang="en-US" sz="1425" dirty="0"/>
          </a:p>
        </p:txBody>
      </p:sp>
      <p:sp>
        <p:nvSpPr>
          <p:cNvPr id="37" name="Text 34"/>
          <p:cNvSpPr/>
          <p:nvPr/>
        </p:nvSpPr>
        <p:spPr>
          <a:xfrm>
            <a:off x="10949880" y="4677668"/>
            <a:ext cx="69194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Industrialización y eficiencia analítica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0949880" y="5020568"/>
            <a:ext cx="6351388" cy="500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procesos analíticos, rendimiento de plataformas y reducción de esfuerzos manuales en la preparación y explotación del dato.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0283130" y="5821561"/>
            <a:ext cx="457200" cy="457200"/>
          </a:xfrm>
          <a:prstGeom prst="ellipse">
            <a:avLst/>
          </a:prstGeom>
          <a:solidFill>
            <a:srgbClr val="F5F7F9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10264080" y="5840611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5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03</a:t>
            </a:r>
            <a:endParaRPr lang="en-US" sz="1425" dirty="0"/>
          </a:p>
        </p:txBody>
      </p:sp>
      <p:sp>
        <p:nvSpPr>
          <p:cNvPr id="41" name="Text 38"/>
          <p:cNvSpPr/>
          <p:nvPr/>
        </p:nvSpPr>
        <p:spPr>
          <a:xfrm>
            <a:off x="10949880" y="5859661"/>
            <a:ext cx="69194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Analítica avanzada e IA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10949880" y="6202561"/>
            <a:ext cx="6247762" cy="500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modelos predictivos y soluciones de IA orientadas a optimizar procesos, anticipar riesgos e identificar oportunidades.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0283130" y="7003554"/>
            <a:ext cx="457200" cy="457200"/>
          </a:xfrm>
          <a:prstGeom prst="ellipse">
            <a:avLst/>
          </a:prstGeom>
          <a:solidFill>
            <a:srgbClr val="F5F7F9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/>
          <p:nvPr/>
        </p:nvSpPr>
        <p:spPr>
          <a:xfrm>
            <a:off x="10264080" y="7022604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5" b="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04</a:t>
            </a:r>
            <a:endParaRPr lang="en-US" sz="1425" dirty="0"/>
          </a:p>
        </p:txBody>
      </p:sp>
      <p:sp>
        <p:nvSpPr>
          <p:cNvPr id="45" name="Text 42"/>
          <p:cNvSpPr/>
          <p:nvPr/>
        </p:nvSpPr>
        <p:spPr>
          <a:xfrm>
            <a:off x="10949880" y="7041654"/>
            <a:ext cx="69194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Escalado de casos de uso sobre la plataforma de datos</a:t>
            </a:r>
            <a:endParaRPr lang="en-US" sz="1800" dirty="0"/>
          </a:p>
        </p:txBody>
      </p:sp>
      <p:sp>
        <p:nvSpPr>
          <p:cNvPr id="46" name="Text 43"/>
          <p:cNvSpPr/>
          <p:nvPr/>
        </p:nvSpPr>
        <p:spPr>
          <a:xfrm>
            <a:off x="10949880" y="7384554"/>
            <a:ext cx="6217256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25" dirty="0">
                <a:solidFill>
                  <a:srgbClr val="4A62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Industrialización y expansión de los casos de uso a más áreas del negocio, aprovechando las capacidades ya instaladas para escalar el valor de lo construido.</a:t>
            </a:r>
            <a:endParaRPr lang="en-US" sz="1425" dirty="0"/>
          </a:p>
        </p:txBody>
      </p:sp>
      <p:sp>
        <p:nvSpPr>
          <p:cNvPr id="47" name="Text 44"/>
          <p:cNvSpPr/>
          <p:nvPr/>
        </p:nvSpPr>
        <p:spPr>
          <a:xfrm>
            <a:off x="1047750" y="9915525"/>
            <a:ext cx="25008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DATA INTELLIGENCE</a:t>
            </a:r>
            <a:endParaRPr lang="en-US" sz="975" dirty="0"/>
          </a:p>
        </p:txBody>
      </p:sp>
      <p:sp>
        <p:nvSpPr>
          <p:cNvPr id="48" name="Text 45"/>
          <p:cNvSpPr/>
          <p:nvPr/>
        </p:nvSpPr>
        <p:spPr>
          <a:xfrm>
            <a:off x="16650742" y="9915525"/>
            <a:ext cx="66570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11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855AC6">
                  <a:alpha val="16000"/>
                </a:srgbClr>
              </a:gs>
              <a:gs pos="54000">
                <a:srgbClr val="855AC6">
                  <a:alpha val="0"/>
                </a:srgbClr>
              </a:gs>
            </a:gsLst>
            <a:path path="circle">
              <a:fillToRect l="18000" t="24000" r="82000" b="76000"/>
            </a:path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509671" y="0"/>
            <a:ext cx="8778180" cy="1028700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2812" b="2812"/>
          <a:stretch/>
        </p:blipFill>
        <p:spPr>
          <a:xfrm>
            <a:off x="9509671" y="0"/>
            <a:ext cx="8778180" cy="10287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40000">
                <a:srgbClr val="041C2C">
                  <a:alpha val="100000"/>
                </a:srgbClr>
              </a:gs>
              <a:gs pos="60000">
                <a:srgbClr val="041C2C">
                  <a:alpha val="55000"/>
                </a:srgbClr>
              </a:gs>
              <a:gs pos="92000">
                <a:srgbClr val="041C2C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097161" y="6172200"/>
            <a:ext cx="152400" cy="114300"/>
          </a:xfrm>
          <a:prstGeom prst="rect">
            <a:avLst/>
          </a:prstGeom>
          <a:solidFill>
            <a:srgbClr val="3A2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249561" y="6172200"/>
            <a:ext cx="152400" cy="114300"/>
          </a:xfrm>
          <a:prstGeom prst="rect">
            <a:avLst/>
          </a:prstGeom>
          <a:solidFill>
            <a:srgbClr val="5E3D9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1401961" y="6172200"/>
            <a:ext cx="152400" cy="1143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4754761" y="5554861"/>
            <a:ext cx="152400" cy="114300"/>
          </a:xfrm>
          <a:prstGeom prst="rect">
            <a:avLst/>
          </a:prstGeom>
          <a:solidFill>
            <a:srgbClr val="1F54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4907161" y="5554861"/>
            <a:ext cx="152400" cy="114300"/>
          </a:xfrm>
          <a:prstGeom prst="rect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5059561" y="5554861"/>
            <a:ext cx="152400" cy="114300"/>
          </a:xfrm>
          <a:prstGeom prst="rect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5211961" y="5554861"/>
            <a:ext cx="152400" cy="1143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4206180" y="7200900"/>
            <a:ext cx="152400" cy="114300"/>
          </a:xfrm>
          <a:prstGeom prst="rect">
            <a:avLst/>
          </a:prstGeom>
          <a:solidFill>
            <a:srgbClr val="5E1D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4358580" y="7200900"/>
            <a:ext cx="152400" cy="114300"/>
          </a:xfrm>
          <a:prstGeom prst="rect">
            <a:avLst/>
          </a:prstGeom>
          <a:solidFill>
            <a:srgbClr val="9E33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4510980" y="7200900"/>
            <a:ext cx="152400" cy="1143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10241161" y="5966371"/>
            <a:ext cx="152400" cy="114300"/>
          </a:xfrm>
          <a:prstGeom prst="rect">
            <a:avLst/>
          </a:prstGeom>
          <a:solidFill>
            <a:srgbClr val="5E1D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0393561" y="5966371"/>
            <a:ext cx="152400" cy="114300"/>
          </a:xfrm>
          <a:prstGeom prst="rect">
            <a:avLst/>
          </a:prstGeom>
          <a:solidFill>
            <a:srgbClr val="9E33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0545961" y="5966371"/>
            <a:ext cx="152400" cy="1143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8595271" y="7818090"/>
            <a:ext cx="152400" cy="114300"/>
          </a:xfrm>
          <a:prstGeom prst="rect">
            <a:avLst/>
          </a:prstGeom>
          <a:solidFill>
            <a:srgbClr val="1F54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8747671" y="7818090"/>
            <a:ext cx="152400" cy="1143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034980" y="9052471"/>
            <a:ext cx="152400" cy="114300"/>
          </a:xfrm>
          <a:prstGeom prst="rect">
            <a:avLst/>
          </a:prstGeom>
          <a:solidFill>
            <a:srgbClr val="2A4A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6187380" y="9052471"/>
            <a:ext cx="152400" cy="114300"/>
          </a:xfrm>
          <a:prstGeom prst="rect">
            <a:avLst/>
          </a:prstGeom>
          <a:solidFill>
            <a:srgbClr val="4D7CA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6339780" y="9052471"/>
            <a:ext cx="152400" cy="114300"/>
          </a:xfrm>
          <a:prstGeom prst="rect">
            <a:avLst/>
          </a:prstGeom>
          <a:solidFill>
            <a:srgbClr val="7CAA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65671" y="8846790"/>
            <a:ext cx="152400" cy="114300"/>
          </a:xfrm>
          <a:prstGeom prst="rect">
            <a:avLst/>
          </a:prstGeom>
          <a:solidFill>
            <a:srgbClr val="7A26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518071" y="8846790"/>
            <a:ext cx="152400" cy="114300"/>
          </a:xfrm>
          <a:prstGeom prst="rect">
            <a:avLst/>
          </a:prstGeom>
          <a:solidFill>
            <a:srgbClr val="C73F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670471" y="8846790"/>
            <a:ext cx="152400" cy="114300"/>
          </a:xfrm>
          <a:prstGeom prst="rect">
            <a:avLst/>
          </a:prstGeom>
          <a:solidFill>
            <a:srgbClr val="C73F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822871" y="8846790"/>
            <a:ext cx="152400" cy="1143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51721" y="533400"/>
            <a:ext cx="1088529" cy="30480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1047750" y="3369915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6"/>
          <p:cNvSpPr/>
          <p:nvPr/>
        </p:nvSpPr>
        <p:spPr>
          <a:xfrm>
            <a:off x="1524000" y="3260378"/>
            <a:ext cx="12040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CONTACTO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1047750" y="3736628"/>
            <a:ext cx="17811750" cy="1257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600" b="1" kern="0" spc="-192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Gracias</a:t>
            </a:r>
            <a:r>
              <a:rPr lang="en-US" sz="9600" b="1" kern="0" spc="-192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9600" dirty="0"/>
          </a:p>
        </p:txBody>
      </p:sp>
      <p:sp>
        <p:nvSpPr>
          <p:cNvPr id="32" name="Text 28"/>
          <p:cNvSpPr/>
          <p:nvPr/>
        </p:nvSpPr>
        <p:spPr>
          <a:xfrm>
            <a:off x="1047750" y="5241578"/>
            <a:ext cx="7575125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75" dirty="0">
                <a:solidFill>
                  <a:srgbClr val="FFFFFF">
                    <a:alpha val="84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Quedamos a vuestra disposición para dar el siguiente paso cuando queráis.</a:t>
            </a:r>
            <a:endParaRPr lang="en-US" sz="2175" dirty="0"/>
          </a:p>
        </p:txBody>
      </p:sp>
      <p:sp>
        <p:nvSpPr>
          <p:cNvPr id="33" name="Shape 29"/>
          <p:cNvSpPr/>
          <p:nvPr/>
        </p:nvSpPr>
        <p:spPr>
          <a:xfrm>
            <a:off x="1047750" y="6575971"/>
            <a:ext cx="2302222" cy="1041053"/>
          </a:xfrm>
          <a:prstGeom prst="roundRect">
            <a:avLst>
              <a:gd name="adj" fmla="val 1097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0"/>
          <p:cNvSpPr/>
          <p:nvPr/>
        </p:nvSpPr>
        <p:spPr>
          <a:xfrm>
            <a:off x="1285875" y="6858298"/>
            <a:ext cx="476250" cy="476250"/>
          </a:xfrm>
          <a:prstGeom prst="ellipse">
            <a:avLst/>
          </a:prstGeom>
          <a:solidFill>
            <a:srgbClr val="855AC6">
              <a:alpha val="22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9700" y="6982123"/>
            <a:ext cx="228600" cy="2286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914525" y="6880771"/>
            <a:ext cx="1317054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entelgy.com</a:t>
            </a:r>
            <a:endParaRPr lang="en-US" sz="1725" dirty="0"/>
          </a:p>
        </p:txBody>
      </p:sp>
      <p:sp>
        <p:nvSpPr>
          <p:cNvPr id="37" name="Text 32"/>
          <p:cNvSpPr/>
          <p:nvPr/>
        </p:nvSpPr>
        <p:spPr>
          <a:xfrm>
            <a:off x="1914525" y="7121723"/>
            <a:ext cx="13170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corporativa</a:t>
            </a:r>
            <a:endParaRPr lang="en-US" sz="1275" dirty="0"/>
          </a:p>
        </p:txBody>
      </p:sp>
      <p:sp>
        <p:nvSpPr>
          <p:cNvPr id="38" name="Shape 33"/>
          <p:cNvSpPr/>
          <p:nvPr/>
        </p:nvSpPr>
        <p:spPr>
          <a:xfrm>
            <a:off x="3502372" y="6575971"/>
            <a:ext cx="3522018" cy="1041053"/>
          </a:xfrm>
          <a:prstGeom prst="roundRect">
            <a:avLst>
              <a:gd name="adj" fmla="val 1097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4"/>
          <p:cNvSpPr/>
          <p:nvPr/>
        </p:nvSpPr>
        <p:spPr>
          <a:xfrm>
            <a:off x="3740497" y="6858298"/>
            <a:ext cx="476250" cy="476250"/>
          </a:xfrm>
          <a:prstGeom prst="ellipse">
            <a:avLst/>
          </a:prstGeom>
          <a:solidFill>
            <a:srgbClr val="57BE8A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4322" y="6982123"/>
            <a:ext cx="228600" cy="22860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4369147" y="6756946"/>
            <a:ext cx="2658829" cy="279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Daniela Ongaro</a:t>
            </a:r>
            <a:endParaRPr lang="en-US" sz="1725" dirty="0"/>
          </a:p>
        </p:txBody>
      </p:sp>
      <p:sp>
        <p:nvSpPr>
          <p:cNvPr id="42" name="Text 36"/>
          <p:cNvSpPr/>
          <p:nvPr/>
        </p:nvSpPr>
        <p:spPr>
          <a:xfrm>
            <a:off x="4369147" y="6997898"/>
            <a:ext cx="26588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Responsable Data &amp; Analytics</a:t>
            </a:r>
            <a:endParaRPr lang="en-US" sz="1275" dirty="0"/>
          </a:p>
        </p:txBody>
      </p:sp>
      <p:sp>
        <p:nvSpPr>
          <p:cNvPr id="43" name="Text 37"/>
          <p:cNvSpPr/>
          <p:nvPr/>
        </p:nvSpPr>
        <p:spPr>
          <a:xfrm>
            <a:off x="4369147" y="7236023"/>
            <a:ext cx="265882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" dirty="0">
                <a:solidFill>
                  <a:srgbClr val="57BE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daniela.ongaro@entelgy.com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1047750" y="9915525"/>
            <a:ext cx="250084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FFFFFF">
                    <a:alpha val="4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DATA INTELLIGENCE</a:t>
            </a:r>
            <a:endParaRPr lang="en-US" sz="975" dirty="0"/>
          </a:p>
        </p:txBody>
      </p:sp>
      <p:sp>
        <p:nvSpPr>
          <p:cNvPr id="45" name="Text 39"/>
          <p:cNvSpPr/>
          <p:nvPr/>
        </p:nvSpPr>
        <p:spPr>
          <a:xfrm>
            <a:off x="15903327" y="9925050"/>
            <a:ext cx="14706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FFFFFF">
                    <a:alpha val="4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Documento confidencial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690" y="720030"/>
            <a:ext cx="171450" cy="123825"/>
          </a:xfrm>
          <a:prstGeom prst="rect">
            <a:avLst/>
          </a:prstGeom>
          <a:solidFill>
            <a:srgbClr val="3A25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218140" y="720030"/>
            <a:ext cx="171450" cy="123825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3533090" y="1645890"/>
            <a:ext cx="171450" cy="123825"/>
          </a:xfrm>
          <a:prstGeom prst="rect">
            <a:avLst/>
          </a:prstGeom>
          <a:solidFill>
            <a:srgbClr val="2A4A6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3704540" y="1645890"/>
            <a:ext cx="171450" cy="123825"/>
          </a:xfrm>
          <a:prstGeom prst="rect">
            <a:avLst/>
          </a:prstGeom>
          <a:solidFill>
            <a:srgbClr val="4D7CA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3875990" y="1645890"/>
            <a:ext cx="171450" cy="123825"/>
          </a:xfrm>
          <a:prstGeom prst="rect">
            <a:avLst/>
          </a:prstGeom>
          <a:solidFill>
            <a:srgbClr val="7CAAD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15910471" y="4526161"/>
            <a:ext cx="171450" cy="123825"/>
          </a:xfrm>
          <a:prstGeom prst="rect">
            <a:avLst/>
          </a:prstGeom>
          <a:solidFill>
            <a:srgbClr val="1F54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6081921" y="4526161"/>
            <a:ext cx="171450" cy="12382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16641961" y="7200900"/>
            <a:ext cx="171450" cy="123825"/>
          </a:xfrm>
          <a:prstGeom prst="rect">
            <a:avLst/>
          </a:prstGeom>
          <a:solidFill>
            <a:srgbClr val="5E1D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16813411" y="7200900"/>
            <a:ext cx="171450" cy="123825"/>
          </a:xfrm>
          <a:prstGeom prst="rect">
            <a:avLst/>
          </a:prstGeom>
          <a:solidFill>
            <a:srgbClr val="9E335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6984861" y="7200900"/>
            <a:ext cx="171450" cy="123825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2801600" y="8846790"/>
            <a:ext cx="171450" cy="123825"/>
          </a:xfrm>
          <a:prstGeom prst="rect">
            <a:avLst/>
          </a:prstGeom>
          <a:solidFill>
            <a:srgbClr val="7A26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2973050" y="8846790"/>
            <a:ext cx="171450" cy="123825"/>
          </a:xfrm>
          <a:prstGeom prst="rect">
            <a:avLst/>
          </a:prstGeom>
          <a:solidFill>
            <a:srgbClr val="C73F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3144500" y="8846790"/>
            <a:ext cx="171450" cy="12382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9509671" y="9258300"/>
            <a:ext cx="171450" cy="123825"/>
          </a:xfrm>
          <a:prstGeom prst="rect">
            <a:avLst/>
          </a:prstGeom>
          <a:solidFill>
            <a:srgbClr val="1F543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9681121" y="9258300"/>
            <a:ext cx="171450" cy="12382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736" y="533400"/>
            <a:ext cx="1020514" cy="28575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1047750" y="4110038"/>
            <a:ext cx="342900" cy="28575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1524000" y="4000500"/>
            <a:ext cx="9221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FE5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ANEXOS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47750" y="4572000"/>
            <a:ext cx="2882295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19800" b="1" kern="0" spc="-594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06</a:t>
            </a:r>
            <a:endParaRPr lang="en-US" sz="19800" dirty="0"/>
          </a:p>
        </p:txBody>
      </p:sp>
      <p:sp>
        <p:nvSpPr>
          <p:cNvPr id="21" name="Shape 18"/>
          <p:cNvSpPr/>
          <p:nvPr/>
        </p:nvSpPr>
        <p:spPr>
          <a:xfrm>
            <a:off x="4106168" y="4572000"/>
            <a:ext cx="19050" cy="228600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4563368" y="4572000"/>
            <a:ext cx="542128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900" b="1" kern="0" spc="-138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Casos de uso</a:t>
            </a:r>
            <a:endParaRPr lang="en-US" sz="6900" dirty="0"/>
          </a:p>
        </p:txBody>
      </p:sp>
      <p:sp>
        <p:nvSpPr>
          <p:cNvPr id="23" name="Text 20"/>
          <p:cNvSpPr/>
          <p:nvPr/>
        </p:nvSpPr>
        <p:spPr>
          <a:xfrm>
            <a:off x="4563368" y="5657850"/>
            <a:ext cx="489771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250" dirty="0">
                <a:solidFill>
                  <a:srgbClr val="FFFFFF">
                    <a:alpha val="78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Seis proyectos de Data Intelligence, contados para un CIO: primero el resultado, después el método.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047750" y="9915525"/>
            <a:ext cx="324180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FFFFFF">
                    <a:alpha val="4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ENTELGY · DATA INTELLIGENCE · ANEXO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15903327" y="9925050"/>
            <a:ext cx="14706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FFFFFF">
                    <a:alpha val="42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Documento confidencial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6096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338971" y="533400"/>
            <a:ext cx="1901279" cy="36195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529471" y="628650"/>
            <a:ext cx="15964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DE ÉXITO 1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2908905" y="1009650"/>
            <a:ext cx="4331345" cy="657225"/>
          </a:xfrm>
          <a:prstGeom prst="roundRect">
            <a:avLst>
              <a:gd name="adj" fmla="val 14493"/>
            </a:avLst>
          </a:prstGeom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2918430" y="1019175"/>
            <a:ext cx="965150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3108930" y="1123950"/>
            <a:ext cx="6603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108930" y="1323975"/>
            <a:ext cx="660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CNMV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3883580" y="1019175"/>
            <a:ext cx="2347466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3883580" y="1019175"/>
            <a:ext cx="9525" cy="63817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083605" y="1123950"/>
            <a:ext cx="215263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083605" y="1323975"/>
            <a:ext cx="21526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Regulador de mercados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6231046" y="1019175"/>
            <a:ext cx="999679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6231046" y="1019175"/>
            <a:ext cx="9525" cy="63817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6431071" y="1123950"/>
            <a:ext cx="6853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PAÍS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431071" y="1323975"/>
            <a:ext cx="6853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España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4912727" y="1914525"/>
            <a:ext cx="2327523" cy="323850"/>
          </a:xfrm>
          <a:prstGeom prst="roundRect">
            <a:avLst>
              <a:gd name="adj" fmla="val 50000"/>
            </a:avLst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65127" y="2000250"/>
            <a:ext cx="152400" cy="1524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303252" y="1990725"/>
            <a:ext cx="18607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5E3D9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Adjudicado frente a las Big 4</a:t>
            </a:r>
            <a:endParaRPr lang="en-US" sz="1125" dirty="0"/>
          </a:p>
        </p:txBody>
      </p:sp>
      <p:sp>
        <p:nvSpPr>
          <p:cNvPr id="20" name="Shape 16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7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8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19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0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1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2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3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4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5"/>
          <p:cNvSpPr/>
          <p:nvPr/>
        </p:nvSpPr>
        <p:spPr>
          <a:xfrm>
            <a:off x="182761" y="9044379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6"/>
          <p:cNvSpPr/>
          <p:nvPr/>
        </p:nvSpPr>
        <p:spPr>
          <a:xfrm>
            <a:off x="392311" y="9044379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7"/>
          <p:cNvSpPr/>
          <p:nvPr/>
        </p:nvSpPr>
        <p:spPr>
          <a:xfrm>
            <a:off x="601861" y="9044379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Shape 28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Shape 29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4" name="Text 30"/>
          <p:cNvSpPr/>
          <p:nvPr/>
        </p:nvSpPr>
        <p:spPr>
          <a:xfrm>
            <a:off x="1047750" y="2265181"/>
            <a:ext cx="83615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kern="0" spc="18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GOBIERNO DEL DATO · SUPTECH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1047750" y="2562395"/>
            <a:ext cx="4369463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900" b="1" kern="0" spc="-78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Trazabilidad completa del dato.</a:t>
            </a:r>
            <a:endParaRPr lang="en-US" sz="3900" dirty="0"/>
          </a:p>
        </p:txBody>
      </p:sp>
      <p:sp>
        <p:nvSpPr>
          <p:cNvPr id="36" name="Text 32"/>
          <p:cNvSpPr/>
          <p:nvPr/>
        </p:nvSpPr>
        <p:spPr>
          <a:xfrm>
            <a:off x="1047749" y="3724445"/>
            <a:ext cx="4155429" cy="988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base gobernada sobre la que la supervisión se apoya en modelos de IA.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1047750" y="4829176"/>
            <a:ext cx="8361536" cy="243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100" kern="0" spc="137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PROBLEMA A RESOLVER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1047750" y="5094110"/>
            <a:ext cx="28575" cy="1135856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5"/>
          <p:cNvSpPr/>
          <p:nvPr/>
        </p:nvSpPr>
        <p:spPr>
          <a:xfrm>
            <a:off x="1266825" y="5094110"/>
            <a:ext cx="6372056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supervisor financiero que evoluciona hacia una </a:t>
            </a:r>
            <a:r>
              <a:rPr lang="en-US" sz="15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supervisión proactiva (SupTech) </a:t>
            </a:r>
            <a:r>
              <a:rPr lang="en-US" sz="15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necesita datos confiables, gobernados y trazables como base para modelos que detecten anomalías en los mercados.</a:t>
            </a:r>
            <a:endParaRPr lang="en-US" sz="1575" dirty="0"/>
          </a:p>
        </p:txBody>
      </p:sp>
      <p:sp>
        <p:nvSpPr>
          <p:cNvPr id="40" name="Text 36"/>
          <p:cNvSpPr/>
          <p:nvPr/>
        </p:nvSpPr>
        <p:spPr>
          <a:xfrm>
            <a:off x="1047750" y="6542352"/>
            <a:ext cx="83615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100" kern="0" spc="137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LO RESOLVIMOS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1047750" y="6772891"/>
            <a:ext cx="266700" cy="26670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38"/>
          <p:cNvSpPr/>
          <p:nvPr/>
        </p:nvSpPr>
        <p:spPr>
          <a:xfrm>
            <a:off x="1009650" y="6772891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125" dirty="0"/>
          </a:p>
        </p:txBody>
      </p:sp>
      <p:sp>
        <p:nvSpPr>
          <p:cNvPr id="43" name="Text 39"/>
          <p:cNvSpPr/>
          <p:nvPr/>
        </p:nvSpPr>
        <p:spPr>
          <a:xfrm>
            <a:off x="1457325" y="6763366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Diseñamos el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de Gobierno del Dato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(DCAM/DAMA): principios, dominios, procesos, indicadores y RACI operativo.</a:t>
            </a:r>
            <a:endParaRPr lang="en-US" sz="1425" dirty="0"/>
          </a:p>
        </p:txBody>
      </p:sp>
      <p:sp>
        <p:nvSpPr>
          <p:cNvPr id="44" name="Shape 40"/>
          <p:cNvSpPr/>
          <p:nvPr/>
        </p:nvSpPr>
        <p:spPr>
          <a:xfrm>
            <a:off x="1047750" y="7405709"/>
            <a:ext cx="266700" cy="26670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1"/>
          <p:cNvSpPr/>
          <p:nvPr/>
        </p:nvSpPr>
        <p:spPr>
          <a:xfrm>
            <a:off x="1009650" y="7405709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125" dirty="0"/>
          </a:p>
        </p:txBody>
      </p:sp>
      <p:sp>
        <p:nvSpPr>
          <p:cNvPr id="46" name="Text 42"/>
          <p:cNvSpPr/>
          <p:nvPr/>
        </p:nvSpPr>
        <p:spPr>
          <a:xfrm>
            <a:off x="1457325" y="7396184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Implantamos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Purview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catálogo, linaje, clasificación automática y control de acceso.</a:t>
            </a:r>
            <a:endParaRPr lang="en-US" sz="1425" dirty="0"/>
          </a:p>
        </p:txBody>
      </p:sp>
      <p:sp>
        <p:nvSpPr>
          <p:cNvPr id="47" name="Shape 43"/>
          <p:cNvSpPr/>
          <p:nvPr/>
        </p:nvSpPr>
        <p:spPr>
          <a:xfrm>
            <a:off x="1047750" y="8038526"/>
            <a:ext cx="266700" cy="266700"/>
          </a:xfrm>
          <a:prstGeom prst="ellipse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44"/>
          <p:cNvSpPr/>
          <p:nvPr/>
        </p:nvSpPr>
        <p:spPr>
          <a:xfrm>
            <a:off x="1009650" y="8038526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125" dirty="0"/>
          </a:p>
        </p:txBody>
      </p:sp>
      <p:sp>
        <p:nvSpPr>
          <p:cNvPr id="49" name="Text 45"/>
          <p:cNvSpPr/>
          <p:nvPr/>
        </p:nvSpPr>
        <p:spPr>
          <a:xfrm>
            <a:off x="1457325" y="8029001"/>
            <a:ext cx="7407576" cy="1037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Inventariamos y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priorizamos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activos críticos por valor de negocio y riesgo supervisor, y trazamos una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hoja de ruta escalable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consolidar el gobierno, integrar nuevas fuentes de datos y preparar la evolución hacia casos de IA avanzados y análisis supervisor.</a:t>
            </a:r>
            <a:endParaRPr lang="en-US" sz="1425" dirty="0"/>
          </a:p>
        </p:txBody>
      </p:sp>
      <p:sp>
        <p:nvSpPr>
          <p:cNvPr id="50" name="Shape 46"/>
          <p:cNvSpPr/>
          <p:nvPr/>
        </p:nvSpPr>
        <p:spPr>
          <a:xfrm>
            <a:off x="9182546" y="2828925"/>
            <a:ext cx="8057704" cy="3495675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209550" dist="76200" dir="5400000" algn="bl" rotWithShape="0">
              <a:srgbClr val="041C2C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Shape 47"/>
          <p:cNvSpPr/>
          <p:nvPr/>
        </p:nvSpPr>
        <p:spPr>
          <a:xfrm>
            <a:off x="9192071" y="3295650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Shape 48"/>
          <p:cNvSpPr/>
          <p:nvPr/>
        </p:nvSpPr>
        <p:spPr>
          <a:xfrm>
            <a:off x="9401621" y="3016096"/>
            <a:ext cx="85725" cy="85725"/>
          </a:xfrm>
          <a:prstGeom prst="ellipse">
            <a:avLst/>
          </a:prstGeom>
          <a:solidFill>
            <a:srgbClr val="57BE8A"/>
          </a:solidFill>
          <a:ln/>
          <a:effectLst>
            <a:outerShdw blurRad="101600" dist="50800" dir="16200000" algn="bl" rotWithShape="0">
              <a:srgbClr val="57BE8A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3" name="Text 49"/>
          <p:cNvSpPr/>
          <p:nvPr/>
        </p:nvSpPr>
        <p:spPr>
          <a:xfrm>
            <a:off x="9592121" y="2971800"/>
            <a:ext cx="225839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Catálogo y linaje · MS Purview</a:t>
            </a:r>
            <a:endParaRPr lang="en-US" sz="1275" dirty="0"/>
          </a:p>
        </p:txBody>
      </p:sp>
      <p:sp>
        <p:nvSpPr>
          <p:cNvPr id="54" name="Text 50"/>
          <p:cNvSpPr/>
          <p:nvPr/>
        </p:nvSpPr>
        <p:spPr>
          <a:xfrm>
            <a:off x="15774293" y="3000375"/>
            <a:ext cx="13715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VISTA ILUSTRATIVA</a:t>
            </a:r>
            <a:endParaRPr lang="en-US" sz="825" dirty="0"/>
          </a:p>
        </p:txBody>
      </p:sp>
      <p:sp>
        <p:nvSpPr>
          <p:cNvPr id="55" name="Shape 51"/>
          <p:cNvSpPr/>
          <p:nvPr/>
        </p:nvSpPr>
        <p:spPr>
          <a:xfrm>
            <a:off x="9192071" y="4029075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2"/>
          <p:cNvSpPr/>
          <p:nvPr/>
        </p:nvSpPr>
        <p:spPr>
          <a:xfrm>
            <a:off x="9401621" y="3448050"/>
            <a:ext cx="248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DCAM/DAMA</a:t>
            </a:r>
            <a:endParaRPr lang="en-US" sz="1950" dirty="0"/>
          </a:p>
        </p:txBody>
      </p:sp>
      <p:sp>
        <p:nvSpPr>
          <p:cNvPr id="57" name="Text 53"/>
          <p:cNvSpPr/>
          <p:nvPr/>
        </p:nvSpPr>
        <p:spPr>
          <a:xfrm>
            <a:off x="9401621" y="3752850"/>
            <a:ext cx="248644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MARCO</a:t>
            </a:r>
            <a:endParaRPr lang="en-US" sz="825" dirty="0"/>
          </a:p>
        </p:txBody>
      </p:sp>
      <p:sp>
        <p:nvSpPr>
          <p:cNvPr id="58" name="Shape 54"/>
          <p:cNvSpPr/>
          <p:nvPr/>
        </p:nvSpPr>
        <p:spPr>
          <a:xfrm>
            <a:off x="11871573" y="3305175"/>
            <a:ext cx="9525" cy="72390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Text 55"/>
          <p:cNvSpPr/>
          <p:nvPr/>
        </p:nvSpPr>
        <p:spPr>
          <a:xfrm>
            <a:off x="12090648" y="3448050"/>
            <a:ext cx="24759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Purview</a:t>
            </a:r>
            <a:endParaRPr lang="en-US" sz="1950" dirty="0"/>
          </a:p>
        </p:txBody>
      </p:sp>
      <p:sp>
        <p:nvSpPr>
          <p:cNvPr id="60" name="Text 56"/>
          <p:cNvSpPr/>
          <p:nvPr/>
        </p:nvSpPr>
        <p:spPr>
          <a:xfrm>
            <a:off x="12090648" y="3752850"/>
            <a:ext cx="24759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PLATAFORMA</a:t>
            </a:r>
            <a:endParaRPr lang="en-US" sz="825" dirty="0"/>
          </a:p>
        </p:txBody>
      </p:sp>
      <p:sp>
        <p:nvSpPr>
          <p:cNvPr id="61" name="Shape 57"/>
          <p:cNvSpPr/>
          <p:nvPr/>
        </p:nvSpPr>
        <p:spPr>
          <a:xfrm>
            <a:off x="14551075" y="3305175"/>
            <a:ext cx="9525" cy="72390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Text 58"/>
          <p:cNvSpPr/>
          <p:nvPr/>
        </p:nvSpPr>
        <p:spPr>
          <a:xfrm>
            <a:off x="14770150" y="3448050"/>
            <a:ext cx="24761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RACI</a:t>
            </a:r>
            <a:endParaRPr lang="en-US" sz="1950" dirty="0"/>
          </a:p>
        </p:txBody>
      </p:sp>
      <p:sp>
        <p:nvSpPr>
          <p:cNvPr id="63" name="Text 59"/>
          <p:cNvSpPr/>
          <p:nvPr/>
        </p:nvSpPr>
        <p:spPr>
          <a:xfrm>
            <a:off x="14770150" y="3752850"/>
            <a:ext cx="247612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OPERATIVO</a:t>
            </a:r>
            <a:endParaRPr lang="en-US" sz="825" dirty="0"/>
          </a:p>
        </p:txBody>
      </p:sp>
      <p:sp>
        <p:nvSpPr>
          <p:cNvPr id="64" name="Text 60"/>
          <p:cNvSpPr/>
          <p:nvPr/>
        </p:nvSpPr>
        <p:spPr>
          <a:xfrm>
            <a:off x="9401621" y="4191000"/>
            <a:ext cx="44907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ACTIVOS CRÍTICOS · PRIORIZACIÓN</a:t>
            </a:r>
            <a:endParaRPr lang="en-US" sz="825" dirty="0"/>
          </a:p>
        </p:txBody>
      </p:sp>
      <p:sp>
        <p:nvSpPr>
          <p:cNvPr id="65" name="Text 61"/>
          <p:cNvSpPr/>
          <p:nvPr/>
        </p:nvSpPr>
        <p:spPr>
          <a:xfrm>
            <a:off x="9401621" y="4495800"/>
            <a:ext cx="194243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Supervisión de mercados</a:t>
            </a:r>
            <a:endParaRPr lang="en-US" sz="975" dirty="0"/>
          </a:p>
        </p:txBody>
      </p:sp>
      <p:sp>
        <p:nvSpPr>
          <p:cNvPr id="66" name="Shape 62"/>
          <p:cNvSpPr/>
          <p:nvPr/>
        </p:nvSpPr>
        <p:spPr>
          <a:xfrm>
            <a:off x="11262717" y="4500563"/>
            <a:ext cx="391716" cy="152400"/>
          </a:xfrm>
          <a:prstGeom prst="roundRect">
            <a:avLst>
              <a:gd name="adj" fmla="val 25000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7" name="Text 63"/>
          <p:cNvSpPr/>
          <p:nvPr/>
        </p:nvSpPr>
        <p:spPr>
          <a:xfrm>
            <a:off x="11338917" y="4519613"/>
            <a:ext cx="31551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0" dirty="0">
                <a:solidFill>
                  <a:srgbClr val="C73F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ALTA</a:t>
            </a:r>
            <a:endParaRPr lang="en-US" sz="750" dirty="0"/>
          </a:p>
        </p:txBody>
      </p:sp>
      <p:sp>
        <p:nvSpPr>
          <p:cNvPr id="68" name="Text 64"/>
          <p:cNvSpPr/>
          <p:nvPr/>
        </p:nvSpPr>
        <p:spPr>
          <a:xfrm>
            <a:off x="13072616" y="4500563"/>
            <a:ext cx="48771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riesgo</a:t>
            </a:r>
            <a:endParaRPr lang="en-US" sz="900" dirty="0"/>
          </a:p>
        </p:txBody>
      </p:sp>
      <p:sp>
        <p:nvSpPr>
          <p:cNvPr id="69" name="Text 65"/>
          <p:cNvSpPr/>
          <p:nvPr/>
        </p:nvSpPr>
        <p:spPr>
          <a:xfrm>
            <a:off x="9401621" y="4772025"/>
            <a:ext cx="168900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Entidades y emisores</a:t>
            </a:r>
            <a:endParaRPr lang="en-US" sz="975" dirty="0"/>
          </a:p>
        </p:txBody>
      </p:sp>
      <p:sp>
        <p:nvSpPr>
          <p:cNvPr id="70" name="Shape 66"/>
          <p:cNvSpPr/>
          <p:nvPr/>
        </p:nvSpPr>
        <p:spPr>
          <a:xfrm>
            <a:off x="11032331" y="4776788"/>
            <a:ext cx="391716" cy="152400"/>
          </a:xfrm>
          <a:prstGeom prst="roundRect">
            <a:avLst>
              <a:gd name="adj" fmla="val 25000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Text 67"/>
          <p:cNvSpPr/>
          <p:nvPr/>
        </p:nvSpPr>
        <p:spPr>
          <a:xfrm>
            <a:off x="11108531" y="4795837"/>
            <a:ext cx="31551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0" dirty="0">
                <a:solidFill>
                  <a:srgbClr val="C73F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ALTA</a:t>
            </a:r>
            <a:endParaRPr lang="en-US" sz="750" dirty="0"/>
          </a:p>
        </p:txBody>
      </p:sp>
      <p:sp>
        <p:nvSpPr>
          <p:cNvPr id="72" name="Text 68"/>
          <p:cNvSpPr/>
          <p:nvPr/>
        </p:nvSpPr>
        <p:spPr>
          <a:xfrm>
            <a:off x="13004006" y="4776788"/>
            <a:ext cx="55632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negocio</a:t>
            </a:r>
            <a:endParaRPr lang="en-US" sz="900" dirty="0"/>
          </a:p>
        </p:txBody>
      </p:sp>
      <p:sp>
        <p:nvSpPr>
          <p:cNvPr id="73" name="Text 69"/>
          <p:cNvSpPr/>
          <p:nvPr/>
        </p:nvSpPr>
        <p:spPr>
          <a:xfrm>
            <a:off x="9401621" y="5040158"/>
            <a:ext cx="107424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Transacciones</a:t>
            </a:r>
            <a:endParaRPr lang="en-US" sz="975" dirty="0"/>
          </a:p>
        </p:txBody>
      </p:sp>
      <p:sp>
        <p:nvSpPr>
          <p:cNvPr id="74" name="Shape 70"/>
          <p:cNvSpPr/>
          <p:nvPr/>
        </p:nvSpPr>
        <p:spPr>
          <a:xfrm>
            <a:off x="10494913" y="5053013"/>
            <a:ext cx="443061" cy="152400"/>
          </a:xfrm>
          <a:prstGeom prst="roundRect">
            <a:avLst>
              <a:gd name="adj" fmla="val 25000"/>
            </a:avLst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71"/>
          <p:cNvSpPr/>
          <p:nvPr/>
        </p:nvSpPr>
        <p:spPr>
          <a:xfrm>
            <a:off x="10571113" y="5072063"/>
            <a:ext cx="36686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0" dirty="0">
                <a:solidFill>
                  <a:srgbClr val="5E3D9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MEDIA</a:t>
            </a:r>
            <a:endParaRPr lang="en-US" sz="750" dirty="0"/>
          </a:p>
        </p:txBody>
      </p:sp>
      <p:sp>
        <p:nvSpPr>
          <p:cNvPr id="76" name="Text 72"/>
          <p:cNvSpPr/>
          <p:nvPr/>
        </p:nvSpPr>
        <p:spPr>
          <a:xfrm>
            <a:off x="13004006" y="5053013"/>
            <a:ext cx="55632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 IA</a:t>
            </a:r>
            <a:endParaRPr lang="en-US" sz="900" dirty="0"/>
          </a:p>
        </p:txBody>
      </p:sp>
      <p:sp>
        <p:nvSpPr>
          <p:cNvPr id="77" name="Text 73"/>
          <p:cNvSpPr/>
          <p:nvPr/>
        </p:nvSpPr>
        <p:spPr>
          <a:xfrm>
            <a:off x="9401621" y="5324475"/>
            <a:ext cx="177348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Referencia · maestros</a:t>
            </a:r>
            <a:endParaRPr lang="en-US" sz="975" dirty="0"/>
          </a:p>
        </p:txBody>
      </p:sp>
      <p:sp>
        <p:nvSpPr>
          <p:cNvPr id="78" name="Shape 74"/>
          <p:cNvSpPr/>
          <p:nvPr/>
        </p:nvSpPr>
        <p:spPr>
          <a:xfrm>
            <a:off x="11109127" y="5329238"/>
            <a:ext cx="395139" cy="152400"/>
          </a:xfrm>
          <a:prstGeom prst="roundRect">
            <a:avLst>
              <a:gd name="adj" fmla="val 25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9" name="Text 75"/>
          <p:cNvSpPr/>
          <p:nvPr/>
        </p:nvSpPr>
        <p:spPr>
          <a:xfrm>
            <a:off x="11185327" y="5348288"/>
            <a:ext cx="31893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0" dirty="0">
                <a:solidFill>
                  <a:srgbClr val="4A627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BASE</a:t>
            </a:r>
            <a:endParaRPr lang="en-US" sz="750" dirty="0"/>
          </a:p>
        </p:txBody>
      </p:sp>
      <p:sp>
        <p:nvSpPr>
          <p:cNvPr id="80" name="Text 76"/>
          <p:cNvSpPr/>
          <p:nvPr/>
        </p:nvSpPr>
        <p:spPr>
          <a:xfrm>
            <a:off x="12866787" y="5329238"/>
            <a:ext cx="693539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gobernado</a:t>
            </a:r>
            <a:endParaRPr lang="en-US" sz="900" dirty="0"/>
          </a:p>
        </p:txBody>
      </p:sp>
      <p:sp>
        <p:nvSpPr>
          <p:cNvPr id="81" name="Shape 77"/>
          <p:cNvSpPr/>
          <p:nvPr/>
        </p:nvSpPr>
        <p:spPr>
          <a:xfrm>
            <a:off x="13693676" y="4038600"/>
            <a:ext cx="9525" cy="179070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2" name="Text 78"/>
          <p:cNvSpPr/>
          <p:nvPr/>
        </p:nvSpPr>
        <p:spPr>
          <a:xfrm>
            <a:off x="13912751" y="4191000"/>
            <a:ext cx="341926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ESTADO DE GOBIERNO</a:t>
            </a:r>
            <a:endParaRPr lang="en-US" sz="825" dirty="0"/>
          </a:p>
        </p:txBody>
      </p:sp>
      <p:sp>
        <p:nvSpPr>
          <p:cNvPr id="83" name="Shape 79"/>
          <p:cNvSpPr/>
          <p:nvPr/>
        </p:nvSpPr>
        <p:spPr>
          <a:xfrm>
            <a:off x="13912751" y="4462463"/>
            <a:ext cx="123825" cy="123825"/>
          </a:xfrm>
          <a:prstGeom prst="ellipse">
            <a:avLst/>
          </a:prstGeom>
          <a:solidFill>
            <a:srgbClr val="57BE8A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Text 80"/>
          <p:cNvSpPr/>
          <p:nvPr/>
        </p:nvSpPr>
        <p:spPr>
          <a:xfrm>
            <a:off x="14141351" y="4438650"/>
            <a:ext cx="8643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Inventariado</a:t>
            </a:r>
            <a:endParaRPr lang="en-US" sz="1125" dirty="0"/>
          </a:p>
        </p:txBody>
      </p:sp>
      <p:sp>
        <p:nvSpPr>
          <p:cNvPr id="85" name="Shape 81"/>
          <p:cNvSpPr/>
          <p:nvPr/>
        </p:nvSpPr>
        <p:spPr>
          <a:xfrm>
            <a:off x="13912751" y="4729163"/>
            <a:ext cx="123825" cy="123825"/>
          </a:xfrm>
          <a:prstGeom prst="ellipse">
            <a:avLst/>
          </a:prstGeom>
          <a:solidFill>
            <a:srgbClr val="57BE8A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6" name="Text 82"/>
          <p:cNvSpPr/>
          <p:nvPr/>
        </p:nvSpPr>
        <p:spPr>
          <a:xfrm>
            <a:off x="14141351" y="4705350"/>
            <a:ext cx="8076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Catalogado</a:t>
            </a:r>
            <a:endParaRPr lang="en-US" sz="1125" dirty="0"/>
          </a:p>
        </p:txBody>
      </p:sp>
      <p:sp>
        <p:nvSpPr>
          <p:cNvPr id="87" name="Shape 83"/>
          <p:cNvSpPr/>
          <p:nvPr/>
        </p:nvSpPr>
        <p:spPr>
          <a:xfrm>
            <a:off x="13912751" y="4995863"/>
            <a:ext cx="123825" cy="123825"/>
          </a:xfrm>
          <a:prstGeom prst="ellipse">
            <a:avLst/>
          </a:prstGeom>
          <a:solidFill>
            <a:srgbClr val="57BE8A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8" name="Text 84"/>
          <p:cNvSpPr/>
          <p:nvPr/>
        </p:nvSpPr>
        <p:spPr>
          <a:xfrm>
            <a:off x="14141351" y="4972050"/>
            <a:ext cx="9706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Linaje trazado</a:t>
            </a:r>
            <a:endParaRPr lang="en-US" sz="1125" dirty="0"/>
          </a:p>
        </p:txBody>
      </p:sp>
      <p:sp>
        <p:nvSpPr>
          <p:cNvPr id="89" name="Shape 85"/>
          <p:cNvSpPr/>
          <p:nvPr/>
        </p:nvSpPr>
        <p:spPr>
          <a:xfrm>
            <a:off x="13912751" y="5262563"/>
            <a:ext cx="123825" cy="123825"/>
          </a:xfrm>
          <a:prstGeom prst="ellipse">
            <a:avLst/>
          </a:prstGeom>
          <a:solidFill>
            <a:srgbClr val="855AC6"/>
          </a:solidFill>
          <a:ln w="19050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0" name="Text 86"/>
          <p:cNvSpPr/>
          <p:nvPr/>
        </p:nvSpPr>
        <p:spPr>
          <a:xfrm>
            <a:off x="14141351" y="5238750"/>
            <a:ext cx="8950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Clasificación</a:t>
            </a:r>
            <a:endParaRPr lang="en-US" sz="1125" dirty="0"/>
          </a:p>
        </p:txBody>
      </p:sp>
      <p:sp>
        <p:nvSpPr>
          <p:cNvPr id="91" name="Shape 87"/>
          <p:cNvSpPr/>
          <p:nvPr/>
        </p:nvSpPr>
        <p:spPr>
          <a:xfrm>
            <a:off x="13912751" y="5529263"/>
            <a:ext cx="123825" cy="123825"/>
          </a:xfrm>
          <a:prstGeom prst="ellipse">
            <a:avLst/>
          </a:prstGeom>
          <a:ln w="19050">
            <a:solidFill>
              <a:srgbClr val="9DAE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2" name="Text 88"/>
          <p:cNvSpPr/>
          <p:nvPr/>
        </p:nvSpPr>
        <p:spPr>
          <a:xfrm>
            <a:off x="14141351" y="5505450"/>
            <a:ext cx="12251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de acceso</a:t>
            </a:r>
            <a:endParaRPr lang="en-US" sz="1125" dirty="0"/>
          </a:p>
        </p:txBody>
      </p:sp>
      <p:sp>
        <p:nvSpPr>
          <p:cNvPr id="93" name="Shape 89"/>
          <p:cNvSpPr/>
          <p:nvPr/>
        </p:nvSpPr>
        <p:spPr>
          <a:xfrm>
            <a:off x="9192071" y="5829300"/>
            <a:ext cx="8038654" cy="485775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4" name="Shape 90"/>
          <p:cNvSpPr/>
          <p:nvPr/>
        </p:nvSpPr>
        <p:spPr>
          <a:xfrm>
            <a:off x="9192071" y="5829300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5" name="Shape 91"/>
          <p:cNvSpPr/>
          <p:nvPr/>
        </p:nvSpPr>
        <p:spPr>
          <a:xfrm>
            <a:off x="9401621" y="5945033"/>
            <a:ext cx="689670" cy="247650"/>
          </a:xfrm>
          <a:prstGeom prst="roundRect">
            <a:avLst>
              <a:gd name="adj" fmla="val 23077"/>
            </a:avLst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6" name="Text 92"/>
          <p:cNvSpPr/>
          <p:nvPr/>
        </p:nvSpPr>
        <p:spPr>
          <a:xfrm>
            <a:off x="9506396" y="5992658"/>
            <a:ext cx="55632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Purview</a:t>
            </a:r>
            <a:endParaRPr lang="en-US" sz="900" dirty="0"/>
          </a:p>
        </p:txBody>
      </p:sp>
      <p:sp>
        <p:nvSpPr>
          <p:cNvPr id="97" name="Text 93"/>
          <p:cNvSpPr/>
          <p:nvPr/>
        </p:nvSpPr>
        <p:spPr>
          <a:xfrm>
            <a:off x="10205591" y="5990332"/>
            <a:ext cx="3917112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Clasificación automática </a:t>
            </a:r>
            <a:r>
              <a:rPr lang="en-US" sz="10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aplicada sobre los activos críticos.</a:t>
            </a:r>
            <a:endParaRPr lang="en-US" sz="1050" dirty="0"/>
          </a:p>
        </p:txBody>
      </p:sp>
      <p:sp>
        <p:nvSpPr>
          <p:cNvPr id="98" name="Text 94"/>
          <p:cNvSpPr/>
          <p:nvPr/>
        </p:nvSpPr>
        <p:spPr>
          <a:xfrm>
            <a:off x="9182546" y="6724650"/>
            <a:ext cx="886347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27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BENEFICIO PARA CNMV</a:t>
            </a:r>
            <a:endParaRPr lang="en-US" sz="975" dirty="0"/>
          </a:p>
        </p:txBody>
      </p:sp>
      <p:sp>
        <p:nvSpPr>
          <p:cNvPr id="99" name="Shape 95"/>
          <p:cNvSpPr/>
          <p:nvPr/>
        </p:nvSpPr>
        <p:spPr>
          <a:xfrm>
            <a:off x="9182546" y="7010400"/>
            <a:ext cx="2584252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0" name="Shape 96"/>
          <p:cNvSpPr/>
          <p:nvPr/>
        </p:nvSpPr>
        <p:spPr>
          <a:xfrm>
            <a:off x="9182546" y="8063061"/>
            <a:ext cx="2584252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Shape 97"/>
          <p:cNvSpPr/>
          <p:nvPr/>
        </p:nvSpPr>
        <p:spPr>
          <a:xfrm>
            <a:off x="9182546" y="7010400"/>
            <a:ext cx="2584252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2" name="Shape 98"/>
          <p:cNvSpPr/>
          <p:nvPr/>
        </p:nvSpPr>
        <p:spPr>
          <a:xfrm>
            <a:off x="9182546" y="7002308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3" name="Shape 99"/>
          <p:cNvSpPr/>
          <p:nvPr/>
        </p:nvSpPr>
        <p:spPr>
          <a:xfrm>
            <a:off x="11757273" y="701040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ext 100"/>
          <p:cNvSpPr/>
          <p:nvPr/>
        </p:nvSpPr>
        <p:spPr>
          <a:xfrm>
            <a:off x="9382571" y="7210425"/>
            <a:ext cx="2402622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Datos confiables</a:t>
            </a:r>
            <a:endParaRPr lang="en-US" sz="1575" dirty="0"/>
          </a:p>
        </p:txBody>
      </p:sp>
      <p:sp>
        <p:nvSpPr>
          <p:cNvPr id="105" name="Text 101"/>
          <p:cNvSpPr/>
          <p:nvPr/>
        </p:nvSpPr>
        <p:spPr>
          <a:xfrm>
            <a:off x="9382571" y="7520136"/>
            <a:ext cx="22604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confiabilidad en los datos críticos.</a:t>
            </a:r>
            <a:endParaRPr lang="en-US" sz="1125" dirty="0"/>
          </a:p>
        </p:txBody>
      </p:sp>
      <p:sp>
        <p:nvSpPr>
          <p:cNvPr id="106" name="Shape 102"/>
          <p:cNvSpPr/>
          <p:nvPr/>
        </p:nvSpPr>
        <p:spPr>
          <a:xfrm>
            <a:off x="11919198" y="7010400"/>
            <a:ext cx="2584252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7" name="Shape 103"/>
          <p:cNvSpPr/>
          <p:nvPr/>
        </p:nvSpPr>
        <p:spPr>
          <a:xfrm>
            <a:off x="11919198" y="8063061"/>
            <a:ext cx="2584252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8" name="Shape 104"/>
          <p:cNvSpPr/>
          <p:nvPr/>
        </p:nvSpPr>
        <p:spPr>
          <a:xfrm>
            <a:off x="11919198" y="7010400"/>
            <a:ext cx="2584252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9" name="Shape 105"/>
          <p:cNvSpPr/>
          <p:nvPr/>
        </p:nvSpPr>
        <p:spPr>
          <a:xfrm>
            <a:off x="11919198" y="701040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Shape 106"/>
          <p:cNvSpPr/>
          <p:nvPr/>
        </p:nvSpPr>
        <p:spPr>
          <a:xfrm>
            <a:off x="14493925" y="701040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1" name="Text 107"/>
          <p:cNvSpPr/>
          <p:nvPr/>
        </p:nvSpPr>
        <p:spPr>
          <a:xfrm>
            <a:off x="12119223" y="7210425"/>
            <a:ext cx="2402622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Menos riesgo</a:t>
            </a:r>
            <a:endParaRPr lang="en-US" sz="1575" dirty="0"/>
          </a:p>
        </p:txBody>
      </p:sp>
      <p:sp>
        <p:nvSpPr>
          <p:cNvPr id="112" name="Text 108"/>
          <p:cNvSpPr/>
          <p:nvPr/>
        </p:nvSpPr>
        <p:spPr>
          <a:xfrm>
            <a:off x="12119223" y="7520136"/>
            <a:ext cx="22604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Reducción del riesgo supervisor y regulatorio.</a:t>
            </a:r>
            <a:endParaRPr lang="en-US" sz="1125" dirty="0"/>
          </a:p>
        </p:txBody>
      </p:sp>
      <p:sp>
        <p:nvSpPr>
          <p:cNvPr id="113" name="Shape 109"/>
          <p:cNvSpPr/>
          <p:nvPr/>
        </p:nvSpPr>
        <p:spPr>
          <a:xfrm>
            <a:off x="14655850" y="7010400"/>
            <a:ext cx="2584400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4" name="Shape 110"/>
          <p:cNvSpPr/>
          <p:nvPr/>
        </p:nvSpPr>
        <p:spPr>
          <a:xfrm>
            <a:off x="14655850" y="8063061"/>
            <a:ext cx="25844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5" name="Shape 111"/>
          <p:cNvSpPr/>
          <p:nvPr/>
        </p:nvSpPr>
        <p:spPr>
          <a:xfrm>
            <a:off x="14655850" y="7010400"/>
            <a:ext cx="2584400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6" name="Shape 112"/>
          <p:cNvSpPr/>
          <p:nvPr/>
        </p:nvSpPr>
        <p:spPr>
          <a:xfrm>
            <a:off x="14655850" y="701040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7" name="Shape 113"/>
          <p:cNvSpPr/>
          <p:nvPr/>
        </p:nvSpPr>
        <p:spPr>
          <a:xfrm>
            <a:off x="17230725" y="701040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8" name="Text 114"/>
          <p:cNvSpPr/>
          <p:nvPr/>
        </p:nvSpPr>
        <p:spPr>
          <a:xfrm>
            <a:off x="14855875" y="7210425"/>
            <a:ext cx="2402785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IA acelerada</a:t>
            </a:r>
            <a:endParaRPr lang="en-US" sz="1575" dirty="0"/>
          </a:p>
        </p:txBody>
      </p:sp>
      <p:sp>
        <p:nvSpPr>
          <p:cNvPr id="119" name="Text 115"/>
          <p:cNvSpPr/>
          <p:nvPr/>
        </p:nvSpPr>
        <p:spPr>
          <a:xfrm>
            <a:off x="14855875" y="7520136"/>
            <a:ext cx="226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Capacidades de IA listas sobre dato gobernado.</a:t>
            </a:r>
            <a:endParaRPr lang="en-US" sz="1125" dirty="0"/>
          </a:p>
        </p:txBody>
      </p:sp>
      <p:sp>
        <p:nvSpPr>
          <p:cNvPr id="120" name="Text 116"/>
          <p:cNvSpPr/>
          <p:nvPr/>
        </p:nvSpPr>
        <p:spPr>
          <a:xfrm>
            <a:off x="1047750" y="9915525"/>
            <a:ext cx="45385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CNMV · GOBIERNO DEL DATO · DCAM/DAMA · MS PURVIEW</a:t>
            </a:r>
            <a:endParaRPr lang="en-US" sz="975" dirty="0"/>
          </a:p>
        </p:txBody>
      </p:sp>
      <p:sp>
        <p:nvSpPr>
          <p:cNvPr id="121" name="Text 117"/>
          <p:cNvSpPr/>
          <p:nvPr/>
        </p:nvSpPr>
        <p:spPr>
          <a:xfrm>
            <a:off x="14458950" y="9925050"/>
            <a:ext cx="30594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de éxito · sujeto a autorización por referencia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6096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338971" y="533400"/>
            <a:ext cx="1901279" cy="36195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529471" y="628650"/>
            <a:ext cx="15964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DE ÉXITO 2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2478494" y="1009650"/>
            <a:ext cx="4761756" cy="657225"/>
          </a:xfrm>
          <a:prstGeom prst="roundRect">
            <a:avLst>
              <a:gd name="adj" fmla="val 14493"/>
            </a:avLst>
          </a:prstGeom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2488019" y="1019175"/>
            <a:ext cx="1670149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2678519" y="1123950"/>
            <a:ext cx="14180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678519" y="1323975"/>
            <a:ext cx="141806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Mercedes-Benz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4158168" y="1019175"/>
            <a:ext cx="1404640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158168" y="1019175"/>
            <a:ext cx="9525" cy="63817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358193" y="1123950"/>
            <a:ext cx="109031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358193" y="1323975"/>
            <a:ext cx="109031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Automoción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5562808" y="1019175"/>
            <a:ext cx="1667917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5562808" y="1019175"/>
            <a:ext cx="9525" cy="63817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5762833" y="1123950"/>
            <a:ext cx="14051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PLANTA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762833" y="1323975"/>
            <a:ext cx="14051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Vitoria · España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1047750" y="1952625"/>
            <a:ext cx="83615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PLANIFICACIÓN · OPTIMIZACIÓN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1047750" y="2314575"/>
            <a:ext cx="466641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kern="0" spc="-78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 días a minutos.</a:t>
            </a:r>
            <a:endParaRPr lang="en-US" sz="3900" dirty="0"/>
          </a:p>
        </p:txBody>
      </p:sp>
      <p:sp>
        <p:nvSpPr>
          <p:cNvPr id="33" name="Text 30"/>
          <p:cNvSpPr/>
          <p:nvPr/>
        </p:nvSpPr>
        <p:spPr>
          <a:xfrm>
            <a:off x="1047750" y="2943225"/>
            <a:ext cx="83615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ANTES: 1–3 DÍAS POR REPLANIFICACIÓN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1047750" y="3276600"/>
            <a:ext cx="3758919" cy="87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Replanificar las tres líneas de pintura ante cualquier incidencia del día.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1047750" y="4360515"/>
            <a:ext cx="83615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PROBLEMA A RESOLVER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1047750" y="4646265"/>
            <a:ext cx="28575" cy="1135856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1266825" y="4646265"/>
            <a:ext cx="6032191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planta de Vitoria necesitaba una </a:t>
            </a:r>
            <a:r>
              <a:rPr lang="en-US" sz="15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planificación mensual más ágil </a:t>
            </a:r>
            <a:r>
              <a:rPr lang="en-US" sz="15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sus tres líneas de pintura: el proceso requería entre 1 y 3 días y no se adaptaba a incidencias, reprocesos o cambios diarios.</a:t>
            </a:r>
            <a:endParaRPr lang="en-US" sz="1575" dirty="0"/>
          </a:p>
        </p:txBody>
      </p:sp>
      <p:sp>
        <p:nvSpPr>
          <p:cNvPr id="38" name="Text 35"/>
          <p:cNvSpPr/>
          <p:nvPr/>
        </p:nvSpPr>
        <p:spPr>
          <a:xfrm>
            <a:off x="1047750" y="6029771"/>
            <a:ext cx="83615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LO RESOLVIMOS</a:t>
            </a:r>
            <a:endParaRPr lang="en-US" sz="975" dirty="0"/>
          </a:p>
        </p:txBody>
      </p:sp>
      <p:sp>
        <p:nvSpPr>
          <p:cNvPr id="39" name="Shape 36"/>
          <p:cNvSpPr/>
          <p:nvPr/>
        </p:nvSpPr>
        <p:spPr>
          <a:xfrm>
            <a:off x="1047750" y="6325046"/>
            <a:ext cx="266700" cy="26670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1009650" y="6325046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1457325" y="6315521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Analizamos todas las variables críticas: mix de colores, defectos, doble vuelta, disponibilidad, rendimiento, averías y turnos.</a:t>
            </a:r>
            <a:endParaRPr lang="en-US" sz="1425" dirty="0"/>
          </a:p>
        </p:txBody>
      </p:sp>
      <p:sp>
        <p:nvSpPr>
          <p:cNvPr id="42" name="Shape 39"/>
          <p:cNvSpPr/>
          <p:nvPr/>
        </p:nvSpPr>
        <p:spPr>
          <a:xfrm>
            <a:off x="1047750" y="6957864"/>
            <a:ext cx="266700" cy="26670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0"/>
          <p:cNvSpPr/>
          <p:nvPr/>
        </p:nvSpPr>
        <p:spPr>
          <a:xfrm>
            <a:off x="1009650" y="695786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1457325" y="6948339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Construimos un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mensual flexible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 recalcula ante ineficiencias o incidencias diarias.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047750" y="7590681"/>
            <a:ext cx="266700" cy="266700"/>
          </a:xfrm>
          <a:prstGeom prst="ellipse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Text 43"/>
          <p:cNvSpPr/>
          <p:nvPr/>
        </p:nvSpPr>
        <p:spPr>
          <a:xfrm>
            <a:off x="1009650" y="7590681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125" dirty="0"/>
          </a:p>
        </p:txBody>
      </p:sp>
      <p:sp>
        <p:nvSpPr>
          <p:cNvPr id="47" name="Text 44"/>
          <p:cNvSpPr/>
          <p:nvPr/>
        </p:nvSpPr>
        <p:spPr>
          <a:xfrm>
            <a:off x="1457325" y="7581156"/>
            <a:ext cx="7407576" cy="1037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Calculamos el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tiempo óptimo de proceso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minimizar el consumo energético, habilitamos un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reprocesado rápido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 ajusta la planificación en minutos en lugar de días y lo entregamos en una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interfaz operativa sencilla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 el equipo de planificación de cabinas.</a:t>
            </a:r>
            <a:endParaRPr lang="en-US" sz="1425" dirty="0"/>
          </a:p>
        </p:txBody>
      </p:sp>
      <p:sp>
        <p:nvSpPr>
          <p:cNvPr id="48" name="Shape 45"/>
          <p:cNvSpPr/>
          <p:nvPr/>
        </p:nvSpPr>
        <p:spPr>
          <a:xfrm>
            <a:off x="9182546" y="2257425"/>
            <a:ext cx="8057704" cy="3286125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209550" dist="76200" dir="5400000" algn="bl" rotWithShape="0">
              <a:srgbClr val="041C2C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9" name="Shape 46"/>
          <p:cNvSpPr/>
          <p:nvPr/>
        </p:nvSpPr>
        <p:spPr>
          <a:xfrm>
            <a:off x="9192071" y="2724150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Shape 47"/>
          <p:cNvSpPr/>
          <p:nvPr/>
        </p:nvSpPr>
        <p:spPr>
          <a:xfrm>
            <a:off x="9401621" y="2452688"/>
            <a:ext cx="85725" cy="85725"/>
          </a:xfrm>
          <a:prstGeom prst="ellipse">
            <a:avLst/>
          </a:prstGeom>
          <a:solidFill>
            <a:srgbClr val="57BE8A"/>
          </a:solidFill>
          <a:ln/>
          <a:effectLst>
            <a:outerShdw blurRad="101600" dist="50800" dir="16200000" algn="bl" rotWithShape="0">
              <a:srgbClr val="57BE8A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Text 48"/>
          <p:cNvSpPr/>
          <p:nvPr/>
        </p:nvSpPr>
        <p:spPr>
          <a:xfrm>
            <a:off x="9592121" y="2400300"/>
            <a:ext cx="22495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Planificación de líneas · panel</a:t>
            </a:r>
            <a:endParaRPr lang="en-US" sz="1275" dirty="0"/>
          </a:p>
        </p:txBody>
      </p:sp>
      <p:sp>
        <p:nvSpPr>
          <p:cNvPr id="52" name="Text 49"/>
          <p:cNvSpPr/>
          <p:nvPr/>
        </p:nvSpPr>
        <p:spPr>
          <a:xfrm>
            <a:off x="15774293" y="2428875"/>
            <a:ext cx="13715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VISTA ILUSTRATIVA</a:t>
            </a:r>
            <a:endParaRPr lang="en-US" sz="825" dirty="0"/>
          </a:p>
        </p:txBody>
      </p:sp>
      <p:sp>
        <p:nvSpPr>
          <p:cNvPr id="53" name="Shape 50"/>
          <p:cNvSpPr/>
          <p:nvPr/>
        </p:nvSpPr>
        <p:spPr>
          <a:xfrm>
            <a:off x="9192071" y="3457575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Text 51"/>
          <p:cNvSpPr/>
          <p:nvPr/>
        </p:nvSpPr>
        <p:spPr>
          <a:xfrm>
            <a:off x="9401621" y="2876550"/>
            <a:ext cx="248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1–3 d → min</a:t>
            </a:r>
            <a:endParaRPr lang="en-US" sz="1950" dirty="0"/>
          </a:p>
        </p:txBody>
      </p:sp>
      <p:sp>
        <p:nvSpPr>
          <p:cNvPr id="55" name="Text 52"/>
          <p:cNvSpPr/>
          <p:nvPr/>
        </p:nvSpPr>
        <p:spPr>
          <a:xfrm>
            <a:off x="9401621" y="3181350"/>
            <a:ext cx="248644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REPLANIFICACIÓN</a:t>
            </a:r>
            <a:endParaRPr lang="en-US" sz="825" dirty="0"/>
          </a:p>
        </p:txBody>
      </p:sp>
      <p:sp>
        <p:nvSpPr>
          <p:cNvPr id="56" name="Shape 53"/>
          <p:cNvSpPr/>
          <p:nvPr/>
        </p:nvSpPr>
        <p:spPr>
          <a:xfrm>
            <a:off x="11871573" y="2733675"/>
            <a:ext cx="9525" cy="72390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4"/>
          <p:cNvSpPr/>
          <p:nvPr/>
        </p:nvSpPr>
        <p:spPr>
          <a:xfrm>
            <a:off x="12090648" y="2876550"/>
            <a:ext cx="24759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950" dirty="0"/>
          </a:p>
        </p:txBody>
      </p:sp>
      <p:sp>
        <p:nvSpPr>
          <p:cNvPr id="58" name="Text 55"/>
          <p:cNvSpPr/>
          <p:nvPr/>
        </p:nvSpPr>
        <p:spPr>
          <a:xfrm>
            <a:off x="12090648" y="3181350"/>
            <a:ext cx="24759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LÍNEAS DE PINTURA</a:t>
            </a:r>
            <a:endParaRPr lang="en-US" sz="825" dirty="0"/>
          </a:p>
        </p:txBody>
      </p:sp>
      <p:sp>
        <p:nvSpPr>
          <p:cNvPr id="59" name="Shape 56"/>
          <p:cNvSpPr/>
          <p:nvPr/>
        </p:nvSpPr>
        <p:spPr>
          <a:xfrm>
            <a:off x="14551075" y="2733675"/>
            <a:ext cx="9525" cy="72390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7"/>
          <p:cNvSpPr/>
          <p:nvPr/>
        </p:nvSpPr>
        <p:spPr>
          <a:xfrm>
            <a:off x="14770150" y="2876550"/>
            <a:ext cx="24761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↓ energía</a:t>
            </a:r>
            <a:endParaRPr lang="en-US" sz="1950" dirty="0"/>
          </a:p>
        </p:txBody>
      </p:sp>
      <p:sp>
        <p:nvSpPr>
          <p:cNvPr id="61" name="Text 58"/>
          <p:cNvSpPr/>
          <p:nvPr/>
        </p:nvSpPr>
        <p:spPr>
          <a:xfrm>
            <a:off x="14770150" y="3181350"/>
            <a:ext cx="247612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PROCESO ÓPTIMO</a:t>
            </a:r>
            <a:endParaRPr lang="en-US" sz="825" dirty="0"/>
          </a:p>
        </p:txBody>
      </p:sp>
      <p:sp>
        <p:nvSpPr>
          <p:cNvPr id="62" name="Text 59"/>
          <p:cNvSpPr/>
          <p:nvPr/>
        </p:nvSpPr>
        <p:spPr>
          <a:xfrm>
            <a:off x="9401621" y="3619500"/>
            <a:ext cx="44907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CARGA POR LÍNEA</a:t>
            </a:r>
            <a:endParaRPr lang="en-US" sz="825" dirty="0"/>
          </a:p>
        </p:txBody>
      </p:sp>
      <p:sp>
        <p:nvSpPr>
          <p:cNvPr id="63" name="Text 60"/>
          <p:cNvSpPr/>
          <p:nvPr/>
        </p:nvSpPr>
        <p:spPr>
          <a:xfrm>
            <a:off x="9401621" y="3952875"/>
            <a:ext cx="742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Línea 1</a:t>
            </a:r>
            <a:endParaRPr lang="en-US" sz="1125" dirty="0"/>
          </a:p>
        </p:txBody>
      </p:sp>
      <p:sp>
        <p:nvSpPr>
          <p:cNvPr id="64" name="Shape 61"/>
          <p:cNvSpPr/>
          <p:nvPr/>
        </p:nvSpPr>
        <p:spPr>
          <a:xfrm>
            <a:off x="10182671" y="4000500"/>
            <a:ext cx="2549277" cy="7620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5" name="Shape 62"/>
          <p:cNvSpPr/>
          <p:nvPr/>
        </p:nvSpPr>
        <p:spPr>
          <a:xfrm>
            <a:off x="10182671" y="4000500"/>
            <a:ext cx="1835348" cy="76200"/>
          </a:xfrm>
          <a:prstGeom prst="roundRect">
            <a:avLst>
              <a:gd name="adj" fmla="val 50000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 63"/>
          <p:cNvSpPr/>
          <p:nvPr/>
        </p:nvSpPr>
        <p:spPr>
          <a:xfrm>
            <a:off x="12846248" y="3962400"/>
            <a:ext cx="71407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recalcula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9401621" y="4295775"/>
            <a:ext cx="742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Línea 2</a:t>
            </a:r>
            <a:endParaRPr lang="en-US" sz="1125" dirty="0"/>
          </a:p>
        </p:txBody>
      </p:sp>
      <p:sp>
        <p:nvSpPr>
          <p:cNvPr id="68" name="Shape 65"/>
          <p:cNvSpPr/>
          <p:nvPr/>
        </p:nvSpPr>
        <p:spPr>
          <a:xfrm>
            <a:off x="10182671" y="4343400"/>
            <a:ext cx="2549277" cy="7620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9" name="Shape 66"/>
          <p:cNvSpPr/>
          <p:nvPr/>
        </p:nvSpPr>
        <p:spPr>
          <a:xfrm>
            <a:off x="10182671" y="4343400"/>
            <a:ext cx="1478459" cy="76200"/>
          </a:xfrm>
          <a:prstGeom prst="roundRect">
            <a:avLst>
              <a:gd name="adj" fmla="val 50000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0" name="Text 67"/>
          <p:cNvSpPr/>
          <p:nvPr/>
        </p:nvSpPr>
        <p:spPr>
          <a:xfrm>
            <a:off x="12846248" y="4305300"/>
            <a:ext cx="71407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recalcula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9401621" y="4638675"/>
            <a:ext cx="7429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Línea 3</a:t>
            </a:r>
            <a:endParaRPr lang="en-US" sz="1125" dirty="0"/>
          </a:p>
        </p:txBody>
      </p:sp>
      <p:sp>
        <p:nvSpPr>
          <p:cNvPr id="72" name="Shape 69"/>
          <p:cNvSpPr/>
          <p:nvPr/>
        </p:nvSpPr>
        <p:spPr>
          <a:xfrm>
            <a:off x="10182671" y="4686300"/>
            <a:ext cx="2549277" cy="7620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3" name="Shape 70"/>
          <p:cNvSpPr/>
          <p:nvPr/>
        </p:nvSpPr>
        <p:spPr>
          <a:xfrm>
            <a:off x="10182671" y="4686300"/>
            <a:ext cx="2166789" cy="76200"/>
          </a:xfrm>
          <a:prstGeom prst="roundRect">
            <a:avLst>
              <a:gd name="adj" fmla="val 50000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4" name="Text 71"/>
          <p:cNvSpPr/>
          <p:nvPr/>
        </p:nvSpPr>
        <p:spPr>
          <a:xfrm>
            <a:off x="12846248" y="4648200"/>
            <a:ext cx="71407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recalcula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13693676" y="3467100"/>
            <a:ext cx="9525" cy="158115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6" name="Text 73"/>
          <p:cNvSpPr/>
          <p:nvPr/>
        </p:nvSpPr>
        <p:spPr>
          <a:xfrm>
            <a:off x="13912751" y="3619500"/>
            <a:ext cx="341926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ESTADO DEL PLAN</a:t>
            </a:r>
            <a:endParaRPr lang="en-US" sz="825" dirty="0"/>
          </a:p>
        </p:txBody>
      </p:sp>
      <p:sp>
        <p:nvSpPr>
          <p:cNvPr id="77" name="Shape 74"/>
          <p:cNvSpPr/>
          <p:nvPr/>
        </p:nvSpPr>
        <p:spPr>
          <a:xfrm>
            <a:off x="13912751" y="3890962"/>
            <a:ext cx="123825" cy="123825"/>
          </a:xfrm>
          <a:prstGeom prst="ellipse">
            <a:avLst/>
          </a:prstGeom>
          <a:solidFill>
            <a:srgbClr val="57BE8A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75"/>
          <p:cNvSpPr/>
          <p:nvPr/>
        </p:nvSpPr>
        <p:spPr>
          <a:xfrm>
            <a:off x="14141351" y="3867150"/>
            <a:ext cx="9380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mensual</a:t>
            </a:r>
            <a:endParaRPr lang="en-US" sz="1125" dirty="0"/>
          </a:p>
        </p:txBody>
      </p:sp>
      <p:sp>
        <p:nvSpPr>
          <p:cNvPr id="79" name="Shape 76"/>
          <p:cNvSpPr/>
          <p:nvPr/>
        </p:nvSpPr>
        <p:spPr>
          <a:xfrm>
            <a:off x="13912751" y="4157663"/>
            <a:ext cx="123825" cy="123825"/>
          </a:xfrm>
          <a:prstGeom prst="ellipse">
            <a:avLst/>
          </a:prstGeom>
          <a:solidFill>
            <a:srgbClr val="57BE8A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0" name="Text 77"/>
          <p:cNvSpPr/>
          <p:nvPr/>
        </p:nvSpPr>
        <p:spPr>
          <a:xfrm>
            <a:off x="14141351" y="4133850"/>
            <a:ext cx="11816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Incidencia del día</a:t>
            </a:r>
            <a:endParaRPr lang="en-US" sz="1125" dirty="0"/>
          </a:p>
        </p:txBody>
      </p:sp>
      <p:sp>
        <p:nvSpPr>
          <p:cNvPr id="81" name="Shape 78"/>
          <p:cNvSpPr/>
          <p:nvPr/>
        </p:nvSpPr>
        <p:spPr>
          <a:xfrm>
            <a:off x="13912751" y="4424363"/>
            <a:ext cx="123825" cy="123825"/>
          </a:xfrm>
          <a:prstGeom prst="ellipse">
            <a:avLst/>
          </a:prstGeom>
          <a:solidFill>
            <a:srgbClr val="855AC6"/>
          </a:solidFill>
          <a:ln w="19050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2" name="Text 79"/>
          <p:cNvSpPr/>
          <p:nvPr/>
        </p:nvSpPr>
        <p:spPr>
          <a:xfrm>
            <a:off x="14141351" y="4400550"/>
            <a:ext cx="6929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Recalcula</a:t>
            </a:r>
            <a:endParaRPr lang="en-US" sz="1125" dirty="0"/>
          </a:p>
        </p:txBody>
      </p:sp>
      <p:sp>
        <p:nvSpPr>
          <p:cNvPr id="83" name="Shape 80"/>
          <p:cNvSpPr/>
          <p:nvPr/>
        </p:nvSpPr>
        <p:spPr>
          <a:xfrm>
            <a:off x="13912751" y="4691063"/>
            <a:ext cx="123825" cy="123825"/>
          </a:xfrm>
          <a:prstGeom prst="ellipse">
            <a:avLst/>
          </a:prstGeom>
          <a:ln w="19050">
            <a:solidFill>
              <a:srgbClr val="9DAE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4" name="Text 81"/>
          <p:cNvSpPr/>
          <p:nvPr/>
        </p:nvSpPr>
        <p:spPr>
          <a:xfrm>
            <a:off x="14141351" y="4667250"/>
            <a:ext cx="11016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en minutos</a:t>
            </a:r>
            <a:endParaRPr lang="en-US" sz="1125" dirty="0"/>
          </a:p>
        </p:txBody>
      </p:sp>
      <p:sp>
        <p:nvSpPr>
          <p:cNvPr id="85" name="Shape 82"/>
          <p:cNvSpPr/>
          <p:nvPr/>
        </p:nvSpPr>
        <p:spPr>
          <a:xfrm>
            <a:off x="9192071" y="5048250"/>
            <a:ext cx="8038654" cy="485775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6" name="Shape 83"/>
          <p:cNvSpPr/>
          <p:nvPr/>
        </p:nvSpPr>
        <p:spPr>
          <a:xfrm>
            <a:off x="9192071" y="5048250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7" name="Shape 84"/>
          <p:cNvSpPr/>
          <p:nvPr/>
        </p:nvSpPr>
        <p:spPr>
          <a:xfrm>
            <a:off x="9401621" y="5172075"/>
            <a:ext cx="621060" cy="247650"/>
          </a:xfrm>
          <a:prstGeom prst="roundRect">
            <a:avLst>
              <a:gd name="adj" fmla="val 23077"/>
            </a:avLst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8" name="Text 85"/>
          <p:cNvSpPr/>
          <p:nvPr/>
        </p:nvSpPr>
        <p:spPr>
          <a:xfrm>
            <a:off x="9506396" y="5219700"/>
            <a:ext cx="48771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10136981" y="5209282"/>
            <a:ext cx="3458066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Recalcula ante </a:t>
            </a:r>
            <a:r>
              <a:rPr lang="en-US" sz="105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incidencias y reprocesos</a:t>
            </a:r>
            <a:r>
              <a:rPr lang="en-US" sz="10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en minutos.</a:t>
            </a:r>
            <a:endParaRPr lang="en-US" sz="1050" dirty="0"/>
          </a:p>
        </p:txBody>
      </p:sp>
      <p:sp>
        <p:nvSpPr>
          <p:cNvPr id="90" name="Text 87"/>
          <p:cNvSpPr/>
          <p:nvPr/>
        </p:nvSpPr>
        <p:spPr>
          <a:xfrm>
            <a:off x="9182546" y="5943600"/>
            <a:ext cx="886347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27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BENEFICIO PARA MERCEDES-BENZ</a:t>
            </a:r>
            <a:endParaRPr lang="en-US" sz="975" dirty="0"/>
          </a:p>
        </p:txBody>
      </p:sp>
      <p:sp>
        <p:nvSpPr>
          <p:cNvPr id="91" name="Shape 88"/>
          <p:cNvSpPr/>
          <p:nvPr/>
        </p:nvSpPr>
        <p:spPr>
          <a:xfrm>
            <a:off x="9182546" y="6229350"/>
            <a:ext cx="2584252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2" name="Shape 89"/>
          <p:cNvSpPr/>
          <p:nvPr/>
        </p:nvSpPr>
        <p:spPr>
          <a:xfrm>
            <a:off x="9182546" y="7282011"/>
            <a:ext cx="2584252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3" name="Shape 90"/>
          <p:cNvSpPr/>
          <p:nvPr/>
        </p:nvSpPr>
        <p:spPr>
          <a:xfrm>
            <a:off x="9182546" y="6229350"/>
            <a:ext cx="2584252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4" name="Shape 91"/>
          <p:cNvSpPr/>
          <p:nvPr/>
        </p:nvSpPr>
        <p:spPr>
          <a:xfrm>
            <a:off x="9182546" y="62293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5" name="Shape 92"/>
          <p:cNvSpPr/>
          <p:nvPr/>
        </p:nvSpPr>
        <p:spPr>
          <a:xfrm>
            <a:off x="11757273" y="62293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6" name="Text 93"/>
          <p:cNvSpPr/>
          <p:nvPr/>
        </p:nvSpPr>
        <p:spPr>
          <a:xfrm>
            <a:off x="9382571" y="6429375"/>
            <a:ext cx="2402622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Días → minutos</a:t>
            </a:r>
            <a:endParaRPr lang="en-US" sz="1575" dirty="0"/>
          </a:p>
        </p:txBody>
      </p:sp>
      <p:sp>
        <p:nvSpPr>
          <p:cNvPr id="97" name="Text 94"/>
          <p:cNvSpPr/>
          <p:nvPr/>
        </p:nvSpPr>
        <p:spPr>
          <a:xfrm>
            <a:off x="9382571" y="6739086"/>
            <a:ext cx="22604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Replanificación ágil ante incidencias.</a:t>
            </a:r>
            <a:endParaRPr lang="en-US" sz="1125" dirty="0"/>
          </a:p>
        </p:txBody>
      </p:sp>
      <p:sp>
        <p:nvSpPr>
          <p:cNvPr id="98" name="Shape 95"/>
          <p:cNvSpPr/>
          <p:nvPr/>
        </p:nvSpPr>
        <p:spPr>
          <a:xfrm>
            <a:off x="11919198" y="6229350"/>
            <a:ext cx="2584252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9" name="Shape 96"/>
          <p:cNvSpPr/>
          <p:nvPr/>
        </p:nvSpPr>
        <p:spPr>
          <a:xfrm>
            <a:off x="11919198" y="7282011"/>
            <a:ext cx="2584252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0" name="Shape 97"/>
          <p:cNvSpPr/>
          <p:nvPr/>
        </p:nvSpPr>
        <p:spPr>
          <a:xfrm>
            <a:off x="11919198" y="6229350"/>
            <a:ext cx="2584252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Shape 98"/>
          <p:cNvSpPr/>
          <p:nvPr/>
        </p:nvSpPr>
        <p:spPr>
          <a:xfrm>
            <a:off x="11919198" y="62293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2" name="Shape 99"/>
          <p:cNvSpPr/>
          <p:nvPr/>
        </p:nvSpPr>
        <p:spPr>
          <a:xfrm>
            <a:off x="14493925" y="62293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3" name="Text 100"/>
          <p:cNvSpPr/>
          <p:nvPr/>
        </p:nvSpPr>
        <p:spPr>
          <a:xfrm>
            <a:off x="12119223" y="6429375"/>
            <a:ext cx="2402622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Más precisión</a:t>
            </a:r>
            <a:endParaRPr lang="en-US" sz="1575" dirty="0"/>
          </a:p>
        </p:txBody>
      </p:sp>
      <p:sp>
        <p:nvSpPr>
          <p:cNvPr id="104" name="Text 101"/>
          <p:cNvSpPr/>
          <p:nvPr/>
        </p:nvSpPr>
        <p:spPr>
          <a:xfrm>
            <a:off x="12119223" y="6739086"/>
            <a:ext cx="22604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Menos brecha entre plan teórico y real.</a:t>
            </a:r>
            <a:endParaRPr lang="en-US" sz="1125" dirty="0"/>
          </a:p>
        </p:txBody>
      </p:sp>
      <p:sp>
        <p:nvSpPr>
          <p:cNvPr id="105" name="Shape 102"/>
          <p:cNvSpPr/>
          <p:nvPr/>
        </p:nvSpPr>
        <p:spPr>
          <a:xfrm>
            <a:off x="14655850" y="6229350"/>
            <a:ext cx="2584400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6" name="Shape 103"/>
          <p:cNvSpPr/>
          <p:nvPr/>
        </p:nvSpPr>
        <p:spPr>
          <a:xfrm>
            <a:off x="14655850" y="7282011"/>
            <a:ext cx="25844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Shape 104"/>
          <p:cNvSpPr/>
          <p:nvPr/>
        </p:nvSpPr>
        <p:spPr>
          <a:xfrm>
            <a:off x="14655850" y="6229350"/>
            <a:ext cx="2584400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8" name="Shape 105"/>
          <p:cNvSpPr/>
          <p:nvPr/>
        </p:nvSpPr>
        <p:spPr>
          <a:xfrm>
            <a:off x="14655850" y="62293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9" name="Shape 106"/>
          <p:cNvSpPr/>
          <p:nvPr/>
        </p:nvSpPr>
        <p:spPr>
          <a:xfrm>
            <a:off x="17230725" y="62293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Text 107"/>
          <p:cNvSpPr/>
          <p:nvPr/>
        </p:nvSpPr>
        <p:spPr>
          <a:xfrm>
            <a:off x="14855875" y="6429375"/>
            <a:ext cx="2402785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Cabinas activas</a:t>
            </a:r>
            <a:endParaRPr lang="en-US" sz="1575" dirty="0"/>
          </a:p>
        </p:txBody>
      </p:sp>
      <p:sp>
        <p:nvSpPr>
          <p:cNvPr id="111" name="Text 108"/>
          <p:cNvSpPr/>
          <p:nvPr/>
        </p:nvSpPr>
        <p:spPr>
          <a:xfrm>
            <a:off x="14855875" y="6739086"/>
            <a:ext cx="226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Disponibilidad continua de las líneas.</a:t>
            </a:r>
            <a:endParaRPr lang="en-US" sz="1125" dirty="0"/>
          </a:p>
        </p:txBody>
      </p:sp>
      <p:sp>
        <p:nvSpPr>
          <p:cNvPr id="112" name="Text 109"/>
          <p:cNvSpPr/>
          <p:nvPr/>
        </p:nvSpPr>
        <p:spPr>
          <a:xfrm>
            <a:off x="1047750" y="9915525"/>
            <a:ext cx="55573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MERCEDES-BENZ · VITORIA · PLANIFICACIÓN DE LÍNEAS DE PINTURA</a:t>
            </a:r>
            <a:endParaRPr lang="en-US" sz="975" dirty="0"/>
          </a:p>
        </p:txBody>
      </p:sp>
      <p:sp>
        <p:nvSpPr>
          <p:cNvPr id="113" name="Text 110"/>
          <p:cNvSpPr/>
          <p:nvPr/>
        </p:nvSpPr>
        <p:spPr>
          <a:xfrm>
            <a:off x="14458950" y="9925050"/>
            <a:ext cx="30594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de éxito · sujeto a autorización por referencia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6096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338971" y="533400"/>
            <a:ext cx="1901279" cy="36195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529471" y="628650"/>
            <a:ext cx="15964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DE ÉXITO 3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4127361" y="1009650"/>
            <a:ext cx="3112889" cy="657225"/>
          </a:xfrm>
          <a:prstGeom prst="roundRect">
            <a:avLst>
              <a:gd name="adj" fmla="val 14493"/>
            </a:avLst>
          </a:prstGeom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4136886" y="1019175"/>
            <a:ext cx="1188393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4327386" y="1123950"/>
            <a:ext cx="883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4327386" y="1323975"/>
            <a:ext cx="88359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Bankinter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5325279" y="1019175"/>
            <a:ext cx="905768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5325279" y="1019175"/>
            <a:ext cx="9525" cy="63817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5525304" y="1123950"/>
            <a:ext cx="59144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5525304" y="1323975"/>
            <a:ext cx="59144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Banca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6231046" y="1019175"/>
            <a:ext cx="999679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6231046" y="1019175"/>
            <a:ext cx="9525" cy="63817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6431071" y="1123950"/>
            <a:ext cx="6853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PAÍS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431071" y="1323975"/>
            <a:ext cx="6853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España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1047750" y="1952625"/>
            <a:ext cx="83615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CICLO DE VIDA DEL DATO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1047750" y="2314575"/>
            <a:ext cx="5150749" cy="866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kern="0" spc="-78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Más casos de uso, antes.</a:t>
            </a:r>
            <a:endParaRPr lang="en-US" sz="3900" dirty="0"/>
          </a:p>
        </p:txBody>
      </p:sp>
      <p:sp>
        <p:nvSpPr>
          <p:cNvPr id="33" name="Text 30"/>
          <p:cNvSpPr/>
          <p:nvPr/>
        </p:nvSpPr>
        <p:spPr>
          <a:xfrm>
            <a:off x="1057275" y="3087891"/>
            <a:ext cx="5026372" cy="7628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 dato confiable en todo el ciclo, de la ingesta a la decisión.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47750" y="4191001"/>
            <a:ext cx="8361536" cy="290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137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PROBLEMA A RESOLVER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1047750" y="4567535"/>
            <a:ext cx="28575" cy="1135856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1266825" y="4567535"/>
            <a:ext cx="6477253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Bankinter buscaba reforzar todo el ciclo de vida del dato para sostener un </a:t>
            </a:r>
            <a:r>
              <a:rPr lang="en-US" sz="15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crecimiento basado en información confiable </a:t>
            </a:r>
            <a:r>
              <a:rPr lang="en-US" sz="15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con modelos operacionales en evolución que exigían calidad y agilidad.</a:t>
            </a:r>
            <a:endParaRPr lang="en-US" sz="1575" dirty="0"/>
          </a:p>
        </p:txBody>
      </p:sp>
      <p:sp>
        <p:nvSpPr>
          <p:cNvPr id="37" name="Text 34"/>
          <p:cNvSpPr/>
          <p:nvPr/>
        </p:nvSpPr>
        <p:spPr>
          <a:xfrm>
            <a:off x="1047750" y="5860257"/>
            <a:ext cx="8361536" cy="2908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200" kern="0" spc="137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LO RESOLVIMOS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1047750" y="6246316"/>
            <a:ext cx="266700" cy="26670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6"/>
          <p:cNvSpPr/>
          <p:nvPr/>
        </p:nvSpPr>
        <p:spPr>
          <a:xfrm>
            <a:off x="1009650" y="6246316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125" dirty="0"/>
          </a:p>
        </p:txBody>
      </p:sp>
      <p:sp>
        <p:nvSpPr>
          <p:cNvPr id="40" name="Text 37"/>
          <p:cNvSpPr/>
          <p:nvPr/>
        </p:nvSpPr>
        <p:spPr>
          <a:xfrm>
            <a:off x="1457325" y="6236791"/>
            <a:ext cx="7407576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Conectamos la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ingesta de fuentes transaccionales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evolucionamos los componentes existentes, con ingeniería del dato —procesos de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calidad y ETLs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 que integra nuevas fuentes en los modelos analíticos.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047750" y="7128867"/>
            <a:ext cx="266700" cy="26670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39"/>
          <p:cNvSpPr/>
          <p:nvPr/>
        </p:nvSpPr>
        <p:spPr>
          <a:xfrm>
            <a:off x="1009650" y="7128867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1457325" y="7119342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Desplegamos la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analítica y explotación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mediante modelos y aplicaciones en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Tibco Spotfire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con mantenimiento evolutivo que asegura disponibilidad y continuidad.</a:t>
            </a:r>
            <a:endParaRPr lang="en-US" sz="1425" dirty="0"/>
          </a:p>
        </p:txBody>
      </p:sp>
      <p:sp>
        <p:nvSpPr>
          <p:cNvPr id="44" name="Shape 41"/>
          <p:cNvSpPr/>
          <p:nvPr/>
        </p:nvSpPr>
        <p:spPr>
          <a:xfrm>
            <a:off x="1047750" y="7761684"/>
            <a:ext cx="266700" cy="266700"/>
          </a:xfrm>
          <a:prstGeom prst="ellipse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2"/>
          <p:cNvSpPr/>
          <p:nvPr/>
        </p:nvSpPr>
        <p:spPr>
          <a:xfrm>
            <a:off x="1009650" y="7761684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125" dirty="0"/>
          </a:p>
        </p:txBody>
      </p:sp>
      <p:sp>
        <p:nvSpPr>
          <p:cNvPr id="46" name="Text 43"/>
          <p:cNvSpPr/>
          <p:nvPr/>
        </p:nvSpPr>
        <p:spPr>
          <a:xfrm>
            <a:off x="1457325" y="7752159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Aseguramos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gobierno y transparencia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buenas prácticas, documentación en Confluence y soporte en los despliegues a entornos previos y producción.</a:t>
            </a:r>
            <a:endParaRPr lang="en-US" sz="1425" dirty="0"/>
          </a:p>
        </p:txBody>
      </p:sp>
      <p:sp>
        <p:nvSpPr>
          <p:cNvPr id="47" name="Shape 44"/>
          <p:cNvSpPr/>
          <p:nvPr/>
        </p:nvSpPr>
        <p:spPr>
          <a:xfrm>
            <a:off x="9182546" y="2257425"/>
            <a:ext cx="8057704" cy="3629025"/>
          </a:xfrm>
          <a:prstGeom prst="roundRect">
            <a:avLst>
              <a:gd name="adj" fmla="val 4199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209550" dist="76200" dir="5400000" algn="bl" rotWithShape="0">
              <a:srgbClr val="041C2C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8" name="Shape 45"/>
          <p:cNvSpPr/>
          <p:nvPr/>
        </p:nvSpPr>
        <p:spPr>
          <a:xfrm>
            <a:off x="9192071" y="2724150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Shape 46"/>
          <p:cNvSpPr/>
          <p:nvPr/>
        </p:nvSpPr>
        <p:spPr>
          <a:xfrm>
            <a:off x="9401621" y="2452688"/>
            <a:ext cx="85725" cy="85725"/>
          </a:xfrm>
          <a:prstGeom prst="ellipse">
            <a:avLst/>
          </a:prstGeom>
          <a:solidFill>
            <a:srgbClr val="57BE8A"/>
          </a:solidFill>
          <a:ln/>
          <a:effectLst>
            <a:outerShdw blurRad="101600" dist="50800" dir="16200000" algn="bl" rotWithShape="0">
              <a:srgbClr val="57BE8A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Text 47"/>
          <p:cNvSpPr/>
          <p:nvPr/>
        </p:nvSpPr>
        <p:spPr>
          <a:xfrm>
            <a:off x="9592121" y="2400300"/>
            <a:ext cx="15701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Ciclo del dato · panel</a:t>
            </a:r>
            <a:endParaRPr lang="en-US" sz="1275" dirty="0"/>
          </a:p>
        </p:txBody>
      </p:sp>
      <p:sp>
        <p:nvSpPr>
          <p:cNvPr id="51" name="Text 48"/>
          <p:cNvSpPr/>
          <p:nvPr/>
        </p:nvSpPr>
        <p:spPr>
          <a:xfrm>
            <a:off x="15774293" y="2428875"/>
            <a:ext cx="13715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VISTA ILUSTRATIVA</a:t>
            </a:r>
            <a:endParaRPr lang="en-US" sz="825" dirty="0"/>
          </a:p>
        </p:txBody>
      </p:sp>
      <p:sp>
        <p:nvSpPr>
          <p:cNvPr id="52" name="Shape 49"/>
          <p:cNvSpPr/>
          <p:nvPr/>
        </p:nvSpPr>
        <p:spPr>
          <a:xfrm>
            <a:off x="9192071" y="3457575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Text 50"/>
          <p:cNvSpPr/>
          <p:nvPr/>
        </p:nvSpPr>
        <p:spPr>
          <a:xfrm>
            <a:off x="9401621" y="2876550"/>
            <a:ext cx="248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Ingesta</a:t>
            </a:r>
            <a:endParaRPr lang="en-US" sz="1950" dirty="0"/>
          </a:p>
        </p:txBody>
      </p:sp>
      <p:sp>
        <p:nvSpPr>
          <p:cNvPr id="54" name="Text 51"/>
          <p:cNvSpPr/>
          <p:nvPr/>
        </p:nvSpPr>
        <p:spPr>
          <a:xfrm>
            <a:off x="9401621" y="3181350"/>
            <a:ext cx="248644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TRANSACCIONAL</a:t>
            </a:r>
            <a:endParaRPr lang="en-US" sz="825" dirty="0"/>
          </a:p>
        </p:txBody>
      </p:sp>
      <p:sp>
        <p:nvSpPr>
          <p:cNvPr id="55" name="Shape 52"/>
          <p:cNvSpPr/>
          <p:nvPr/>
        </p:nvSpPr>
        <p:spPr>
          <a:xfrm>
            <a:off x="11871573" y="2733675"/>
            <a:ext cx="9525" cy="72390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3"/>
          <p:cNvSpPr/>
          <p:nvPr/>
        </p:nvSpPr>
        <p:spPr>
          <a:xfrm>
            <a:off x="12090648" y="2876550"/>
            <a:ext cx="24759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Calidad + ETL</a:t>
            </a:r>
            <a:endParaRPr lang="en-US" sz="1950" dirty="0"/>
          </a:p>
        </p:txBody>
      </p:sp>
      <p:sp>
        <p:nvSpPr>
          <p:cNvPr id="57" name="Text 54"/>
          <p:cNvSpPr/>
          <p:nvPr/>
        </p:nvSpPr>
        <p:spPr>
          <a:xfrm>
            <a:off x="12090648" y="3181350"/>
            <a:ext cx="24759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INGENIERÍA</a:t>
            </a:r>
            <a:endParaRPr lang="en-US" sz="825" dirty="0"/>
          </a:p>
        </p:txBody>
      </p:sp>
      <p:sp>
        <p:nvSpPr>
          <p:cNvPr id="58" name="Shape 55"/>
          <p:cNvSpPr/>
          <p:nvPr/>
        </p:nvSpPr>
        <p:spPr>
          <a:xfrm>
            <a:off x="14551075" y="2733675"/>
            <a:ext cx="9525" cy="72390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Text 56"/>
          <p:cNvSpPr/>
          <p:nvPr/>
        </p:nvSpPr>
        <p:spPr>
          <a:xfrm>
            <a:off x="14770150" y="2876550"/>
            <a:ext cx="24761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Spotfire</a:t>
            </a:r>
            <a:endParaRPr lang="en-US" sz="1950" dirty="0"/>
          </a:p>
        </p:txBody>
      </p:sp>
      <p:sp>
        <p:nvSpPr>
          <p:cNvPr id="60" name="Text 57"/>
          <p:cNvSpPr/>
          <p:nvPr/>
        </p:nvSpPr>
        <p:spPr>
          <a:xfrm>
            <a:off x="14770150" y="3181350"/>
            <a:ext cx="247612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ANALÍTICA</a:t>
            </a:r>
            <a:endParaRPr lang="en-US" sz="825" dirty="0"/>
          </a:p>
        </p:txBody>
      </p:sp>
      <p:sp>
        <p:nvSpPr>
          <p:cNvPr id="61" name="Text 58"/>
          <p:cNvSpPr/>
          <p:nvPr/>
        </p:nvSpPr>
        <p:spPr>
          <a:xfrm>
            <a:off x="9401621" y="3619500"/>
            <a:ext cx="44907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DEL DATO</a:t>
            </a:r>
            <a:endParaRPr lang="en-US" sz="825" dirty="0"/>
          </a:p>
        </p:txBody>
      </p:sp>
      <p:sp>
        <p:nvSpPr>
          <p:cNvPr id="62" name="Shape 59"/>
          <p:cNvSpPr/>
          <p:nvPr/>
        </p:nvSpPr>
        <p:spPr>
          <a:xfrm>
            <a:off x="9401621" y="3995738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Text 60"/>
          <p:cNvSpPr/>
          <p:nvPr/>
        </p:nvSpPr>
        <p:spPr>
          <a:xfrm>
            <a:off x="9601646" y="3952875"/>
            <a:ext cx="14727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Ingesta transaccional</a:t>
            </a:r>
            <a:endParaRPr lang="en-US" sz="1125" dirty="0"/>
          </a:p>
        </p:txBody>
      </p:sp>
      <p:sp>
        <p:nvSpPr>
          <p:cNvPr id="64" name="Text 61"/>
          <p:cNvSpPr/>
          <p:nvPr/>
        </p:nvSpPr>
        <p:spPr>
          <a:xfrm>
            <a:off x="12846248" y="3962400"/>
            <a:ext cx="71407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operativo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9401621" y="4338638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 63"/>
          <p:cNvSpPr/>
          <p:nvPr/>
        </p:nvSpPr>
        <p:spPr>
          <a:xfrm>
            <a:off x="9601646" y="4295775"/>
            <a:ext cx="12678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Ingeniería + calidad</a:t>
            </a:r>
            <a:endParaRPr lang="en-US" sz="1125" dirty="0"/>
          </a:p>
        </p:txBody>
      </p:sp>
      <p:sp>
        <p:nvSpPr>
          <p:cNvPr id="67" name="Text 64"/>
          <p:cNvSpPr/>
          <p:nvPr/>
        </p:nvSpPr>
        <p:spPr>
          <a:xfrm>
            <a:off x="12846248" y="4305300"/>
            <a:ext cx="71407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operativo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9401621" y="4681538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9" name="Text 66"/>
          <p:cNvSpPr/>
          <p:nvPr/>
        </p:nvSpPr>
        <p:spPr>
          <a:xfrm>
            <a:off x="9601646" y="4638675"/>
            <a:ext cx="122321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Modelos analíticos</a:t>
            </a:r>
            <a:endParaRPr lang="en-US" sz="1125" dirty="0"/>
          </a:p>
        </p:txBody>
      </p:sp>
      <p:sp>
        <p:nvSpPr>
          <p:cNvPr id="70" name="Text 67"/>
          <p:cNvSpPr/>
          <p:nvPr/>
        </p:nvSpPr>
        <p:spPr>
          <a:xfrm>
            <a:off x="12846248" y="4648200"/>
            <a:ext cx="71407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operativo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9401621" y="5024438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Text 69"/>
          <p:cNvSpPr/>
          <p:nvPr/>
        </p:nvSpPr>
        <p:spPr>
          <a:xfrm>
            <a:off x="9601646" y="4981575"/>
            <a:ext cx="146946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Explotación · Spotfire</a:t>
            </a:r>
            <a:endParaRPr lang="en-US" sz="1125" dirty="0"/>
          </a:p>
        </p:txBody>
      </p:sp>
      <p:sp>
        <p:nvSpPr>
          <p:cNvPr id="73" name="Text 70"/>
          <p:cNvSpPr/>
          <p:nvPr/>
        </p:nvSpPr>
        <p:spPr>
          <a:xfrm>
            <a:off x="13058924" y="4991100"/>
            <a:ext cx="501402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uso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13693676" y="3467100"/>
            <a:ext cx="9525" cy="192405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72"/>
          <p:cNvSpPr/>
          <p:nvPr/>
        </p:nvSpPr>
        <p:spPr>
          <a:xfrm>
            <a:off x="13912751" y="3619500"/>
            <a:ext cx="341926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ENTORNOS</a:t>
            </a:r>
            <a:endParaRPr lang="en-US" sz="825" dirty="0"/>
          </a:p>
        </p:txBody>
      </p:sp>
      <p:sp>
        <p:nvSpPr>
          <p:cNvPr id="76" name="Shape 73"/>
          <p:cNvSpPr/>
          <p:nvPr/>
        </p:nvSpPr>
        <p:spPr>
          <a:xfrm>
            <a:off x="13912751" y="3890962"/>
            <a:ext cx="123825" cy="123825"/>
          </a:xfrm>
          <a:prstGeom prst="ellipse">
            <a:avLst/>
          </a:prstGeom>
          <a:solidFill>
            <a:srgbClr val="57BE8A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Text 74"/>
          <p:cNvSpPr/>
          <p:nvPr/>
        </p:nvSpPr>
        <p:spPr>
          <a:xfrm>
            <a:off x="14141351" y="3867150"/>
            <a:ext cx="7250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Desarrollo</a:t>
            </a:r>
            <a:endParaRPr lang="en-US" sz="1125" dirty="0"/>
          </a:p>
        </p:txBody>
      </p:sp>
      <p:sp>
        <p:nvSpPr>
          <p:cNvPr id="78" name="Shape 75"/>
          <p:cNvSpPr/>
          <p:nvPr/>
        </p:nvSpPr>
        <p:spPr>
          <a:xfrm>
            <a:off x="13912751" y="4157663"/>
            <a:ext cx="123825" cy="123825"/>
          </a:xfrm>
          <a:prstGeom prst="ellipse">
            <a:avLst/>
          </a:prstGeom>
          <a:solidFill>
            <a:srgbClr val="57BE8A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Text 76"/>
          <p:cNvSpPr/>
          <p:nvPr/>
        </p:nvSpPr>
        <p:spPr>
          <a:xfrm>
            <a:off x="14141351" y="4133850"/>
            <a:ext cx="10020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Preproducción</a:t>
            </a:r>
            <a:endParaRPr lang="en-US" sz="1125" dirty="0"/>
          </a:p>
        </p:txBody>
      </p:sp>
      <p:sp>
        <p:nvSpPr>
          <p:cNvPr id="80" name="Shape 77"/>
          <p:cNvSpPr/>
          <p:nvPr/>
        </p:nvSpPr>
        <p:spPr>
          <a:xfrm>
            <a:off x="13912751" y="4424363"/>
            <a:ext cx="123825" cy="123825"/>
          </a:xfrm>
          <a:prstGeom prst="ellipse">
            <a:avLst/>
          </a:prstGeom>
          <a:solidFill>
            <a:srgbClr val="855AC6"/>
          </a:solidFill>
          <a:ln w="19050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Text 78"/>
          <p:cNvSpPr/>
          <p:nvPr/>
        </p:nvSpPr>
        <p:spPr>
          <a:xfrm>
            <a:off x="14141351" y="4400550"/>
            <a:ext cx="7983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Producción</a:t>
            </a:r>
            <a:endParaRPr lang="en-US" sz="1125" dirty="0"/>
          </a:p>
        </p:txBody>
      </p:sp>
      <p:sp>
        <p:nvSpPr>
          <p:cNvPr id="82" name="Shape 79"/>
          <p:cNvSpPr/>
          <p:nvPr/>
        </p:nvSpPr>
        <p:spPr>
          <a:xfrm>
            <a:off x="9192071" y="5391150"/>
            <a:ext cx="8038654" cy="485775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3" name="Shape 80"/>
          <p:cNvSpPr/>
          <p:nvPr/>
        </p:nvSpPr>
        <p:spPr>
          <a:xfrm>
            <a:off x="9192071" y="5391150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4" name="Shape 81"/>
          <p:cNvSpPr/>
          <p:nvPr/>
        </p:nvSpPr>
        <p:spPr>
          <a:xfrm>
            <a:off x="9401621" y="5514975"/>
            <a:ext cx="895350" cy="247650"/>
          </a:xfrm>
          <a:prstGeom prst="roundRect">
            <a:avLst>
              <a:gd name="adj" fmla="val 23077"/>
            </a:avLst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5" name="Text 82"/>
          <p:cNvSpPr/>
          <p:nvPr/>
        </p:nvSpPr>
        <p:spPr>
          <a:xfrm>
            <a:off x="9506396" y="5562600"/>
            <a:ext cx="76200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Confluence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10411271" y="5552182"/>
            <a:ext cx="3120658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Buenas prácticas y </a:t>
            </a:r>
            <a:r>
              <a:rPr lang="en-US" sz="105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despliegues documentados</a:t>
            </a:r>
            <a:r>
              <a:rPr lang="en-US" sz="10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sp>
        <p:nvSpPr>
          <p:cNvPr id="87" name="Text 84"/>
          <p:cNvSpPr/>
          <p:nvPr/>
        </p:nvSpPr>
        <p:spPr>
          <a:xfrm>
            <a:off x="9182546" y="6440248"/>
            <a:ext cx="8863474" cy="350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127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BENEFICIO PARA BANKINTER</a:t>
            </a:r>
            <a:endParaRPr lang="en-US" sz="1200" dirty="0"/>
          </a:p>
        </p:txBody>
      </p:sp>
      <p:sp>
        <p:nvSpPr>
          <p:cNvPr id="88" name="Shape 85"/>
          <p:cNvSpPr/>
          <p:nvPr/>
        </p:nvSpPr>
        <p:spPr>
          <a:xfrm>
            <a:off x="9182546" y="6863562"/>
            <a:ext cx="2584252" cy="1247924"/>
          </a:xfrm>
          <a:prstGeom prst="roundRect">
            <a:avLst>
              <a:gd name="adj" fmla="val 9159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9" name="Shape 86"/>
          <p:cNvSpPr/>
          <p:nvPr/>
        </p:nvSpPr>
        <p:spPr>
          <a:xfrm>
            <a:off x="9182546" y="8101961"/>
            <a:ext cx="2584252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0" name="Shape 87"/>
          <p:cNvSpPr/>
          <p:nvPr/>
        </p:nvSpPr>
        <p:spPr>
          <a:xfrm>
            <a:off x="9182546" y="6863562"/>
            <a:ext cx="2584252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Shape 88"/>
          <p:cNvSpPr/>
          <p:nvPr/>
        </p:nvSpPr>
        <p:spPr>
          <a:xfrm>
            <a:off x="9182546" y="6863562"/>
            <a:ext cx="9525" cy="1247924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2" name="Shape 89"/>
          <p:cNvSpPr/>
          <p:nvPr/>
        </p:nvSpPr>
        <p:spPr>
          <a:xfrm>
            <a:off x="11757273" y="6863562"/>
            <a:ext cx="9525" cy="1247924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3" name="Text 90"/>
          <p:cNvSpPr/>
          <p:nvPr/>
        </p:nvSpPr>
        <p:spPr>
          <a:xfrm>
            <a:off x="9382571" y="7063587"/>
            <a:ext cx="2402622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Más agilidad</a:t>
            </a:r>
            <a:endParaRPr lang="en-US" sz="1575" dirty="0"/>
          </a:p>
        </p:txBody>
      </p:sp>
      <p:sp>
        <p:nvSpPr>
          <p:cNvPr id="94" name="Text 91"/>
          <p:cNvSpPr/>
          <p:nvPr/>
        </p:nvSpPr>
        <p:spPr>
          <a:xfrm>
            <a:off x="9382571" y="7373298"/>
            <a:ext cx="22604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casos de uso en menos tiempo.</a:t>
            </a:r>
            <a:endParaRPr lang="en-US" sz="1125" dirty="0"/>
          </a:p>
        </p:txBody>
      </p:sp>
      <p:sp>
        <p:nvSpPr>
          <p:cNvPr id="95" name="Shape 92"/>
          <p:cNvSpPr/>
          <p:nvPr/>
        </p:nvSpPr>
        <p:spPr>
          <a:xfrm>
            <a:off x="11919198" y="6863562"/>
            <a:ext cx="2584252" cy="1247924"/>
          </a:xfrm>
          <a:prstGeom prst="roundRect">
            <a:avLst>
              <a:gd name="adj" fmla="val 9159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6" name="Shape 93"/>
          <p:cNvSpPr/>
          <p:nvPr/>
        </p:nvSpPr>
        <p:spPr>
          <a:xfrm>
            <a:off x="11919198" y="8101961"/>
            <a:ext cx="2584252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7" name="Shape 94"/>
          <p:cNvSpPr/>
          <p:nvPr/>
        </p:nvSpPr>
        <p:spPr>
          <a:xfrm>
            <a:off x="11919198" y="6863562"/>
            <a:ext cx="2584252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8" name="Shape 95"/>
          <p:cNvSpPr/>
          <p:nvPr/>
        </p:nvSpPr>
        <p:spPr>
          <a:xfrm>
            <a:off x="11919198" y="6863562"/>
            <a:ext cx="9525" cy="1247924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9" name="Shape 96"/>
          <p:cNvSpPr/>
          <p:nvPr/>
        </p:nvSpPr>
        <p:spPr>
          <a:xfrm>
            <a:off x="14493925" y="6863562"/>
            <a:ext cx="9525" cy="1247924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0" name="Text 97"/>
          <p:cNvSpPr/>
          <p:nvPr/>
        </p:nvSpPr>
        <p:spPr>
          <a:xfrm>
            <a:off x="12119223" y="7063587"/>
            <a:ext cx="2402622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Analítica confiable</a:t>
            </a:r>
            <a:endParaRPr lang="en-US" sz="1575" dirty="0"/>
          </a:p>
        </p:txBody>
      </p:sp>
      <p:sp>
        <p:nvSpPr>
          <p:cNvPr id="101" name="Text 98"/>
          <p:cNvSpPr/>
          <p:nvPr/>
        </p:nvSpPr>
        <p:spPr>
          <a:xfrm>
            <a:off x="12119223" y="7373298"/>
            <a:ext cx="2260402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 fiable para decidir y más capacidad analítica e integración en Spotfire.</a:t>
            </a:r>
            <a:endParaRPr lang="en-US" sz="1125" dirty="0"/>
          </a:p>
        </p:txBody>
      </p:sp>
      <p:sp>
        <p:nvSpPr>
          <p:cNvPr id="102" name="Shape 99"/>
          <p:cNvSpPr/>
          <p:nvPr/>
        </p:nvSpPr>
        <p:spPr>
          <a:xfrm>
            <a:off x="14655850" y="6863562"/>
            <a:ext cx="2584400" cy="1247924"/>
          </a:xfrm>
          <a:prstGeom prst="roundRect">
            <a:avLst>
              <a:gd name="adj" fmla="val 9159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3" name="Shape 100"/>
          <p:cNvSpPr/>
          <p:nvPr/>
        </p:nvSpPr>
        <p:spPr>
          <a:xfrm>
            <a:off x="14655850" y="8101961"/>
            <a:ext cx="25844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Shape 101"/>
          <p:cNvSpPr/>
          <p:nvPr/>
        </p:nvSpPr>
        <p:spPr>
          <a:xfrm>
            <a:off x="14655850" y="6863562"/>
            <a:ext cx="2584400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5" name="Shape 102"/>
          <p:cNvSpPr/>
          <p:nvPr/>
        </p:nvSpPr>
        <p:spPr>
          <a:xfrm>
            <a:off x="14655850" y="6863562"/>
            <a:ext cx="9525" cy="1247924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6" name="Shape 103"/>
          <p:cNvSpPr/>
          <p:nvPr/>
        </p:nvSpPr>
        <p:spPr>
          <a:xfrm>
            <a:off x="17230725" y="6863562"/>
            <a:ext cx="9525" cy="1247924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Text 104"/>
          <p:cNvSpPr/>
          <p:nvPr/>
        </p:nvSpPr>
        <p:spPr>
          <a:xfrm>
            <a:off x="14855875" y="7063587"/>
            <a:ext cx="2402785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Operación estable</a:t>
            </a:r>
            <a:endParaRPr lang="en-US" sz="1575" dirty="0"/>
          </a:p>
        </p:txBody>
      </p:sp>
      <p:sp>
        <p:nvSpPr>
          <p:cNvPr id="108" name="Text 105"/>
          <p:cNvSpPr/>
          <p:nvPr/>
        </p:nvSpPr>
        <p:spPr>
          <a:xfrm>
            <a:off x="14855875" y="7373298"/>
            <a:ext cx="240278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Gobernada de origen a consumo.</a:t>
            </a:r>
            <a:endParaRPr lang="en-US" sz="1125" dirty="0"/>
          </a:p>
        </p:txBody>
      </p:sp>
      <p:sp>
        <p:nvSpPr>
          <p:cNvPr id="109" name="Text 106"/>
          <p:cNvSpPr/>
          <p:nvPr/>
        </p:nvSpPr>
        <p:spPr>
          <a:xfrm>
            <a:off x="1047750" y="9915525"/>
            <a:ext cx="47237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BANKINTER · CICLO DE VIDA DEL DATO · TIBCO SPOTFIRE</a:t>
            </a:r>
            <a:endParaRPr lang="en-US" sz="975" dirty="0"/>
          </a:p>
        </p:txBody>
      </p:sp>
      <p:sp>
        <p:nvSpPr>
          <p:cNvPr id="110" name="Text 107"/>
          <p:cNvSpPr/>
          <p:nvPr/>
        </p:nvSpPr>
        <p:spPr>
          <a:xfrm>
            <a:off x="14458950" y="9925050"/>
            <a:ext cx="30594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de éxito · sujeto a autorización por referencia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6096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338971" y="533400"/>
            <a:ext cx="1901279" cy="36195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529471" y="628650"/>
            <a:ext cx="15964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DE ÉXITO 4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2796689" y="1009650"/>
            <a:ext cx="4443561" cy="657225"/>
          </a:xfrm>
          <a:prstGeom prst="roundRect">
            <a:avLst>
              <a:gd name="adj" fmla="val 14493"/>
            </a:avLst>
          </a:prstGeom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2806214" y="1019175"/>
            <a:ext cx="1110258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2996714" y="1123950"/>
            <a:ext cx="8054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2996714" y="1323975"/>
            <a:ext cx="80545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Viscofan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3916471" y="1019175"/>
            <a:ext cx="2314575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3916471" y="1019175"/>
            <a:ext cx="9525" cy="63817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116496" y="1123950"/>
            <a:ext cx="211645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116496" y="1323975"/>
            <a:ext cx="211645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Industria · manufactura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6231046" y="1019175"/>
            <a:ext cx="999679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6231046" y="1019175"/>
            <a:ext cx="9525" cy="63817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6431071" y="1123950"/>
            <a:ext cx="6853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PAÍS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431071" y="1323975"/>
            <a:ext cx="6853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España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1047750" y="1952625"/>
            <a:ext cx="83615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CALIDAD · ANALÍTICA AVANZADA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1047750" y="2314575"/>
            <a:ext cx="4369463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kern="0" spc="-78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Anticipar el defecto antes de fabricarlo.</a:t>
            </a:r>
            <a:endParaRPr lang="en-US" sz="3900" dirty="0"/>
          </a:p>
        </p:txBody>
      </p:sp>
      <p:sp>
        <p:nvSpPr>
          <p:cNvPr id="33" name="Text 30"/>
          <p:cNvSpPr/>
          <p:nvPr/>
        </p:nvSpPr>
        <p:spPr>
          <a:xfrm>
            <a:off x="1047750" y="3476625"/>
            <a:ext cx="4179705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Modelos que detectan la desviación antes de que sea producto defectuoso.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47750" y="4560540"/>
            <a:ext cx="83615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PROBLEMA A RESOLVER</a:t>
            </a:r>
            <a:endParaRPr lang="en-US" sz="975" dirty="0"/>
          </a:p>
        </p:txBody>
      </p:sp>
      <p:sp>
        <p:nvSpPr>
          <p:cNvPr id="35" name="Shape 32"/>
          <p:cNvSpPr/>
          <p:nvPr/>
        </p:nvSpPr>
        <p:spPr>
          <a:xfrm>
            <a:off x="1047750" y="4846290"/>
            <a:ext cx="28575" cy="1135856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1266825" y="4846290"/>
            <a:ext cx="6703830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Viscofan quería mejorar la estabilidad y calidad de su proceso, reduciendo variabilidad, paradas y retrabajos. </a:t>
            </a:r>
            <a:r>
              <a:rPr lang="en-US" sz="15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Calidad </a:t>
            </a:r>
            <a:r>
              <a:rPr lang="en-US" sz="15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necesitaba identificar los parámetros críticos y anticipar desviaciones antes del defecto.</a:t>
            </a:r>
            <a:endParaRPr lang="en-US" sz="1575" dirty="0"/>
          </a:p>
        </p:txBody>
      </p:sp>
      <p:sp>
        <p:nvSpPr>
          <p:cNvPr id="37" name="Text 34"/>
          <p:cNvSpPr/>
          <p:nvPr/>
        </p:nvSpPr>
        <p:spPr>
          <a:xfrm>
            <a:off x="1047750" y="6229796"/>
            <a:ext cx="83615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LO RESOLVIMOS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1047750" y="6525071"/>
            <a:ext cx="266700" cy="26670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6"/>
          <p:cNvSpPr/>
          <p:nvPr/>
        </p:nvSpPr>
        <p:spPr>
          <a:xfrm>
            <a:off x="1009650" y="6525071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125" dirty="0"/>
          </a:p>
        </p:txBody>
      </p:sp>
      <p:sp>
        <p:nvSpPr>
          <p:cNvPr id="40" name="Text 37"/>
          <p:cNvSpPr/>
          <p:nvPr/>
        </p:nvSpPr>
        <p:spPr>
          <a:xfrm>
            <a:off x="1457325" y="6515546"/>
            <a:ext cx="7407576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Hicimos un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exploratorio profundo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cientos de miles de registros reales del proceso e identificamos los patrones relevantes: cómo influyen las distintas variables y rangos operativos en la calidad final.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047750" y="7407622"/>
            <a:ext cx="266700" cy="26670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39"/>
          <p:cNvSpPr/>
          <p:nvPr/>
        </p:nvSpPr>
        <p:spPr>
          <a:xfrm>
            <a:off x="1009650" y="7407622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1457325" y="7398097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Creamos una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 artificial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 captura el patrón que separa producción válida de defectuosa.</a:t>
            </a:r>
            <a:endParaRPr lang="en-US" sz="1425" dirty="0"/>
          </a:p>
        </p:txBody>
      </p:sp>
      <p:sp>
        <p:nvSpPr>
          <p:cNvPr id="44" name="Shape 41"/>
          <p:cNvSpPr/>
          <p:nvPr/>
        </p:nvSpPr>
        <p:spPr>
          <a:xfrm>
            <a:off x="1047750" y="8040439"/>
            <a:ext cx="266700" cy="266700"/>
          </a:xfrm>
          <a:prstGeom prst="ellipse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2"/>
          <p:cNvSpPr/>
          <p:nvPr/>
        </p:nvSpPr>
        <p:spPr>
          <a:xfrm>
            <a:off x="1009650" y="8040439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125" dirty="0"/>
          </a:p>
        </p:txBody>
      </p:sp>
      <p:sp>
        <p:nvSpPr>
          <p:cNvPr id="46" name="Text 43"/>
          <p:cNvSpPr/>
          <p:nvPr/>
        </p:nvSpPr>
        <p:spPr>
          <a:xfrm>
            <a:off x="1457325" y="8030914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Entrenamos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modelos predictivos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buen rendimiento en la detección anticipada de desviaciones.</a:t>
            </a:r>
            <a:endParaRPr lang="en-US" sz="1425" dirty="0"/>
          </a:p>
        </p:txBody>
      </p:sp>
      <p:sp>
        <p:nvSpPr>
          <p:cNvPr id="47" name="Shape 44"/>
          <p:cNvSpPr/>
          <p:nvPr/>
        </p:nvSpPr>
        <p:spPr>
          <a:xfrm>
            <a:off x="9182546" y="2257425"/>
            <a:ext cx="8057704" cy="3629025"/>
          </a:xfrm>
          <a:prstGeom prst="roundRect">
            <a:avLst>
              <a:gd name="adj" fmla="val 4199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209550" dist="76200" dir="5400000" algn="bl" rotWithShape="0">
              <a:srgbClr val="041C2C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8" name="Shape 45"/>
          <p:cNvSpPr/>
          <p:nvPr/>
        </p:nvSpPr>
        <p:spPr>
          <a:xfrm>
            <a:off x="9192071" y="2724150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Shape 46"/>
          <p:cNvSpPr/>
          <p:nvPr/>
        </p:nvSpPr>
        <p:spPr>
          <a:xfrm>
            <a:off x="9401621" y="2452688"/>
            <a:ext cx="85725" cy="85725"/>
          </a:xfrm>
          <a:prstGeom prst="ellipse">
            <a:avLst/>
          </a:prstGeom>
          <a:solidFill>
            <a:srgbClr val="57BE8A"/>
          </a:solidFill>
          <a:ln/>
          <a:effectLst>
            <a:outerShdw blurRad="101600" dist="50800" dir="16200000" algn="bl" rotWithShape="0">
              <a:srgbClr val="57BE8A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Text 47"/>
          <p:cNvSpPr/>
          <p:nvPr/>
        </p:nvSpPr>
        <p:spPr>
          <a:xfrm>
            <a:off x="9592121" y="2400300"/>
            <a:ext cx="297037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Control de proceso · modelo predictivo</a:t>
            </a:r>
            <a:endParaRPr lang="en-US" sz="1275" dirty="0"/>
          </a:p>
        </p:txBody>
      </p:sp>
      <p:sp>
        <p:nvSpPr>
          <p:cNvPr id="51" name="Text 48"/>
          <p:cNvSpPr/>
          <p:nvPr/>
        </p:nvSpPr>
        <p:spPr>
          <a:xfrm>
            <a:off x="15774293" y="2428875"/>
            <a:ext cx="13715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VISTA ILUSTRATIVA</a:t>
            </a:r>
            <a:endParaRPr lang="en-US" sz="825" dirty="0"/>
          </a:p>
        </p:txBody>
      </p:sp>
      <p:sp>
        <p:nvSpPr>
          <p:cNvPr id="52" name="Shape 49"/>
          <p:cNvSpPr/>
          <p:nvPr/>
        </p:nvSpPr>
        <p:spPr>
          <a:xfrm>
            <a:off x="9192071" y="3457575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Text 50"/>
          <p:cNvSpPr/>
          <p:nvPr/>
        </p:nvSpPr>
        <p:spPr>
          <a:xfrm>
            <a:off x="9401621" y="2876550"/>
            <a:ext cx="248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&gt;100k</a:t>
            </a:r>
            <a:endParaRPr lang="en-US" sz="1950" dirty="0"/>
          </a:p>
        </p:txBody>
      </p:sp>
      <p:sp>
        <p:nvSpPr>
          <p:cNvPr id="54" name="Text 51"/>
          <p:cNvSpPr/>
          <p:nvPr/>
        </p:nvSpPr>
        <p:spPr>
          <a:xfrm>
            <a:off x="9401621" y="3181350"/>
            <a:ext cx="248644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REGISTROS</a:t>
            </a:r>
            <a:endParaRPr lang="en-US" sz="825" dirty="0"/>
          </a:p>
        </p:txBody>
      </p:sp>
      <p:sp>
        <p:nvSpPr>
          <p:cNvPr id="55" name="Shape 52"/>
          <p:cNvSpPr/>
          <p:nvPr/>
        </p:nvSpPr>
        <p:spPr>
          <a:xfrm>
            <a:off x="11871573" y="2733675"/>
            <a:ext cx="9525" cy="72390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3"/>
          <p:cNvSpPr/>
          <p:nvPr/>
        </p:nvSpPr>
        <p:spPr>
          <a:xfrm>
            <a:off x="12090648" y="2876550"/>
            <a:ext cx="24759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ML</a:t>
            </a:r>
            <a:endParaRPr lang="en-US" sz="1950" dirty="0"/>
          </a:p>
        </p:txBody>
      </p:sp>
      <p:sp>
        <p:nvSpPr>
          <p:cNvPr id="57" name="Text 54"/>
          <p:cNvSpPr/>
          <p:nvPr/>
        </p:nvSpPr>
        <p:spPr>
          <a:xfrm>
            <a:off x="12090648" y="3181350"/>
            <a:ext cx="24759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PREDICTIVO</a:t>
            </a:r>
            <a:endParaRPr lang="en-US" sz="825" dirty="0"/>
          </a:p>
        </p:txBody>
      </p:sp>
      <p:sp>
        <p:nvSpPr>
          <p:cNvPr id="58" name="Shape 55"/>
          <p:cNvSpPr/>
          <p:nvPr/>
        </p:nvSpPr>
        <p:spPr>
          <a:xfrm>
            <a:off x="14551075" y="2733675"/>
            <a:ext cx="9525" cy="72390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Text 56"/>
          <p:cNvSpPr/>
          <p:nvPr/>
        </p:nvSpPr>
        <p:spPr>
          <a:xfrm>
            <a:off x="14770150" y="2876550"/>
            <a:ext cx="24761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Variable</a:t>
            </a:r>
            <a:endParaRPr lang="en-US" sz="1950" dirty="0"/>
          </a:p>
        </p:txBody>
      </p:sp>
      <p:sp>
        <p:nvSpPr>
          <p:cNvPr id="60" name="Text 57"/>
          <p:cNvSpPr/>
          <p:nvPr/>
        </p:nvSpPr>
        <p:spPr>
          <a:xfrm>
            <a:off x="14770150" y="3181350"/>
            <a:ext cx="247612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ARTIFICIAL</a:t>
            </a:r>
            <a:endParaRPr lang="en-US" sz="825" dirty="0"/>
          </a:p>
        </p:txBody>
      </p:sp>
      <p:sp>
        <p:nvSpPr>
          <p:cNvPr id="61" name="Text 58"/>
          <p:cNvSpPr/>
          <p:nvPr/>
        </p:nvSpPr>
        <p:spPr>
          <a:xfrm>
            <a:off x="9401621" y="3619500"/>
            <a:ext cx="44907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PARÁMETROS CRÍTICOS</a:t>
            </a:r>
            <a:endParaRPr lang="en-US" sz="825" dirty="0"/>
          </a:p>
        </p:txBody>
      </p:sp>
      <p:sp>
        <p:nvSpPr>
          <p:cNvPr id="62" name="Shape 59"/>
          <p:cNvSpPr/>
          <p:nvPr/>
        </p:nvSpPr>
        <p:spPr>
          <a:xfrm>
            <a:off x="9401621" y="3995738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Text 60"/>
          <p:cNvSpPr/>
          <p:nvPr/>
        </p:nvSpPr>
        <p:spPr>
          <a:xfrm>
            <a:off x="9601646" y="3952875"/>
            <a:ext cx="87749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Temperatura</a:t>
            </a:r>
            <a:endParaRPr lang="en-US" sz="1125" dirty="0"/>
          </a:p>
        </p:txBody>
      </p:sp>
      <p:sp>
        <p:nvSpPr>
          <p:cNvPr id="64" name="Text 61"/>
          <p:cNvSpPr/>
          <p:nvPr/>
        </p:nvSpPr>
        <p:spPr>
          <a:xfrm>
            <a:off x="12917091" y="3962400"/>
            <a:ext cx="643235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rango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9401621" y="4338638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 63"/>
          <p:cNvSpPr/>
          <p:nvPr/>
        </p:nvSpPr>
        <p:spPr>
          <a:xfrm>
            <a:off x="9601646" y="4295775"/>
            <a:ext cx="5472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Presión</a:t>
            </a:r>
            <a:endParaRPr lang="en-US" sz="1125" dirty="0"/>
          </a:p>
        </p:txBody>
      </p:sp>
      <p:sp>
        <p:nvSpPr>
          <p:cNvPr id="67" name="Text 64"/>
          <p:cNvSpPr/>
          <p:nvPr/>
        </p:nvSpPr>
        <p:spPr>
          <a:xfrm>
            <a:off x="12917091" y="4305300"/>
            <a:ext cx="643235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rango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9401621" y="4681538"/>
            <a:ext cx="85725" cy="85725"/>
          </a:xfrm>
          <a:prstGeom prst="ellipse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9" name="Text 66"/>
          <p:cNvSpPr/>
          <p:nvPr/>
        </p:nvSpPr>
        <p:spPr>
          <a:xfrm>
            <a:off x="9601646" y="4638675"/>
            <a:ext cx="11892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Velocidad de línea</a:t>
            </a:r>
            <a:endParaRPr lang="en-US" sz="1125" dirty="0"/>
          </a:p>
        </p:txBody>
      </p:sp>
      <p:sp>
        <p:nvSpPr>
          <p:cNvPr id="70" name="Text 67"/>
          <p:cNvSpPr/>
          <p:nvPr/>
        </p:nvSpPr>
        <p:spPr>
          <a:xfrm>
            <a:off x="12987933" y="4648200"/>
            <a:ext cx="572393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vigilar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9401621" y="5024438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Text 69"/>
          <p:cNvSpPr/>
          <p:nvPr/>
        </p:nvSpPr>
        <p:spPr>
          <a:xfrm>
            <a:off x="9601646" y="4981575"/>
            <a:ext cx="66913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Humedad</a:t>
            </a:r>
            <a:endParaRPr lang="en-US" sz="1125" dirty="0"/>
          </a:p>
        </p:txBody>
      </p:sp>
      <p:sp>
        <p:nvSpPr>
          <p:cNvPr id="73" name="Text 70"/>
          <p:cNvSpPr/>
          <p:nvPr/>
        </p:nvSpPr>
        <p:spPr>
          <a:xfrm>
            <a:off x="12917091" y="4991100"/>
            <a:ext cx="643235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rango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13693676" y="3467100"/>
            <a:ext cx="9525" cy="192405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72"/>
          <p:cNvSpPr/>
          <p:nvPr/>
        </p:nvSpPr>
        <p:spPr>
          <a:xfrm>
            <a:off x="13912751" y="3619500"/>
            <a:ext cx="341926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PREDICCIÓN</a:t>
            </a:r>
            <a:endParaRPr lang="en-US" sz="825" dirty="0"/>
          </a:p>
        </p:txBody>
      </p:sp>
      <p:sp>
        <p:nvSpPr>
          <p:cNvPr id="76" name="Shape 73"/>
          <p:cNvSpPr/>
          <p:nvPr/>
        </p:nvSpPr>
        <p:spPr>
          <a:xfrm>
            <a:off x="13912751" y="3890962"/>
            <a:ext cx="123825" cy="123825"/>
          </a:xfrm>
          <a:prstGeom prst="ellipse">
            <a:avLst/>
          </a:prstGeom>
          <a:solidFill>
            <a:srgbClr val="57BE8A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7" name="Text 74"/>
          <p:cNvSpPr/>
          <p:nvPr/>
        </p:nvSpPr>
        <p:spPr>
          <a:xfrm>
            <a:off x="14141351" y="3867150"/>
            <a:ext cx="12248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 del proceso</a:t>
            </a:r>
            <a:endParaRPr lang="en-US" sz="1125" dirty="0"/>
          </a:p>
        </p:txBody>
      </p:sp>
      <p:sp>
        <p:nvSpPr>
          <p:cNvPr id="78" name="Shape 75"/>
          <p:cNvSpPr/>
          <p:nvPr/>
        </p:nvSpPr>
        <p:spPr>
          <a:xfrm>
            <a:off x="13912751" y="4157663"/>
            <a:ext cx="123825" cy="123825"/>
          </a:xfrm>
          <a:prstGeom prst="ellipse">
            <a:avLst/>
          </a:prstGeom>
          <a:solidFill>
            <a:srgbClr val="57BE8A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9" name="Text 76"/>
          <p:cNvSpPr/>
          <p:nvPr/>
        </p:nvSpPr>
        <p:spPr>
          <a:xfrm>
            <a:off x="14141351" y="4133850"/>
            <a:ext cx="11410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 artificial</a:t>
            </a:r>
            <a:endParaRPr lang="en-US" sz="1125" dirty="0"/>
          </a:p>
        </p:txBody>
      </p:sp>
      <p:sp>
        <p:nvSpPr>
          <p:cNvPr id="80" name="Shape 77"/>
          <p:cNvSpPr/>
          <p:nvPr/>
        </p:nvSpPr>
        <p:spPr>
          <a:xfrm>
            <a:off x="13912751" y="4424363"/>
            <a:ext cx="123825" cy="123825"/>
          </a:xfrm>
          <a:prstGeom prst="ellipse">
            <a:avLst/>
          </a:prstGeom>
          <a:solidFill>
            <a:srgbClr val="855AC6"/>
          </a:solidFill>
          <a:ln w="19050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Text 78"/>
          <p:cNvSpPr/>
          <p:nvPr/>
        </p:nvSpPr>
        <p:spPr>
          <a:xfrm>
            <a:off x="14141351" y="4400550"/>
            <a:ext cx="120580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Modelo predictivo</a:t>
            </a:r>
            <a:endParaRPr lang="en-US" sz="1125" dirty="0"/>
          </a:p>
        </p:txBody>
      </p:sp>
      <p:sp>
        <p:nvSpPr>
          <p:cNvPr id="82" name="Shape 79"/>
          <p:cNvSpPr/>
          <p:nvPr/>
        </p:nvSpPr>
        <p:spPr>
          <a:xfrm>
            <a:off x="13912751" y="4691063"/>
            <a:ext cx="123825" cy="123825"/>
          </a:xfrm>
          <a:prstGeom prst="ellipse">
            <a:avLst/>
          </a:prstGeom>
          <a:ln w="19050">
            <a:solidFill>
              <a:srgbClr val="9DAE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80"/>
          <p:cNvSpPr/>
          <p:nvPr/>
        </p:nvSpPr>
        <p:spPr>
          <a:xfrm>
            <a:off x="14141351" y="4667250"/>
            <a:ext cx="1365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Alerta de desviación</a:t>
            </a:r>
            <a:endParaRPr lang="en-US" sz="1125" dirty="0"/>
          </a:p>
        </p:txBody>
      </p:sp>
      <p:sp>
        <p:nvSpPr>
          <p:cNvPr id="84" name="Shape 81"/>
          <p:cNvSpPr/>
          <p:nvPr/>
        </p:nvSpPr>
        <p:spPr>
          <a:xfrm>
            <a:off x="9192071" y="5391150"/>
            <a:ext cx="8038654" cy="485775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5" name="Shape 82"/>
          <p:cNvSpPr/>
          <p:nvPr/>
        </p:nvSpPr>
        <p:spPr>
          <a:xfrm>
            <a:off x="9192071" y="5391150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6" name="Shape 83"/>
          <p:cNvSpPr/>
          <p:nvPr/>
        </p:nvSpPr>
        <p:spPr>
          <a:xfrm>
            <a:off x="9401621" y="5514975"/>
            <a:ext cx="621060" cy="247650"/>
          </a:xfrm>
          <a:prstGeom prst="roundRect">
            <a:avLst>
              <a:gd name="adj" fmla="val 23077"/>
            </a:avLst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7" name="Text 84"/>
          <p:cNvSpPr/>
          <p:nvPr/>
        </p:nvSpPr>
        <p:spPr>
          <a:xfrm>
            <a:off x="9506396" y="5562600"/>
            <a:ext cx="48771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10136981" y="5552182"/>
            <a:ext cx="3304014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Detección anticipada </a:t>
            </a:r>
            <a:r>
              <a:rPr lang="en-US" sz="10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la desviación del proceso.</a:t>
            </a:r>
            <a:endParaRPr lang="en-US" sz="1050" dirty="0"/>
          </a:p>
        </p:txBody>
      </p:sp>
      <p:sp>
        <p:nvSpPr>
          <p:cNvPr id="89" name="Text 86"/>
          <p:cNvSpPr/>
          <p:nvPr/>
        </p:nvSpPr>
        <p:spPr>
          <a:xfrm>
            <a:off x="9182546" y="6286500"/>
            <a:ext cx="886347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27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BENEFICIO PARA VISCOFAN</a:t>
            </a:r>
            <a:endParaRPr lang="en-US" sz="975" dirty="0"/>
          </a:p>
        </p:txBody>
      </p:sp>
      <p:sp>
        <p:nvSpPr>
          <p:cNvPr id="90" name="Shape 87"/>
          <p:cNvSpPr/>
          <p:nvPr/>
        </p:nvSpPr>
        <p:spPr>
          <a:xfrm>
            <a:off x="9182546" y="6572250"/>
            <a:ext cx="2584252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1" name="Shape 88"/>
          <p:cNvSpPr/>
          <p:nvPr/>
        </p:nvSpPr>
        <p:spPr>
          <a:xfrm>
            <a:off x="9182546" y="7624911"/>
            <a:ext cx="2584252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2" name="Shape 89"/>
          <p:cNvSpPr/>
          <p:nvPr/>
        </p:nvSpPr>
        <p:spPr>
          <a:xfrm>
            <a:off x="9182546" y="6572250"/>
            <a:ext cx="2584252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3" name="Shape 90"/>
          <p:cNvSpPr/>
          <p:nvPr/>
        </p:nvSpPr>
        <p:spPr>
          <a:xfrm>
            <a:off x="9182546" y="65722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4" name="Shape 91"/>
          <p:cNvSpPr/>
          <p:nvPr/>
        </p:nvSpPr>
        <p:spPr>
          <a:xfrm>
            <a:off x="11757273" y="65722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5" name="Text 92"/>
          <p:cNvSpPr/>
          <p:nvPr/>
        </p:nvSpPr>
        <p:spPr>
          <a:xfrm>
            <a:off x="9382571" y="6772275"/>
            <a:ext cx="2402622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Menos defectos</a:t>
            </a:r>
            <a:endParaRPr lang="en-US" sz="1575" dirty="0"/>
          </a:p>
        </p:txBody>
      </p:sp>
      <p:sp>
        <p:nvSpPr>
          <p:cNvPr id="96" name="Text 93"/>
          <p:cNvSpPr/>
          <p:nvPr/>
        </p:nvSpPr>
        <p:spPr>
          <a:xfrm>
            <a:off x="9382571" y="7081986"/>
            <a:ext cx="22604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Menor riesgo de producto defectuoso.</a:t>
            </a:r>
            <a:endParaRPr lang="en-US" sz="1125" dirty="0"/>
          </a:p>
        </p:txBody>
      </p:sp>
      <p:sp>
        <p:nvSpPr>
          <p:cNvPr id="97" name="Shape 94"/>
          <p:cNvSpPr/>
          <p:nvPr/>
        </p:nvSpPr>
        <p:spPr>
          <a:xfrm>
            <a:off x="11919198" y="6572250"/>
            <a:ext cx="2584252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8" name="Shape 95"/>
          <p:cNvSpPr/>
          <p:nvPr/>
        </p:nvSpPr>
        <p:spPr>
          <a:xfrm>
            <a:off x="11919198" y="7624911"/>
            <a:ext cx="2584252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9" name="Shape 96"/>
          <p:cNvSpPr/>
          <p:nvPr/>
        </p:nvSpPr>
        <p:spPr>
          <a:xfrm>
            <a:off x="11919198" y="6572250"/>
            <a:ext cx="2584252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0" name="Shape 97"/>
          <p:cNvSpPr/>
          <p:nvPr/>
        </p:nvSpPr>
        <p:spPr>
          <a:xfrm>
            <a:off x="11919198" y="65722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Shape 98"/>
          <p:cNvSpPr/>
          <p:nvPr/>
        </p:nvSpPr>
        <p:spPr>
          <a:xfrm>
            <a:off x="14493925" y="65722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2" name="Text 99"/>
          <p:cNvSpPr/>
          <p:nvPr/>
        </p:nvSpPr>
        <p:spPr>
          <a:xfrm>
            <a:off x="12119223" y="6772275"/>
            <a:ext cx="2402622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Parámetros visibles</a:t>
            </a:r>
            <a:endParaRPr lang="en-US" sz="1575" dirty="0"/>
          </a:p>
        </p:txBody>
      </p:sp>
      <p:sp>
        <p:nvSpPr>
          <p:cNvPr id="103" name="Text 100"/>
          <p:cNvSpPr/>
          <p:nvPr/>
        </p:nvSpPr>
        <p:spPr>
          <a:xfrm>
            <a:off x="12119223" y="7081986"/>
            <a:ext cx="22604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variables que mueven la calidad.</a:t>
            </a:r>
            <a:endParaRPr lang="en-US" sz="1125" dirty="0"/>
          </a:p>
        </p:txBody>
      </p:sp>
      <p:sp>
        <p:nvSpPr>
          <p:cNvPr id="104" name="Shape 101"/>
          <p:cNvSpPr/>
          <p:nvPr/>
        </p:nvSpPr>
        <p:spPr>
          <a:xfrm>
            <a:off x="14655850" y="6572250"/>
            <a:ext cx="2584400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5" name="Shape 102"/>
          <p:cNvSpPr/>
          <p:nvPr/>
        </p:nvSpPr>
        <p:spPr>
          <a:xfrm>
            <a:off x="14655850" y="7624911"/>
            <a:ext cx="25844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6" name="Shape 103"/>
          <p:cNvSpPr/>
          <p:nvPr/>
        </p:nvSpPr>
        <p:spPr>
          <a:xfrm>
            <a:off x="14655850" y="6572250"/>
            <a:ext cx="2584400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7" name="Shape 104"/>
          <p:cNvSpPr/>
          <p:nvPr/>
        </p:nvSpPr>
        <p:spPr>
          <a:xfrm>
            <a:off x="14655850" y="65722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8" name="Shape 105"/>
          <p:cNvSpPr/>
          <p:nvPr/>
        </p:nvSpPr>
        <p:spPr>
          <a:xfrm>
            <a:off x="17230725" y="65722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9" name="Text 106"/>
          <p:cNvSpPr/>
          <p:nvPr/>
        </p:nvSpPr>
        <p:spPr>
          <a:xfrm>
            <a:off x="14855875" y="6772275"/>
            <a:ext cx="2402785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Más prevención</a:t>
            </a:r>
            <a:endParaRPr lang="en-US" sz="1575" dirty="0"/>
          </a:p>
        </p:txBody>
      </p:sp>
      <p:sp>
        <p:nvSpPr>
          <p:cNvPr id="110" name="Text 107"/>
          <p:cNvSpPr/>
          <p:nvPr/>
        </p:nvSpPr>
        <p:spPr>
          <a:xfrm>
            <a:off x="14855875" y="7081986"/>
            <a:ext cx="226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 preventiva sobre el proceso.</a:t>
            </a:r>
            <a:endParaRPr lang="en-US" sz="1125" dirty="0"/>
          </a:p>
        </p:txBody>
      </p:sp>
      <p:sp>
        <p:nvSpPr>
          <p:cNvPr id="111" name="Text 108"/>
          <p:cNvSpPr/>
          <p:nvPr/>
        </p:nvSpPr>
        <p:spPr>
          <a:xfrm>
            <a:off x="1047750" y="9915525"/>
            <a:ext cx="574265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VISCOFAN · ANALÍTICA AVANZADA DE PROCESO · MODELOS PREDICTIVOS</a:t>
            </a:r>
            <a:endParaRPr lang="en-US" sz="975" dirty="0"/>
          </a:p>
        </p:txBody>
      </p:sp>
      <p:sp>
        <p:nvSpPr>
          <p:cNvPr id="112" name="Text 109"/>
          <p:cNvSpPr/>
          <p:nvPr/>
        </p:nvSpPr>
        <p:spPr>
          <a:xfrm>
            <a:off x="14458950" y="9925050"/>
            <a:ext cx="30594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de éxito · sujeto a autorización por referencia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6096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338971" y="533400"/>
            <a:ext cx="1901279" cy="36195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529471" y="628650"/>
            <a:ext cx="15964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DE ÉXITO 5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2859643" y="1009650"/>
            <a:ext cx="4380607" cy="657225"/>
          </a:xfrm>
          <a:prstGeom prst="roundRect">
            <a:avLst>
              <a:gd name="adj" fmla="val 14493"/>
            </a:avLst>
          </a:prstGeom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2869168" y="1019175"/>
            <a:ext cx="965150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3059668" y="1123950"/>
            <a:ext cx="6603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059668" y="1323975"/>
            <a:ext cx="660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Fuvex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3834318" y="1019175"/>
            <a:ext cx="2396728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3834318" y="1019175"/>
            <a:ext cx="9525" cy="63817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034343" y="1123950"/>
            <a:ext cx="220682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034343" y="1323975"/>
            <a:ext cx="220682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Drones · movilidad aérea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6231046" y="1019175"/>
            <a:ext cx="999679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6231046" y="1019175"/>
            <a:ext cx="9525" cy="63817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6431071" y="1123950"/>
            <a:ext cx="6853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PAÍS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431071" y="1323975"/>
            <a:ext cx="6853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España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1047750" y="1952625"/>
            <a:ext cx="83615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MANTENIMIENTO PREDICTIVO · IA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1047750" y="2314575"/>
            <a:ext cx="4369463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900" b="1" kern="0" spc="-78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fallo, detectado antes del vuelo.</a:t>
            </a:r>
            <a:endParaRPr lang="en-US" sz="3900" dirty="0"/>
          </a:p>
        </p:txBody>
      </p:sp>
      <p:sp>
        <p:nvSpPr>
          <p:cNvPr id="33" name="Text 30"/>
          <p:cNvSpPr/>
          <p:nvPr/>
        </p:nvSpPr>
        <p:spPr>
          <a:xfrm>
            <a:off x="1047750" y="3476625"/>
            <a:ext cx="4597747" cy="874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800" b="1" kern="0" spc="-18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Análisis automático post-vuelo que convierte los logs en mantenimiento preventivo.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047750" y="4560540"/>
            <a:ext cx="83615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PROBLEMA A RESOLVER</a:t>
            </a:r>
            <a:endParaRPr lang="en-US" sz="975" dirty="0"/>
          </a:p>
        </p:txBody>
      </p:sp>
      <p:sp>
        <p:nvSpPr>
          <p:cNvPr id="35" name="Shape 32"/>
          <p:cNvSpPr/>
          <p:nvPr/>
        </p:nvSpPr>
        <p:spPr>
          <a:xfrm>
            <a:off x="1047750" y="4846290"/>
            <a:ext cx="28575" cy="1135856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1266825" y="4846290"/>
            <a:ext cx="6436793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Fuvex opera drones de largo alcance en misiones críticas y necesitaba automatizar el análisis post-vuelo. El proceso manual era lento, dependía de </a:t>
            </a:r>
            <a:r>
              <a:rPr lang="en-US" sz="15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expertise técnico </a:t>
            </a:r>
            <a:r>
              <a:rPr lang="en-US" sz="15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 no escalaba con la flota.</a:t>
            </a:r>
            <a:endParaRPr lang="en-US" sz="1575" dirty="0"/>
          </a:p>
        </p:txBody>
      </p:sp>
      <p:sp>
        <p:nvSpPr>
          <p:cNvPr id="37" name="Text 34"/>
          <p:cNvSpPr/>
          <p:nvPr/>
        </p:nvSpPr>
        <p:spPr>
          <a:xfrm>
            <a:off x="1047750" y="6229796"/>
            <a:ext cx="83615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LO RESOLVIMOS</a:t>
            </a:r>
            <a:endParaRPr lang="en-US" sz="975" dirty="0"/>
          </a:p>
        </p:txBody>
      </p:sp>
      <p:sp>
        <p:nvSpPr>
          <p:cNvPr id="38" name="Shape 35"/>
          <p:cNvSpPr/>
          <p:nvPr/>
        </p:nvSpPr>
        <p:spPr>
          <a:xfrm>
            <a:off x="1047750" y="6525071"/>
            <a:ext cx="266700" cy="26670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6"/>
          <p:cNvSpPr/>
          <p:nvPr/>
        </p:nvSpPr>
        <p:spPr>
          <a:xfrm>
            <a:off x="1009650" y="6525071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125" dirty="0"/>
          </a:p>
        </p:txBody>
      </p:sp>
      <p:sp>
        <p:nvSpPr>
          <p:cNvPr id="40" name="Text 37"/>
          <p:cNvSpPr/>
          <p:nvPr/>
        </p:nvSpPr>
        <p:spPr>
          <a:xfrm>
            <a:off x="1457325" y="6515546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Procesamos los logs para extraer señales de batería, motores, IMU, GPS, comunicaciones, temperatura y vibración.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047750" y="7157889"/>
            <a:ext cx="266700" cy="26670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39"/>
          <p:cNvSpPr/>
          <p:nvPr/>
        </p:nvSpPr>
        <p:spPr>
          <a:xfrm>
            <a:off x="1009650" y="7157889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1457325" y="7148364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Detectamos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anomalías multicomponente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combinando reglas del fabricante con modelos estadísticos y ML.</a:t>
            </a:r>
            <a:endParaRPr lang="en-US" sz="1425" dirty="0"/>
          </a:p>
        </p:txBody>
      </p:sp>
      <p:sp>
        <p:nvSpPr>
          <p:cNvPr id="44" name="Shape 41"/>
          <p:cNvSpPr/>
          <p:nvPr/>
        </p:nvSpPr>
        <p:spPr>
          <a:xfrm>
            <a:off x="1047750" y="7790706"/>
            <a:ext cx="266700" cy="266700"/>
          </a:xfrm>
          <a:prstGeom prst="ellipse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5" name="Text 42"/>
          <p:cNvSpPr/>
          <p:nvPr/>
        </p:nvSpPr>
        <p:spPr>
          <a:xfrm>
            <a:off x="1009650" y="7790706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125" dirty="0"/>
          </a:p>
        </p:txBody>
      </p:sp>
      <p:sp>
        <p:nvSpPr>
          <p:cNvPr id="46" name="Text 43"/>
          <p:cNvSpPr/>
          <p:nvPr/>
        </p:nvSpPr>
        <p:spPr>
          <a:xfrm>
            <a:off x="1457325" y="7781181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Estimamos la severidad y enviamos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alertas accionables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 explicabilidad: qué falló, por qué y cuándo.</a:t>
            </a:r>
            <a:endParaRPr lang="en-US" sz="1425" dirty="0"/>
          </a:p>
        </p:txBody>
      </p:sp>
      <p:sp>
        <p:nvSpPr>
          <p:cNvPr id="47" name="Shape 44"/>
          <p:cNvSpPr/>
          <p:nvPr/>
        </p:nvSpPr>
        <p:spPr>
          <a:xfrm>
            <a:off x="9182546" y="2257425"/>
            <a:ext cx="8057704" cy="3629025"/>
          </a:xfrm>
          <a:prstGeom prst="roundRect">
            <a:avLst>
              <a:gd name="adj" fmla="val 4199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209550" dist="76200" dir="5400000" algn="bl" rotWithShape="0">
              <a:srgbClr val="041C2C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8" name="Shape 45"/>
          <p:cNvSpPr/>
          <p:nvPr/>
        </p:nvSpPr>
        <p:spPr>
          <a:xfrm>
            <a:off x="9192071" y="2724150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Shape 46"/>
          <p:cNvSpPr/>
          <p:nvPr/>
        </p:nvSpPr>
        <p:spPr>
          <a:xfrm>
            <a:off x="9401621" y="2452688"/>
            <a:ext cx="85725" cy="85725"/>
          </a:xfrm>
          <a:prstGeom prst="ellipse">
            <a:avLst/>
          </a:prstGeom>
          <a:solidFill>
            <a:srgbClr val="57BE8A"/>
          </a:solidFill>
          <a:ln/>
          <a:effectLst>
            <a:outerShdw blurRad="101600" dist="50800" dir="16200000" algn="bl" rotWithShape="0">
              <a:srgbClr val="57BE8A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0" name="Text 47"/>
          <p:cNvSpPr/>
          <p:nvPr/>
        </p:nvSpPr>
        <p:spPr>
          <a:xfrm>
            <a:off x="9592121" y="2400300"/>
            <a:ext cx="23206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Diagnóstico post-vuelo · panel</a:t>
            </a:r>
            <a:endParaRPr lang="en-US" sz="1275" dirty="0"/>
          </a:p>
        </p:txBody>
      </p:sp>
      <p:sp>
        <p:nvSpPr>
          <p:cNvPr id="51" name="Text 48"/>
          <p:cNvSpPr/>
          <p:nvPr/>
        </p:nvSpPr>
        <p:spPr>
          <a:xfrm>
            <a:off x="15774293" y="2428875"/>
            <a:ext cx="13715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VISTA ILUSTRATIVA</a:t>
            </a:r>
            <a:endParaRPr lang="en-US" sz="825" dirty="0"/>
          </a:p>
        </p:txBody>
      </p:sp>
      <p:sp>
        <p:nvSpPr>
          <p:cNvPr id="52" name="Shape 49"/>
          <p:cNvSpPr/>
          <p:nvPr/>
        </p:nvSpPr>
        <p:spPr>
          <a:xfrm>
            <a:off x="9192071" y="3457575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Text 50"/>
          <p:cNvSpPr/>
          <p:nvPr/>
        </p:nvSpPr>
        <p:spPr>
          <a:xfrm>
            <a:off x="9401621" y="2876550"/>
            <a:ext cx="24864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 señales</a:t>
            </a:r>
            <a:endParaRPr lang="en-US" sz="1950" dirty="0"/>
          </a:p>
        </p:txBody>
      </p:sp>
      <p:sp>
        <p:nvSpPr>
          <p:cNvPr id="54" name="Text 51"/>
          <p:cNvSpPr/>
          <p:nvPr/>
        </p:nvSpPr>
        <p:spPr>
          <a:xfrm>
            <a:off x="9401621" y="3181350"/>
            <a:ext cx="248644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 VUELO</a:t>
            </a:r>
            <a:endParaRPr lang="en-US" sz="825" dirty="0"/>
          </a:p>
        </p:txBody>
      </p:sp>
      <p:sp>
        <p:nvSpPr>
          <p:cNvPr id="55" name="Shape 52"/>
          <p:cNvSpPr/>
          <p:nvPr/>
        </p:nvSpPr>
        <p:spPr>
          <a:xfrm>
            <a:off x="11871573" y="2733675"/>
            <a:ext cx="9525" cy="72390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3"/>
          <p:cNvSpPr/>
          <p:nvPr/>
        </p:nvSpPr>
        <p:spPr>
          <a:xfrm>
            <a:off x="12090648" y="2876550"/>
            <a:ext cx="24759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Reglas + ML</a:t>
            </a:r>
            <a:endParaRPr lang="en-US" sz="1950" dirty="0"/>
          </a:p>
        </p:txBody>
      </p:sp>
      <p:sp>
        <p:nvSpPr>
          <p:cNvPr id="57" name="Text 54"/>
          <p:cNvSpPr/>
          <p:nvPr/>
        </p:nvSpPr>
        <p:spPr>
          <a:xfrm>
            <a:off x="12090648" y="3181350"/>
            <a:ext cx="247596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DETECCIÓN</a:t>
            </a:r>
            <a:endParaRPr lang="en-US" sz="825" dirty="0"/>
          </a:p>
        </p:txBody>
      </p:sp>
      <p:sp>
        <p:nvSpPr>
          <p:cNvPr id="58" name="Shape 55"/>
          <p:cNvSpPr/>
          <p:nvPr/>
        </p:nvSpPr>
        <p:spPr>
          <a:xfrm>
            <a:off x="14551075" y="2733675"/>
            <a:ext cx="9525" cy="72390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Text 56"/>
          <p:cNvSpPr/>
          <p:nvPr/>
        </p:nvSpPr>
        <p:spPr>
          <a:xfrm>
            <a:off x="14770150" y="2876550"/>
            <a:ext cx="24761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50" b="1" kern="0" spc="-29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Email</a:t>
            </a:r>
            <a:endParaRPr lang="en-US" sz="1950" dirty="0"/>
          </a:p>
        </p:txBody>
      </p:sp>
      <p:sp>
        <p:nvSpPr>
          <p:cNvPr id="60" name="Text 57"/>
          <p:cNvSpPr/>
          <p:nvPr/>
        </p:nvSpPr>
        <p:spPr>
          <a:xfrm>
            <a:off x="14770150" y="3181350"/>
            <a:ext cx="247612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5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ALERTAS</a:t>
            </a:r>
            <a:endParaRPr lang="en-US" sz="825" dirty="0"/>
          </a:p>
        </p:txBody>
      </p:sp>
      <p:sp>
        <p:nvSpPr>
          <p:cNvPr id="61" name="Text 58"/>
          <p:cNvSpPr/>
          <p:nvPr/>
        </p:nvSpPr>
        <p:spPr>
          <a:xfrm>
            <a:off x="9401621" y="3619500"/>
            <a:ext cx="449075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COMPONENTES</a:t>
            </a:r>
            <a:endParaRPr lang="en-US" sz="825" dirty="0"/>
          </a:p>
        </p:txBody>
      </p:sp>
      <p:sp>
        <p:nvSpPr>
          <p:cNvPr id="62" name="Shape 59"/>
          <p:cNvSpPr/>
          <p:nvPr/>
        </p:nvSpPr>
        <p:spPr>
          <a:xfrm>
            <a:off x="9401621" y="3995738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Text 60"/>
          <p:cNvSpPr/>
          <p:nvPr/>
        </p:nvSpPr>
        <p:spPr>
          <a:xfrm>
            <a:off x="9601646" y="3952875"/>
            <a:ext cx="146832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Batería · GPS · comms</a:t>
            </a:r>
            <a:endParaRPr lang="en-US" sz="1125" dirty="0"/>
          </a:p>
        </p:txBody>
      </p:sp>
      <p:sp>
        <p:nvSpPr>
          <p:cNvPr id="64" name="Text 61"/>
          <p:cNvSpPr/>
          <p:nvPr/>
        </p:nvSpPr>
        <p:spPr>
          <a:xfrm>
            <a:off x="13342293" y="3962400"/>
            <a:ext cx="218033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OK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9401621" y="4338638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 63"/>
          <p:cNvSpPr/>
          <p:nvPr/>
        </p:nvSpPr>
        <p:spPr>
          <a:xfrm>
            <a:off x="9601646" y="4295775"/>
            <a:ext cx="11736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IMU · temperatura</a:t>
            </a:r>
            <a:endParaRPr lang="en-US" sz="1125" dirty="0"/>
          </a:p>
        </p:txBody>
      </p:sp>
      <p:sp>
        <p:nvSpPr>
          <p:cNvPr id="67" name="Text 64"/>
          <p:cNvSpPr/>
          <p:nvPr/>
        </p:nvSpPr>
        <p:spPr>
          <a:xfrm>
            <a:off x="13342293" y="4305300"/>
            <a:ext cx="218033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OK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9401621" y="4681538"/>
            <a:ext cx="85725" cy="85725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9" name="Text 66"/>
          <p:cNvSpPr/>
          <p:nvPr/>
        </p:nvSpPr>
        <p:spPr>
          <a:xfrm>
            <a:off x="9601646" y="4638675"/>
            <a:ext cx="66883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Vibración</a:t>
            </a:r>
            <a:endParaRPr lang="en-US" sz="1125" dirty="0"/>
          </a:p>
        </p:txBody>
      </p:sp>
      <p:sp>
        <p:nvSpPr>
          <p:cNvPr id="70" name="Text 67"/>
          <p:cNvSpPr/>
          <p:nvPr/>
        </p:nvSpPr>
        <p:spPr>
          <a:xfrm>
            <a:off x="13342293" y="4648200"/>
            <a:ext cx="218033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OK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9401621" y="5024438"/>
            <a:ext cx="85725" cy="85725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Text 69"/>
          <p:cNvSpPr/>
          <p:nvPr/>
        </p:nvSpPr>
        <p:spPr>
          <a:xfrm>
            <a:off x="9601646" y="4981575"/>
            <a:ext cx="12511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kern="0" spc="-6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Motor 3 — anomalía</a:t>
            </a:r>
            <a:endParaRPr lang="en-US" sz="1125" dirty="0"/>
          </a:p>
        </p:txBody>
      </p:sp>
      <p:sp>
        <p:nvSpPr>
          <p:cNvPr id="73" name="Text 70"/>
          <p:cNvSpPr/>
          <p:nvPr/>
        </p:nvSpPr>
        <p:spPr>
          <a:xfrm>
            <a:off x="12491889" y="4991100"/>
            <a:ext cx="1068437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severidad alta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13693676" y="3467100"/>
            <a:ext cx="9525" cy="1924050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Text 72"/>
          <p:cNvSpPr/>
          <p:nvPr/>
        </p:nvSpPr>
        <p:spPr>
          <a:xfrm>
            <a:off x="13912751" y="3619500"/>
            <a:ext cx="341926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ALERTA GENERADA</a:t>
            </a:r>
            <a:endParaRPr lang="en-US" sz="825" dirty="0"/>
          </a:p>
        </p:txBody>
      </p:sp>
      <p:sp>
        <p:nvSpPr>
          <p:cNvPr id="76" name="Text 73"/>
          <p:cNvSpPr/>
          <p:nvPr/>
        </p:nvSpPr>
        <p:spPr>
          <a:xfrm>
            <a:off x="13912751" y="3924300"/>
            <a:ext cx="920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20" dirty="0">
                <a:solidFill>
                  <a:srgbClr val="041C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EXP-24-0481</a:t>
            </a:r>
            <a:endParaRPr lang="en-US" sz="975" dirty="0"/>
          </a:p>
        </p:txBody>
      </p:sp>
      <p:sp>
        <p:nvSpPr>
          <p:cNvPr id="77" name="Shape 74"/>
          <p:cNvSpPr/>
          <p:nvPr/>
        </p:nvSpPr>
        <p:spPr>
          <a:xfrm>
            <a:off x="14852600" y="3929063"/>
            <a:ext cx="391716" cy="152400"/>
          </a:xfrm>
          <a:prstGeom prst="roundRect">
            <a:avLst>
              <a:gd name="adj" fmla="val 25000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8" name="Text 75"/>
          <p:cNvSpPr/>
          <p:nvPr/>
        </p:nvSpPr>
        <p:spPr>
          <a:xfrm>
            <a:off x="14928800" y="3948112"/>
            <a:ext cx="31551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kern="0" spc="30" dirty="0">
                <a:solidFill>
                  <a:srgbClr val="C73F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ALTA</a:t>
            </a:r>
            <a:endParaRPr lang="en-US" sz="750" dirty="0"/>
          </a:p>
        </p:txBody>
      </p:sp>
      <p:sp>
        <p:nvSpPr>
          <p:cNvPr id="79" name="Text 76"/>
          <p:cNvSpPr/>
          <p:nvPr/>
        </p:nvSpPr>
        <p:spPr>
          <a:xfrm>
            <a:off x="16541055" y="3929063"/>
            <a:ext cx="556320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Motor 3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13912751" y="4224338"/>
            <a:ext cx="123825" cy="123825"/>
          </a:xfrm>
          <a:prstGeom prst="ellipse">
            <a:avLst/>
          </a:prstGeom>
          <a:solidFill>
            <a:srgbClr val="57BE8A"/>
          </a:solidFill>
          <a:ln w="19050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1" name="Text 78"/>
          <p:cNvSpPr/>
          <p:nvPr/>
        </p:nvSpPr>
        <p:spPr>
          <a:xfrm>
            <a:off x="14141351" y="4200525"/>
            <a:ext cx="1170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Logs procesados</a:t>
            </a:r>
            <a:endParaRPr lang="en-US" sz="1125" dirty="0"/>
          </a:p>
        </p:txBody>
      </p:sp>
      <p:sp>
        <p:nvSpPr>
          <p:cNvPr id="82" name="Shape 79"/>
          <p:cNvSpPr/>
          <p:nvPr/>
        </p:nvSpPr>
        <p:spPr>
          <a:xfrm>
            <a:off x="13912751" y="4491038"/>
            <a:ext cx="123825" cy="123825"/>
          </a:xfrm>
          <a:prstGeom prst="ellipse">
            <a:avLst/>
          </a:prstGeom>
          <a:solidFill>
            <a:srgbClr val="855AC6"/>
          </a:solidFill>
          <a:ln w="19050">
            <a:solidFill>
              <a:srgbClr val="855AC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3" name="Text 80"/>
          <p:cNvSpPr/>
          <p:nvPr/>
        </p:nvSpPr>
        <p:spPr>
          <a:xfrm>
            <a:off x="14141351" y="4467225"/>
            <a:ext cx="13480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855AC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Anomalía detectada</a:t>
            </a:r>
            <a:endParaRPr lang="en-US" sz="1125" dirty="0"/>
          </a:p>
        </p:txBody>
      </p:sp>
      <p:sp>
        <p:nvSpPr>
          <p:cNvPr id="84" name="Shape 81"/>
          <p:cNvSpPr/>
          <p:nvPr/>
        </p:nvSpPr>
        <p:spPr>
          <a:xfrm>
            <a:off x="13912751" y="4757738"/>
            <a:ext cx="123825" cy="123825"/>
          </a:xfrm>
          <a:prstGeom prst="ellipse">
            <a:avLst/>
          </a:prstGeom>
          <a:ln w="19050">
            <a:solidFill>
              <a:srgbClr val="9DAEB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5" name="Text 82"/>
          <p:cNvSpPr/>
          <p:nvPr/>
        </p:nvSpPr>
        <p:spPr>
          <a:xfrm>
            <a:off x="14141351" y="4733925"/>
            <a:ext cx="15644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Alerta a mantenimiento</a:t>
            </a:r>
            <a:endParaRPr lang="en-US" sz="1125" dirty="0"/>
          </a:p>
        </p:txBody>
      </p:sp>
      <p:sp>
        <p:nvSpPr>
          <p:cNvPr id="86" name="Shape 83"/>
          <p:cNvSpPr/>
          <p:nvPr/>
        </p:nvSpPr>
        <p:spPr>
          <a:xfrm>
            <a:off x="9192071" y="5391150"/>
            <a:ext cx="8038654" cy="485775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7" name="Shape 84"/>
          <p:cNvSpPr/>
          <p:nvPr/>
        </p:nvSpPr>
        <p:spPr>
          <a:xfrm>
            <a:off x="9192071" y="5391150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8" name="Shape 85"/>
          <p:cNvSpPr/>
          <p:nvPr/>
        </p:nvSpPr>
        <p:spPr>
          <a:xfrm>
            <a:off x="9401621" y="5514975"/>
            <a:ext cx="1169789" cy="247650"/>
          </a:xfrm>
          <a:prstGeom prst="roundRect">
            <a:avLst>
              <a:gd name="adj" fmla="val 23077"/>
            </a:avLst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9" name="Text 86"/>
          <p:cNvSpPr/>
          <p:nvPr/>
        </p:nvSpPr>
        <p:spPr>
          <a:xfrm>
            <a:off x="9506396" y="5562600"/>
            <a:ext cx="1036439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Explicabilidad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10685711" y="5552182"/>
            <a:ext cx="3604424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Qué variable falló, </a:t>
            </a:r>
            <a:r>
              <a:rPr lang="en-US" sz="105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 qué y en qué momento </a:t>
            </a:r>
            <a:r>
              <a:rPr lang="en-US" sz="10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 vuelo.</a:t>
            </a:r>
            <a:endParaRPr lang="en-US" sz="1050" dirty="0"/>
          </a:p>
        </p:txBody>
      </p:sp>
      <p:sp>
        <p:nvSpPr>
          <p:cNvPr id="91" name="Text 88"/>
          <p:cNvSpPr/>
          <p:nvPr/>
        </p:nvSpPr>
        <p:spPr>
          <a:xfrm>
            <a:off x="9182546" y="6286500"/>
            <a:ext cx="886347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27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BENEFICIO PARA FUVEX</a:t>
            </a:r>
            <a:endParaRPr lang="en-US" sz="975" dirty="0"/>
          </a:p>
        </p:txBody>
      </p:sp>
      <p:sp>
        <p:nvSpPr>
          <p:cNvPr id="92" name="Shape 89"/>
          <p:cNvSpPr/>
          <p:nvPr/>
        </p:nvSpPr>
        <p:spPr>
          <a:xfrm>
            <a:off x="9182546" y="6572250"/>
            <a:ext cx="2584252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3" name="Shape 90"/>
          <p:cNvSpPr/>
          <p:nvPr/>
        </p:nvSpPr>
        <p:spPr>
          <a:xfrm>
            <a:off x="9182546" y="7624911"/>
            <a:ext cx="2584252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4" name="Shape 91"/>
          <p:cNvSpPr/>
          <p:nvPr/>
        </p:nvSpPr>
        <p:spPr>
          <a:xfrm>
            <a:off x="9182546" y="6572250"/>
            <a:ext cx="2584252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5" name="Shape 92"/>
          <p:cNvSpPr/>
          <p:nvPr/>
        </p:nvSpPr>
        <p:spPr>
          <a:xfrm>
            <a:off x="9182546" y="65722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6" name="Shape 93"/>
          <p:cNvSpPr/>
          <p:nvPr/>
        </p:nvSpPr>
        <p:spPr>
          <a:xfrm>
            <a:off x="11757273" y="65722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7" name="Text 94"/>
          <p:cNvSpPr/>
          <p:nvPr/>
        </p:nvSpPr>
        <p:spPr>
          <a:xfrm>
            <a:off x="9382571" y="6772275"/>
            <a:ext cx="2402622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Diagnóstico rápido</a:t>
            </a:r>
            <a:endParaRPr lang="en-US" sz="1575" dirty="0"/>
          </a:p>
        </p:txBody>
      </p:sp>
      <p:sp>
        <p:nvSpPr>
          <p:cNvPr id="98" name="Text 95"/>
          <p:cNvSpPr/>
          <p:nvPr/>
        </p:nvSpPr>
        <p:spPr>
          <a:xfrm>
            <a:off x="9382571" y="7081986"/>
            <a:ext cx="22604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Más rápido y preciso que el análisis manual.</a:t>
            </a:r>
            <a:endParaRPr lang="en-US" sz="1125" dirty="0"/>
          </a:p>
        </p:txBody>
      </p:sp>
      <p:sp>
        <p:nvSpPr>
          <p:cNvPr id="99" name="Shape 96"/>
          <p:cNvSpPr/>
          <p:nvPr/>
        </p:nvSpPr>
        <p:spPr>
          <a:xfrm>
            <a:off x="11919198" y="6572250"/>
            <a:ext cx="2584252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0" name="Shape 97"/>
          <p:cNvSpPr/>
          <p:nvPr/>
        </p:nvSpPr>
        <p:spPr>
          <a:xfrm>
            <a:off x="11919198" y="7624911"/>
            <a:ext cx="2584252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Shape 98"/>
          <p:cNvSpPr/>
          <p:nvPr/>
        </p:nvSpPr>
        <p:spPr>
          <a:xfrm>
            <a:off x="11919198" y="6572250"/>
            <a:ext cx="2584252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2" name="Shape 99"/>
          <p:cNvSpPr/>
          <p:nvPr/>
        </p:nvSpPr>
        <p:spPr>
          <a:xfrm>
            <a:off x="11919198" y="65722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3" name="Shape 100"/>
          <p:cNvSpPr/>
          <p:nvPr/>
        </p:nvSpPr>
        <p:spPr>
          <a:xfrm>
            <a:off x="14493925" y="65722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ext 101"/>
          <p:cNvSpPr/>
          <p:nvPr/>
        </p:nvSpPr>
        <p:spPr>
          <a:xfrm>
            <a:off x="12119223" y="6772275"/>
            <a:ext cx="2402622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Menos inactividad</a:t>
            </a:r>
            <a:endParaRPr lang="en-US" sz="1575" dirty="0"/>
          </a:p>
        </p:txBody>
      </p:sp>
      <p:sp>
        <p:nvSpPr>
          <p:cNvPr id="105" name="Text 102"/>
          <p:cNvSpPr/>
          <p:nvPr/>
        </p:nvSpPr>
        <p:spPr>
          <a:xfrm>
            <a:off x="12119223" y="7081986"/>
            <a:ext cx="240262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Menos tiempo de flota parada.</a:t>
            </a:r>
            <a:endParaRPr lang="en-US" sz="1125" dirty="0"/>
          </a:p>
        </p:txBody>
      </p:sp>
      <p:sp>
        <p:nvSpPr>
          <p:cNvPr id="106" name="Shape 103"/>
          <p:cNvSpPr/>
          <p:nvPr/>
        </p:nvSpPr>
        <p:spPr>
          <a:xfrm>
            <a:off x="14655850" y="6572250"/>
            <a:ext cx="2584400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7" name="Shape 104"/>
          <p:cNvSpPr/>
          <p:nvPr/>
        </p:nvSpPr>
        <p:spPr>
          <a:xfrm>
            <a:off x="14655850" y="7624911"/>
            <a:ext cx="25844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8" name="Shape 105"/>
          <p:cNvSpPr/>
          <p:nvPr/>
        </p:nvSpPr>
        <p:spPr>
          <a:xfrm>
            <a:off x="14655850" y="6572250"/>
            <a:ext cx="2584400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9" name="Shape 106"/>
          <p:cNvSpPr/>
          <p:nvPr/>
        </p:nvSpPr>
        <p:spPr>
          <a:xfrm>
            <a:off x="14655850" y="65722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Shape 107"/>
          <p:cNvSpPr/>
          <p:nvPr/>
        </p:nvSpPr>
        <p:spPr>
          <a:xfrm>
            <a:off x="17230725" y="6572250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1" name="Text 108"/>
          <p:cNvSpPr/>
          <p:nvPr/>
        </p:nvSpPr>
        <p:spPr>
          <a:xfrm>
            <a:off x="14855875" y="6772275"/>
            <a:ext cx="2402785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Flota escalable</a:t>
            </a:r>
            <a:endParaRPr lang="en-US" sz="1575" dirty="0"/>
          </a:p>
        </p:txBody>
      </p:sp>
      <p:sp>
        <p:nvSpPr>
          <p:cNvPr id="112" name="Text 109"/>
          <p:cNvSpPr/>
          <p:nvPr/>
        </p:nvSpPr>
        <p:spPr>
          <a:xfrm>
            <a:off x="14855875" y="7081986"/>
            <a:ext cx="226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análisis escala con el crecimiento.</a:t>
            </a:r>
            <a:endParaRPr lang="en-US" sz="1125" dirty="0"/>
          </a:p>
        </p:txBody>
      </p:sp>
      <p:sp>
        <p:nvSpPr>
          <p:cNvPr id="113" name="Text 110"/>
          <p:cNvSpPr/>
          <p:nvPr/>
        </p:nvSpPr>
        <p:spPr>
          <a:xfrm>
            <a:off x="1047750" y="9915525"/>
            <a:ext cx="5094193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FUVEX · DIAGNÓSTICO POST-VUELO · DETECCIÓN DE ANOMALÍAS</a:t>
            </a:r>
            <a:endParaRPr lang="en-US" sz="975" dirty="0"/>
          </a:p>
        </p:txBody>
      </p:sp>
      <p:sp>
        <p:nvSpPr>
          <p:cNvPr id="114" name="Text 111"/>
          <p:cNvSpPr/>
          <p:nvPr/>
        </p:nvSpPr>
        <p:spPr>
          <a:xfrm>
            <a:off x="14458950" y="9925050"/>
            <a:ext cx="30594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de éxito · sujeto a autorización por referencia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609600"/>
            <a:ext cx="1020514" cy="285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5338971" y="533400"/>
            <a:ext cx="1901279" cy="36195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5529471" y="628650"/>
            <a:ext cx="159647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kern="0" spc="168" dirty="0">
                <a:solidFill>
                  <a:srgbClr val="4A62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CASO DE ÉXITO 6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13244364" y="1009650"/>
            <a:ext cx="3995886" cy="657225"/>
          </a:xfrm>
          <a:prstGeom prst="roundRect">
            <a:avLst>
              <a:gd name="adj" fmla="val 14493"/>
            </a:avLst>
          </a:prstGeom>
          <a:ln w="9525">
            <a:solidFill>
              <a:srgbClr val="C8D2DA"/>
            </a:solidFill>
            <a:prstDash val="solid"/>
          </a:ln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3253889" y="1019175"/>
            <a:ext cx="965150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3444389" y="1123950"/>
            <a:ext cx="6603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444389" y="1323975"/>
            <a:ext cx="6603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4219039" y="1019175"/>
            <a:ext cx="2012007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219039" y="1019175"/>
            <a:ext cx="9525" cy="63817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419064" y="1123950"/>
            <a:ext cx="17836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SECTOR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4419064" y="1323975"/>
            <a:ext cx="17836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Universidad pública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6231046" y="1019175"/>
            <a:ext cx="999679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16231046" y="1019175"/>
            <a:ext cx="9525" cy="63817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16431071" y="1123950"/>
            <a:ext cx="6853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kern="0" spc="117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PAÍS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431071" y="1323975"/>
            <a:ext cx="6853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España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241161" y="30852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1045071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10660261" y="30852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10869811" y="30852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8412361" y="822871"/>
            <a:ext cx="209550" cy="152400"/>
          </a:xfrm>
          <a:prstGeom prst="rect">
            <a:avLst/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8621911" y="822871"/>
            <a:ext cx="209550" cy="152400"/>
          </a:xfrm>
          <a:prstGeom prst="rect">
            <a:avLst/>
          </a:prstGeom>
          <a:solidFill>
            <a:srgbClr val="B696D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Shape 20"/>
          <p:cNvSpPr/>
          <p:nvPr/>
        </p:nvSpPr>
        <p:spPr>
          <a:xfrm>
            <a:off x="8831461" y="822871"/>
            <a:ext cx="209550" cy="152400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14813161" y="1028700"/>
            <a:ext cx="209550" cy="152400"/>
          </a:xfrm>
          <a:prstGeom prst="rect">
            <a:avLst/>
          </a:prstGeom>
          <a:solidFill>
            <a:srgbClr val="FFE0C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15022711" y="1028700"/>
            <a:ext cx="209550" cy="152400"/>
          </a:xfrm>
          <a:prstGeom prst="rect">
            <a:avLst/>
          </a:prstGeom>
          <a:solidFill>
            <a:srgbClr val="FE5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182761" y="9052471"/>
            <a:ext cx="209550" cy="152400"/>
          </a:xfrm>
          <a:prstGeom prst="rect">
            <a:avLst/>
          </a:prstGeom>
          <a:solidFill>
            <a:srgbClr val="D6F1E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92311" y="9052471"/>
            <a:ext cx="209550" cy="152400"/>
          </a:xfrm>
          <a:prstGeom prst="rect">
            <a:avLst/>
          </a:prstGeom>
          <a:solidFill>
            <a:srgbClr val="99D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601861" y="9052471"/>
            <a:ext cx="209550" cy="152400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Shape 26"/>
          <p:cNvSpPr/>
          <p:nvPr/>
        </p:nvSpPr>
        <p:spPr>
          <a:xfrm>
            <a:off x="1645890" y="9463980"/>
            <a:ext cx="209550" cy="152400"/>
          </a:xfrm>
          <a:prstGeom prst="rect">
            <a:avLst/>
          </a:prstGeom>
          <a:solidFill>
            <a:srgbClr val="F5D5E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1855440" y="9463980"/>
            <a:ext cx="209550" cy="152400"/>
          </a:xfrm>
          <a:prstGeom prst="rect">
            <a:avLst/>
          </a:prstGeom>
          <a:solidFill>
            <a:srgbClr val="D04C8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1047750" y="1952625"/>
            <a:ext cx="83615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kern="0" spc="180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EVALUACIÓN PARA DECIDIR SI ESCALAR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1047749" y="2257424"/>
            <a:ext cx="6453567" cy="136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000" b="1" kern="0" spc="-60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Antes de comprometer una solución institucional, evaluamos la madurez real del dato.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1047750" y="3667125"/>
            <a:ext cx="789708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300" b="1" kern="0" spc="-66" dirty="0">
                <a:solidFill>
                  <a:srgbClr val="FE5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Madurez del dato, medida.</a:t>
            </a:r>
            <a:endParaRPr lang="en-US" sz="3300" dirty="0"/>
          </a:p>
        </p:txBody>
      </p:sp>
      <p:sp>
        <p:nvSpPr>
          <p:cNvPr id="34" name="Text 31"/>
          <p:cNvSpPr/>
          <p:nvPr/>
        </p:nvSpPr>
        <p:spPr>
          <a:xfrm>
            <a:off x="1047750" y="4219575"/>
            <a:ext cx="83615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9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DIAGNÓSTICO ENTREGADO · ESCALADO POR DECIDIR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1047750" y="4629150"/>
            <a:ext cx="83615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PROBLEMA A RESOLVER</a:t>
            </a:r>
            <a:endParaRPr lang="en-US" sz="975" dirty="0"/>
          </a:p>
        </p:txBody>
      </p:sp>
      <p:sp>
        <p:nvSpPr>
          <p:cNvPr id="36" name="Shape 33"/>
          <p:cNvSpPr/>
          <p:nvPr/>
        </p:nvSpPr>
        <p:spPr>
          <a:xfrm>
            <a:off x="1047750" y="4914900"/>
            <a:ext cx="28575" cy="1135856"/>
          </a:xfrm>
          <a:prstGeom prst="rect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/>
          <p:nvPr/>
        </p:nvSpPr>
        <p:spPr>
          <a:xfrm>
            <a:off x="1266825" y="4914900"/>
            <a:ext cx="6741764" cy="1173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000"/>
              </a:lnSpc>
              <a:buNone/>
            </a:pPr>
            <a:r>
              <a:rPr lang="en-US" sz="15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UNED avanzaba hacia una organización data-driven, pero sin arquitectura transversal, con </a:t>
            </a:r>
            <a:r>
              <a:rPr lang="en-US" sz="157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calidad inconsistente </a:t>
            </a:r>
            <a:r>
              <a:rPr lang="en-US" sz="157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silos y discrepancias entre sistemas, y bajo RGPD y la futura regulación de IA.</a:t>
            </a:r>
            <a:endParaRPr lang="en-US" sz="1575" dirty="0"/>
          </a:p>
        </p:txBody>
      </p:sp>
      <p:sp>
        <p:nvSpPr>
          <p:cNvPr id="38" name="Text 35"/>
          <p:cNvSpPr/>
          <p:nvPr/>
        </p:nvSpPr>
        <p:spPr>
          <a:xfrm>
            <a:off x="1047750" y="6298406"/>
            <a:ext cx="836153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137" dirty="0">
                <a:solidFill>
                  <a:srgbClr val="855AC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LO RESOLVIMOS</a:t>
            </a:r>
            <a:endParaRPr lang="en-US" sz="975" dirty="0"/>
          </a:p>
        </p:txBody>
      </p:sp>
      <p:sp>
        <p:nvSpPr>
          <p:cNvPr id="39" name="Shape 36"/>
          <p:cNvSpPr/>
          <p:nvPr/>
        </p:nvSpPr>
        <p:spPr>
          <a:xfrm>
            <a:off x="1047750" y="6593681"/>
            <a:ext cx="266700" cy="26670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1009650" y="6593681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125" dirty="0"/>
          </a:p>
        </p:txBody>
      </p:sp>
      <p:sp>
        <p:nvSpPr>
          <p:cNvPr id="41" name="Text 38"/>
          <p:cNvSpPr/>
          <p:nvPr/>
        </p:nvSpPr>
        <p:spPr>
          <a:xfrm>
            <a:off x="1457325" y="6584156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Realizamos un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 completo de Gobierno del Dato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basado en buenas prácticas DAMA, identificando brechas reales, riesgos y oportunidades.</a:t>
            </a:r>
            <a:endParaRPr lang="en-US" sz="1425" dirty="0"/>
          </a:p>
        </p:txBody>
      </p:sp>
      <p:sp>
        <p:nvSpPr>
          <p:cNvPr id="42" name="Shape 39"/>
          <p:cNvSpPr/>
          <p:nvPr/>
        </p:nvSpPr>
        <p:spPr>
          <a:xfrm>
            <a:off x="1047750" y="7226498"/>
            <a:ext cx="266700" cy="26670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 40"/>
          <p:cNvSpPr/>
          <p:nvPr/>
        </p:nvSpPr>
        <p:spPr>
          <a:xfrm>
            <a:off x="1009650" y="7226498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1457325" y="7216973"/>
            <a:ext cx="7407576" cy="787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Evaluamos las dimensiones clave: modelo de gobierno, arquitectura transversal,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calidad y MDM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cumplimiento (RGPD y preparación para la normativa de IA), infraestructura escalable para analítica avanzada y cultura data-driven.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047750" y="8109049"/>
            <a:ext cx="266700" cy="266700"/>
          </a:xfrm>
          <a:prstGeom prst="ellipse">
            <a:avLst/>
          </a:prstGeom>
          <a:solidFill>
            <a:srgbClr val="3A8E6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Text 43"/>
          <p:cNvSpPr/>
          <p:nvPr/>
        </p:nvSpPr>
        <p:spPr>
          <a:xfrm>
            <a:off x="1009650" y="8109049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125" dirty="0"/>
          </a:p>
        </p:txBody>
      </p:sp>
      <p:sp>
        <p:nvSpPr>
          <p:cNvPr id="47" name="Text 44"/>
          <p:cNvSpPr/>
          <p:nvPr/>
        </p:nvSpPr>
        <p:spPr>
          <a:xfrm>
            <a:off x="1457325" y="8099524"/>
            <a:ext cx="7407576" cy="5375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Definimos un </a:t>
            </a:r>
            <a:r>
              <a:rPr lang="en-US" sz="1425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roadmap priorizado </a:t>
            </a:r>
            <a:r>
              <a:rPr lang="en-US" sz="1425" dirty="0">
                <a:solidFill>
                  <a:srgbClr val="354A5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transformación, con quick-wins y fases de madurez para la mejora continua.</a:t>
            </a:r>
            <a:endParaRPr lang="en-US" sz="1425" dirty="0"/>
          </a:p>
        </p:txBody>
      </p:sp>
      <p:sp>
        <p:nvSpPr>
          <p:cNvPr id="48" name="Shape 45"/>
          <p:cNvSpPr/>
          <p:nvPr/>
        </p:nvSpPr>
        <p:spPr>
          <a:xfrm>
            <a:off x="9182546" y="2257425"/>
            <a:ext cx="8057704" cy="3999309"/>
          </a:xfrm>
          <a:prstGeom prst="roundRect">
            <a:avLst>
              <a:gd name="adj" fmla="val 3811"/>
            </a:avLst>
          </a:prstGeom>
          <a:solidFill>
            <a:srgbClr val="FFFFFF"/>
          </a:solidFill>
          <a:ln w="9525">
            <a:solidFill>
              <a:srgbClr val="C8D2DA"/>
            </a:solidFill>
            <a:prstDash val="solid"/>
          </a:ln>
          <a:effectLst>
            <a:outerShdw blurRad="209550" dist="76200" dir="5400000" algn="bl" rotWithShape="0">
              <a:srgbClr val="041C2C">
                <a:alpha val="2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9" name="Shape 46"/>
          <p:cNvSpPr/>
          <p:nvPr/>
        </p:nvSpPr>
        <p:spPr>
          <a:xfrm>
            <a:off x="9192071" y="2724150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Shape 47"/>
          <p:cNvSpPr/>
          <p:nvPr/>
        </p:nvSpPr>
        <p:spPr>
          <a:xfrm>
            <a:off x="9401621" y="2452688"/>
            <a:ext cx="85725" cy="85725"/>
          </a:xfrm>
          <a:prstGeom prst="ellipse">
            <a:avLst/>
          </a:prstGeom>
          <a:solidFill>
            <a:srgbClr val="57BE8A"/>
          </a:solidFill>
          <a:ln/>
          <a:effectLst>
            <a:outerShdw blurRad="101600" dist="50800" dir="16200000" algn="bl" rotWithShape="0">
              <a:srgbClr val="57BE8A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1" name="Text 48"/>
          <p:cNvSpPr/>
          <p:nvPr/>
        </p:nvSpPr>
        <p:spPr>
          <a:xfrm>
            <a:off x="9592121" y="2400300"/>
            <a:ext cx="37994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-13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Roadmap priorizado · transformación data-driven</a:t>
            </a:r>
            <a:endParaRPr lang="en-US" sz="1275" dirty="0"/>
          </a:p>
        </p:txBody>
      </p:sp>
      <p:sp>
        <p:nvSpPr>
          <p:cNvPr id="52" name="Text 49"/>
          <p:cNvSpPr/>
          <p:nvPr/>
        </p:nvSpPr>
        <p:spPr>
          <a:xfrm>
            <a:off x="15774293" y="2428875"/>
            <a:ext cx="13715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VISTA ILUSTRATIVA</a:t>
            </a:r>
            <a:endParaRPr lang="en-US" sz="825" dirty="0"/>
          </a:p>
        </p:txBody>
      </p:sp>
      <p:sp>
        <p:nvSpPr>
          <p:cNvPr id="53" name="Text 50"/>
          <p:cNvSpPr/>
          <p:nvPr/>
        </p:nvSpPr>
        <p:spPr>
          <a:xfrm>
            <a:off x="9401621" y="2895600"/>
            <a:ext cx="201691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FASES DE MADUREZ DEL DATO</a:t>
            </a:r>
            <a:endParaRPr lang="en-US" sz="825" dirty="0"/>
          </a:p>
        </p:txBody>
      </p:sp>
      <p:sp>
        <p:nvSpPr>
          <p:cNvPr id="54" name="Text 51"/>
          <p:cNvSpPr/>
          <p:nvPr/>
        </p:nvSpPr>
        <p:spPr>
          <a:xfrm>
            <a:off x="16360973" y="2895600"/>
            <a:ext cx="73640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83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HORIZONTE</a:t>
            </a:r>
            <a:endParaRPr lang="en-US" sz="825" dirty="0"/>
          </a:p>
        </p:txBody>
      </p:sp>
      <p:sp>
        <p:nvSpPr>
          <p:cNvPr id="55" name="Shape 52"/>
          <p:cNvSpPr/>
          <p:nvPr/>
        </p:nvSpPr>
        <p:spPr>
          <a:xfrm>
            <a:off x="9401621" y="3171825"/>
            <a:ext cx="285750" cy="285750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3"/>
          <p:cNvSpPr/>
          <p:nvPr/>
        </p:nvSpPr>
        <p:spPr>
          <a:xfrm>
            <a:off x="9363521" y="3171825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QW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9811196" y="3171825"/>
            <a:ext cx="80545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Quick-wins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16379875" y="3219450"/>
            <a:ext cx="717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0–3 MESES</a:t>
            </a:r>
            <a:endParaRPr lang="en-US" sz="825" dirty="0"/>
          </a:p>
        </p:txBody>
      </p:sp>
      <p:sp>
        <p:nvSpPr>
          <p:cNvPr id="59" name="Text 56"/>
          <p:cNvSpPr/>
          <p:nvPr/>
        </p:nvSpPr>
        <p:spPr>
          <a:xfrm>
            <a:off x="9811196" y="3381375"/>
            <a:ext cx="793097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Diccionario de datos, owners y catálogo inicial. Valor visible desde el primer trimestre.</a:t>
            </a:r>
            <a:endParaRPr lang="en-US" sz="1013" dirty="0"/>
          </a:p>
        </p:txBody>
      </p:sp>
      <p:sp>
        <p:nvSpPr>
          <p:cNvPr id="60" name="Shape 57"/>
          <p:cNvSpPr/>
          <p:nvPr/>
        </p:nvSpPr>
        <p:spPr>
          <a:xfrm>
            <a:off x="9811196" y="3621584"/>
            <a:ext cx="7209979" cy="7620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Shape 58"/>
          <p:cNvSpPr/>
          <p:nvPr/>
        </p:nvSpPr>
        <p:spPr>
          <a:xfrm>
            <a:off x="9811196" y="3621584"/>
            <a:ext cx="1802457" cy="76200"/>
          </a:xfrm>
          <a:prstGeom prst="roundRect">
            <a:avLst>
              <a:gd name="adj" fmla="val 50000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Shape 59"/>
          <p:cNvSpPr/>
          <p:nvPr/>
        </p:nvSpPr>
        <p:spPr>
          <a:xfrm>
            <a:off x="9401621" y="3840659"/>
            <a:ext cx="285750" cy="28575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Text 60"/>
          <p:cNvSpPr/>
          <p:nvPr/>
        </p:nvSpPr>
        <p:spPr>
          <a:xfrm>
            <a:off x="9363521" y="3840659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050" dirty="0"/>
          </a:p>
        </p:txBody>
      </p:sp>
      <p:sp>
        <p:nvSpPr>
          <p:cNvPr id="64" name="Text 61"/>
          <p:cNvSpPr/>
          <p:nvPr/>
        </p:nvSpPr>
        <p:spPr>
          <a:xfrm>
            <a:off x="9811196" y="3840659"/>
            <a:ext cx="171585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Gobierno y arquitectura</a:t>
            </a:r>
            <a:endParaRPr lang="en-US" sz="1200" dirty="0"/>
          </a:p>
        </p:txBody>
      </p:sp>
      <p:sp>
        <p:nvSpPr>
          <p:cNvPr id="65" name="Text 62"/>
          <p:cNvSpPr/>
          <p:nvPr/>
        </p:nvSpPr>
        <p:spPr>
          <a:xfrm>
            <a:off x="16379875" y="3888284"/>
            <a:ext cx="717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3–6 MESES</a:t>
            </a:r>
            <a:endParaRPr lang="en-US" sz="825" dirty="0"/>
          </a:p>
        </p:txBody>
      </p:sp>
      <p:sp>
        <p:nvSpPr>
          <p:cNvPr id="66" name="Text 63"/>
          <p:cNvSpPr/>
          <p:nvPr/>
        </p:nvSpPr>
        <p:spPr>
          <a:xfrm>
            <a:off x="9811196" y="4050209"/>
            <a:ext cx="793097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 de gobierno, RACI y arquitectura transversal del dato.</a:t>
            </a:r>
            <a:endParaRPr lang="en-US" sz="1013" dirty="0"/>
          </a:p>
        </p:txBody>
      </p:sp>
      <p:sp>
        <p:nvSpPr>
          <p:cNvPr id="67" name="Shape 64"/>
          <p:cNvSpPr/>
          <p:nvPr/>
        </p:nvSpPr>
        <p:spPr>
          <a:xfrm>
            <a:off x="9811196" y="4290417"/>
            <a:ext cx="7209979" cy="7620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8" name="Shape 65"/>
          <p:cNvSpPr/>
          <p:nvPr/>
        </p:nvSpPr>
        <p:spPr>
          <a:xfrm>
            <a:off x="9811196" y="4290417"/>
            <a:ext cx="3604915" cy="76200"/>
          </a:xfrm>
          <a:prstGeom prst="roundRect">
            <a:avLst>
              <a:gd name="adj" fmla="val 50000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9" name="Shape 66"/>
          <p:cNvSpPr/>
          <p:nvPr/>
        </p:nvSpPr>
        <p:spPr>
          <a:xfrm>
            <a:off x="9401621" y="4509492"/>
            <a:ext cx="285750" cy="285750"/>
          </a:xfrm>
          <a:prstGeom prst="ellipse">
            <a:avLst/>
          </a:prstGeom>
          <a:solidFill>
            <a:srgbClr val="855AC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0" name="Text 67"/>
          <p:cNvSpPr/>
          <p:nvPr/>
        </p:nvSpPr>
        <p:spPr>
          <a:xfrm>
            <a:off x="9363521" y="4509492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050" dirty="0"/>
          </a:p>
        </p:txBody>
      </p:sp>
      <p:sp>
        <p:nvSpPr>
          <p:cNvPr id="71" name="Text 68"/>
          <p:cNvSpPr/>
          <p:nvPr/>
        </p:nvSpPr>
        <p:spPr>
          <a:xfrm>
            <a:off x="9811196" y="4509492"/>
            <a:ext cx="21015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Calidad, MDM y cumplimiento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16308586" y="4557117"/>
            <a:ext cx="78878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6–12 MESES</a:t>
            </a:r>
            <a:endParaRPr lang="en-US" sz="825" dirty="0"/>
          </a:p>
        </p:txBody>
      </p:sp>
      <p:sp>
        <p:nvSpPr>
          <p:cNvPr id="73" name="Text 70"/>
          <p:cNvSpPr/>
          <p:nvPr/>
        </p:nvSpPr>
        <p:spPr>
          <a:xfrm>
            <a:off x="9811196" y="4719042"/>
            <a:ext cx="793097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Reglas de calidad, MDM y alineación con RGPD y la normativa de IA.</a:t>
            </a:r>
            <a:endParaRPr lang="en-US" sz="1013" dirty="0"/>
          </a:p>
        </p:txBody>
      </p:sp>
      <p:sp>
        <p:nvSpPr>
          <p:cNvPr id="74" name="Shape 71"/>
          <p:cNvSpPr/>
          <p:nvPr/>
        </p:nvSpPr>
        <p:spPr>
          <a:xfrm>
            <a:off x="9811196" y="4959251"/>
            <a:ext cx="7209979" cy="7620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5" name="Shape 72"/>
          <p:cNvSpPr/>
          <p:nvPr/>
        </p:nvSpPr>
        <p:spPr>
          <a:xfrm>
            <a:off x="9811196" y="4959251"/>
            <a:ext cx="5407372" cy="76200"/>
          </a:xfrm>
          <a:prstGeom prst="roundRect">
            <a:avLst>
              <a:gd name="adj" fmla="val 50000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6" name="Shape 73"/>
          <p:cNvSpPr/>
          <p:nvPr/>
        </p:nvSpPr>
        <p:spPr>
          <a:xfrm>
            <a:off x="9401621" y="5178326"/>
            <a:ext cx="285750" cy="285750"/>
          </a:xfrm>
          <a:prstGeom prst="ellipse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7" name="Text 74"/>
          <p:cNvSpPr/>
          <p:nvPr/>
        </p:nvSpPr>
        <p:spPr>
          <a:xfrm>
            <a:off x="9363521" y="5178326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050" dirty="0"/>
          </a:p>
        </p:txBody>
      </p:sp>
      <p:sp>
        <p:nvSpPr>
          <p:cNvPr id="78" name="Text 75"/>
          <p:cNvSpPr/>
          <p:nvPr/>
        </p:nvSpPr>
        <p:spPr>
          <a:xfrm>
            <a:off x="9811196" y="5178326"/>
            <a:ext cx="166657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-12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Analítica avanzada e IA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16379875" y="5225951"/>
            <a:ext cx="717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kern="0" spc="66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12+ MESES</a:t>
            </a:r>
            <a:endParaRPr lang="en-US" sz="825" dirty="0"/>
          </a:p>
        </p:txBody>
      </p:sp>
      <p:sp>
        <p:nvSpPr>
          <p:cNvPr id="80" name="Text 77"/>
          <p:cNvSpPr/>
          <p:nvPr/>
        </p:nvSpPr>
        <p:spPr>
          <a:xfrm>
            <a:off x="9811196" y="5387876"/>
            <a:ext cx="7930976" cy="211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Infraestructura escalable y casos de IA priorizados por valor de negocio.</a:t>
            </a:r>
            <a:endParaRPr lang="en-US" sz="1013" dirty="0"/>
          </a:p>
        </p:txBody>
      </p:sp>
      <p:sp>
        <p:nvSpPr>
          <p:cNvPr id="81" name="Shape 78"/>
          <p:cNvSpPr/>
          <p:nvPr/>
        </p:nvSpPr>
        <p:spPr>
          <a:xfrm>
            <a:off x="9811196" y="5628084"/>
            <a:ext cx="7209979" cy="76200"/>
          </a:xfrm>
          <a:prstGeom prst="roundRect">
            <a:avLst>
              <a:gd name="adj" fmla="val 50000"/>
            </a:avLst>
          </a:prstGeom>
          <a:solidFill>
            <a:srgbClr val="E5EAE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2" name="Shape 79"/>
          <p:cNvSpPr/>
          <p:nvPr/>
        </p:nvSpPr>
        <p:spPr>
          <a:xfrm>
            <a:off x="9811196" y="5628084"/>
            <a:ext cx="7209979" cy="76200"/>
          </a:xfrm>
          <a:prstGeom prst="roundRect">
            <a:avLst>
              <a:gd name="adj" fmla="val 50000"/>
            </a:avLst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3" name="Shape 80"/>
          <p:cNvSpPr/>
          <p:nvPr/>
        </p:nvSpPr>
        <p:spPr>
          <a:xfrm>
            <a:off x="9192071" y="5761434"/>
            <a:ext cx="8038654" cy="485775"/>
          </a:xfrm>
          <a:prstGeom prst="rect">
            <a:avLst/>
          </a:prstGeom>
          <a:solidFill>
            <a:srgbClr val="F5F7F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4" name="Shape 81"/>
          <p:cNvSpPr/>
          <p:nvPr/>
        </p:nvSpPr>
        <p:spPr>
          <a:xfrm>
            <a:off x="9192071" y="5761434"/>
            <a:ext cx="8038654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5" name="Shape 82"/>
          <p:cNvSpPr/>
          <p:nvPr/>
        </p:nvSpPr>
        <p:spPr>
          <a:xfrm>
            <a:off x="9401621" y="5885259"/>
            <a:ext cx="758279" cy="247650"/>
          </a:xfrm>
          <a:prstGeom prst="roundRect">
            <a:avLst>
              <a:gd name="adj" fmla="val 23077"/>
            </a:avLst>
          </a:prstGeom>
          <a:solidFill>
            <a:srgbClr val="EDE3F7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6" name="Text 83"/>
          <p:cNvSpPr/>
          <p:nvPr/>
        </p:nvSpPr>
        <p:spPr>
          <a:xfrm>
            <a:off x="9506396" y="5932884"/>
            <a:ext cx="624929" cy="1905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E3D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Decisión</a:t>
            </a:r>
            <a:endParaRPr lang="en-US" sz="900" dirty="0"/>
          </a:p>
        </p:txBody>
      </p:sp>
      <p:sp>
        <p:nvSpPr>
          <p:cNvPr id="87" name="Text 84"/>
          <p:cNvSpPr/>
          <p:nvPr/>
        </p:nvSpPr>
        <p:spPr>
          <a:xfrm>
            <a:off x="10274201" y="5922466"/>
            <a:ext cx="3066306" cy="211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escalado se decide sobre </a:t>
            </a:r>
            <a:r>
              <a:rPr lang="en-US" sz="1050" b="1" dirty="0">
                <a:solidFill>
                  <a:srgbClr val="04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datos, no sobre fe</a:t>
            </a:r>
            <a:r>
              <a:rPr lang="en-US" sz="105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sp>
        <p:nvSpPr>
          <p:cNvPr id="88" name="Shape 85"/>
          <p:cNvSpPr/>
          <p:nvPr/>
        </p:nvSpPr>
        <p:spPr>
          <a:xfrm>
            <a:off x="9182546" y="6447234"/>
            <a:ext cx="8057704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7BE8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9" name="Text 86"/>
          <p:cNvSpPr/>
          <p:nvPr/>
        </p:nvSpPr>
        <p:spPr>
          <a:xfrm>
            <a:off x="9401621" y="6618684"/>
            <a:ext cx="83815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kern="0" spc="-45" dirty="0">
                <a:solidFill>
                  <a:srgbClr val="041C2C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6 ejes evaluados</a:t>
            </a:r>
            <a:endParaRPr lang="en-US" sz="2250" dirty="0"/>
          </a:p>
        </p:txBody>
      </p:sp>
      <p:sp>
        <p:nvSpPr>
          <p:cNvPr id="90" name="Text 87"/>
          <p:cNvSpPr/>
          <p:nvPr/>
        </p:nvSpPr>
        <p:spPr>
          <a:xfrm>
            <a:off x="9401621" y="6971109"/>
            <a:ext cx="83815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Gobierno, arquitectura, calidad/MDM, cumplimiento, infraestructura y cultura.</a:t>
            </a:r>
            <a:endParaRPr lang="en-US" sz="1200" dirty="0"/>
          </a:p>
        </p:txBody>
      </p:sp>
      <p:sp>
        <p:nvSpPr>
          <p:cNvPr id="91" name="Text 88"/>
          <p:cNvSpPr/>
          <p:nvPr/>
        </p:nvSpPr>
        <p:spPr>
          <a:xfrm>
            <a:off x="9182546" y="7723584"/>
            <a:ext cx="886347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27" dirty="0">
                <a:solidFill>
                  <a:srgbClr val="3A8E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BENEFICIO PARA UNED</a:t>
            </a:r>
            <a:endParaRPr lang="en-US" sz="975" dirty="0"/>
          </a:p>
        </p:txBody>
      </p:sp>
      <p:sp>
        <p:nvSpPr>
          <p:cNvPr id="92" name="Shape 89"/>
          <p:cNvSpPr/>
          <p:nvPr/>
        </p:nvSpPr>
        <p:spPr>
          <a:xfrm>
            <a:off x="9182546" y="8009334"/>
            <a:ext cx="2584252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3" name="Shape 90"/>
          <p:cNvSpPr/>
          <p:nvPr/>
        </p:nvSpPr>
        <p:spPr>
          <a:xfrm>
            <a:off x="9182546" y="9061996"/>
            <a:ext cx="2584252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4" name="Shape 91"/>
          <p:cNvSpPr/>
          <p:nvPr/>
        </p:nvSpPr>
        <p:spPr>
          <a:xfrm>
            <a:off x="9182546" y="8009334"/>
            <a:ext cx="2584252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5" name="Shape 92"/>
          <p:cNvSpPr/>
          <p:nvPr/>
        </p:nvSpPr>
        <p:spPr>
          <a:xfrm>
            <a:off x="9182546" y="8009334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6" name="Shape 93"/>
          <p:cNvSpPr/>
          <p:nvPr/>
        </p:nvSpPr>
        <p:spPr>
          <a:xfrm>
            <a:off x="11757273" y="8009334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7" name="Text 94"/>
          <p:cNvSpPr/>
          <p:nvPr/>
        </p:nvSpPr>
        <p:spPr>
          <a:xfrm>
            <a:off x="9382571" y="8209359"/>
            <a:ext cx="2402622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Madurez medida</a:t>
            </a:r>
            <a:endParaRPr lang="en-US" sz="1575" dirty="0"/>
          </a:p>
        </p:txBody>
      </p:sp>
      <p:sp>
        <p:nvSpPr>
          <p:cNvPr id="98" name="Text 95"/>
          <p:cNvSpPr/>
          <p:nvPr/>
        </p:nvSpPr>
        <p:spPr>
          <a:xfrm>
            <a:off x="9382571" y="8519071"/>
            <a:ext cx="22604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Conocimiento preciso del nivel de madurez del dato.</a:t>
            </a:r>
            <a:endParaRPr lang="en-US" sz="1125" dirty="0"/>
          </a:p>
        </p:txBody>
      </p:sp>
      <p:sp>
        <p:nvSpPr>
          <p:cNvPr id="99" name="Shape 96"/>
          <p:cNvSpPr/>
          <p:nvPr/>
        </p:nvSpPr>
        <p:spPr>
          <a:xfrm>
            <a:off x="11919198" y="8009334"/>
            <a:ext cx="2584252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0" name="Shape 97"/>
          <p:cNvSpPr/>
          <p:nvPr/>
        </p:nvSpPr>
        <p:spPr>
          <a:xfrm>
            <a:off x="11919198" y="9061996"/>
            <a:ext cx="2584252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1" name="Shape 98"/>
          <p:cNvSpPr/>
          <p:nvPr/>
        </p:nvSpPr>
        <p:spPr>
          <a:xfrm>
            <a:off x="11919198" y="8009334"/>
            <a:ext cx="2584252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2" name="Shape 99"/>
          <p:cNvSpPr/>
          <p:nvPr/>
        </p:nvSpPr>
        <p:spPr>
          <a:xfrm>
            <a:off x="11919198" y="8009334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3" name="Shape 100"/>
          <p:cNvSpPr/>
          <p:nvPr/>
        </p:nvSpPr>
        <p:spPr>
          <a:xfrm>
            <a:off x="14493925" y="8009334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4" name="Text 101"/>
          <p:cNvSpPr/>
          <p:nvPr/>
        </p:nvSpPr>
        <p:spPr>
          <a:xfrm>
            <a:off x="12119223" y="8209359"/>
            <a:ext cx="2402622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Roadmap claro</a:t>
            </a:r>
            <a:endParaRPr lang="en-US" sz="1575" dirty="0"/>
          </a:p>
        </p:txBody>
      </p:sp>
      <p:sp>
        <p:nvSpPr>
          <p:cNvPr id="105" name="Text 102"/>
          <p:cNvSpPr/>
          <p:nvPr/>
        </p:nvSpPr>
        <p:spPr>
          <a:xfrm>
            <a:off x="12119223" y="8519071"/>
            <a:ext cx="2260402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 de transformación priorizado.</a:t>
            </a:r>
            <a:endParaRPr lang="en-US" sz="1125" dirty="0"/>
          </a:p>
        </p:txBody>
      </p:sp>
      <p:sp>
        <p:nvSpPr>
          <p:cNvPr id="106" name="Shape 103"/>
          <p:cNvSpPr/>
          <p:nvPr/>
        </p:nvSpPr>
        <p:spPr>
          <a:xfrm>
            <a:off x="14655850" y="8009334"/>
            <a:ext cx="2584400" cy="1062186"/>
          </a:xfrm>
          <a:prstGeom prst="roundRect">
            <a:avLst>
              <a:gd name="adj" fmla="val 10761"/>
            </a:avLst>
          </a:prstGeom>
          <a:solidFill>
            <a:srgbClr val="FFFFFF"/>
          </a:solidFill>
          <a:ln/>
          <a:effectLst>
            <a:outerShdw blurRad="38100" dist="19050" dir="5400000" algn="bl" rotWithShape="0">
              <a:srgbClr val="041C2C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7" name="Shape 104"/>
          <p:cNvSpPr/>
          <p:nvPr/>
        </p:nvSpPr>
        <p:spPr>
          <a:xfrm>
            <a:off x="14655850" y="9061996"/>
            <a:ext cx="2584400" cy="9525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8" name="Shape 105"/>
          <p:cNvSpPr/>
          <p:nvPr/>
        </p:nvSpPr>
        <p:spPr>
          <a:xfrm>
            <a:off x="14655850" y="8009334"/>
            <a:ext cx="2584400" cy="28575"/>
          </a:xfrm>
          <a:prstGeom prst="rect">
            <a:avLst/>
          </a:prstGeom>
          <a:solidFill>
            <a:srgbClr val="57BE8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9" name="Shape 106"/>
          <p:cNvSpPr/>
          <p:nvPr/>
        </p:nvSpPr>
        <p:spPr>
          <a:xfrm>
            <a:off x="14655850" y="8009334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0" name="Shape 107"/>
          <p:cNvSpPr/>
          <p:nvPr/>
        </p:nvSpPr>
        <p:spPr>
          <a:xfrm>
            <a:off x="17230725" y="8009334"/>
            <a:ext cx="9525" cy="1062186"/>
          </a:xfrm>
          <a:prstGeom prst="rect">
            <a:avLst/>
          </a:prstGeom>
          <a:solidFill>
            <a:srgbClr val="C8D2D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1" name="Text 108"/>
          <p:cNvSpPr/>
          <p:nvPr/>
        </p:nvSpPr>
        <p:spPr>
          <a:xfrm>
            <a:off x="14855875" y="8209359"/>
            <a:ext cx="2402785" cy="2620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75" b="1" kern="0" spc="-31" dirty="0">
                <a:solidFill>
                  <a:srgbClr val="3A8E6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Necesidades visibles</a:t>
            </a:r>
            <a:endParaRPr lang="en-US" sz="1575" dirty="0"/>
          </a:p>
        </p:txBody>
      </p:sp>
      <p:sp>
        <p:nvSpPr>
          <p:cNvPr id="112" name="Text 109"/>
          <p:cNvSpPr/>
          <p:nvPr/>
        </p:nvSpPr>
        <p:spPr>
          <a:xfrm>
            <a:off x="14855875" y="8519071"/>
            <a:ext cx="22605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25" dirty="0">
                <a:solidFill>
                  <a:srgbClr val="4A627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claridad sobre las necesidades tecnológicas.</a:t>
            </a:r>
            <a:endParaRPr lang="en-US" sz="1125" dirty="0"/>
          </a:p>
        </p:txBody>
      </p:sp>
      <p:sp>
        <p:nvSpPr>
          <p:cNvPr id="113" name="Text 110"/>
          <p:cNvSpPr/>
          <p:nvPr/>
        </p:nvSpPr>
        <p:spPr>
          <a:xfrm>
            <a:off x="1047750" y="9915525"/>
            <a:ext cx="41680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78" dirty="0">
                <a:solidFill>
                  <a:srgbClr val="6E849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UNED · ASSESSMENT DE GOBIERNO DEL DATO · DAMA</a:t>
            </a:r>
            <a:endParaRPr lang="en-US" sz="975" dirty="0"/>
          </a:p>
        </p:txBody>
      </p:sp>
      <p:sp>
        <p:nvSpPr>
          <p:cNvPr id="114" name="Text 111"/>
          <p:cNvSpPr/>
          <p:nvPr/>
        </p:nvSpPr>
        <p:spPr>
          <a:xfrm>
            <a:off x="14277677" y="9925050"/>
            <a:ext cx="325883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i="1" dirty="0">
                <a:solidFill>
                  <a:srgbClr val="6E849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Evaluación · versión prudente, pendiente de validación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3101</Words>
  <Application>Microsoft Office PowerPoint</Application>
  <PresentationFormat>Custom</PresentationFormat>
  <Paragraphs>544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Barlow</vt:lpstr>
      <vt:lpstr>JetBrains Mono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María Perellón</cp:lastModifiedBy>
  <cp:revision>2</cp:revision>
  <dcterms:created xsi:type="dcterms:W3CDTF">2026-06-30T14:19:30Z</dcterms:created>
  <dcterms:modified xsi:type="dcterms:W3CDTF">2026-06-30T14:25:30Z</dcterms:modified>
</cp:coreProperties>
</file>